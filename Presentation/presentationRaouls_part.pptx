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65f3ba7cafe4aea" /><Relationship Type="http://schemas.openxmlformats.org/officeDocument/2006/relationships/extended-properties" Target="/docProps/app.xml" Id="R5eadb09f0b16472c" /><Relationship Type="http://schemas.openxmlformats.org/officeDocument/2006/relationships/officeDocument" Target="/ppt/presentation.xml" Id="R0e10b694ee444731" /></Relationships>
</file>

<file path=ppt/presentation.xml><?xml version="1.0" encoding="utf-8"?>
<p:presentation xmlns:p="http://schemas.openxmlformats.org/presentationml/2006/main">
  <p:sldMasterIdLst>
    <p:sldMasterId xmlns:r="http://schemas.openxmlformats.org/officeDocument/2006/relationships" id="2147483648" r:id="R873684a9b79344f5"/>
  </p:sldMasterIdLst>
  <p:notesMasterIdLst>
    <p:notesMasterId xmlns:r="http://schemas.openxmlformats.org/officeDocument/2006/relationships" r:id="Rfa5174ac550c4698"/>
  </p:notesMasterIdLst>
  <p:sldIdLst>
    <p:sldId xmlns:r="http://schemas.openxmlformats.org/officeDocument/2006/relationships" id="256" r:id="Re7ed800c2ef24d27"/>
    <p:sldId xmlns:r="http://schemas.openxmlformats.org/officeDocument/2006/relationships" id="257" r:id="R3a197a0c45fe47f7"/>
    <p:sldId xmlns:r="http://schemas.openxmlformats.org/officeDocument/2006/relationships" id="258" r:id="R7f08d225c8d944f6"/>
    <p:sldId xmlns:r="http://schemas.openxmlformats.org/officeDocument/2006/relationships" id="259" r:id="Rd89e5b7cc5bc4e4f"/>
    <p:sldId xmlns:r="http://schemas.openxmlformats.org/officeDocument/2006/relationships" id="260" r:id="Rff495511e14643ac"/>
    <p:sldId xmlns:r="http://schemas.openxmlformats.org/officeDocument/2006/relationships" id="261" r:id="Rdb61d75d74a4430b"/>
    <p:sldId xmlns:r="http://schemas.openxmlformats.org/officeDocument/2006/relationships" id="262" r:id="Rde521ca434dd4465"/>
    <p:sldId xmlns:r="http://schemas.openxmlformats.org/officeDocument/2006/relationships" id="263" r:id="R3f3f77ebb8b542d0"/>
    <p:sldId xmlns:r="http://schemas.openxmlformats.org/officeDocument/2006/relationships" id="264" r:id="R7c2f2e28569f4ad6"/>
    <p:sldId xmlns:r="http://schemas.openxmlformats.org/officeDocument/2006/relationships" id="265" r:id="Ra1f8ce6192544ca1"/>
    <p:sldId xmlns:r="http://schemas.openxmlformats.org/officeDocument/2006/relationships" id="266" r:id="Re472e9e548fb412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39823a059af45f5" /><Relationship Type="http://schemas.openxmlformats.org/officeDocument/2006/relationships/slideMaster" Target="/ppt/slideMasters/slideMaster1.xml" Id="R873684a9b79344f5" /><Relationship Type="http://schemas.openxmlformats.org/officeDocument/2006/relationships/notesMaster" Target="/ppt/notesMasters/notesMaster1.xml" Id="Rfa5174ac550c4698" /><Relationship Type="http://schemas.openxmlformats.org/officeDocument/2006/relationships/presProps" Target="/ppt/presProps.xml" Id="R8ddb5cf284694526" /><Relationship Type="http://schemas.openxmlformats.org/officeDocument/2006/relationships/tableStyles" Target="/ppt/tableStyles.xml" Id="R54c505c5a94b43d9" /><Relationship Type="http://schemas.openxmlformats.org/officeDocument/2006/relationships/slide" Target="/ppt/slides/slide1.xml" Id="Re7ed800c2ef24d27" /><Relationship Type="http://schemas.openxmlformats.org/officeDocument/2006/relationships/slide" Target="/ppt/slides/slide2.xml" Id="R3a197a0c45fe47f7" /><Relationship Type="http://schemas.openxmlformats.org/officeDocument/2006/relationships/slide" Target="/ppt/slides/slide3.xml" Id="R7f08d225c8d944f6" /><Relationship Type="http://schemas.openxmlformats.org/officeDocument/2006/relationships/slide" Target="/ppt/slides/slide4.xml" Id="Rd89e5b7cc5bc4e4f" /><Relationship Type="http://schemas.openxmlformats.org/officeDocument/2006/relationships/slide" Target="/ppt/slides/slide5.xml" Id="Rff495511e14643ac" /><Relationship Type="http://schemas.openxmlformats.org/officeDocument/2006/relationships/slide" Target="/ppt/slides/slide6.xml" Id="Rdb61d75d74a4430b" /><Relationship Type="http://schemas.openxmlformats.org/officeDocument/2006/relationships/slide" Target="/ppt/slides/slide7.xml" Id="Rde521ca434dd4465" /><Relationship Type="http://schemas.openxmlformats.org/officeDocument/2006/relationships/slide" Target="/ppt/slides/slide8.xml" Id="R3f3f77ebb8b542d0" /><Relationship Type="http://schemas.openxmlformats.org/officeDocument/2006/relationships/slide" Target="/ppt/slides/slide9.xml" Id="R7c2f2e28569f4ad6" /><Relationship Type="http://schemas.openxmlformats.org/officeDocument/2006/relationships/slide" Target="/ppt/slides/slide10.xml" Id="Ra1f8ce6192544ca1" /><Relationship Type="http://schemas.openxmlformats.org/officeDocument/2006/relationships/slide" Target="/ppt/slides/slide11.xml" Id="Re472e9e548fb412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97bb892a443419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837834457d3487a" /><Relationship Type="http://schemas.openxmlformats.org/officeDocument/2006/relationships/notesMaster" Target="/ppt/notesMasters/notesMaster1.xml" Id="Rb0e9b05d64e84a55" /></Relationships>
</file>

<file path=ppt/notesSlides/_rels/notesSlide2.xml.rels>&#65279;<?xml version="1.0" encoding="utf-8"?><Relationships xmlns="http://schemas.openxmlformats.org/package/2006/relationships"><Relationship Type="http://schemas.openxmlformats.org/officeDocument/2006/relationships/slide" Target="/ppt/slides/slide2.xml" Id="R3042c93432d84620" /><Relationship Type="http://schemas.openxmlformats.org/officeDocument/2006/relationships/notesMaster" Target="/ppt/notesMasters/notesMaster1.xml" Id="Rcc88370897b94c09" /></Relationships>
</file>

<file path=ppt/notesSlides/_rels/notesSlide3.xml.rels>&#65279;<?xml version="1.0" encoding="utf-8"?><Relationships xmlns="http://schemas.openxmlformats.org/package/2006/relationships"><Relationship Type="http://schemas.openxmlformats.org/officeDocument/2006/relationships/slide" Target="/ppt/slides/slide3.xml" Id="Ra75a1fb73f1c4585" /><Relationship Type="http://schemas.openxmlformats.org/officeDocument/2006/relationships/notesMaster" Target="/ppt/notesMasters/notesMaster1.xml" Id="Rded9bf92a1f247fc" /></Relationships>
</file>

<file path=ppt/notesSlides/_rels/notesSlide4.xml.rels>&#65279;<?xml version="1.0" encoding="utf-8"?><Relationships xmlns="http://schemas.openxmlformats.org/package/2006/relationships"><Relationship Type="http://schemas.openxmlformats.org/officeDocument/2006/relationships/slide" Target="/ppt/slides/slide4.xml" Id="R3342c3d0f97b45b7" /><Relationship Type="http://schemas.openxmlformats.org/officeDocument/2006/relationships/notesMaster" Target="/ppt/notesMasters/notesMaster1.xml" Id="R6fe5cc405e4749cb" /></Relationships>
</file>

<file path=ppt/notesSlides/_rels/notesSlide5.xml.rels>&#65279;<?xml version="1.0" encoding="utf-8"?><Relationships xmlns="http://schemas.openxmlformats.org/package/2006/relationships"><Relationship Type="http://schemas.openxmlformats.org/officeDocument/2006/relationships/slide" Target="/ppt/slides/slide5.xml" Id="R0aa3dad3694e4456" /><Relationship Type="http://schemas.openxmlformats.org/officeDocument/2006/relationships/notesMaster" Target="/ppt/notesMasters/notesMaster1.xml" Id="R766c09a7abe04552" /></Relationships>
</file>

<file path=ppt/notesSlides/_rels/notesSlide6.xml.rels>&#65279;<?xml version="1.0" encoding="utf-8"?><Relationships xmlns="http://schemas.openxmlformats.org/package/2006/relationships"><Relationship Type="http://schemas.openxmlformats.org/officeDocument/2006/relationships/slide" Target="/ppt/slides/slide6.xml" Id="Raac033ec46614486" /><Relationship Type="http://schemas.openxmlformats.org/officeDocument/2006/relationships/notesMaster" Target="/ppt/notesMasters/notesMaster1.xml" Id="R91c3164c46c44516" /></Relationships>
</file>

<file path=ppt/notesSlides/_rels/notesSlide7.xml.rels>&#65279;<?xml version="1.0" encoding="utf-8"?><Relationships xmlns="http://schemas.openxmlformats.org/package/2006/relationships"><Relationship Type="http://schemas.openxmlformats.org/officeDocument/2006/relationships/slide" Target="/ppt/slides/slide7.xml" Id="R14994b9018204050" /><Relationship Type="http://schemas.openxmlformats.org/officeDocument/2006/relationships/notesMaster" Target="/ppt/notesMasters/notesMaster1.xml" Id="Rad9b82572ae34137" /></Relationships>
</file>

<file path=ppt/notesSlides/_rels/notesSlide8.xml.rels>&#65279;<?xml version="1.0" encoding="utf-8"?><Relationships xmlns="http://schemas.openxmlformats.org/package/2006/relationships"><Relationship Type="http://schemas.openxmlformats.org/officeDocument/2006/relationships/slide" Target="/ppt/slides/slide8.xml" Id="R914bd084a1fe45f9" /><Relationship Type="http://schemas.openxmlformats.org/officeDocument/2006/relationships/notesMaster" Target="/ppt/notesMasters/notesMaster1.xml" Id="Ra69c46fe9ce646fb" /></Relationships>
</file>

<file path=ppt/notesSlides/_rels/notesSlide9.xml.rels>&#65279;<?xml version="1.0" encoding="utf-8"?><Relationships xmlns="http://schemas.openxmlformats.org/package/2006/relationships"><Relationship Type="http://schemas.openxmlformats.org/officeDocument/2006/relationships/slide" Target="/ppt/slides/slide9.xml" Id="R25ec684de95a42f7" /><Relationship Type="http://schemas.openxmlformats.org/officeDocument/2006/relationships/notesMaster" Target="/ppt/notesMasters/notesMaster1.xml" Id="R998ce7c347344f7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b8b74f1b7454745" /><Relationship Type="http://schemas.openxmlformats.org/officeDocument/2006/relationships/notesMaster" Target="/ppt/notesMasters/notesMaster1.xml" Id="Rd18a5c104c5d433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b6069fe8f274cbd" /><Relationship Type="http://schemas.openxmlformats.org/officeDocument/2006/relationships/notesMaster" Target="/ppt/notesMasters/notesMaster1.xml" Id="R2ae5ceb208f642b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Richttijd: 25 seconden.</a:t>
            </a:r>
          </a:p>
          <a:p xmlns:a="http://schemas.openxmlformats.org/drawingml/2006/main">
            <a:r>
              <a:t/>
            </a:r>
          </a:p>
          <a:p xmlns:a="http://schemas.openxmlformats.org/drawingml/2006/main">
            <a:r>
              <a:t>Ik ben Raoul Buffels. Ons team heet Messi10. In dit deel bespreek ik mijn Citi Bike-uitwerking. Ik werkte aan de bronverwerking, cleaning, EDA, hypothesen, modellen en vergelijking. Ik maakte ook de Citi Bike-frontend en backend. Jorre hielp met deployment op Render. De andere teamleden presenteren hun eigen werk. Ik volg de opdrachtvolgorde: EDA, modellen en conclusie. Codex hielp bij implementatie en uitleg, zoals vermeld in de repository. Ik moet de keuzes zelf kunnen verdedigen.</a:t>
            </a:r>
          </a:p>
          <a:p xmlns:a="http://schemas.openxmlformats.org/drawingml/2006/main">
            <a:r>
              <a:t/>
            </a:r>
          </a:p>
          <a:p xmlns:a="http://schemas.openxmlformats.org/drawingml/2006/main">
            <a:r>
              <a:t>Bronnen: README.md en SolutionRaoul/Citybike/notebooks/00_projectoverzicht.ipynb; opdracht: CloudAI/Discussion topics/project assignment.md (bestaande gecontroleerde uitwerking, 14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Richttijd: 45 seconden.</a:t>
            </a:r>
          </a:p>
          <a:p xmlns:a="http://schemas.openxmlformats.org/drawingml/2006/main">
            <a:r>
              <a:t/>
            </a:r>
          </a:p>
          <a:p xmlns:a="http://schemas.openxmlformats.org/drawingml/2006/main">
            <a:r>
              <a:t>Ik had grote bestanden verwacht. De lastigste stap was bepalen welke records echte bronkopieën waren. De 175 ZIPs bevatten NYC en Jersey City en verschillende oude en nieuwe schema’s. Na verwerking blijven circa 323,8 miljoen NYC-records over. Dat is technische dekking tot augustus 2026, geen EDA op de eindtest. Mijn EDA gebruikt alleen ontwikkeling vóór mei. Een ontbrekend eindstation hoeft een geldige start niet onbruikbaar te maken. Extreem lange duur kan een registratieprobleem of een laat afgesloten rit zijn. Voor uurvolume tel ik de start en behoud ik kwaliteitsflags. Alleen bewezen bronkopieën verwijder ik. Identieke historische ritten kunnen echte afzonderlijke ritten zijn.</a:t>
            </a:r>
          </a:p>
          <a:p xmlns:a="http://schemas.openxmlformats.org/drawingml/2006/main">
            <a:r>
              <a:t/>
            </a:r>
          </a:p>
          <a:p xmlns:a="http://schemas.openxmlformats.org/drawingml/2006/main">
            <a:r>
              <a:t>Bronnen: reports/data_manifest.json; 01a_dataonderzoek_en_cleaning.ipynb; reports/NYC_duration_sample_audit.json (bestaande gecontroleerde uitwerking, 14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Richttijd: 45 seconden.</a:t>
            </a:r>
          </a:p>
          <a:p xmlns:a="http://schemas.openxmlformats.org/drawingml/2006/main">
            <a:r>
              <a:t/>
            </a:r>
          </a:p>
          <a:p xmlns:a="http://schemas.openxmlformats.org/drawingml/2006/main">
            <a:r>
              <a:t>Deze figuur gebruikt echte gemiddelde uurtellingen vanaf 2023 tot eind april 2026. Ik vergelijk werkdagen met weekends. Werkdagen hebben een ander dagprofiel en vooral een duidelijke avondpiek. Het hoogste gemiddelde uur ligt hier om 17 uur op werkdagen en om 15 uur in het weekend. Een verschil tussen dagtypes past bij woon-werkgebruik, maar de data bewijzen het reisdoel niet. Ik verwachte herhaling in tijd. De grafiek toont dat de patronen veranderen met dagtype en dat één algemeen gemiddelde onvoldoende is. Dat motiveert kalenderkenmerken en historische tellingen in het model.</a:t>
            </a:r>
          </a:p>
          <a:p xmlns:a="http://schemas.openxmlformats.org/drawingml/2006/main">
            <a:r>
              <a:t/>
            </a:r>
          </a:p>
          <a:p xmlns:a="http://schemas.openxmlformats.org/drawingml/2006/main">
            <a:r>
              <a:t>Bronnen: data/NYC_hourly_development.parquet, dezelfde aggregatie als citibike/plots.py hour_weekday (bestaande gecontroleerde uitwerking, 14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Richttijd: 55 seconden.</a:t>
            </a:r>
          </a:p>
          <a:p xmlns:a="http://schemas.openxmlformats.org/drawingml/2006/main">
            <a:r>
              <a:t/>
            </a:r>
          </a:p>
          <a:p xmlns:a="http://schemas.openxmlformats.org/drawingml/2006/main">
            <a:r>
              <a:t>Mijn hoofdhypothese is dat een uurtelling samenhangt met hetzelfde uur vorige week. H0 zegt dat de gemiddelde correlatie over tijdsblokken nul is. H1 zegt dat die verschilt van nul. Ik behandel miljoenen ritten niet als onafhankelijke observaties. Ik bereken effecten per week en toets met 43 vierweekblokken. De bestaande sign-fliptoets veronderstelt voldoende onafhankelijke blokken en symmetrie onder H0. De correlatie is ongeveer 0,856 met een interval van 0,837 tot 0,876. De Holm-p is ongeveer 0,00015. Het patroon is dus sterk in ontwikkeling. De vraag kwam uit EDA en blijft exploratief. Correlatie bewijst geen oorzaak of modelprestatie. Pas daarna kies ik het bestaande doel: geregistreerd uurvolume één dag vooruit.</a:t>
            </a:r>
          </a:p>
          <a:p xmlns:a="http://schemas.openxmlformats.org/drawingml/2006/main">
            <a:r>
              <a:t/>
            </a:r>
          </a:p>
          <a:p xmlns:a="http://schemas.openxmlformats.org/drawingml/2006/main">
            <a:r>
              <a:t>Bronnen: reports/hypotheses.json; reports/hypothesis_protocol.json; reports/target_decision.json (bestaande gecontroleerde uitwerking, 14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Richttijd: 45 seconden.</a:t>
            </a:r>
          </a:p>
          <a:p xmlns:a="http://schemas.openxmlformats.org/drawingml/2006/main">
            <a:r>
              <a:t/>
            </a:r>
          </a:p>
          <a:p xmlns:a="http://schemas.openxmlformats.org/drawingml/2006/main">
            <a:r>
              <a:t>Notebook 02 maakt zelfstandig de definitieve modeldata vanaf de bronnen of gecontroleerde caches. Het target is geregistreerde vertrekken per lokaal uurvak. Ik gebruik veertien features: kalenderkenmerken en historische tellingen. Voorbeelden zijn het uur en de weekdag, hetzelfde uur gisteren en vorige week, en een gemiddelde van zeven afgesloten dagen. Rolling wordt eerst verschoven. Niets van de voorspeldag komt als historische input binnen. De eerste veertien dagen vallen weg omdat historie ontbreekt. Ik split chronologisch: training vóór mei, validatie mei en juni, test juli en augustus. Binnen training gebruik ik vijf chronologische folds van 28 dagen. Ridge leert zijn scaler alleen op de trainingsrijen van iedere fold.</a:t>
            </a:r>
          </a:p>
          <a:p xmlns:a="http://schemas.openxmlformats.org/drawingml/2006/main">
            <a:r>
              <a:t/>
            </a:r>
          </a:p>
          <a:p xmlns:a="http://schemas.openxmlformats.org/drawingml/2006/main">
            <a:r>
              <a:t>Bronnen: 02_definitieve_voorbereiding.ipynb; reports/prepared_model_data.json; citibike/features.py (bestaande gecontroleerde uitwerking, 14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Richttijd: 65 seconden.</a:t>
            </a:r>
          </a:p>
          <a:p xmlns:a="http://schemas.openxmlformats.org/drawingml/2006/main">
            <a:r>
              <a:t/>
            </a:r>
          </a:p>
          <a:p xmlns:a="http://schemas.openxmlformats.org/drawingml/2006/main">
            <a:r>
              <a:t>De weekbaseline voorspelt hetzelfde uur van vorige week. Ridge is een eenvoudige lineaire referentie. Random Forest en LightGBM leren niet-lineaire verbanden. PyCaret vergelijkt dezelfde vier basismodellen met dezelfde chronologische folds. Daarna behoud ik de beperkte bestaande RF- en LightGBM-tuning. De finale getunede RF heeft een validatie-RMSE van ongeveer 1940,49 ritten per uurvak tegenover 2826,16 voor de baseline. Dat is circa 31,34 procent lager. LightGBM-tuning verbeterde trainings-CV, maar niet de mei-juni-validatie. De verschillen tussen de sterke modellen zijn klein. De keuze lag vóór de test vast en gebruikte de bestaande 1%-regel met een eenvoudigheidsrang per modeltype.</a:t>
            </a:r>
          </a:p>
          <a:p xmlns:a="http://schemas.openxmlformats.org/drawingml/2006/main">
            <a:r>
              <a:t/>
            </a:r>
          </a:p>
          <a:p xmlns:a="http://schemas.openxmlformats.org/drawingml/2006/main">
            <a:r>
              <a:t>Bronnen: reports/model_comparison.csv; reports/model_selection.json; reports/pycaret_comparison.csv; tuningrapporten (bestaande gecontroleerde uitwerking, 14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Richttijd: 55 seconden.</a:t>
            </a:r>
          </a:p>
          <a:p xmlns:a="http://schemas.openxmlformats.org/drawingml/2006/main">
            <a:r>
              <a:t/>
            </a:r>
          </a:p>
          <a:p xmlns:a="http://schemas.openxmlformats.org/drawingml/2006/main">
            <a:r>
              <a:t>Ridge is het eenvoudigst uit te leggen en fit in deze reproductie in ongeveer 0,05 seconde. LightGBM fit in minder dan een seconde, terwijl RF tientallen seconden nodig heeft. Die tijden zijn echte afzonderlijke fits op deze computer en niet de volledige tuningduur. De getunede RF heeft een trainings-RMSE van ongeveer 536 tegenover 1940 op validatie. Dat is een grote kloof. Overfit kan meespelen, maar de vroege trainingsjaren hebben ook minder intensiteit dan 2026. Ik kan die kloof dus niet uitsluitend aan overfit toeschrijven. RF-tuning bracht maar circa 0,27 procent extra validatiewinst en een groot modelbestand. Dat bespreek ik naast de score. Ik wijzig de keuze niet nadat de test al bekeken is.</a:t>
            </a:r>
          </a:p>
          <a:p xmlns:a="http://schemas.openxmlformats.org/drawingml/2006/main">
            <a:r>
              <a:t/>
            </a:r>
          </a:p>
          <a:p xmlns:a="http://schemas.openxmlformats.org/drawingml/2006/main">
            <a:r>
              <a:t>Bronnen: reports/notebook_reproduction/*.json, fit_seconds; reports/model_comparison.csv; reports/model_artifact.json (bestaande gecontroleerde uitwerking, 14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Richttijd: 45 seconden.</a:t>
            </a:r>
          </a:p>
          <a:p xmlns:a="http://schemas.openxmlformats.org/drawingml/2006/main">
            <a:r>
              <a:t/>
            </a:r>
          </a:p>
          <a:p xmlns:a="http://schemas.openxmlformats.org/drawingml/2006/main">
            <a:r>
              <a:t>Ik bespreek de bestaande eindtest juli en augustus 2026. Alleen de vooraf geselecteerde RF en de baseline zijn daarop vergeleken. De model-RMSE is ongeveer 1979,51 tegenover 2608,78 voor de baseline. Dat is 24,12 procent lager. De MAE is ongeveer 1076 ritten per uurvak en R² is 0,828. Deze scores horen bij de finale refit tot eind juni, niet bij de ontwikkelingsfit op de vorige dia. De test was al bekeken. Ik gebruik hem nu niet om features of instellingen te veranderen. Twee zomermaanden garanderen geen prestaties voor een heel toekomstig jaar. Weer en evenementen ontbreken, en recente historische tellingen moeten op tijd beschikbaar zijn.</a:t>
            </a:r>
          </a:p>
          <a:p xmlns:a="http://schemas.openxmlformats.org/drawingml/2006/main">
            <a:r>
              <a:t/>
            </a:r>
          </a:p>
          <a:p xmlns:a="http://schemas.openxmlformats.org/drawingml/2006/main">
            <a:r>
              <a:t>Bronnen: reports/final_evaluation.json; reports/MODEL_CARD.md (bestaande gecontroleerde uitwerking, 14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Richttijd: 55 seconden.</a:t>
            </a:r>
          </a:p>
          <a:p xmlns:a="http://schemas.openxmlformats.org/drawingml/2006/main">
            <a:r>
              <a:t/>
            </a:r>
          </a:p>
          <a:p xmlns:a="http://schemas.openxmlformats.org/drawingml/2006/main">
            <a:r>
              <a:t>Mijn uitwerking eindigt in een eigen webpagina en API. Een gebruiker kiest een datum en levert veertien volledige voorgaande dagen aan. De API gebruikt dezelfde preprocessing en predict_day als offline. De screenshot toont een ontwikkelingsdemonstratie en is geen onafhankelijk testresultaat. Ik heb voorspellingsovereenkomst gecontroleerd, ook bij beide DST-overgangen. Mijn lokale pipeline traint dezelfde RF opnieuw, controleert herladen en bewaart een apart artefact. De GitHub-workflow is voorbereid. Een lokale runner registreren, een geslaagde Actions-run aantonen en het live model omschakelen zijn nog handmatig nodig. De groep heeft een Mushroom-SageMaker-notebook en tuningexports, maar afzonderlijke cloudprovenance blijft te bevestigen. Mijn conclusie is dat historische tellingen bruikbaar zijn voor geregistreerd uurgebruik, onder een duidelijk invoercontract.</a:t>
            </a:r>
          </a:p>
          <a:p xmlns:a="http://schemas.openxmlformats.org/drawingml/2006/main">
            <a:r>
              <a:t/>
            </a:r>
          </a:p>
          <a:p xmlns:a="http://schemas.openxmlformats.org/drawingml/2006/main">
            <a:r>
              <a:t>Bronnen: docs/citibike_raoul_frontend.jpg; DEPLOYMENT.md; reports/inference_parity.json; reports/retraining_pipeline_latest.json; OPDRACHTCONTROLE.md (bestaande gecontroleerde uitwerking, 14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Reservedia voor vragen.</a:t>
            </a:r>
          </a:p>
          <a:p xmlns:a="http://schemas.openxmlformats.org/drawingml/2006/main">
            <a:r>
              <a:t/>
            </a:r>
          </a:p>
          <a:p xmlns:a="http://schemas.openxmlformats.org/drawingml/2006/main">
            <a:r>
              <a:t>Reservedia. Residual is actual minus prediction. Positief betekent onderschatting. Ik onderzocht de verdeling, fouten tegenover voorspellingen, fouten over tijd en de grootste missers. Deze figuur toont gemiddelde absolute validatiefout per uur. Een normale verdeling betekent niet dat het model perfect is. Systematische fouten kunnen wijzen op ontbrekende informatie, veranderde omstandigheden of beperkingen van het model. Weer en evenementen zijn mogelijke factoren, zonder dat ik daarmee één fout causaal verklaar. De analyse gebruikt mei-juni-validatie. Ze rechtvaardigt geen nieuwe keuze op basis van de reeds bekeken test.</a:t>
            </a:r>
          </a:p>
          <a:p xmlns:a="http://schemas.openxmlformats.org/drawingml/2006/main">
            <a:r>
              <a:t/>
            </a:r>
          </a:p>
          <a:p xmlns:a="http://schemas.openxmlformats.org/drawingml/2006/main">
            <a:r>
              <a:t>Bronnen: reports/validation_errors_by_hour.csv; reports/validation_residuals.csv; 07_eindvergelijking.ipynb (bestaande gecontroleerde uitwerking, 14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Reservedia voor vragen.</a:t>
            </a:r>
          </a:p>
          <a:p xmlns:a="http://schemas.openxmlformats.org/drawingml/2006/main">
            <a:r>
              <a:t/>
            </a:r>
          </a:p>
          <a:p xmlns:a="http://schemas.openxmlformats.org/drawingml/2006/main">
            <a:r>
              <a:t>Reservedia. De vaste selectieregel vergelijkt modeltypen: weekbaseline, Ridge, RF en LightGBM. Modellen die strikt minder dan één procent boven de minimale validatiefout zitten mogen winnen als ze eenvoudiger zijn volgens die rang. Binnen dezelfde RF-familie geldt de lagere validatiefout. Daarom behoud ik de getunede RF, ook al is de praktische extra winst klein. Daglags passen bij voorspellen om 00:00 en kennen geen uur van de voorspeldag. De scaler van Ridge wordt per trainfold gefit. Ik gebruik blokken omdat ritten en naburige uren samenhangen. Geen enkele normale residualverdeling garandeert goede toekomstvoorspellingen. Voor nieuwe keuzes na deze studie is een nieuwe onafhankelijke testperiode nodig.</a:t>
            </a:r>
          </a:p>
          <a:p xmlns:a="http://schemas.openxmlformats.org/drawingml/2006/main">
            <a:r>
              <a:t/>
            </a:r>
          </a:p>
          <a:p xmlns:a="http://schemas.openxmlformats.org/drawingml/2006/main">
            <a:r>
              <a:t>Bronnen: citibike/modeling.py choose_model; citibike/features.py; hypotheseprotocol; model_selection.json (bestaande gecontroleerde uitwerking, 14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1e8674426164f7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f2f7cde19ca406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bd6f3ca14cb47e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6308d969586418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68cb83184df45f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efbb76d422f45d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847F58E-F98E-45A6-BFBD-D49425D2481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41E0333-7CE7-4DB4-ADFA-3E59B936227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1362A53-BA76-41B9-BCA3-834F685B59A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E41BDD0-D9B2-44DD-82DE-C4FC31E14D3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EABC9EA-796D-4C74-8172-CFE6424EC02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44D5D93-F30F-4BBD-A5F0-15B6FC36F26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09205F-B2A3-4305-B4EC-775ECF643E0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F1CC8B1-3F85-4FE1-866C-77C1A6B773D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C04332C-E0DF-49E5-9E1B-F2827EE6279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6847947-3A3E-450E-A8B4-1CC91F92937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ce8dfb1d5f34c44" /><Relationship Type="http://schemas.openxmlformats.org/officeDocument/2006/relationships/slideLayout" Target="/ppt/slideLayouts/slideLayout1.xml" Id="R43757256f0034918" /><Relationship Type="http://schemas.openxmlformats.org/officeDocument/2006/relationships/slideLayout" Target="/ppt/slideLayouts/slideLayout2.xml" Id="R6e864931b0264cda" /><Relationship Type="http://schemas.openxmlformats.org/officeDocument/2006/relationships/slideLayout" Target="/ppt/slideLayouts/slideLayout3.xml" Id="R4e4ac2d09e114fd2" /><Relationship Type="http://schemas.openxmlformats.org/officeDocument/2006/relationships/slideLayout" Target="/ppt/slideLayouts/slideLayout4.xml" Id="Re419f134d365423f" /><Relationship Type="http://schemas.openxmlformats.org/officeDocument/2006/relationships/slideLayout" Target="/ppt/slideLayouts/slideLayout5.xml" Id="R37d31f47465548cf" /><Relationship Type="http://schemas.openxmlformats.org/officeDocument/2006/relationships/slideLayout" Target="/ppt/slideLayouts/slideLayout6.xml" Id="Rdb8ea34877364aa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3757256f0034918"/>
    <p:sldLayoutId xmlns:r="http://schemas.openxmlformats.org/officeDocument/2006/relationships" id="2147483650" r:id="R6e864931b0264cda"/>
    <p:sldLayoutId xmlns:r="http://schemas.openxmlformats.org/officeDocument/2006/relationships" id="2147483651" r:id="R4e4ac2d09e114fd2"/>
    <p:sldLayoutId xmlns:r="http://schemas.openxmlformats.org/officeDocument/2006/relationships" id="2147483652" r:id="Re419f134d365423f"/>
    <p:sldLayoutId xmlns:r="http://schemas.openxmlformats.org/officeDocument/2006/relationships" id="2147483653" r:id="R37d31f47465548cf"/>
    <p:sldLayoutId xmlns:r="http://schemas.openxmlformats.org/officeDocument/2006/relationships" id="2147483654" r:id="Rdb8ea34877364aa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486e479c1334541" /><Relationship Type="http://schemas.openxmlformats.org/officeDocument/2006/relationships/notesSlide" Target="/ppt/notesSlides/notesSlide1.xml" Id="R15994c232b6a44c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1537ee4e8b84666" /><Relationship Type="http://schemas.openxmlformats.org/officeDocument/2006/relationships/notesSlide" Target="/ppt/notesSlides/notesSlide2.xml" Id="R757f240011dc45a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a2bee0430d04c99" /><Relationship Type="http://schemas.openxmlformats.org/officeDocument/2006/relationships/chart" Target="/ppt/slides/charts/chart1.xml" Id="R96cba28841a34c03" /><Relationship Type="http://schemas.openxmlformats.org/officeDocument/2006/relationships/notesSlide" Target="/ppt/notesSlides/notesSlide3.xml" Id="R1458f0cf0e204cb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bfe41624cc94bea" /><Relationship Type="http://schemas.openxmlformats.org/officeDocument/2006/relationships/notesSlide" Target="/ppt/notesSlides/notesSlide4.xml" Id="R545d68688352490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6ad6cf5fa9d4a76" /><Relationship Type="http://schemas.openxmlformats.org/officeDocument/2006/relationships/notesSlide" Target="/ppt/notesSlides/notesSlide5.xml" Id="Rcd903d3b3949403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269cd9041dd4ae0" /><Relationship Type="http://schemas.openxmlformats.org/officeDocument/2006/relationships/chart" Target="/ppt/slides/charts/chart2.xml" Id="R037db73d7dcb48cd" /><Relationship Type="http://schemas.openxmlformats.org/officeDocument/2006/relationships/notesSlide" Target="/ppt/notesSlides/notesSlide6.xml" Id="Ra43acdad2c3d477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5f9ba2df3734b2a" /><Relationship Type="http://schemas.openxmlformats.org/officeDocument/2006/relationships/notesSlide" Target="/ppt/notesSlides/notesSlide7.xml" Id="R42a89d9ebe13442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1b2d53753164614" /><Relationship Type="http://schemas.openxmlformats.org/officeDocument/2006/relationships/chart" Target="/ppt/slides/charts/chart3.xml" Id="R181bec2c980a4c90" /><Relationship Type="http://schemas.openxmlformats.org/officeDocument/2006/relationships/notesSlide" Target="/ppt/notesSlides/notesSlide8.xml" Id="Rfb9794cc3ec245a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c241bb7ca244b88" /><Relationship Type="http://schemas.openxmlformats.org/officeDocument/2006/relationships/image" Target="/ppt/media/image.jpeg" Id="R7a504e1dd8bc4254" /><Relationship Type="http://schemas.openxmlformats.org/officeDocument/2006/relationships/notesSlide" Target="/ppt/notesSlides/notesSlide9.xml" Id="R33f390093b28434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3903f1154a340ad" /><Relationship Type="http://schemas.openxmlformats.org/officeDocument/2006/relationships/chart" Target="/ppt/slides/charts/chart4.xml" Id="Rce0c8690095e4f73" /><Relationship Type="http://schemas.openxmlformats.org/officeDocument/2006/relationships/notesSlide" Target="/ppt/notesSlides/notesSlide10.xml" Id="R28170adb1aaf4d3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2c31a2b7ada4362" /><Relationship Type="http://schemas.openxmlformats.org/officeDocument/2006/relationships/notesSlide" Target="/ppt/notesSlides/notesSlide11.xml" Id="Rec26e15e3b7f4c3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Weekend</c:v>
          </c:tx>
          <c:spPr>
            <a:ln xmlns:a="http://schemas.openxmlformats.org/drawingml/2006/main" w="38100">
              <a:solidFill>
                <a:srgbClr val="12796B"/>
              </a:solidFill>
            </a:ln>
          </c:spPr>
          <c:marker>
            <c:symbol val="none"/>
          </c:marker>
          <c:cat>
            <c:numRef>
              <c:f>'Chart Data'!$A$2:$A$25</c:f>
              <c:numCache>
                <c:formatCode>#,##0</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cat>
          <c:val>
            <c:numRef>
              <c:f>'Chart Data'!$B$2:$B$25</c:f>
              <c:numCache>
                <c:formatCode>#,##0</c:formatCode>
                <c:ptCount val="24"/>
                <c:pt idx="0">
                  <c:v>2401.84</c:v>
                </c:pt>
                <c:pt idx="1">
                  <c:v>1693.79</c:v>
                </c:pt>
                <c:pt idx="2">
                  <c:v>1147.58</c:v>
                </c:pt>
                <c:pt idx="3">
                  <c:v>764.12</c:v>
                </c:pt>
                <c:pt idx="4">
                  <c:v>511.89</c:v>
                </c:pt>
                <c:pt idx="5">
                  <c:v>421.2</c:v>
                </c:pt>
                <c:pt idx="6">
                  <c:v>832.07</c:v>
                </c:pt>
                <c:pt idx="7">
                  <c:v>1547.51</c:v>
                </c:pt>
                <c:pt idx="8">
                  <c:v>2656.42</c:v>
                </c:pt>
                <c:pt idx="9">
                  <c:v>4200.53</c:v>
                </c:pt>
                <c:pt idx="10">
                  <c:v>5616.55</c:v>
                </c:pt>
                <c:pt idx="11">
                  <c:v>6769.73</c:v>
                </c:pt>
                <c:pt idx="12">
                  <c:v>7561.7</c:v>
                </c:pt>
                <c:pt idx="13">
                  <c:v>7880.8</c:v>
                </c:pt>
                <c:pt idx="14">
                  <c:v>8035.29</c:v>
                </c:pt>
                <c:pt idx="15">
                  <c:v>8071</c:v>
                </c:pt>
                <c:pt idx="16">
                  <c:v>7855.56</c:v>
                </c:pt>
                <c:pt idx="17">
                  <c:v>7425.96</c:v>
                </c:pt>
                <c:pt idx="18">
                  <c:v>6903.7</c:v>
                </c:pt>
                <c:pt idx="19">
                  <c:v>5746.77</c:v>
                </c:pt>
                <c:pt idx="20">
                  <c:v>4307.92</c:v>
                </c:pt>
                <c:pt idx="21">
                  <c:v>3384.31</c:v>
                </c:pt>
                <c:pt idx="22">
                  <c:v>2881.9</c:v>
                </c:pt>
                <c:pt idx="23">
                  <c:v>2358.7</c:v>
                </c:pt>
              </c:numCache>
            </c:numRef>
          </c:val>
        </c:ser>
        <c:ser>
          <c:idx val="1"/>
          <c:order val="1"/>
          <c:tx>
            <c:v>Werkdag</c:v>
          </c:tx>
          <c:spPr>
            <a:ln xmlns:a="http://schemas.openxmlformats.org/drawingml/2006/main" w="38100">
              <a:solidFill>
                <a:srgbClr val="C77842"/>
              </a:solidFill>
            </a:ln>
          </c:spPr>
          <c:marker>
            <c:symbol val="none"/>
          </c:marker>
          <c:cat>
            <c:numRef>
              <c:f>'Chart Data'!$C$2:$C$25</c:f>
              <c:numCache>
                <c:formatCode>#,##0</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cat>
          <c:val>
            <c:numRef>
              <c:f>'Chart Data'!$D$2:$D$25</c:f>
              <c:numCache>
                <c:formatCode>#,##0</c:formatCode>
                <c:ptCount val="24"/>
                <c:pt idx="0">
                  <c:v>1184.01</c:v>
                </c:pt>
                <c:pt idx="1">
                  <c:v>626.78</c:v>
                </c:pt>
                <c:pt idx="2">
                  <c:v>377.68</c:v>
                </c:pt>
                <c:pt idx="3">
                  <c:v>250.42</c:v>
                </c:pt>
                <c:pt idx="4">
                  <c:v>309.4</c:v>
                </c:pt>
                <c:pt idx="5">
                  <c:v>959.95</c:v>
                </c:pt>
                <c:pt idx="6">
                  <c:v>2735.24</c:v>
                </c:pt>
                <c:pt idx="7">
                  <c:v>5706.84</c:v>
                </c:pt>
                <c:pt idx="8">
                  <c:v>8643.43</c:v>
                </c:pt>
                <c:pt idx="9">
                  <c:v>6425.48</c:v>
                </c:pt>
                <c:pt idx="10">
                  <c:v>4662.81</c:v>
                </c:pt>
                <c:pt idx="11">
                  <c:v>4733.88</c:v>
                </c:pt>
                <c:pt idx="12">
                  <c:v>5340.62</c:v>
                </c:pt>
                <c:pt idx="13">
                  <c:v>5702.24</c:v>
                </c:pt>
                <c:pt idx="14">
                  <c:v>6387.07</c:v>
                </c:pt>
                <c:pt idx="15">
                  <c:v>7236.5</c:v>
                </c:pt>
                <c:pt idx="16">
                  <c:v>8482.14</c:v>
                </c:pt>
                <c:pt idx="17">
                  <c:v>11389.2</c:v>
                </c:pt>
                <c:pt idx="18">
                  <c:v>10638.36</c:v>
                </c:pt>
                <c:pt idx="19">
                  <c:v>7841.02</c:v>
                </c:pt>
                <c:pt idx="20">
                  <c:v>5548.13</c:v>
                </c:pt>
                <c:pt idx="21">
                  <c:v>4158.82</c:v>
                </c:pt>
                <c:pt idx="22">
                  <c:v>3345.06</c:v>
                </c:pt>
                <c:pt idx="23">
                  <c:v>2371.32</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650">
                    <a:solidFill>
                      <a:srgbClr val="62766E"/>
                    </a:solidFill>
                    <a:latin typeface="Arial"/>
                    <a:ea typeface="Arial"/>
                    <a:cs typeface="Arial"/>
                  </a:rPr>
                  <a:t>Lokaal uur in New York</a:t>
                </a:r>
              </a:p>
            </c:rich>
          </c:tx>
          <c:overlay val="0"/>
          <c:txPr>
            <a:bodyPr xmlns:a="http://schemas.openxmlformats.org/drawingml/2006/main" anchorCtr="1"/>
            <a:lstStyle xmlns:a="http://schemas.openxmlformats.org/drawingml/2006/main"/>
            <a:p xmlns:a="http://schemas.openxmlformats.org/drawingml/2006/main">
              <a:pPr>
                <a:defRPr sz="1650">
                  <a:solidFill>
                    <a:srgbClr val="62766E"/>
                  </a:solidFill>
                  <a:latin typeface="Arial"/>
                  <a:ea typeface="Arial"/>
                  <a:cs typeface="Arial"/>
                </a:defRPr>
              </a:pPr>
            </a:p>
          </c:txPr>
        </c:title>
        <c:numFmt formatCode="#,##0"/>
        <c:majorTickMark val="none"/>
        <c:minorTickMark val="none"/>
        <c:spPr>
          <a:ln xmlns:a="http://schemas.openxmlformats.org/drawingml/2006/main" w="9525">
            <a:solidFill>
              <a:srgbClr val="D8E1DB"/>
            </a:solidFill>
          </a:ln>
        </c:spPr>
        <c:txPr>
          <a:bodyPr xmlns:a="http://schemas.openxmlformats.org/drawingml/2006/main" anchorCtr="1"/>
          <a:lstStyle xmlns:a="http://schemas.openxmlformats.org/drawingml/2006/main"/>
          <a:p xmlns:a="http://schemas.openxmlformats.org/drawingml/2006/main">
            <a:pPr>
              <a:defRPr sz="1650">
                <a:solidFill>
                  <a:srgbClr val="173A42"/>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8E1DB"/>
              </a:solidFill>
            </a:ln>
          </c:spPr>
        </c:majorGridlines>
        <c:title>
          <c:tx>
            <c:rich>
              <a:bodyPr xmlns:a="http://schemas.openxmlformats.org/drawingml/2006/main"/>
              <a:lstStyle xmlns:a="http://schemas.openxmlformats.org/drawingml/2006/main"/>
              <a:p xmlns:a="http://schemas.openxmlformats.org/drawingml/2006/main">
                <a:r>
                  <a:rPr sz="1650">
                    <a:solidFill>
                      <a:srgbClr val="62766E"/>
                    </a:solidFill>
                    <a:latin typeface="Arial"/>
                    <a:ea typeface="Arial"/>
                    <a:cs typeface="Arial"/>
                  </a:rPr>
                  <a:t>Gemiddelde vertrekken</a:t>
                </a:r>
              </a:p>
            </c:rich>
          </c:tx>
          <c:overlay val="0"/>
          <c:txPr>
            <a:bodyPr xmlns:a="http://schemas.openxmlformats.org/drawingml/2006/main" anchorCtr="1"/>
            <a:lstStyle xmlns:a="http://schemas.openxmlformats.org/drawingml/2006/main"/>
            <a:p xmlns:a="http://schemas.openxmlformats.org/drawingml/2006/main">
              <a:pPr>
                <a:defRPr sz="1650">
                  <a:solidFill>
                    <a:srgbClr val="62766E"/>
                  </a:solidFill>
                  <a:latin typeface="Arial"/>
                  <a:ea typeface="Arial"/>
                  <a:cs typeface="Arial"/>
                </a:defRPr>
              </a:pPr>
            </a:p>
          </c:txPr>
        </c:title>
        <c:numFmt formatCode="#,##0"/>
        <c:majorTickMark val="none"/>
        <c:minorTickMark val="none"/>
        <c:spPr>
          <a:ln xmlns:a="http://schemas.openxmlformats.org/drawingml/2006/main" w="9525">
            <a:solidFill>
              <a:srgbClr val="D8E1DB"/>
            </a:solidFill>
          </a:ln>
        </c:spPr>
        <c:txPr>
          <a:bodyPr xmlns:a="http://schemas.openxmlformats.org/drawingml/2006/main" anchorCtr="1"/>
          <a:lstStyle xmlns:a="http://schemas.openxmlformats.org/drawingml/2006/main"/>
          <a:p xmlns:a="http://schemas.openxmlformats.org/drawingml/2006/main">
            <a:pPr>
              <a:defRPr sz="1650">
                <a:solidFill>
                  <a:srgbClr val="173A42"/>
                </a:solidFill>
                <a:latin typeface="Arial"/>
                <a:ea typeface="Arial"/>
                <a:cs typeface="Arial"/>
              </a:defRPr>
            </a:pPr>
          </a:p>
        </c:txPr>
        <c:crossAx val="48650112"/>
        <c:crossBetween val="between"/>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3A42"/>
              </a:solidFill>
              <a:latin typeface="Arial"/>
              <a:ea typeface="Arial"/>
              <a:cs typeface="Arial"/>
            </a:defRPr>
          </a:pPr>
        </a:p>
      </c:txPr>
    </c:legend>
    <c:plotVisOnly val="1"/>
  </c:chart>
  <c:spPr>
    <a:noFill xmlns:a="http://schemas.openxmlformats.org/drawingml/2006/mai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Validatie-RMSE</c:v>
          </c:tx>
          <c:spPr>
            <a:solidFill xmlns:a="http://schemas.openxmlformats.org/drawingml/2006/main">
              <a:srgbClr val="12796B"/>
            </a:solidFill>
          </c:spPr>
          <c:invertIfNegative val="0"/>
          <c:cat>
            <c:strRef>
              <c:f>'Chart Data'!$A$2:$A$7</c:f>
              <c:strCache>
                <c:ptCount val="6"/>
                <c:pt idx="0">
                  <c:v>Weekbaseline</c:v>
                </c:pt>
                <c:pt idx="1">
                  <c:v>Ridge</c:v>
                </c:pt>
                <c:pt idx="2">
                  <c:v>Random Forest</c:v>
                </c:pt>
                <c:pt idx="3">
                  <c:v>LightGBM</c:v>
                </c:pt>
                <c:pt idx="4">
                  <c:v>LightGBM getuned</c:v>
                </c:pt>
                <c:pt idx="5">
                  <c:v>RF getuned</c:v>
                </c:pt>
              </c:strCache>
            </c:strRef>
          </c:cat>
          <c:val>
            <c:numRef>
              <c:f>'Chart Data'!$B$2:$B$7</c:f>
              <c:numCache>
                <c:formatCode>#,##0</c:formatCode>
                <c:ptCount val="6"/>
                <c:pt idx="0">
                  <c:v>2826.16</c:v>
                </c:pt>
                <c:pt idx="1">
                  <c:v>1982.44</c:v>
                </c:pt>
                <c:pt idx="2">
                  <c:v>1945.71</c:v>
                </c:pt>
                <c:pt idx="3">
                  <c:v>1952.24</c:v>
                </c:pt>
                <c:pt idx="4">
                  <c:v>1972.51</c:v>
                </c:pt>
                <c:pt idx="5">
                  <c:v>1940.49</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800" b="1">
                  <a:solidFill>
                    <a:srgbClr val="173A42"/>
                  </a:solidFill>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l"/>
        <c:majorGridlines>
          <c:spPr>
            <a:ln xmlns:a="http://schemas.openxmlformats.org/drawingml/2006/main" w="9525">
              <a:solidFill>
                <a:srgbClr val="D8E1DB"/>
              </a:solidFill>
            </a:ln>
          </c:spPr>
        </c:majorGridlines>
        <c:numFmt formatCode="#,##0"/>
        <c:majorTickMark val="none"/>
        <c:minorTickMark val="none"/>
        <c:spPr>
          <a:ln xmlns:a="http://schemas.openxmlformats.org/drawingml/2006/main" w="9525">
            <a:solidFill>
              <a:srgbClr val="D8E1DB"/>
            </a:solidFill>
          </a:ln>
        </c:spPr>
        <c:txPr>
          <a:bodyPr xmlns:a="http://schemas.openxmlformats.org/drawingml/2006/main" anchorCtr="1"/>
          <a:lstStyle xmlns:a="http://schemas.openxmlformats.org/drawingml/2006/main"/>
          <a:p xmlns:a="http://schemas.openxmlformats.org/drawingml/2006/main">
            <a:pPr>
              <a:defRPr sz="1650">
                <a:solidFill>
                  <a:srgbClr val="173A42"/>
                </a:solidFill>
                <a:latin typeface="Arial"/>
                <a:ea typeface="Arial"/>
                <a:cs typeface="Arial"/>
              </a:defRPr>
            </a:pPr>
          </a:p>
        </c:txPr>
        <c:crossAx val="48672768"/>
      </c:catAx>
      <c:valAx>
        <c:axId val="48672768"/>
        <c:scaling>
          <c:orientation val="minMax"/>
        </c:scaling>
        <c:delete val="0"/>
        <c:axPos val="b"/>
        <c:numFmt formatCode="#,##0"/>
        <c:majorTickMark val="none"/>
        <c:minorTickMark val="none"/>
        <c:spPr>
          <a:ln xmlns:a="http://schemas.openxmlformats.org/drawingml/2006/main" w="9525">
            <a:solidFill>
              <a:srgbClr val="D8E1DB"/>
            </a:solidFill>
          </a:ln>
        </c:spPr>
        <c:txPr>
          <a:bodyPr xmlns:a="http://schemas.openxmlformats.org/drawingml/2006/main" anchorCtr="1"/>
          <a:lstStyle xmlns:a="http://schemas.openxmlformats.org/drawingml/2006/main"/>
          <a:p xmlns:a="http://schemas.openxmlformats.org/drawingml/2006/main">
            <a:pPr>
              <a:defRPr sz="1650">
                <a:solidFill>
                  <a:srgbClr val="173A42"/>
                </a:solidFill>
                <a:latin typeface="Arial"/>
                <a:ea typeface="Arial"/>
                <a:cs typeface="Arial"/>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Eindtest-RMSE</c:v>
          </c:tx>
          <c:spPr>
            <a:solidFill xmlns:a="http://schemas.openxmlformats.org/drawingml/2006/main">
              <a:srgbClr val="12796B"/>
            </a:solidFill>
          </c:spPr>
          <c:invertIfNegative val="0"/>
          <c:cat>
            <c:strRef>
              <c:f>'Chart Data'!$A$2:$A$3</c:f>
              <c:strCache>
                <c:ptCount val="2"/>
                <c:pt idx="0">
                  <c:v>Weekbaseline</c:v>
                </c:pt>
                <c:pt idx="1">
                  <c:v>Gekozen RF</c:v>
                </c:pt>
              </c:strCache>
            </c:strRef>
          </c:cat>
          <c:val>
            <c:numRef>
              <c:f>'Chart Data'!$B$2:$B$3</c:f>
              <c:numCache>
                <c:formatCode>#,##0</c:formatCode>
                <c:ptCount val="2"/>
                <c:pt idx="0">
                  <c:v>2608.78</c:v>
                </c:pt>
                <c:pt idx="1">
                  <c:v>1979.51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950" b="1">
                  <a:solidFill>
                    <a:srgbClr val="173A42"/>
                  </a:solidFill>
                  <a:latin typeface="Arial"/>
                  <a:ea typeface="Arial"/>
                  <a:cs typeface="Arial"/>
                </a:defRPr>
              </a:pPr>
            </a:p>
          </c:txPr>
          <c:dLblPos val="outEnd"/>
          <c:showLegendKey val="0"/>
          <c:showVal val="1"/>
          <c:showCatName val="0"/>
          <c:showSerName val="0"/>
          <c:showPercent val="0"/>
          <c:showBubbleSize val="0"/>
          <c:showLeaderLines val="0"/>
        </c:dLbls>
        <c:gapWidth val="130"/>
        <c:axId val="48650112"/>
        <c:axId val="48672768"/>
      </c:barChart>
      <c:catAx>
        <c:axId val="48650112"/>
        <c:scaling>
          <c:orientation val="minMax"/>
        </c:scaling>
        <c:delete val="0"/>
        <c:axPos val="b"/>
        <c:numFmt formatCode="#,##0"/>
        <c:majorTickMark val="none"/>
        <c:minorTickMark val="none"/>
        <c:spPr>
          <a:ln xmlns:a="http://schemas.openxmlformats.org/drawingml/2006/main" w="9525">
            <a:solidFill>
              <a:srgbClr val="D8E1DB"/>
            </a:solidFill>
          </a:ln>
        </c:spPr>
        <c:txPr>
          <a:bodyPr xmlns:a="http://schemas.openxmlformats.org/drawingml/2006/main" anchorCtr="1"/>
          <a:lstStyle xmlns:a="http://schemas.openxmlformats.org/drawingml/2006/main"/>
          <a:p xmlns:a="http://schemas.openxmlformats.org/drawingml/2006/main">
            <a:pPr>
              <a:defRPr sz="1650">
                <a:solidFill>
                  <a:srgbClr val="173A42"/>
                </a:solidFill>
                <a:latin typeface="Arial"/>
                <a:ea typeface="Arial"/>
                <a:cs typeface="Arial"/>
              </a:defRPr>
            </a:pPr>
          </a:p>
        </c:txPr>
        <c:crossAx val="48672768"/>
      </c:catAx>
      <c:valAx>
        <c:axId val="48672768"/>
        <c:scaling>
          <c:orientation val="minMax"/>
          <c:max val="3000"/>
          <c:min val="0"/>
        </c:scaling>
        <c:delete val="0"/>
        <c:axPos val="l"/>
        <c:majorGridlines>
          <c:spPr>
            <a:ln xmlns:a="http://schemas.openxmlformats.org/drawingml/2006/main" w="9525">
              <a:solidFill>
                <a:srgbClr val="D8E1DB"/>
              </a:solidFill>
            </a:ln>
          </c:spPr>
        </c:majorGridlines>
        <c:numFmt formatCode="#,##0"/>
        <c:majorTickMark val="none"/>
        <c:minorTickMark val="none"/>
        <c:spPr>
          <a:ln xmlns:a="http://schemas.openxmlformats.org/drawingml/2006/main" w="9525">
            <a:solidFill>
              <a:srgbClr val="D8E1DB"/>
            </a:solidFill>
          </a:ln>
        </c:spPr>
        <c:txPr>
          <a:bodyPr xmlns:a="http://schemas.openxmlformats.org/drawingml/2006/main" anchorCtr="1"/>
          <a:lstStyle xmlns:a="http://schemas.openxmlformats.org/drawingml/2006/main"/>
          <a:p xmlns:a="http://schemas.openxmlformats.org/drawingml/2006/main">
            <a:pPr>
              <a:defRPr sz="1650">
                <a:solidFill>
                  <a:srgbClr val="173A42"/>
                </a:solidFill>
                <a:latin typeface="Arial"/>
                <a:ea typeface="Arial"/>
                <a:cs typeface="Arial"/>
              </a:defRPr>
            </a:pPr>
          </a:p>
        </c:txPr>
        <c:crossAx val="48650112"/>
        <c:crossBetween val="between"/>
        <c:majorUnit val="1000"/>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varyColors val="0"/>
        <c:ser>
          <c:idx val="0"/>
          <c:order val="0"/>
          <c:tx>
            <c:v>Validatie-MAE</c:v>
          </c:tx>
          <c:spPr>
            <a:solidFill xmlns:a="http://schemas.openxmlformats.org/drawingml/2006/main">
              <a:srgbClr val="12796B"/>
            </a:solidFill>
          </c:spPr>
          <c:invertIfNegative val="0"/>
          <c:cat>
            <c:numRef>
              <c:f>'Chart Data'!$A$2:$A$25</c:f>
              <c:numCache>
                <c:formatCode>#,##0</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cat>
          <c:val>
            <c:numRef>
              <c:f>'Chart Data'!$B$2:$B$25</c:f>
              <c:numCache>
                <c:formatCode>#,##0</c:formatCode>
                <c:ptCount val="24"/>
                <c:pt idx="0">
                  <c:v>1275</c:v>
                </c:pt>
                <c:pt idx="1">
                  <c:v>628.62</c:v>
                </c:pt>
                <c:pt idx="2">
                  <c:v>341.41</c:v>
                </c:pt>
                <c:pt idx="3">
                  <c:v>161.18</c:v>
                </c:pt>
                <c:pt idx="4">
                  <c:v>101.48</c:v>
                </c:pt>
                <c:pt idx="5">
                  <c:v>142.14</c:v>
                </c:pt>
                <c:pt idx="6">
                  <c:v>319.05</c:v>
                </c:pt>
                <c:pt idx="7">
                  <c:v>676.26</c:v>
                </c:pt>
                <c:pt idx="8">
                  <c:v>1151.54</c:v>
                </c:pt>
                <c:pt idx="9">
                  <c:v>807.3</c:v>
                </c:pt>
                <c:pt idx="10">
                  <c:v>700.89</c:v>
                </c:pt>
                <c:pt idx="11">
                  <c:v>971.18</c:v>
                </c:pt>
                <c:pt idx="12">
                  <c:v>1262.58</c:v>
                </c:pt>
                <c:pt idx="13">
                  <c:v>1395.73</c:v>
                </c:pt>
                <c:pt idx="14">
                  <c:v>1688.46</c:v>
                </c:pt>
                <c:pt idx="15">
                  <c:v>1659.27</c:v>
                </c:pt>
                <c:pt idx="16">
                  <c:v>1926.01</c:v>
                </c:pt>
                <c:pt idx="17">
                  <c:v>2422.61</c:v>
                </c:pt>
                <c:pt idx="18">
                  <c:v>2220.23</c:v>
                </c:pt>
                <c:pt idx="19">
                  <c:v>1960.05</c:v>
                </c:pt>
                <c:pt idx="20">
                  <c:v>1602.58</c:v>
                </c:pt>
                <c:pt idx="21">
                  <c:v>1078.21</c:v>
                </c:pt>
                <c:pt idx="22">
                  <c:v>838.09</c:v>
                </c:pt>
                <c:pt idx="23">
                  <c:v>1417.6</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4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Lokaal uur</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8E1DB"/>
            </a:solidFill>
          </a:ln>
        </c:spPr>
        <c:txPr>
          <a:bodyPr xmlns:a="http://schemas.openxmlformats.org/drawingml/2006/main" anchorCtr="1"/>
          <a:lstStyle xmlns:a="http://schemas.openxmlformats.org/drawingml/2006/main"/>
          <a:p xmlns:a="http://schemas.openxmlformats.org/drawingml/2006/main">
            <a:pPr>
              <a:defRPr sz="1650">
                <a:solidFill>
                  <a:srgbClr val="173A42"/>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8E1DB"/>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MAE in ritten/uurvak</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8E1DB"/>
            </a:solidFill>
          </a:ln>
        </c:spPr>
        <c:txPr>
          <a:bodyPr xmlns:a="http://schemas.openxmlformats.org/drawingml/2006/main" anchorCtr="1"/>
          <a:lstStyle xmlns:a="http://schemas.openxmlformats.org/drawingml/2006/main"/>
          <a:p xmlns:a="http://schemas.openxmlformats.org/drawingml/2006/main">
            <a:pPr>
              <a:defRPr sz="1650">
                <a:solidFill>
                  <a:srgbClr val="173A42"/>
                </a:solidFill>
                <a:latin typeface="Arial"/>
                <a:ea typeface="Arial"/>
                <a:cs typeface="Arial"/>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3A4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1F79191-3C66-4006-A706-F3CAEF133E8B}"/>
              </a:ext>
            </a:extLst>
          </p:cNvPr>
          <p:cNvSpPr>
            <a:spLocks xmlns:a="http://schemas.openxmlformats.org/drawingml/2006/main" noGrp="1"/>
          </p:cNvSpPr>
          <p:nvPr/>
        </p:nvSpPr>
        <p:spPr>
          <a:xfrm xmlns:a="http://schemas.openxmlformats.org/drawingml/2006/main">
            <a:off x="685800" y="590550"/>
            <a:ext cx="952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A8D5C0"/>
                </a:solidFill>
                <a:latin typeface="Arial"/>
                <a:ea typeface="Arial"/>
                <a:cs typeface="Arial"/>
              </a:defRPr>
            </a:defPPr>
          </a:lstStyle>
          <a:p xmlns:a="http://schemas.openxmlformats.org/drawingml/2006/main">
            <a:pPr>
              <a:defRPr sz="2250" b="1">
                <a:solidFill>
                  <a:srgbClr val="A8D5C0"/>
                </a:solidFill>
                <a:latin typeface="Arial"/>
                <a:ea typeface="Arial"/>
                <a:cs typeface="Arial"/>
              </a:defRPr>
            </a:pPr>
            <a:r>
              <a:rPr sz="2250" b="1">
                <a:solidFill>
                  <a:srgbClr val="A8D5C0"/>
                </a:solidFill>
                <a:latin typeface="Arial"/>
                <a:ea typeface="Arial"/>
                <a:cs typeface="Arial"/>
              </a:rPr>
              <a:t>MESSI10</a:t>
            </a:r>
          </a:p>
        </p:txBody>
      </p:sp>
      <p:sp>
        <p:nvSpPr>
          <p:cNvPr id="2" name="">
            <a:extLst xmlns:a="http://schemas.openxmlformats.org/drawingml/2006/main">
              <a:ext uri="{FF2B5EF4-FFF2-40B4-BE49-F238E27FC236}">
                <a16:creationId xmlns:a16="http://schemas.microsoft.com/office/drawing/2014/main" id="{56D82844-20EA-4B05-B61B-A2F6A852EFC1}"/>
              </a:ext>
            </a:extLst>
          </p:cNvPr>
          <p:cNvSpPr>
            <a:spLocks xmlns:a="http://schemas.openxmlformats.org/drawingml/2006/main" noGrp="1"/>
          </p:cNvSpPr>
          <p:nvPr/>
        </p:nvSpPr>
        <p:spPr>
          <a:xfrm xmlns:a="http://schemas.openxmlformats.org/drawingml/2006/main">
            <a:off x="685800" y="1524000"/>
            <a:ext cx="10287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6000" b="1">
                <a:solidFill>
                  <a:srgbClr val="FFFFFF"/>
                </a:solidFill>
                <a:latin typeface="Arial"/>
                <a:ea typeface="Arial"/>
                <a:cs typeface="Arial"/>
              </a:defRPr>
            </a:defPPr>
          </a:lstStyle>
          <a:p xmlns:a="http://schemas.openxmlformats.org/drawingml/2006/main">
            <a:pPr>
              <a:defRPr sz="6000" b="1">
                <a:solidFill>
                  <a:srgbClr val="FFFFFF"/>
                </a:solidFill>
                <a:latin typeface="Arial"/>
                <a:ea typeface="Arial"/>
                <a:cs typeface="Arial"/>
              </a:defRPr>
            </a:pPr>
            <a:r>
              <a:rPr sz="6000" b="1">
                <a:solidFill>
                  <a:srgbClr val="FFFFFF"/>
                </a:solidFill>
                <a:latin typeface="Arial"/>
                <a:ea typeface="Arial"/>
                <a:cs typeface="Arial"/>
              </a:rPr>
              <a:t>Citi Bike</a:t>
            </a:r>
            <a:br>
              <a:rPr sz="6000" b="1">
                <a:solidFill>
                  <a:srgbClr val="FFFFFF"/>
                </a:solidFill>
                <a:latin typeface="Arial"/>
                <a:ea typeface="Arial"/>
                <a:cs typeface="Arial"/>
              </a:rPr>
            </a:br>
            <a:r>
              <a:rPr sz="6000" b="1">
                <a:solidFill>
                  <a:srgbClr val="FFFFFF"/>
                </a:solidFill>
                <a:latin typeface="Arial"/>
                <a:ea typeface="Arial"/>
                <a:cs typeface="Arial"/>
              </a:rPr>
              <a:t>mijn deel</a:t>
            </a:r>
          </a:p>
        </p:txBody>
      </p:sp>
      <p:sp>
        <p:nvSpPr>
          <p:cNvPr id="3" name="">
            <a:extLst xmlns:a="http://schemas.openxmlformats.org/drawingml/2006/main">
              <a:ext uri="{FF2B5EF4-FFF2-40B4-BE49-F238E27FC236}">
                <a16:creationId xmlns:a16="http://schemas.microsoft.com/office/drawing/2014/main" id="{A670E45B-280A-4EA1-B752-6CBD4EE78CCE}"/>
              </a:ext>
            </a:extLst>
          </p:cNvPr>
          <p:cNvSpPr>
            <a:spLocks xmlns:a="http://schemas.openxmlformats.org/drawingml/2006/main" noGrp="1"/>
          </p:cNvSpPr>
          <p:nvPr/>
        </p:nvSpPr>
        <p:spPr>
          <a:xfrm xmlns:a="http://schemas.openxmlformats.org/drawingml/2006/main">
            <a:off x="723900" y="40576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FFFFFF"/>
                </a:solidFill>
                <a:latin typeface="Arial"/>
                <a:ea typeface="Arial"/>
                <a:cs typeface="Arial"/>
              </a:defRPr>
            </a:defPPr>
          </a:lstStyle>
          <a:p xmlns:a="http://schemas.openxmlformats.org/drawingml/2006/main">
            <a:pPr>
              <a:defRPr sz="2850" b="1">
                <a:solidFill>
                  <a:srgbClr val="FFFFFF"/>
                </a:solidFill>
                <a:latin typeface="Arial"/>
                <a:ea typeface="Arial"/>
                <a:cs typeface="Arial"/>
              </a:defRPr>
            </a:pPr>
            <a:r>
              <a:rPr sz="2850" b="1">
                <a:solidFill>
                  <a:srgbClr val="FFFFFF"/>
                </a:solidFill>
                <a:latin typeface="Arial"/>
                <a:ea typeface="Arial"/>
                <a:cs typeface="Arial"/>
              </a:rPr>
              <a:t>Raoul Buffels</a:t>
            </a:r>
          </a:p>
        </p:txBody>
      </p:sp>
      <p:sp>
        <p:nvSpPr>
          <p:cNvPr id="4" name="">
            <a:extLst xmlns:a="http://schemas.openxmlformats.org/drawingml/2006/main">
              <a:ext uri="{FF2B5EF4-FFF2-40B4-BE49-F238E27FC236}">
                <a16:creationId xmlns:a16="http://schemas.microsoft.com/office/drawing/2014/main" id="{17A47801-55EF-4CE5-BBD9-628C623DAF47}"/>
              </a:ext>
            </a:extLst>
          </p:cNvPr>
          <p:cNvSpPr>
            <a:spLocks xmlns:a="http://schemas.openxmlformats.org/drawingml/2006/main" noGrp="1"/>
          </p:cNvSpPr>
          <p:nvPr/>
        </p:nvSpPr>
        <p:spPr>
          <a:xfrm xmlns:a="http://schemas.openxmlformats.org/drawingml/2006/main">
            <a:off x="723900" y="4657725"/>
            <a:ext cx="1038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D5E8DF"/>
                </a:solidFill>
                <a:latin typeface="Arial"/>
                <a:ea typeface="Arial"/>
                <a:cs typeface="Arial"/>
              </a:defRPr>
            </a:defPPr>
          </a:lstStyle>
          <a:p xmlns:a="http://schemas.openxmlformats.org/drawingml/2006/main">
            <a:pPr>
              <a:defRPr sz="2100" b="0">
                <a:solidFill>
                  <a:srgbClr val="D5E8DF"/>
                </a:solidFill>
                <a:latin typeface="Arial"/>
                <a:ea typeface="Arial"/>
                <a:cs typeface="Arial"/>
              </a:defRPr>
            </a:pPr>
            <a:r>
              <a:rPr sz="2100" b="0">
                <a:solidFill>
                  <a:srgbClr val="D5E8DF"/>
                </a:solidFill>
                <a:latin typeface="Arial"/>
                <a:ea typeface="Arial"/>
                <a:cs typeface="Arial"/>
              </a:rPr>
              <a:t>Dataonderzoek, modellen en de Citi Bike-applicatie</a:t>
            </a:r>
          </a:p>
        </p:txBody>
      </p:sp>
      <p:sp>
        <p:nvSpPr>
          <p:cNvPr id="5" name="">
            <a:extLst xmlns:a="http://schemas.openxmlformats.org/drawingml/2006/main">
              <a:ext uri="{FF2B5EF4-FFF2-40B4-BE49-F238E27FC236}">
                <a16:creationId xmlns:a16="http://schemas.microsoft.com/office/drawing/2014/main" id="{43A7B75E-1295-4F70-BF21-A7436AEF43CD}"/>
              </a:ext>
            </a:extLst>
          </p:cNvPr>
          <p:cNvSpPr>
            <a:spLocks xmlns:a="http://schemas.openxmlformats.org/drawingml/2006/main" noGrp="1"/>
          </p:cNvSpPr>
          <p:nvPr/>
        </p:nvSpPr>
        <p:spPr>
          <a:xfrm xmlns:a="http://schemas.openxmlformats.org/drawingml/2006/main">
            <a:off x="723900" y="5648325"/>
            <a:ext cx="10382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D5E8DF"/>
                </a:solidFill>
                <a:latin typeface="Arial"/>
                <a:ea typeface="Arial"/>
                <a:cs typeface="Arial"/>
              </a:defRPr>
            </a:defPPr>
          </a:lstStyle>
          <a:p xmlns:a="http://schemas.openxmlformats.org/drawingml/2006/main">
            <a:pPr>
              <a:defRPr sz="1800" b="0">
                <a:solidFill>
                  <a:srgbClr val="D5E8DF"/>
                </a:solidFill>
                <a:latin typeface="Arial"/>
                <a:ea typeface="Arial"/>
                <a:cs typeface="Arial"/>
              </a:defRPr>
            </a:pPr>
            <a:r>
              <a:rPr sz="1800" b="0">
                <a:solidFill>
                  <a:srgbClr val="D5E8DF"/>
                </a:solidFill>
                <a:latin typeface="Arial"/>
                <a:ea typeface="Arial"/>
                <a:cs typeface="Arial"/>
              </a:rPr>
              <a:t>Team: Jorre Van Dyck, Milan Wouters,</a:t>
            </a:r>
            <a:br>
              <a:rPr sz="1800" b="0">
                <a:solidFill>
                  <a:srgbClr val="D5E8DF"/>
                </a:solidFill>
                <a:latin typeface="Arial"/>
                <a:ea typeface="Arial"/>
                <a:cs typeface="Arial"/>
              </a:rPr>
            </a:br>
            <a:r>
              <a:rPr sz="1800" b="0">
                <a:solidFill>
                  <a:srgbClr val="D5E8DF"/>
                </a:solidFill>
                <a:latin typeface="Arial"/>
                <a:ea typeface="Arial"/>
                <a:cs typeface="Arial"/>
              </a:rPr>
              <a:t>Andrew Noeyens en Raoul Buffels</a:t>
            </a:r>
          </a:p>
        </p:txBody>
      </p:sp>
    </p:spTree>
    <p:extLst>
      <p:ext uri="{BB962C8B-B14F-4D97-AF65-F5344CB8AC3E}">
        <p14:creationId xmlns:p14="http://schemas.microsoft.com/office/powerpoint/2010/main" val="176077889"/>
      </p:ext>
    </p:extLst>
  </p:cSld>
</p:sld>
</file>

<file path=ppt/slides/slide2.xml><?xml version="1.0" encoding="utf-8"?>
<p:sld xmlns:p="http://schemas.openxmlformats.org/presentationml/2006/main">
  <p:cSld>
    <p:bg>
      <p:bgPr>
        <a:solidFill xmlns:a="http://schemas.openxmlformats.org/drawingml/2006/main">
          <a:srgbClr val="F7F9F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A38C404-7E17-4E5F-9191-C610AFD236BB}"/>
              </a:ext>
            </a:extLst>
          </p:cNvPr>
          <p:cNvSpPr>
            <a:spLocks xmlns:a="http://schemas.openxmlformats.org/drawingml/2006/main" noGrp="1"/>
          </p:cNvSpPr>
          <p:nvPr/>
        </p:nvSpPr>
        <p:spPr>
          <a:xfrm xmlns:a="http://schemas.openxmlformats.org/drawingml/2006/main">
            <a:off x="685800" y="32385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1">
                <a:solidFill>
                  <a:srgbClr val="12796B"/>
                </a:solidFill>
                <a:latin typeface="Arial"/>
                <a:ea typeface="Arial"/>
                <a:cs typeface="Arial"/>
              </a:defRPr>
            </a:defPPr>
          </a:lstStyle>
          <a:p xmlns:a="http://schemas.openxmlformats.org/drawingml/2006/main">
            <a:pPr>
              <a:defRPr sz="1425" b="1">
                <a:solidFill>
                  <a:srgbClr val="12796B"/>
                </a:solidFill>
                <a:latin typeface="Arial"/>
                <a:ea typeface="Arial"/>
                <a:cs typeface="Arial"/>
              </a:defRPr>
            </a:pPr>
            <a:r>
              <a:rPr sz="1425" b="1">
                <a:solidFill>
                  <a:srgbClr val="12796B"/>
                </a:solidFill>
                <a:latin typeface="Arial"/>
                <a:ea typeface="Arial"/>
                <a:cs typeface="Arial"/>
              </a:rPr>
              <a:t>EDA</a:t>
            </a:r>
          </a:p>
        </p:txBody>
      </p:sp>
      <p:sp>
        <p:nvSpPr>
          <p:cNvPr id="2" name="">
            <a:extLst xmlns:a="http://schemas.openxmlformats.org/drawingml/2006/main">
              <a:ext uri="{FF2B5EF4-FFF2-40B4-BE49-F238E27FC236}">
                <a16:creationId xmlns:a16="http://schemas.microsoft.com/office/drawing/2014/main" id="{026535E0-93FA-498B-A816-C8CB390263D6}"/>
              </a:ext>
            </a:extLst>
          </p:cNvPr>
          <p:cNvSpPr>
            <a:spLocks xmlns:a="http://schemas.openxmlformats.org/drawingml/2006/main" noGrp="1"/>
          </p:cNvSpPr>
          <p:nvPr/>
        </p:nvSpPr>
        <p:spPr>
          <a:xfrm xmlns:a="http://schemas.openxmlformats.org/drawingml/2006/main">
            <a:off x="685800" y="7810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A42"/>
                </a:solidFill>
                <a:latin typeface="Arial"/>
                <a:ea typeface="Arial"/>
                <a:cs typeface="Arial"/>
              </a:defRPr>
            </a:defPPr>
          </a:lstStyle>
          <a:p xmlns:a="http://schemas.openxmlformats.org/drawingml/2006/main">
            <a:pPr>
              <a:defRPr sz="3300" b="1">
                <a:solidFill>
                  <a:srgbClr val="173A42"/>
                </a:solidFill>
                <a:latin typeface="Arial"/>
                <a:ea typeface="Arial"/>
                <a:cs typeface="Arial"/>
              </a:defRPr>
            </a:pPr>
            <a:r>
              <a:rPr sz="3300" b="1">
                <a:solidFill>
                  <a:srgbClr val="173A42"/>
                </a:solidFill>
                <a:latin typeface="Arial"/>
                <a:ea typeface="Arial"/>
                <a:cs typeface="Arial"/>
              </a:rPr>
              <a:t>Wat ik in de brondata tegenkwam</a:t>
            </a:r>
          </a:p>
        </p:txBody>
      </p:sp>
      <p:sp>
        <p:nvSpPr>
          <p:cNvPr id="3" name="">
            <a:extLst xmlns:a="http://schemas.openxmlformats.org/drawingml/2006/main">
              <a:ext uri="{FF2B5EF4-FFF2-40B4-BE49-F238E27FC236}">
                <a16:creationId xmlns:a16="http://schemas.microsoft.com/office/drawing/2014/main" id="{559A915E-F801-4B38-8211-EB5E8178E3F8}"/>
              </a:ext>
            </a:extLst>
          </p:cNvPr>
          <p:cNvSpPr>
            <a:spLocks xmlns:a="http://schemas.openxmlformats.org/drawingml/2006/main" noGrp="1"/>
          </p:cNvSpPr>
          <p:nvPr/>
        </p:nvSpPr>
        <p:spPr>
          <a:xfrm xmlns:a="http://schemas.openxmlformats.org/drawingml/2006/main">
            <a:off x="11239500" y="64198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2766E"/>
                </a:solidFill>
                <a:latin typeface="Arial"/>
                <a:ea typeface="Arial"/>
                <a:cs typeface="Arial"/>
              </a:defRPr>
            </a:defPPr>
          </a:lstStyle>
          <a:p xmlns:a="http://schemas.openxmlformats.org/drawingml/2006/main">
            <a:pPr>
              <a:defRPr sz="1350" b="0">
                <a:solidFill>
                  <a:srgbClr val="62766E"/>
                </a:solidFill>
                <a:latin typeface="Arial"/>
                <a:ea typeface="Arial"/>
                <a:cs typeface="Arial"/>
              </a:defRPr>
            </a:pPr>
            <a:r>
              <a:rPr sz="1350" b="0">
                <a:solidFill>
                  <a:srgbClr val="62766E"/>
                </a:solidFill>
                <a:latin typeface="Arial"/>
                <a:ea typeface="Arial"/>
                <a:cs typeface="Arial"/>
              </a:rPr>
              <a:t>2</a:t>
            </a:r>
          </a:p>
        </p:txBody>
      </p:sp>
      <p:sp>
        <p:nvSpPr>
          <p:cNvPr id="4" name="">
            <a:extLst xmlns:a="http://schemas.openxmlformats.org/drawingml/2006/main">
              <a:ext uri="{FF2B5EF4-FFF2-40B4-BE49-F238E27FC236}">
                <a16:creationId xmlns:a16="http://schemas.microsoft.com/office/drawing/2014/main" id="{2568CBD3-0AC0-4782-A7A0-AF92575AF456}"/>
              </a:ext>
            </a:extLst>
          </p:cNvPr>
          <p:cNvSpPr>
            <a:spLocks xmlns:a="http://schemas.openxmlformats.org/drawingml/2006/main" noGrp="1"/>
          </p:cNvSpPr>
          <p:nvPr/>
        </p:nvSpPr>
        <p:spPr>
          <a:xfrm xmlns:a="http://schemas.openxmlformats.org/drawingml/2006/main">
            <a:off x="685800" y="1695450"/>
            <a:ext cx="504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225" b="1">
                <a:solidFill>
                  <a:srgbClr val="12796B"/>
                </a:solidFill>
                <a:latin typeface="Arial"/>
                <a:ea typeface="Arial"/>
                <a:cs typeface="Arial"/>
              </a:defRPr>
            </a:defPPr>
          </a:lstStyle>
          <a:p xmlns:a="http://schemas.openxmlformats.org/drawingml/2006/main">
            <a:pPr>
              <a:defRPr sz="3225" b="1">
                <a:solidFill>
                  <a:srgbClr val="12796B"/>
                </a:solidFill>
                <a:latin typeface="Arial"/>
                <a:ea typeface="Arial"/>
                <a:cs typeface="Arial"/>
              </a:defRPr>
            </a:pPr>
            <a:r>
              <a:rPr sz="3225" b="1">
                <a:solidFill>
                  <a:srgbClr val="12796B"/>
                </a:solidFill>
                <a:latin typeface="Arial"/>
                <a:ea typeface="Arial"/>
                <a:cs typeface="Arial"/>
              </a:rPr>
              <a:t>175 ZIP-bronnen</a:t>
            </a:r>
          </a:p>
        </p:txBody>
      </p:sp>
      <p:sp>
        <p:nvSpPr>
          <p:cNvPr id="5" name="">
            <a:extLst xmlns:a="http://schemas.openxmlformats.org/drawingml/2006/main">
              <a:ext uri="{FF2B5EF4-FFF2-40B4-BE49-F238E27FC236}">
                <a16:creationId xmlns:a16="http://schemas.microsoft.com/office/drawing/2014/main" id="{802702A5-9354-4645-990E-5D90C67EE728}"/>
              </a:ext>
            </a:extLst>
          </p:cNvPr>
          <p:cNvSpPr>
            <a:spLocks xmlns:a="http://schemas.openxmlformats.org/drawingml/2006/main" noGrp="1"/>
          </p:cNvSpPr>
          <p:nvPr/>
        </p:nvSpPr>
        <p:spPr>
          <a:xfrm xmlns:a="http://schemas.openxmlformats.org/drawingml/2006/main">
            <a:off x="685800" y="2352675"/>
            <a:ext cx="5143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173A42"/>
                </a:solidFill>
                <a:latin typeface="Arial"/>
                <a:ea typeface="Arial"/>
                <a:cs typeface="Arial"/>
              </a:defRPr>
            </a:defPPr>
          </a:lstStyle>
          <a:p xmlns:a="http://schemas.openxmlformats.org/drawingml/2006/main">
            <a:pPr>
              <a:defRPr sz="1950" b="0">
                <a:solidFill>
                  <a:srgbClr val="173A42"/>
                </a:solidFill>
                <a:latin typeface="Arial"/>
                <a:ea typeface="Arial"/>
                <a:cs typeface="Arial"/>
              </a:defRPr>
            </a:pPr>
            <a:r>
              <a:rPr sz="1950" b="0">
                <a:solidFill>
                  <a:srgbClr val="173A42"/>
                </a:solidFill>
                <a:latin typeface="Arial"/>
                <a:ea typeface="Arial"/>
                <a:cs typeface="Arial"/>
              </a:rPr>
              <a:t>NYC en Jersey City, apart verwerkt</a:t>
            </a:r>
          </a:p>
        </p:txBody>
      </p:sp>
      <p:sp>
        <p:nvSpPr>
          <p:cNvPr id="6" name="">
            <a:extLst xmlns:a="http://schemas.openxmlformats.org/drawingml/2006/main">
              <a:ext uri="{FF2B5EF4-FFF2-40B4-BE49-F238E27FC236}">
                <a16:creationId xmlns:a16="http://schemas.microsoft.com/office/drawing/2014/main" id="{33F32547-2AE8-4593-A702-00894887FF72}"/>
              </a:ext>
            </a:extLst>
          </p:cNvPr>
          <p:cNvSpPr>
            <a:spLocks xmlns:a="http://schemas.openxmlformats.org/drawingml/2006/main" noGrp="1"/>
          </p:cNvSpPr>
          <p:nvPr/>
        </p:nvSpPr>
        <p:spPr>
          <a:xfrm xmlns:a="http://schemas.openxmlformats.org/drawingml/2006/main">
            <a:off x="685800" y="3409950"/>
            <a:ext cx="552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850" b="1">
                <a:solidFill>
                  <a:srgbClr val="173A42"/>
                </a:solidFill>
                <a:latin typeface="Arial"/>
                <a:ea typeface="Arial"/>
                <a:cs typeface="Arial"/>
              </a:defRPr>
            </a:defPPr>
          </a:lstStyle>
          <a:p xmlns:a="http://schemas.openxmlformats.org/drawingml/2006/main">
            <a:pPr>
              <a:defRPr sz="2850" b="1">
                <a:solidFill>
                  <a:srgbClr val="173A42"/>
                </a:solidFill>
                <a:latin typeface="Arial"/>
                <a:ea typeface="Arial"/>
                <a:cs typeface="Arial"/>
              </a:defRPr>
            </a:pPr>
            <a:r>
              <a:rPr sz="2850" b="1">
                <a:solidFill>
                  <a:srgbClr val="173A42"/>
                </a:solidFill>
                <a:latin typeface="Arial"/>
                <a:ea typeface="Arial"/>
                <a:cs typeface="Arial"/>
              </a:rPr>
              <a:t>323,8 miljoen NYC-records</a:t>
            </a:r>
          </a:p>
        </p:txBody>
      </p:sp>
      <p:sp>
        <p:nvSpPr>
          <p:cNvPr id="7" name="">
            <a:extLst xmlns:a="http://schemas.openxmlformats.org/drawingml/2006/main">
              <a:ext uri="{FF2B5EF4-FFF2-40B4-BE49-F238E27FC236}">
                <a16:creationId xmlns:a16="http://schemas.microsoft.com/office/drawing/2014/main" id="{599C1990-96DC-49C0-A44B-E429C95CF247}"/>
              </a:ext>
            </a:extLst>
          </p:cNvPr>
          <p:cNvSpPr>
            <a:spLocks xmlns:a="http://schemas.openxmlformats.org/drawingml/2006/main" noGrp="1"/>
          </p:cNvSpPr>
          <p:nvPr/>
        </p:nvSpPr>
        <p:spPr>
          <a:xfrm xmlns:a="http://schemas.openxmlformats.org/drawingml/2006/main">
            <a:off x="685800" y="4095750"/>
            <a:ext cx="5334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62766E"/>
                </a:solidFill>
                <a:latin typeface="Arial"/>
                <a:ea typeface="Arial"/>
                <a:cs typeface="Arial"/>
              </a:defRPr>
            </a:defPPr>
          </a:lstStyle>
          <a:p xmlns:a="http://schemas.openxmlformats.org/drawingml/2006/main">
            <a:pPr>
              <a:defRPr sz="1875" b="0">
                <a:solidFill>
                  <a:srgbClr val="62766E"/>
                </a:solidFill>
                <a:latin typeface="Arial"/>
                <a:ea typeface="Arial"/>
                <a:cs typeface="Arial"/>
              </a:defRPr>
            </a:pPr>
            <a:r>
              <a:rPr sz="1875" b="0">
                <a:solidFill>
                  <a:srgbClr val="62766E"/>
                </a:solidFill>
                <a:latin typeface="Arial"/>
                <a:ea typeface="Arial"/>
                <a:cs typeface="Arial"/>
              </a:rPr>
              <a:t>Technische dekking: juni 2013–augustus 2026</a:t>
            </a:r>
            <a:br>
              <a:rPr sz="1875" b="0">
                <a:solidFill>
                  <a:srgbClr val="62766E"/>
                </a:solidFill>
                <a:latin typeface="Arial"/>
                <a:ea typeface="Arial"/>
                <a:cs typeface="Arial"/>
              </a:rPr>
            </a:br>
            <a:r>
              <a:rPr sz="1875" b="0">
                <a:solidFill>
                  <a:srgbClr val="62766E"/>
                </a:solidFill>
                <a:latin typeface="Arial"/>
                <a:ea typeface="Arial"/>
                <a:cs typeface="Arial"/>
              </a:rPr>
              <a:t>EDA: uitsluitend vóór mei 2026</a:t>
            </a:r>
          </a:p>
        </p:txBody>
      </p:sp>
      <p:sp>
        <p:nvSpPr>
          <p:cNvPr id="8" name="">
            <a:extLst xmlns:a="http://schemas.openxmlformats.org/drawingml/2006/main">
              <a:ext uri="{FF2B5EF4-FFF2-40B4-BE49-F238E27FC236}">
                <a16:creationId xmlns:a16="http://schemas.microsoft.com/office/drawing/2014/main" id="{011E33A8-8C7C-4E58-BB76-4659F58A52F1}"/>
              </a:ext>
            </a:extLst>
          </p:cNvPr>
          <p:cNvSpPr>
            <a:spLocks xmlns:a="http://schemas.openxmlformats.org/drawingml/2006/main" noGrp="1"/>
          </p:cNvSpPr>
          <p:nvPr/>
        </p:nvSpPr>
        <p:spPr>
          <a:xfrm xmlns:a="http://schemas.openxmlformats.org/drawingml/2006/main">
            <a:off x="6858000" y="1714500"/>
            <a:ext cx="4572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173A42"/>
                </a:solidFill>
                <a:latin typeface="Arial"/>
                <a:ea typeface="Arial"/>
                <a:cs typeface="Arial"/>
              </a:defRPr>
            </a:defPPr>
          </a:lstStyle>
          <a:p xmlns:a="http://schemas.openxmlformats.org/drawingml/2006/main">
            <a:pPr>
              <a:defRPr sz="2400" b="1">
                <a:solidFill>
                  <a:srgbClr val="173A42"/>
                </a:solidFill>
                <a:latin typeface="Arial"/>
                <a:ea typeface="Arial"/>
                <a:cs typeface="Arial"/>
              </a:defRPr>
            </a:pPr>
            <a:r>
              <a:rPr sz="2400" b="1">
                <a:solidFill>
                  <a:srgbClr val="173A42"/>
                </a:solidFill>
                <a:latin typeface="Arial"/>
                <a:ea typeface="Arial"/>
                <a:cs typeface="Arial"/>
              </a:rPr>
              <a:t>Wat mij opviel</a:t>
            </a:r>
          </a:p>
        </p:txBody>
      </p:sp>
      <p:sp>
        <p:nvSpPr>
          <p:cNvPr id="9" name="">
            <a:extLst xmlns:a="http://schemas.openxmlformats.org/drawingml/2006/main">
              <a:ext uri="{FF2B5EF4-FFF2-40B4-BE49-F238E27FC236}">
                <a16:creationId xmlns:a16="http://schemas.microsoft.com/office/drawing/2014/main" id="{10D4739A-4992-41B8-A273-15B1B4F52DD5}"/>
              </a:ext>
            </a:extLst>
          </p:cNvPr>
          <p:cNvSpPr>
            <a:spLocks xmlns:a="http://schemas.openxmlformats.org/drawingml/2006/main" noGrp="1"/>
          </p:cNvSpPr>
          <p:nvPr/>
        </p:nvSpPr>
        <p:spPr>
          <a:xfrm xmlns:a="http://schemas.openxmlformats.org/drawingml/2006/main">
            <a:off x="6858000" y="2352675"/>
            <a:ext cx="4524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3A42"/>
                </a:solidFill>
                <a:latin typeface="Arial"/>
                <a:ea typeface="Arial"/>
                <a:cs typeface="Arial"/>
              </a:defRPr>
            </a:defPPr>
          </a:lstStyle>
          <a:p xmlns:a="http://schemas.openxmlformats.org/drawingml/2006/main">
            <a:pPr>
              <a:defRPr sz="2025" b="0">
                <a:solidFill>
                  <a:srgbClr val="173A42"/>
                </a:solidFill>
                <a:latin typeface="Arial"/>
                <a:ea typeface="Arial"/>
                <a:cs typeface="Arial"/>
              </a:defRPr>
            </a:pPr>
            <a:r>
              <a:rPr sz="2025" b="0">
                <a:solidFill>
                  <a:srgbClr val="173A42"/>
                </a:solidFill>
                <a:latin typeface="Arial"/>
                <a:ea typeface="Arial"/>
                <a:cs typeface="Arial"/>
              </a:rPr>
              <a:t>Bronarchieven overlappen</a:t>
            </a:r>
            <a:br>
              <a:rPr sz="2025" b="0">
                <a:solidFill>
                  <a:srgbClr val="173A42"/>
                </a:solidFill>
                <a:latin typeface="Arial"/>
                <a:ea typeface="Arial"/>
                <a:cs typeface="Arial"/>
              </a:rPr>
            </a:br>
            <a:br>
              <a:rPr sz="2025" b="0">
                <a:solidFill>
                  <a:srgbClr val="173A42"/>
                </a:solidFill>
                <a:latin typeface="Arial"/>
                <a:ea typeface="Arial"/>
                <a:cs typeface="Arial"/>
              </a:rPr>
            </a:br>
            <a:r>
              <a:rPr sz="2025" b="0">
                <a:solidFill>
                  <a:srgbClr val="173A42"/>
                </a:solidFill>
                <a:latin typeface="Arial"/>
                <a:ea typeface="Arial"/>
                <a:cs typeface="Arial"/>
              </a:rPr>
              <a:t>Schema’s veranderen door de jaren</a:t>
            </a:r>
            <a:br>
              <a:rPr sz="2025" b="0">
                <a:solidFill>
                  <a:srgbClr val="173A42"/>
                </a:solidFill>
                <a:latin typeface="Arial"/>
                <a:ea typeface="Arial"/>
                <a:cs typeface="Arial"/>
              </a:rPr>
            </a:br>
            <a:br>
              <a:rPr sz="2025" b="0">
                <a:solidFill>
                  <a:srgbClr val="173A42"/>
                </a:solidFill>
                <a:latin typeface="Arial"/>
                <a:ea typeface="Arial"/>
                <a:cs typeface="Arial"/>
              </a:rPr>
            </a:br>
            <a:r>
              <a:rPr sz="2025" b="0">
                <a:solidFill>
                  <a:srgbClr val="173A42"/>
                </a:solidFill>
                <a:latin typeface="Arial"/>
                <a:ea typeface="Arial"/>
                <a:cs typeface="Arial"/>
              </a:rPr>
              <a:t>Lange geregistreerde duur vraagt uitleg</a:t>
            </a:r>
            <a:br>
              <a:rPr sz="2025" b="0">
                <a:solidFill>
                  <a:srgbClr val="173A42"/>
                </a:solidFill>
                <a:latin typeface="Arial"/>
                <a:ea typeface="Arial"/>
                <a:cs typeface="Arial"/>
              </a:rPr>
            </a:br>
            <a:br>
              <a:rPr sz="2025" b="0">
                <a:solidFill>
                  <a:srgbClr val="173A42"/>
                </a:solidFill>
                <a:latin typeface="Arial"/>
                <a:ea typeface="Arial"/>
                <a:cs typeface="Arial"/>
              </a:rPr>
            </a:br>
            <a:r>
              <a:rPr sz="2025" b="0">
                <a:solidFill>
                  <a:srgbClr val="173A42"/>
                </a:solidFill>
                <a:latin typeface="Arial"/>
                <a:ea typeface="Arial"/>
                <a:cs typeface="Arial"/>
              </a:rPr>
              <a:t>Een missing eindstation wist de start niet</a:t>
            </a:r>
          </a:p>
        </p:txBody>
      </p:sp>
    </p:spTree>
    <p:extLst>
      <p:ext uri="{BB962C8B-B14F-4D97-AF65-F5344CB8AC3E}">
        <p14:creationId xmlns:p14="http://schemas.microsoft.com/office/powerpoint/2010/main" val="59137522"/>
      </p:ext>
    </p:extLst>
  </p:cSld>
</p:sld>
</file>

<file path=ppt/slides/slide3.xml><?xml version="1.0" encoding="utf-8"?>
<p:sld xmlns:p="http://schemas.openxmlformats.org/presentationml/2006/main">
  <p:cSld>
    <p:bg>
      <p:bgPr>
        <a:solidFill xmlns:a="http://schemas.openxmlformats.org/drawingml/2006/main">
          <a:srgbClr val="F7F9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3BBDB37-5A6D-4CEB-8DFA-42EEE576904A}"/>
              </a:ext>
            </a:extLst>
          </p:cNvPr>
          <p:cNvSpPr>
            <a:spLocks xmlns:a="http://schemas.openxmlformats.org/drawingml/2006/main" noGrp="1"/>
          </p:cNvSpPr>
          <p:nvPr/>
        </p:nvSpPr>
        <p:spPr>
          <a:xfrm xmlns:a="http://schemas.openxmlformats.org/drawingml/2006/main">
            <a:off x="685800" y="32385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1">
                <a:solidFill>
                  <a:srgbClr val="12796B"/>
                </a:solidFill>
                <a:latin typeface="Arial"/>
                <a:ea typeface="Arial"/>
                <a:cs typeface="Arial"/>
              </a:defRPr>
            </a:defPPr>
          </a:lstStyle>
          <a:p xmlns:a="http://schemas.openxmlformats.org/drawingml/2006/main">
            <a:pPr>
              <a:defRPr sz="1425" b="1">
                <a:solidFill>
                  <a:srgbClr val="12796B"/>
                </a:solidFill>
                <a:latin typeface="Arial"/>
                <a:ea typeface="Arial"/>
                <a:cs typeface="Arial"/>
              </a:defRPr>
            </a:pPr>
            <a:r>
              <a:rPr sz="1425" b="1">
                <a:solidFill>
                  <a:srgbClr val="12796B"/>
                </a:solidFill>
                <a:latin typeface="Arial"/>
                <a:ea typeface="Arial"/>
                <a:cs typeface="Arial"/>
              </a:rPr>
              <a:t>EDA</a:t>
            </a:r>
          </a:p>
        </p:txBody>
      </p:sp>
      <p:sp>
        <p:nvSpPr>
          <p:cNvPr id="2" name="">
            <a:extLst xmlns:a="http://schemas.openxmlformats.org/drawingml/2006/main">
              <a:ext uri="{FF2B5EF4-FFF2-40B4-BE49-F238E27FC236}">
                <a16:creationId xmlns:a16="http://schemas.microsoft.com/office/drawing/2014/main" id="{C07314A5-E0B7-4388-8C05-03423A24807F}"/>
              </a:ext>
            </a:extLst>
          </p:cNvPr>
          <p:cNvSpPr>
            <a:spLocks xmlns:a="http://schemas.openxmlformats.org/drawingml/2006/main" noGrp="1"/>
          </p:cNvSpPr>
          <p:nvPr/>
        </p:nvSpPr>
        <p:spPr>
          <a:xfrm xmlns:a="http://schemas.openxmlformats.org/drawingml/2006/main">
            <a:off x="685800" y="7810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A42"/>
                </a:solidFill>
                <a:latin typeface="Arial"/>
                <a:ea typeface="Arial"/>
                <a:cs typeface="Arial"/>
              </a:defRPr>
            </a:defPPr>
          </a:lstStyle>
          <a:p xmlns:a="http://schemas.openxmlformats.org/drawingml/2006/main">
            <a:pPr>
              <a:defRPr sz="3300" b="1">
                <a:solidFill>
                  <a:srgbClr val="173A42"/>
                </a:solidFill>
                <a:latin typeface="Arial"/>
                <a:ea typeface="Arial"/>
                <a:cs typeface="Arial"/>
              </a:defRPr>
            </a:pPr>
            <a:r>
              <a:rPr sz="3300" b="1">
                <a:solidFill>
                  <a:srgbClr val="173A42"/>
                </a:solidFill>
                <a:latin typeface="Arial"/>
                <a:ea typeface="Arial"/>
                <a:cs typeface="Arial"/>
              </a:rPr>
              <a:t>Gebruik volgt het uur en de weekdag</a:t>
            </a:r>
          </a:p>
        </p:txBody>
      </p:sp>
      <p:sp>
        <p:nvSpPr>
          <p:cNvPr id="3" name="">
            <a:extLst xmlns:a="http://schemas.openxmlformats.org/drawingml/2006/main">
              <a:ext uri="{FF2B5EF4-FFF2-40B4-BE49-F238E27FC236}">
                <a16:creationId xmlns:a16="http://schemas.microsoft.com/office/drawing/2014/main" id="{934EB1EA-13C9-466C-9078-58E724E07055}"/>
              </a:ext>
            </a:extLst>
          </p:cNvPr>
          <p:cNvSpPr>
            <a:spLocks xmlns:a="http://schemas.openxmlformats.org/drawingml/2006/main" noGrp="1"/>
          </p:cNvSpPr>
          <p:nvPr/>
        </p:nvSpPr>
        <p:spPr>
          <a:xfrm xmlns:a="http://schemas.openxmlformats.org/drawingml/2006/main">
            <a:off x="11239500" y="64198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2766E"/>
                </a:solidFill>
                <a:latin typeface="Arial"/>
                <a:ea typeface="Arial"/>
                <a:cs typeface="Arial"/>
              </a:defRPr>
            </a:defPPr>
          </a:lstStyle>
          <a:p xmlns:a="http://schemas.openxmlformats.org/drawingml/2006/main">
            <a:pPr>
              <a:defRPr sz="1350" b="0">
                <a:solidFill>
                  <a:srgbClr val="62766E"/>
                </a:solidFill>
                <a:latin typeface="Arial"/>
                <a:ea typeface="Arial"/>
                <a:cs typeface="Arial"/>
              </a:defRPr>
            </a:pPr>
            <a:r>
              <a:rPr sz="1350" b="0">
                <a:solidFill>
                  <a:srgbClr val="62766E"/>
                </a:solidFill>
                <a:latin typeface="Arial"/>
                <a:ea typeface="Arial"/>
                <a:cs typeface="Arial"/>
              </a:rPr>
              <a:t>3</a:t>
            </a:r>
          </a:p>
        </p:txBody>
      </p:sp>
      <p:graphicFrame>
        <p:nvGraphicFramePr>
          <p:cNvPr id="4" name="Chart">
            <a:extLst xmlns:a="http://schemas.openxmlformats.org/drawingml/2006/main">
              <a:ext uri="{FF2B5EF4-FFF2-40B4-BE49-F238E27FC236}">
                <a16:creationId xmlns:a16="http://schemas.microsoft.com/office/drawing/2014/main" id="{5F9764F5-769D-4C9D-B605-C4DE05AE9E56}"/>
              </a:ext>
            </a:extLst>
          </p:cNvPr>
          <p:cNvGraphicFramePr/>
          <p:nvPr/>
        </p:nvGraphicFramePr>
        <p:xfrm>
          <a:off xmlns:a="http://schemas.openxmlformats.org/drawingml/2006/main" x="723900" y="1619250"/>
          <a:ext xmlns:a="http://schemas.openxmlformats.org/drawingml/2006/main" cx="10668000" cy="3905250"/>
        </p:xfrm>
        <a:graphic xmlns:a="http://schemas.openxmlformats.org/drawingml/2006/main">
          <a:graphicData uri="http://schemas.openxmlformats.org/drawingml/2006/chart">
            <c:chart xmlns:r="http://schemas.openxmlformats.org/officeDocument/2006/relationships" xmlns:c="http://schemas.openxmlformats.org/drawingml/2006/chart" r:id="R96cba28841a34c03"/>
          </a:graphicData>
        </a:graphic>
      </p:graphicFrame>
      <p:sp>
        <p:nvSpPr>
          <p:cNvPr id="5" name="">
            <a:extLst xmlns:a="http://schemas.openxmlformats.org/drawingml/2006/main">
              <a:ext uri="{FF2B5EF4-FFF2-40B4-BE49-F238E27FC236}">
                <a16:creationId xmlns:a16="http://schemas.microsoft.com/office/drawing/2014/main" id="{924CC9D0-46D8-4557-A48C-1A59765C91E6}"/>
              </a:ext>
            </a:extLst>
          </p:cNvPr>
          <p:cNvSpPr>
            <a:spLocks xmlns:a="http://schemas.openxmlformats.org/drawingml/2006/main" noGrp="1"/>
          </p:cNvSpPr>
          <p:nvPr/>
        </p:nvSpPr>
        <p:spPr>
          <a:xfrm xmlns:a="http://schemas.openxmlformats.org/drawingml/2006/main">
            <a:off x="762000" y="587692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62766E"/>
                </a:solidFill>
                <a:latin typeface="Arial"/>
                <a:ea typeface="Arial"/>
                <a:cs typeface="Arial"/>
              </a:defRPr>
            </a:defPPr>
          </a:lstStyle>
          <a:p xmlns:a="http://schemas.openxmlformats.org/drawingml/2006/main">
            <a:pPr>
              <a:defRPr sz="1800" b="0">
                <a:solidFill>
                  <a:srgbClr val="62766E"/>
                </a:solidFill>
                <a:latin typeface="Arial"/>
                <a:ea typeface="Arial"/>
                <a:cs typeface="Arial"/>
              </a:defRPr>
            </a:pPr>
            <a:r>
              <a:rPr sz="1800" b="0">
                <a:solidFill>
                  <a:srgbClr val="62766E"/>
                </a:solidFill>
                <a:latin typeface="Arial"/>
                <a:ea typeface="Arial"/>
                <a:cs typeface="Arial"/>
              </a:rPr>
              <a:t>Ontwikkeling vanaf 2023 tot april 2026. De lijnen tonen geregistreerde ritstarts.</a:t>
            </a:r>
          </a:p>
        </p:txBody>
      </p:sp>
    </p:spTree>
    <p:extLst>
      <p:ext uri="{BB962C8B-B14F-4D97-AF65-F5344CB8AC3E}">
        <p14:creationId xmlns:p14="http://schemas.microsoft.com/office/powerpoint/2010/main" val="902020472"/>
      </p:ext>
    </p:extLst>
  </p:cSld>
</p:sld>
</file>

<file path=ppt/slides/slide4.xml><?xml version="1.0" encoding="utf-8"?>
<p:sld xmlns:p="http://schemas.openxmlformats.org/presentationml/2006/main">
  <p:cSld>
    <p:bg>
      <p:bgPr>
        <a:solidFill xmlns:a="http://schemas.openxmlformats.org/drawingml/2006/main">
          <a:srgbClr val="F7F9F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C6E5C6C-6C03-491A-9172-24012CACC10A}"/>
              </a:ext>
            </a:extLst>
          </p:cNvPr>
          <p:cNvSpPr>
            <a:spLocks xmlns:a="http://schemas.openxmlformats.org/drawingml/2006/main" noGrp="1"/>
          </p:cNvSpPr>
          <p:nvPr/>
        </p:nvSpPr>
        <p:spPr>
          <a:xfrm xmlns:a="http://schemas.openxmlformats.org/drawingml/2006/main">
            <a:off x="685800" y="32385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1">
                <a:solidFill>
                  <a:srgbClr val="12796B"/>
                </a:solidFill>
                <a:latin typeface="Arial"/>
                <a:ea typeface="Arial"/>
                <a:cs typeface="Arial"/>
              </a:defRPr>
            </a:defPPr>
          </a:lstStyle>
          <a:p xmlns:a="http://schemas.openxmlformats.org/drawingml/2006/main">
            <a:pPr>
              <a:defRPr sz="1425" b="1">
                <a:solidFill>
                  <a:srgbClr val="12796B"/>
                </a:solidFill>
                <a:latin typeface="Arial"/>
                <a:ea typeface="Arial"/>
                <a:cs typeface="Arial"/>
              </a:defRPr>
            </a:pPr>
            <a:r>
              <a:rPr sz="1425" b="1">
                <a:solidFill>
                  <a:srgbClr val="12796B"/>
                </a:solidFill>
                <a:latin typeface="Arial"/>
                <a:ea typeface="Arial"/>
                <a:cs typeface="Arial"/>
              </a:rPr>
              <a:t>EDA</a:t>
            </a:r>
          </a:p>
        </p:txBody>
      </p:sp>
      <p:sp>
        <p:nvSpPr>
          <p:cNvPr id="2" name="">
            <a:extLst xmlns:a="http://schemas.openxmlformats.org/drawingml/2006/main">
              <a:ext uri="{FF2B5EF4-FFF2-40B4-BE49-F238E27FC236}">
                <a16:creationId xmlns:a16="http://schemas.microsoft.com/office/drawing/2014/main" id="{BFEE0D09-F670-478A-A03D-C089C64D3558}"/>
              </a:ext>
            </a:extLst>
          </p:cNvPr>
          <p:cNvSpPr>
            <a:spLocks xmlns:a="http://schemas.openxmlformats.org/drawingml/2006/main" noGrp="1"/>
          </p:cNvSpPr>
          <p:nvPr/>
        </p:nvSpPr>
        <p:spPr>
          <a:xfrm xmlns:a="http://schemas.openxmlformats.org/drawingml/2006/main">
            <a:off x="685800" y="7810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A42"/>
                </a:solidFill>
                <a:latin typeface="Arial"/>
                <a:ea typeface="Arial"/>
                <a:cs typeface="Arial"/>
              </a:defRPr>
            </a:defPPr>
          </a:lstStyle>
          <a:p xmlns:a="http://schemas.openxmlformats.org/drawingml/2006/main">
            <a:pPr>
              <a:defRPr sz="3300" b="1">
                <a:solidFill>
                  <a:srgbClr val="173A42"/>
                </a:solidFill>
                <a:latin typeface="Arial"/>
                <a:ea typeface="Arial"/>
                <a:cs typeface="Arial"/>
              </a:defRPr>
            </a:pPr>
            <a:r>
              <a:rPr sz="3300" b="1">
                <a:solidFill>
                  <a:srgbClr val="173A42"/>
                </a:solidFill>
                <a:latin typeface="Arial"/>
                <a:ea typeface="Arial"/>
                <a:cs typeface="Arial"/>
              </a:rPr>
              <a:t>Weekherhaling ondersteunt het uurdoel</a:t>
            </a:r>
          </a:p>
        </p:txBody>
      </p:sp>
      <p:sp>
        <p:nvSpPr>
          <p:cNvPr id="3" name="">
            <a:extLst xmlns:a="http://schemas.openxmlformats.org/drawingml/2006/main">
              <a:ext uri="{FF2B5EF4-FFF2-40B4-BE49-F238E27FC236}">
                <a16:creationId xmlns:a16="http://schemas.microsoft.com/office/drawing/2014/main" id="{D947766C-C692-4434-90B9-CA34A99B97C9}"/>
              </a:ext>
            </a:extLst>
          </p:cNvPr>
          <p:cNvSpPr>
            <a:spLocks xmlns:a="http://schemas.openxmlformats.org/drawingml/2006/main" noGrp="1"/>
          </p:cNvSpPr>
          <p:nvPr/>
        </p:nvSpPr>
        <p:spPr>
          <a:xfrm xmlns:a="http://schemas.openxmlformats.org/drawingml/2006/main">
            <a:off x="11239500" y="64198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2766E"/>
                </a:solidFill>
                <a:latin typeface="Arial"/>
                <a:ea typeface="Arial"/>
                <a:cs typeface="Arial"/>
              </a:defRPr>
            </a:defPPr>
          </a:lstStyle>
          <a:p xmlns:a="http://schemas.openxmlformats.org/drawingml/2006/main">
            <a:pPr>
              <a:defRPr sz="1350" b="0">
                <a:solidFill>
                  <a:srgbClr val="62766E"/>
                </a:solidFill>
                <a:latin typeface="Arial"/>
                <a:ea typeface="Arial"/>
                <a:cs typeface="Arial"/>
              </a:defRPr>
            </a:pPr>
            <a:r>
              <a:rPr sz="1350" b="0">
                <a:solidFill>
                  <a:srgbClr val="62766E"/>
                </a:solidFill>
                <a:latin typeface="Arial"/>
                <a:ea typeface="Arial"/>
                <a:cs typeface="Arial"/>
              </a:rPr>
              <a:t>4</a:t>
            </a:r>
          </a:p>
        </p:txBody>
      </p:sp>
      <p:sp>
        <p:nvSpPr>
          <p:cNvPr id="4" name="">
            <a:extLst xmlns:a="http://schemas.openxmlformats.org/drawingml/2006/main">
              <a:ext uri="{FF2B5EF4-FFF2-40B4-BE49-F238E27FC236}">
                <a16:creationId xmlns:a16="http://schemas.microsoft.com/office/drawing/2014/main" id="{DC9F3CFD-365E-46F0-935C-82DD82AB9836}"/>
              </a:ext>
            </a:extLst>
          </p:cNvPr>
          <p:cNvSpPr>
            <a:spLocks xmlns:a="http://schemas.openxmlformats.org/drawingml/2006/main" noGrp="1"/>
          </p:cNvSpPr>
          <p:nvPr/>
        </p:nvSpPr>
        <p:spPr>
          <a:xfrm xmlns:a="http://schemas.openxmlformats.org/drawingml/2006/main">
            <a:off x="685800" y="1752600"/>
            <a:ext cx="4000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6750" b="1">
                <a:solidFill>
                  <a:srgbClr val="12796B"/>
                </a:solidFill>
                <a:latin typeface="Arial"/>
                <a:ea typeface="Arial"/>
                <a:cs typeface="Arial"/>
              </a:defRPr>
            </a:defPPr>
          </a:lstStyle>
          <a:p xmlns:a="http://schemas.openxmlformats.org/drawingml/2006/main">
            <a:pPr>
              <a:defRPr sz="6750" b="1">
                <a:solidFill>
                  <a:srgbClr val="12796B"/>
                </a:solidFill>
                <a:latin typeface="Arial"/>
                <a:ea typeface="Arial"/>
                <a:cs typeface="Arial"/>
              </a:defRPr>
            </a:pPr>
            <a:r>
              <a:rPr sz="6750" b="1">
                <a:solidFill>
                  <a:srgbClr val="12796B"/>
                </a:solidFill>
                <a:latin typeface="Arial"/>
                <a:ea typeface="Arial"/>
                <a:cs typeface="Arial"/>
              </a:rPr>
              <a:t>0,856</a:t>
            </a:r>
          </a:p>
        </p:txBody>
      </p:sp>
      <p:sp>
        <p:nvSpPr>
          <p:cNvPr id="5" name="">
            <a:extLst xmlns:a="http://schemas.openxmlformats.org/drawingml/2006/main">
              <a:ext uri="{FF2B5EF4-FFF2-40B4-BE49-F238E27FC236}">
                <a16:creationId xmlns:a16="http://schemas.microsoft.com/office/drawing/2014/main" id="{FB3D93CD-DE52-4787-AE97-0E1A9C35A996}"/>
              </a:ext>
            </a:extLst>
          </p:cNvPr>
          <p:cNvSpPr>
            <a:spLocks xmlns:a="http://schemas.openxmlformats.org/drawingml/2006/main" noGrp="1"/>
          </p:cNvSpPr>
          <p:nvPr/>
        </p:nvSpPr>
        <p:spPr>
          <a:xfrm xmlns:a="http://schemas.openxmlformats.org/drawingml/2006/main">
            <a:off x="742950" y="2924175"/>
            <a:ext cx="428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3A42"/>
                </a:solidFill>
                <a:latin typeface="Arial"/>
                <a:ea typeface="Arial"/>
                <a:cs typeface="Arial"/>
              </a:defRPr>
            </a:defPPr>
          </a:lstStyle>
          <a:p xmlns:a="http://schemas.openxmlformats.org/drawingml/2006/main">
            <a:pPr>
              <a:defRPr sz="2025" b="0">
                <a:solidFill>
                  <a:srgbClr val="173A42"/>
                </a:solidFill>
                <a:latin typeface="Arial"/>
                <a:ea typeface="Arial"/>
                <a:cs typeface="Arial"/>
              </a:defRPr>
            </a:pPr>
            <a:r>
              <a:rPr sz="2025" b="0">
                <a:solidFill>
                  <a:srgbClr val="173A42"/>
                </a:solidFill>
                <a:latin typeface="Arial"/>
                <a:ea typeface="Arial"/>
                <a:cs typeface="Arial"/>
              </a:rPr>
              <a:t>gemiddelde weekcorrelatie</a:t>
            </a:r>
          </a:p>
        </p:txBody>
      </p:sp>
      <p:sp>
        <p:nvSpPr>
          <p:cNvPr id="6" name="">
            <a:extLst xmlns:a="http://schemas.openxmlformats.org/drawingml/2006/main">
              <a:ext uri="{FF2B5EF4-FFF2-40B4-BE49-F238E27FC236}">
                <a16:creationId xmlns:a16="http://schemas.microsoft.com/office/drawing/2014/main" id="{036446B6-F767-4823-BCD5-232B82D1BD1A}"/>
              </a:ext>
            </a:extLst>
          </p:cNvPr>
          <p:cNvSpPr>
            <a:spLocks xmlns:a="http://schemas.openxmlformats.org/drawingml/2006/main" noGrp="1"/>
          </p:cNvSpPr>
          <p:nvPr/>
        </p:nvSpPr>
        <p:spPr>
          <a:xfrm xmlns:a="http://schemas.openxmlformats.org/drawingml/2006/main">
            <a:off x="742950" y="3629025"/>
            <a:ext cx="4857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62766E"/>
                </a:solidFill>
                <a:latin typeface="Arial"/>
                <a:ea typeface="Arial"/>
                <a:cs typeface="Arial"/>
              </a:defRPr>
            </a:defPPr>
          </a:lstStyle>
          <a:p xmlns:a="http://schemas.openxmlformats.org/drawingml/2006/main">
            <a:pPr>
              <a:defRPr sz="2025" b="0">
                <a:solidFill>
                  <a:srgbClr val="62766E"/>
                </a:solidFill>
                <a:latin typeface="Arial"/>
                <a:ea typeface="Arial"/>
                <a:cs typeface="Arial"/>
              </a:defRPr>
            </a:pPr>
            <a:r>
              <a:rPr sz="2025" b="0">
                <a:solidFill>
                  <a:srgbClr val="62766E"/>
                </a:solidFill>
                <a:latin typeface="Arial"/>
                <a:ea typeface="Arial"/>
                <a:cs typeface="Arial"/>
              </a:rPr>
              <a:t>95%-interval: 0,837–0,876</a:t>
            </a:r>
            <a:br>
              <a:rPr sz="2025" b="0">
                <a:solidFill>
                  <a:srgbClr val="62766E"/>
                </a:solidFill>
                <a:latin typeface="Arial"/>
                <a:ea typeface="Arial"/>
                <a:cs typeface="Arial"/>
              </a:rPr>
            </a:br>
            <a:r>
              <a:rPr sz="2025" b="0">
                <a:solidFill>
                  <a:srgbClr val="62766E"/>
                </a:solidFill>
                <a:latin typeface="Arial"/>
                <a:ea typeface="Arial"/>
                <a:cs typeface="Arial"/>
              </a:rPr>
              <a:t>Holm-p ≈ 0,00015</a:t>
            </a:r>
          </a:p>
        </p:txBody>
      </p:sp>
      <p:sp>
        <p:nvSpPr>
          <p:cNvPr id="7" name="">
            <a:extLst xmlns:a="http://schemas.openxmlformats.org/drawingml/2006/main">
              <a:ext uri="{FF2B5EF4-FFF2-40B4-BE49-F238E27FC236}">
                <a16:creationId xmlns:a16="http://schemas.microsoft.com/office/drawing/2014/main" id="{4967A960-82C8-4492-BB03-DFCFE249BDB9}"/>
              </a:ext>
            </a:extLst>
          </p:cNvPr>
          <p:cNvSpPr>
            <a:spLocks xmlns:a="http://schemas.openxmlformats.org/drawingml/2006/main" noGrp="1"/>
          </p:cNvSpPr>
          <p:nvPr/>
        </p:nvSpPr>
        <p:spPr>
          <a:xfrm xmlns:a="http://schemas.openxmlformats.org/drawingml/2006/main">
            <a:off x="6334125" y="1752600"/>
            <a:ext cx="504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173A42"/>
                </a:solidFill>
                <a:latin typeface="Arial"/>
                <a:ea typeface="Arial"/>
                <a:cs typeface="Arial"/>
              </a:defRPr>
            </a:defPPr>
          </a:lstStyle>
          <a:p xmlns:a="http://schemas.openxmlformats.org/drawingml/2006/main">
            <a:pPr>
              <a:defRPr sz="2400" b="1">
                <a:solidFill>
                  <a:srgbClr val="173A42"/>
                </a:solidFill>
                <a:latin typeface="Arial"/>
                <a:ea typeface="Arial"/>
                <a:cs typeface="Arial"/>
              </a:defRPr>
            </a:pPr>
            <a:r>
              <a:rPr sz="2400" b="1">
                <a:solidFill>
                  <a:srgbClr val="173A42"/>
                </a:solidFill>
                <a:latin typeface="Arial"/>
                <a:ea typeface="Arial"/>
                <a:cs typeface="Arial"/>
              </a:rPr>
              <a:t>De toets</a:t>
            </a:r>
          </a:p>
        </p:txBody>
      </p:sp>
      <p:sp>
        <p:nvSpPr>
          <p:cNvPr id="8" name="">
            <a:extLst xmlns:a="http://schemas.openxmlformats.org/drawingml/2006/main">
              <a:ext uri="{FF2B5EF4-FFF2-40B4-BE49-F238E27FC236}">
                <a16:creationId xmlns:a16="http://schemas.microsoft.com/office/drawing/2014/main" id="{A865E3EA-08B0-4B00-9EDE-537582AD416A}"/>
              </a:ext>
            </a:extLst>
          </p:cNvPr>
          <p:cNvSpPr>
            <a:spLocks xmlns:a="http://schemas.openxmlformats.org/drawingml/2006/main" noGrp="1"/>
          </p:cNvSpPr>
          <p:nvPr/>
        </p:nvSpPr>
        <p:spPr>
          <a:xfrm xmlns:a="http://schemas.openxmlformats.org/drawingml/2006/main">
            <a:off x="6334125" y="2381250"/>
            <a:ext cx="509587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73A42"/>
                </a:solidFill>
                <a:latin typeface="Arial"/>
                <a:ea typeface="Arial"/>
                <a:cs typeface="Arial"/>
              </a:defRPr>
            </a:defPPr>
          </a:lstStyle>
          <a:p xmlns:a="http://schemas.openxmlformats.org/drawingml/2006/main">
            <a:pPr>
              <a:defRPr sz="2100" b="0">
                <a:solidFill>
                  <a:srgbClr val="173A42"/>
                </a:solidFill>
                <a:latin typeface="Arial"/>
                <a:ea typeface="Arial"/>
                <a:cs typeface="Arial"/>
              </a:defRPr>
            </a:pPr>
            <a:r>
              <a:rPr sz="2100" b="0">
                <a:solidFill>
                  <a:srgbClr val="173A42"/>
                </a:solidFill>
                <a:latin typeface="Arial"/>
                <a:ea typeface="Arial"/>
                <a:cs typeface="Arial"/>
              </a:rPr>
              <a:t>H0: gemiddelde correlatie = 0</a:t>
            </a:r>
            <a:br>
              <a:rPr sz="2100" b="0">
                <a:solidFill>
                  <a:srgbClr val="173A42"/>
                </a:solidFill>
                <a:latin typeface="Arial"/>
                <a:ea typeface="Arial"/>
                <a:cs typeface="Arial"/>
              </a:rPr>
            </a:br>
            <a:r>
              <a:rPr sz="2100" b="0">
                <a:solidFill>
                  <a:srgbClr val="173A42"/>
                </a:solidFill>
                <a:latin typeface="Arial"/>
                <a:ea typeface="Arial"/>
                <a:cs typeface="Arial"/>
              </a:rPr>
              <a:t>H1: gemiddelde correlatie ≠ 0</a:t>
            </a:r>
            <a:br>
              <a:rPr sz="2100" b="0">
                <a:solidFill>
                  <a:srgbClr val="173A42"/>
                </a:solidFill>
                <a:latin typeface="Arial"/>
                <a:ea typeface="Arial"/>
                <a:cs typeface="Arial"/>
              </a:rPr>
            </a:br>
            <a:br>
              <a:rPr sz="2100" b="0">
                <a:solidFill>
                  <a:srgbClr val="173A42"/>
                </a:solidFill>
                <a:latin typeface="Arial"/>
                <a:ea typeface="Arial"/>
                <a:cs typeface="Arial"/>
              </a:rPr>
            </a:br>
            <a:r>
              <a:rPr sz="2100" b="0">
                <a:solidFill>
                  <a:srgbClr val="173A42"/>
                </a:solidFill>
                <a:latin typeface="Arial"/>
                <a:ea typeface="Arial"/>
                <a:cs typeface="Arial"/>
              </a:rPr>
              <a:t>43 blokken van vier weken</a:t>
            </a:r>
            <a:br>
              <a:rPr sz="2100" b="0">
                <a:solidFill>
                  <a:srgbClr val="173A42"/>
                </a:solidFill>
                <a:latin typeface="Arial"/>
                <a:ea typeface="Arial"/>
                <a:cs typeface="Arial"/>
              </a:rPr>
            </a:br>
            <a:r>
              <a:rPr sz="2100" b="0">
                <a:solidFill>
                  <a:srgbClr val="173A42"/>
                </a:solidFill>
                <a:latin typeface="Arial"/>
                <a:ea typeface="Arial"/>
                <a:cs typeface="Arial"/>
              </a:rPr>
              <a:t>Alpha = 0,05</a:t>
            </a:r>
          </a:p>
        </p:txBody>
      </p:sp>
      <p:sp>
        <p:nvSpPr>
          <p:cNvPr id="9" name="">
            <a:extLst xmlns:a="http://schemas.openxmlformats.org/drawingml/2006/main">
              <a:ext uri="{FF2B5EF4-FFF2-40B4-BE49-F238E27FC236}">
                <a16:creationId xmlns:a16="http://schemas.microsoft.com/office/drawing/2014/main" id="{EDC5B1B0-BFFA-4905-BEE7-F987ACB08928}"/>
              </a:ext>
            </a:extLst>
          </p:cNvPr>
          <p:cNvSpPr>
            <a:spLocks xmlns:a="http://schemas.openxmlformats.org/drawingml/2006/main" noGrp="1"/>
          </p:cNvSpPr>
          <p:nvPr/>
        </p:nvSpPr>
        <p:spPr>
          <a:xfrm xmlns:a="http://schemas.openxmlformats.org/drawingml/2006/main">
            <a:off x="742950" y="53054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00" b="1">
                <a:solidFill>
                  <a:srgbClr val="173A42"/>
                </a:solidFill>
                <a:latin typeface="Arial"/>
                <a:ea typeface="Arial"/>
                <a:cs typeface="Arial"/>
              </a:defRPr>
            </a:defPPr>
          </a:lstStyle>
          <a:p xmlns:a="http://schemas.openxmlformats.org/drawingml/2006/main">
            <a:pPr>
              <a:defRPr sz="2400" b="1">
                <a:solidFill>
                  <a:srgbClr val="173A42"/>
                </a:solidFill>
                <a:latin typeface="Arial"/>
                <a:ea typeface="Arial"/>
                <a:cs typeface="Arial"/>
              </a:defRPr>
            </a:pPr>
            <a:r>
              <a:rPr sz="2400" b="1">
                <a:solidFill>
                  <a:srgbClr val="173A42"/>
                </a:solidFill>
                <a:latin typeface="Arial"/>
                <a:ea typeface="Arial"/>
                <a:cs typeface="Arial"/>
              </a:rPr>
              <a:t>Doel: de 24 uurvakken van morgen</a:t>
            </a:r>
            <a:br>
              <a:rPr sz="2400" b="1">
                <a:solidFill>
                  <a:srgbClr val="173A42"/>
                </a:solidFill>
                <a:latin typeface="Arial"/>
                <a:ea typeface="Arial"/>
                <a:cs typeface="Arial"/>
              </a:rPr>
            </a:br>
            <a:r>
              <a:rPr sz="2400" b="1">
                <a:solidFill>
                  <a:srgbClr val="173A42"/>
                </a:solidFill>
                <a:latin typeface="Arial"/>
                <a:ea typeface="Arial"/>
                <a:cs typeface="Arial"/>
              </a:rPr>
              <a:t>voorspellen om 00:00 New York-tijd</a:t>
            </a:r>
          </a:p>
        </p:txBody>
      </p:sp>
    </p:spTree>
    <p:extLst>
      <p:ext uri="{BB962C8B-B14F-4D97-AF65-F5344CB8AC3E}">
        <p14:creationId xmlns:p14="http://schemas.microsoft.com/office/powerpoint/2010/main" val="1822619316"/>
      </p:ext>
    </p:extLst>
  </p:cSld>
</p:sld>
</file>

<file path=ppt/slides/slide5.xml><?xml version="1.0" encoding="utf-8"?>
<p:sld xmlns:p="http://schemas.openxmlformats.org/presentationml/2006/main">
  <p:cSld>
    <p:bg>
      <p:bgPr>
        <a:solidFill xmlns:a="http://schemas.openxmlformats.org/drawingml/2006/main">
          <a:srgbClr val="F7F9F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B2542DA-5EB7-4AB3-824F-7E2BC2BA614A}"/>
              </a:ext>
            </a:extLst>
          </p:cNvPr>
          <p:cNvSpPr>
            <a:spLocks xmlns:a="http://schemas.openxmlformats.org/drawingml/2006/main" noGrp="1"/>
          </p:cNvSpPr>
          <p:nvPr/>
        </p:nvSpPr>
        <p:spPr>
          <a:xfrm xmlns:a="http://schemas.openxmlformats.org/drawingml/2006/main">
            <a:off x="685800" y="32385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1">
                <a:solidFill>
                  <a:srgbClr val="12796B"/>
                </a:solidFill>
                <a:latin typeface="Arial"/>
                <a:ea typeface="Arial"/>
                <a:cs typeface="Arial"/>
              </a:defRPr>
            </a:defPPr>
          </a:lstStyle>
          <a:p xmlns:a="http://schemas.openxmlformats.org/drawingml/2006/main">
            <a:pPr>
              <a:defRPr sz="1425" b="1">
                <a:solidFill>
                  <a:srgbClr val="12796B"/>
                </a:solidFill>
                <a:latin typeface="Arial"/>
                <a:ea typeface="Arial"/>
                <a:cs typeface="Arial"/>
              </a:defRPr>
            </a:pPr>
            <a:r>
              <a:rPr sz="1425" b="1">
                <a:solidFill>
                  <a:srgbClr val="12796B"/>
                </a:solidFill>
                <a:latin typeface="Arial"/>
                <a:ea typeface="Arial"/>
                <a:cs typeface="Arial"/>
              </a:rPr>
              <a:t>MODELLEN</a:t>
            </a:r>
          </a:p>
        </p:txBody>
      </p:sp>
      <p:sp>
        <p:nvSpPr>
          <p:cNvPr id="2" name="">
            <a:extLst xmlns:a="http://schemas.openxmlformats.org/drawingml/2006/main">
              <a:ext uri="{FF2B5EF4-FFF2-40B4-BE49-F238E27FC236}">
                <a16:creationId xmlns:a16="http://schemas.microsoft.com/office/drawing/2014/main" id="{CCBFC141-0126-49E5-A584-8BF665CC3382}"/>
              </a:ext>
            </a:extLst>
          </p:cNvPr>
          <p:cNvSpPr>
            <a:spLocks xmlns:a="http://schemas.openxmlformats.org/drawingml/2006/main" noGrp="1"/>
          </p:cNvSpPr>
          <p:nvPr/>
        </p:nvSpPr>
        <p:spPr>
          <a:xfrm xmlns:a="http://schemas.openxmlformats.org/drawingml/2006/main">
            <a:off x="685800" y="7810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A42"/>
                </a:solidFill>
                <a:latin typeface="Arial"/>
                <a:ea typeface="Arial"/>
                <a:cs typeface="Arial"/>
              </a:defRPr>
            </a:defPPr>
          </a:lstStyle>
          <a:p xmlns:a="http://schemas.openxmlformats.org/drawingml/2006/main">
            <a:pPr>
              <a:defRPr sz="3300" b="1">
                <a:solidFill>
                  <a:srgbClr val="173A42"/>
                </a:solidFill>
                <a:latin typeface="Arial"/>
                <a:ea typeface="Arial"/>
                <a:cs typeface="Arial"/>
              </a:defRPr>
            </a:pPr>
            <a:r>
              <a:rPr sz="3300" b="1">
                <a:solidFill>
                  <a:srgbClr val="173A42"/>
                </a:solidFill>
                <a:latin typeface="Arial"/>
                <a:ea typeface="Arial"/>
                <a:cs typeface="Arial"/>
              </a:rPr>
              <a:t>Alle modellen krijgen dezelfde modeldata</a:t>
            </a:r>
          </a:p>
        </p:txBody>
      </p:sp>
      <p:sp>
        <p:nvSpPr>
          <p:cNvPr id="3" name="">
            <a:extLst xmlns:a="http://schemas.openxmlformats.org/drawingml/2006/main">
              <a:ext uri="{FF2B5EF4-FFF2-40B4-BE49-F238E27FC236}">
                <a16:creationId xmlns:a16="http://schemas.microsoft.com/office/drawing/2014/main" id="{04F0B5DA-83EB-4792-A8B9-6BE041F35127}"/>
              </a:ext>
            </a:extLst>
          </p:cNvPr>
          <p:cNvSpPr>
            <a:spLocks xmlns:a="http://schemas.openxmlformats.org/drawingml/2006/main" noGrp="1"/>
          </p:cNvSpPr>
          <p:nvPr/>
        </p:nvSpPr>
        <p:spPr>
          <a:xfrm xmlns:a="http://schemas.openxmlformats.org/drawingml/2006/main">
            <a:off x="11239500" y="64198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2766E"/>
                </a:solidFill>
                <a:latin typeface="Arial"/>
                <a:ea typeface="Arial"/>
                <a:cs typeface="Arial"/>
              </a:defRPr>
            </a:defPPr>
          </a:lstStyle>
          <a:p xmlns:a="http://schemas.openxmlformats.org/drawingml/2006/main">
            <a:pPr>
              <a:defRPr sz="1350" b="0">
                <a:solidFill>
                  <a:srgbClr val="62766E"/>
                </a:solidFill>
                <a:latin typeface="Arial"/>
                <a:ea typeface="Arial"/>
                <a:cs typeface="Arial"/>
              </a:defRPr>
            </a:pPr>
            <a:r>
              <a:rPr sz="1350" b="0">
                <a:solidFill>
                  <a:srgbClr val="62766E"/>
                </a:solidFill>
                <a:latin typeface="Arial"/>
                <a:ea typeface="Arial"/>
                <a:cs typeface="Arial"/>
              </a:rPr>
              <a:t>5</a:t>
            </a:r>
          </a:p>
        </p:txBody>
      </p:sp>
      <p:sp>
        <p:nvSpPr>
          <p:cNvPr id="4" name="">
            <a:extLst xmlns:a="http://schemas.openxmlformats.org/drawingml/2006/main">
              <a:ext uri="{FF2B5EF4-FFF2-40B4-BE49-F238E27FC236}">
                <a16:creationId xmlns:a16="http://schemas.microsoft.com/office/drawing/2014/main" id="{688CF11E-52CC-4128-8ABE-45E3BA1C8367}"/>
              </a:ext>
            </a:extLst>
          </p:cNvPr>
          <p:cNvSpPr>
            <a:spLocks xmlns:a="http://schemas.openxmlformats.org/drawingml/2006/main" noGrp="1"/>
          </p:cNvSpPr>
          <p:nvPr/>
        </p:nvSpPr>
        <p:spPr>
          <a:xfrm xmlns:a="http://schemas.openxmlformats.org/drawingml/2006/main">
            <a:off x="685800" y="1657350"/>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12796B"/>
                </a:solidFill>
                <a:latin typeface="Arial"/>
                <a:ea typeface="Arial"/>
                <a:cs typeface="Arial"/>
              </a:defRPr>
            </a:defPPr>
          </a:lstStyle>
          <a:p xmlns:a="http://schemas.openxmlformats.org/drawingml/2006/main">
            <a:pPr>
              <a:defRPr sz="2325" b="1">
                <a:solidFill>
                  <a:srgbClr val="12796B"/>
                </a:solidFill>
                <a:latin typeface="Arial"/>
                <a:ea typeface="Arial"/>
                <a:cs typeface="Arial"/>
              </a:defRPr>
            </a:pPr>
            <a:r>
              <a:rPr sz="2325" b="1">
                <a:solidFill>
                  <a:srgbClr val="12796B"/>
                </a:solidFill>
                <a:latin typeface="Arial"/>
                <a:ea typeface="Arial"/>
                <a:cs typeface="Arial"/>
              </a:rPr>
              <a:t>14 features: kalender en afgesloten historie</a:t>
            </a:r>
          </a:p>
        </p:txBody>
      </p:sp>
      <p:sp>
        <p:nvSpPr>
          <p:cNvPr id="5" name="">
            <a:extLst xmlns:a="http://schemas.openxmlformats.org/drawingml/2006/main">
              <a:ext uri="{FF2B5EF4-FFF2-40B4-BE49-F238E27FC236}">
                <a16:creationId xmlns:a16="http://schemas.microsoft.com/office/drawing/2014/main" id="{148A0C38-DAEA-4516-9F94-48E223A4A628}"/>
              </a:ext>
            </a:extLst>
          </p:cNvPr>
          <p:cNvSpPr>
            <a:spLocks xmlns:a="http://schemas.openxmlformats.org/drawingml/2006/main" noGrp="1"/>
          </p:cNvSpPr>
          <p:nvPr/>
        </p:nvSpPr>
        <p:spPr>
          <a:xfrm xmlns:a="http://schemas.openxmlformats.org/drawingml/2006/main">
            <a:off x="685800" y="223837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3A42"/>
                </a:solidFill>
                <a:latin typeface="Arial"/>
                <a:ea typeface="Arial"/>
                <a:cs typeface="Arial"/>
              </a:defRPr>
            </a:defPPr>
          </a:lstStyle>
          <a:p xmlns:a="http://schemas.openxmlformats.org/drawingml/2006/main">
            <a:pPr>
              <a:defRPr sz="2025" b="0">
                <a:solidFill>
                  <a:srgbClr val="173A42"/>
                </a:solidFill>
                <a:latin typeface="Arial"/>
                <a:ea typeface="Arial"/>
                <a:cs typeface="Arial"/>
              </a:defRPr>
            </a:pPr>
            <a:r>
              <a:rPr sz="2025" b="0">
                <a:solidFill>
                  <a:srgbClr val="173A42"/>
                </a:solidFill>
                <a:latin typeface="Arial"/>
                <a:ea typeface="Arial"/>
                <a:cs typeface="Arial"/>
              </a:rPr>
              <a:t>Daglags en rolling kennen alleen volledige dagen vóór de voorspeldag</a:t>
            </a:r>
          </a:p>
        </p:txBody>
      </p:sp>
      <p:graphicFrame>
        <p:nvGraphicFramePr>
          <p:cNvPr id="6" name="">
            <a:extLst xmlns:a="http://schemas.openxmlformats.org/drawingml/2006/main">
              <a:ext uri="{FF2B5EF4-FFF2-40B4-BE49-F238E27FC236}">
                <a16:creationId xmlns:a16="http://schemas.microsoft.com/office/drawing/2014/main" id="{A0C9C9BF-B367-44BC-868B-F6B362D5B8AF}"/>
              </a:ext>
            </a:extLst>
          </p:cNvPr>
          <p:cNvGraphicFramePr/>
          <p:nvPr/>
        </p:nvGraphicFramePr>
        <p:xfrm>
          <a:off xmlns:a="http://schemas.openxmlformats.org/drawingml/2006/main" x="685800" y="3181350"/>
          <a:ext xmlns:a="http://schemas.openxmlformats.org/drawingml/2006/main" cx="10820400" cy="2514600"/>
        </p:xfrm>
        <a:graphic xmlns:a="http://schemas.openxmlformats.org/drawingml/2006/main">
          <a:graphicData uri="http://schemas.openxmlformats.org/drawingml/2006/table">
            <a:tbl>
              <a:tblPr firstRow="1" bandRow="0"/>
              <a:tblGrid>
                <a:gridCol w="2428875"/>
                <a:gridCol w="3143250"/>
                <a:gridCol w="5248275"/>
              </a:tblGrid>
              <a:tr h="628650">
                <a:tc>
                  <a:txBody>
                    <a:bodyPr/>
                    <a:lstStyle/>
                    <a:p>
                      <a:r>
                        <a:rPr sz="1800" b="1">
                          <a:solidFill>
                            <a:srgbClr val="FFFFFF"/>
                          </a:solidFill>
                          <a:latin typeface="Arial"/>
                          <a:ea typeface="Arial"/>
                          <a:cs typeface="Arial"/>
                        </a:rPr>
                        <a:t>Deel</a:t>
                      </a:r>
                    </a:p>
                  </a:txBody>
                  <a:tcPr marL="91440" marR="91440" marT="45720" marB="45720">
                    <a:lnL w="7620">
                      <a:solidFill>
                        <a:srgbClr val="D8E1DB"/>
                      </a:solidFill>
                      <a:prstDash val="solid"/>
                    </a:lnL>
                    <a:lnR w="7620">
                      <a:solidFill>
                        <a:srgbClr val="D8E1DB"/>
                      </a:solidFill>
                      <a:prstDash val="solid"/>
                    </a:lnR>
                    <a:lnT w="7620">
                      <a:solidFill>
                        <a:srgbClr val="D8E1DB"/>
                      </a:solidFill>
                      <a:prstDash val="solid"/>
                    </a:lnT>
                    <a:lnB w="7620">
                      <a:solidFill>
                        <a:srgbClr val="D8E1DB"/>
                      </a:solidFill>
                      <a:prstDash val="solid"/>
                    </a:lnB>
                    <a:solidFill>
                      <a:srgbClr val="12796B"/>
                    </a:solidFill>
                  </a:tcPr>
                </a:tc>
                <a:tc>
                  <a:txBody>
                    <a:bodyPr/>
                    <a:lstStyle/>
                    <a:p>
                      <a:r>
                        <a:rPr sz="1800" b="1">
                          <a:solidFill>
                            <a:srgbClr val="FFFFFF"/>
                          </a:solidFill>
                          <a:latin typeface="Arial"/>
                          <a:ea typeface="Arial"/>
                          <a:cs typeface="Arial"/>
                        </a:rPr>
                        <a:t>Periode</a:t>
                      </a:r>
                    </a:p>
                  </a:txBody>
                  <a:tcPr marL="91440" marR="91440" marT="45720" marB="45720">
                    <a:lnR w="7620">
                      <a:solidFill>
                        <a:srgbClr val="D8E1DB"/>
                      </a:solidFill>
                      <a:prstDash val="solid"/>
                    </a:lnR>
                    <a:lnT w="7620">
                      <a:solidFill>
                        <a:srgbClr val="D8E1DB"/>
                      </a:solidFill>
                      <a:prstDash val="solid"/>
                    </a:lnT>
                    <a:lnB w="7620">
                      <a:solidFill>
                        <a:srgbClr val="D8E1DB"/>
                      </a:solidFill>
                      <a:prstDash val="solid"/>
                    </a:lnB>
                    <a:solidFill>
                      <a:srgbClr val="12796B"/>
                    </a:solidFill>
                  </a:tcPr>
                </a:tc>
                <a:tc>
                  <a:txBody>
                    <a:bodyPr/>
                    <a:lstStyle/>
                    <a:p>
                      <a:r>
                        <a:rPr sz="1800" b="1">
                          <a:solidFill>
                            <a:srgbClr val="FFFFFF"/>
                          </a:solidFill>
                          <a:latin typeface="Arial"/>
                          <a:ea typeface="Arial"/>
                          <a:cs typeface="Arial"/>
                        </a:rPr>
                        <a:t>Gebruik</a:t>
                      </a:r>
                    </a:p>
                  </a:txBody>
                  <a:tcPr marL="91440" marR="91440" marT="45720" marB="45720">
                    <a:lnR w="7620">
                      <a:solidFill>
                        <a:srgbClr val="D8E1DB"/>
                      </a:solidFill>
                      <a:prstDash val="solid"/>
                    </a:lnR>
                    <a:lnT w="7620">
                      <a:solidFill>
                        <a:srgbClr val="D8E1DB"/>
                      </a:solidFill>
                      <a:prstDash val="solid"/>
                    </a:lnT>
                    <a:lnB w="7620">
                      <a:solidFill>
                        <a:srgbClr val="D8E1DB"/>
                      </a:solidFill>
                      <a:prstDash val="solid"/>
                    </a:lnB>
                    <a:solidFill>
                      <a:srgbClr val="12796B"/>
                    </a:solidFill>
                  </a:tcPr>
                </a:tc>
              </a:tr>
              <a:tr h="628650">
                <a:tc>
                  <a:txBody>
                    <a:bodyPr/>
                    <a:lstStyle/>
                    <a:p>
                      <a:r>
                        <a:rPr sz="1800" b="0">
                          <a:solidFill>
                            <a:srgbClr val="173A42"/>
                          </a:solidFill>
                          <a:latin typeface="Arial"/>
                          <a:ea typeface="Arial"/>
                          <a:cs typeface="Arial"/>
                        </a:rPr>
                        <a:t>Training</a:t>
                      </a:r>
                    </a:p>
                  </a:txBody>
                  <a:tcPr marL="91440" marR="91440" marT="45720" marB="45720">
                    <a:lnL w="7620">
                      <a:solidFill>
                        <a:srgbClr val="D8E1DB"/>
                      </a:solidFill>
                      <a:prstDash val="solid"/>
                    </a:lnL>
                    <a:lnR w="7620">
                      <a:solidFill>
                        <a:srgbClr val="D8E1DB"/>
                      </a:solidFill>
                      <a:prstDash val="solid"/>
                    </a:lnR>
                    <a:lnB w="7620">
                      <a:solidFill>
                        <a:srgbClr val="D8E1DB"/>
                      </a:solidFill>
                      <a:prstDash val="solid"/>
                    </a:lnB>
                    <a:solidFill>
                      <a:srgbClr val="F7F9F5"/>
                    </a:solidFill>
                  </a:tcPr>
                </a:tc>
                <a:tc>
                  <a:txBody>
                    <a:bodyPr/>
                    <a:lstStyle/>
                    <a:p>
                      <a:r>
                        <a:rPr sz="1800" b="0">
                          <a:solidFill>
                            <a:srgbClr val="173A42"/>
                          </a:solidFill>
                          <a:latin typeface="Arial"/>
                          <a:ea typeface="Arial"/>
                          <a:cs typeface="Arial"/>
                        </a:rPr>
                        <a:t>Vóór mei 2026</a:t>
                      </a:r>
                    </a:p>
                  </a:txBody>
                  <a:tcPr marL="91440" marR="91440" marT="45720" marB="45720">
                    <a:lnR w="7620">
                      <a:solidFill>
                        <a:srgbClr val="D8E1DB"/>
                      </a:solidFill>
                      <a:prstDash val="solid"/>
                    </a:lnR>
                    <a:lnB w="7620">
                      <a:solidFill>
                        <a:srgbClr val="D8E1DB"/>
                      </a:solidFill>
                      <a:prstDash val="solid"/>
                    </a:lnB>
                    <a:solidFill>
                      <a:srgbClr val="F7F9F5"/>
                    </a:solidFill>
                  </a:tcPr>
                </a:tc>
                <a:tc>
                  <a:txBody>
                    <a:bodyPr/>
                    <a:lstStyle/>
                    <a:p>
                      <a:r>
                        <a:rPr sz="1800" b="0">
                          <a:solidFill>
                            <a:srgbClr val="173A42"/>
                          </a:solidFill>
                          <a:latin typeface="Arial"/>
                          <a:ea typeface="Arial"/>
                          <a:cs typeface="Arial"/>
                        </a:rPr>
                        <a:t>Fit en chronologische CV</a:t>
                      </a:r>
                    </a:p>
                  </a:txBody>
                  <a:tcPr marL="91440" marR="91440" marT="45720" marB="45720">
                    <a:lnR w="7620">
                      <a:solidFill>
                        <a:srgbClr val="D8E1DB"/>
                      </a:solidFill>
                      <a:prstDash val="solid"/>
                    </a:lnR>
                    <a:lnB w="7620">
                      <a:solidFill>
                        <a:srgbClr val="D8E1DB"/>
                      </a:solidFill>
                      <a:prstDash val="solid"/>
                    </a:lnB>
                    <a:solidFill>
                      <a:srgbClr val="F7F9F5"/>
                    </a:solidFill>
                  </a:tcPr>
                </a:tc>
              </a:tr>
              <a:tr h="628650">
                <a:tc>
                  <a:txBody>
                    <a:bodyPr/>
                    <a:lstStyle/>
                    <a:p>
                      <a:r>
                        <a:rPr sz="1800" b="0">
                          <a:solidFill>
                            <a:srgbClr val="173A42"/>
                          </a:solidFill>
                          <a:latin typeface="Arial"/>
                          <a:ea typeface="Arial"/>
                          <a:cs typeface="Arial"/>
                        </a:rPr>
                        <a:t>Validatie</a:t>
                      </a:r>
                    </a:p>
                  </a:txBody>
                  <a:tcPr marL="91440" marR="91440" marT="45720" marB="45720">
                    <a:lnL w="7620">
                      <a:solidFill>
                        <a:srgbClr val="D8E1DB"/>
                      </a:solidFill>
                      <a:prstDash val="solid"/>
                    </a:lnL>
                    <a:lnR w="7620">
                      <a:solidFill>
                        <a:srgbClr val="D8E1DB"/>
                      </a:solidFill>
                      <a:prstDash val="solid"/>
                    </a:lnR>
                    <a:lnB w="7620">
                      <a:solidFill>
                        <a:srgbClr val="D8E1DB"/>
                      </a:solidFill>
                      <a:prstDash val="solid"/>
                    </a:lnB>
                    <a:solidFill>
                      <a:srgbClr val="F7F9F5"/>
                    </a:solidFill>
                  </a:tcPr>
                </a:tc>
                <a:tc>
                  <a:txBody>
                    <a:bodyPr/>
                    <a:lstStyle/>
                    <a:p>
                      <a:r>
                        <a:rPr sz="1800" b="0">
                          <a:solidFill>
                            <a:srgbClr val="173A42"/>
                          </a:solidFill>
                          <a:latin typeface="Arial"/>
                          <a:ea typeface="Arial"/>
                          <a:cs typeface="Arial"/>
                        </a:rPr>
                        <a:t>Mei–juni 2026</a:t>
                      </a:r>
                    </a:p>
                  </a:txBody>
                  <a:tcPr marL="91440" marR="91440" marT="45720" marB="45720">
                    <a:lnR w="7620">
                      <a:solidFill>
                        <a:srgbClr val="D8E1DB"/>
                      </a:solidFill>
                      <a:prstDash val="solid"/>
                    </a:lnR>
                    <a:lnB w="7620">
                      <a:solidFill>
                        <a:srgbClr val="D8E1DB"/>
                      </a:solidFill>
                      <a:prstDash val="solid"/>
                    </a:lnB>
                    <a:solidFill>
                      <a:srgbClr val="F7F9F5"/>
                    </a:solidFill>
                  </a:tcPr>
                </a:tc>
                <a:tc>
                  <a:txBody>
                    <a:bodyPr/>
                    <a:lstStyle/>
                    <a:p>
                      <a:r>
                        <a:rPr sz="1800" b="0">
                          <a:solidFill>
                            <a:srgbClr val="173A42"/>
                          </a:solidFill>
                          <a:latin typeface="Arial"/>
                          <a:ea typeface="Arial"/>
                          <a:cs typeface="Arial"/>
                        </a:rPr>
                        <a:t>Vergelijking en modelkeuze</a:t>
                      </a:r>
                    </a:p>
                  </a:txBody>
                  <a:tcPr marL="91440" marR="91440" marT="45720" marB="45720">
                    <a:lnR w="7620">
                      <a:solidFill>
                        <a:srgbClr val="D8E1DB"/>
                      </a:solidFill>
                      <a:prstDash val="solid"/>
                    </a:lnR>
                    <a:lnB w="7620">
                      <a:solidFill>
                        <a:srgbClr val="D8E1DB"/>
                      </a:solidFill>
                      <a:prstDash val="solid"/>
                    </a:lnB>
                    <a:solidFill>
                      <a:srgbClr val="F7F9F5"/>
                    </a:solidFill>
                  </a:tcPr>
                </a:tc>
              </a:tr>
              <a:tr h="628650">
                <a:tc>
                  <a:txBody>
                    <a:bodyPr/>
                    <a:lstStyle/>
                    <a:p>
                      <a:r>
                        <a:rPr sz="1800" b="0">
                          <a:solidFill>
                            <a:srgbClr val="173A42"/>
                          </a:solidFill>
                          <a:latin typeface="Arial"/>
                          <a:ea typeface="Arial"/>
                          <a:cs typeface="Arial"/>
                        </a:rPr>
                        <a:t>Eindtest</a:t>
                      </a:r>
                    </a:p>
                  </a:txBody>
                  <a:tcPr marL="91440" marR="91440" marT="45720" marB="45720">
                    <a:lnL w="7620">
                      <a:solidFill>
                        <a:srgbClr val="D8E1DB"/>
                      </a:solidFill>
                      <a:prstDash val="solid"/>
                    </a:lnL>
                    <a:lnR w="7620">
                      <a:solidFill>
                        <a:srgbClr val="D8E1DB"/>
                      </a:solidFill>
                      <a:prstDash val="solid"/>
                    </a:lnR>
                    <a:lnB w="7620">
                      <a:solidFill>
                        <a:srgbClr val="D8E1DB"/>
                      </a:solidFill>
                      <a:prstDash val="solid"/>
                    </a:lnB>
                    <a:solidFill>
                      <a:srgbClr val="F7F9F5"/>
                    </a:solidFill>
                  </a:tcPr>
                </a:tc>
                <a:tc>
                  <a:txBody>
                    <a:bodyPr/>
                    <a:lstStyle/>
                    <a:p>
                      <a:r>
                        <a:rPr sz="1800" b="0">
                          <a:solidFill>
                            <a:srgbClr val="173A42"/>
                          </a:solidFill>
                          <a:latin typeface="Arial"/>
                          <a:ea typeface="Arial"/>
                          <a:cs typeface="Arial"/>
                        </a:rPr>
                        <a:t>Juli–augustus 2026</a:t>
                      </a:r>
                    </a:p>
                  </a:txBody>
                  <a:tcPr marL="91440" marR="91440" marT="45720" marB="45720">
                    <a:lnR w="7620">
                      <a:solidFill>
                        <a:srgbClr val="D8E1DB"/>
                      </a:solidFill>
                      <a:prstDash val="solid"/>
                    </a:lnR>
                    <a:lnB w="7620">
                      <a:solidFill>
                        <a:srgbClr val="D8E1DB"/>
                      </a:solidFill>
                      <a:prstDash val="solid"/>
                    </a:lnB>
                    <a:solidFill>
                      <a:srgbClr val="F7F9F5"/>
                    </a:solidFill>
                  </a:tcPr>
                </a:tc>
                <a:tc>
                  <a:txBody>
                    <a:bodyPr/>
                    <a:lstStyle/>
                    <a:p>
                      <a:r>
                        <a:rPr sz="1800" b="0">
                          <a:solidFill>
                            <a:srgbClr val="173A42"/>
                          </a:solidFill>
                          <a:latin typeface="Arial"/>
                          <a:ea typeface="Arial"/>
                          <a:cs typeface="Arial"/>
                        </a:rPr>
                        <a:t>Bestaande eindbeoordeling</a:t>
                      </a:r>
                    </a:p>
                  </a:txBody>
                  <a:tcPr marL="91440" marR="91440" marT="45720" marB="45720">
                    <a:lnR w="7620">
                      <a:solidFill>
                        <a:srgbClr val="D8E1DB"/>
                      </a:solidFill>
                      <a:prstDash val="solid"/>
                    </a:lnR>
                    <a:lnB w="7620">
                      <a:solidFill>
                        <a:srgbClr val="D8E1DB"/>
                      </a:solidFill>
                      <a:prstDash val="solid"/>
                    </a:lnB>
                    <a:solidFill>
                      <a:srgbClr val="F7F9F5"/>
                    </a:solidFill>
                  </a:tcPr>
                </a:tc>
              </a:tr>
            </a:tbl>
          </a:graphicData>
        </a:graphic>
      </p:graphicFrame>
      <p:sp>
        <p:nvSpPr>
          <p:cNvPr id="7" name="">
            <a:extLst xmlns:a="http://schemas.openxmlformats.org/drawingml/2006/main">
              <a:ext uri="{FF2B5EF4-FFF2-40B4-BE49-F238E27FC236}">
                <a16:creationId xmlns:a16="http://schemas.microsoft.com/office/drawing/2014/main" id="{4F878FDD-BC7D-4C23-A49A-6031224C67C3}"/>
              </a:ext>
            </a:extLst>
          </p:cNvPr>
          <p:cNvSpPr>
            <a:spLocks xmlns:a="http://schemas.openxmlformats.org/drawingml/2006/main" noGrp="1"/>
          </p:cNvSpPr>
          <p:nvPr/>
        </p:nvSpPr>
        <p:spPr>
          <a:xfrm xmlns:a="http://schemas.openxmlformats.org/drawingml/2006/main">
            <a:off x="704850" y="59245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62766E"/>
                </a:solidFill>
                <a:latin typeface="Arial"/>
                <a:ea typeface="Arial"/>
                <a:cs typeface="Arial"/>
              </a:defRPr>
            </a:defPPr>
          </a:lstStyle>
          <a:p xmlns:a="http://schemas.openxmlformats.org/drawingml/2006/main">
            <a:pPr>
              <a:defRPr sz="1725" b="0">
                <a:solidFill>
                  <a:srgbClr val="62766E"/>
                </a:solidFill>
                <a:latin typeface="Arial"/>
                <a:ea typeface="Arial"/>
                <a:cs typeface="Arial"/>
              </a:defRPr>
            </a:pPr>
            <a:r>
              <a:rPr sz="1725" b="0">
                <a:solidFill>
                  <a:srgbClr val="62766E"/>
                </a:solidFill>
                <a:latin typeface="Arial"/>
                <a:ea typeface="Arial"/>
                <a:cs typeface="Arial"/>
              </a:rPr>
              <a:t>112.872 trainingsrijen en 1.464 validatierijen. Vijf folds van 28 dagen.</a:t>
            </a:r>
          </a:p>
        </p:txBody>
      </p:sp>
    </p:spTree>
    <p:extLst>
      <p:ext uri="{BB962C8B-B14F-4D97-AF65-F5344CB8AC3E}">
        <p14:creationId xmlns:p14="http://schemas.microsoft.com/office/powerpoint/2010/main" val="1452201247"/>
      </p:ext>
    </p:extLst>
  </p:cSld>
</p:sld>
</file>

<file path=ppt/slides/slide6.xml><?xml version="1.0" encoding="utf-8"?>
<p:sld xmlns:p="http://schemas.openxmlformats.org/presentationml/2006/main">
  <p:cSld>
    <p:bg>
      <p:bgPr>
        <a:solidFill xmlns:a="http://schemas.openxmlformats.org/drawingml/2006/main">
          <a:srgbClr val="F7F9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76C33D5-AC24-4A23-A9B9-ED2B09570AEB}"/>
              </a:ext>
            </a:extLst>
          </p:cNvPr>
          <p:cNvSpPr>
            <a:spLocks xmlns:a="http://schemas.openxmlformats.org/drawingml/2006/main" noGrp="1"/>
          </p:cNvSpPr>
          <p:nvPr/>
        </p:nvSpPr>
        <p:spPr>
          <a:xfrm xmlns:a="http://schemas.openxmlformats.org/drawingml/2006/main">
            <a:off x="685800" y="32385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1">
                <a:solidFill>
                  <a:srgbClr val="12796B"/>
                </a:solidFill>
                <a:latin typeface="Arial"/>
                <a:ea typeface="Arial"/>
                <a:cs typeface="Arial"/>
              </a:defRPr>
            </a:defPPr>
          </a:lstStyle>
          <a:p xmlns:a="http://schemas.openxmlformats.org/drawingml/2006/main">
            <a:pPr>
              <a:defRPr sz="1425" b="1">
                <a:solidFill>
                  <a:srgbClr val="12796B"/>
                </a:solidFill>
                <a:latin typeface="Arial"/>
                <a:ea typeface="Arial"/>
                <a:cs typeface="Arial"/>
              </a:defRPr>
            </a:pPr>
            <a:r>
              <a:rPr sz="1425" b="1">
                <a:solidFill>
                  <a:srgbClr val="12796B"/>
                </a:solidFill>
                <a:latin typeface="Arial"/>
                <a:ea typeface="Arial"/>
                <a:cs typeface="Arial"/>
              </a:rPr>
              <a:t>MODELLEN</a:t>
            </a:r>
          </a:p>
        </p:txBody>
      </p:sp>
      <p:sp>
        <p:nvSpPr>
          <p:cNvPr id="2" name="">
            <a:extLst xmlns:a="http://schemas.openxmlformats.org/drawingml/2006/main">
              <a:ext uri="{FF2B5EF4-FFF2-40B4-BE49-F238E27FC236}">
                <a16:creationId xmlns:a16="http://schemas.microsoft.com/office/drawing/2014/main" id="{185BFCA7-273E-47DF-9DCB-49748338023F}"/>
              </a:ext>
            </a:extLst>
          </p:cNvPr>
          <p:cNvSpPr>
            <a:spLocks xmlns:a="http://schemas.openxmlformats.org/drawingml/2006/main" noGrp="1"/>
          </p:cNvSpPr>
          <p:nvPr/>
        </p:nvSpPr>
        <p:spPr>
          <a:xfrm xmlns:a="http://schemas.openxmlformats.org/drawingml/2006/main">
            <a:off x="685800" y="7810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A42"/>
                </a:solidFill>
                <a:latin typeface="Arial"/>
                <a:ea typeface="Arial"/>
                <a:cs typeface="Arial"/>
              </a:defRPr>
            </a:defPPr>
          </a:lstStyle>
          <a:p xmlns:a="http://schemas.openxmlformats.org/drawingml/2006/main">
            <a:pPr>
              <a:defRPr sz="3300" b="1">
                <a:solidFill>
                  <a:srgbClr val="173A42"/>
                </a:solidFill>
                <a:latin typeface="Arial"/>
                <a:ea typeface="Arial"/>
                <a:cs typeface="Arial"/>
              </a:defRPr>
            </a:pPr>
            <a:r>
              <a:rPr sz="3300" b="1">
                <a:solidFill>
                  <a:srgbClr val="173A42"/>
                </a:solidFill>
                <a:latin typeface="Arial"/>
                <a:ea typeface="Arial"/>
                <a:cs typeface="Arial"/>
              </a:rPr>
              <a:t>Random Forest valideert het beste</a:t>
            </a:r>
          </a:p>
        </p:txBody>
      </p:sp>
      <p:sp>
        <p:nvSpPr>
          <p:cNvPr id="3" name="">
            <a:extLst xmlns:a="http://schemas.openxmlformats.org/drawingml/2006/main">
              <a:ext uri="{FF2B5EF4-FFF2-40B4-BE49-F238E27FC236}">
                <a16:creationId xmlns:a16="http://schemas.microsoft.com/office/drawing/2014/main" id="{05ABAB37-7240-499D-BCEB-3676384A2E2B}"/>
              </a:ext>
            </a:extLst>
          </p:cNvPr>
          <p:cNvSpPr>
            <a:spLocks xmlns:a="http://schemas.openxmlformats.org/drawingml/2006/main" noGrp="1"/>
          </p:cNvSpPr>
          <p:nvPr/>
        </p:nvSpPr>
        <p:spPr>
          <a:xfrm xmlns:a="http://schemas.openxmlformats.org/drawingml/2006/main">
            <a:off x="11239500" y="64198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2766E"/>
                </a:solidFill>
                <a:latin typeface="Arial"/>
                <a:ea typeface="Arial"/>
                <a:cs typeface="Arial"/>
              </a:defRPr>
            </a:defPPr>
          </a:lstStyle>
          <a:p xmlns:a="http://schemas.openxmlformats.org/drawingml/2006/main">
            <a:pPr>
              <a:defRPr sz="1350" b="0">
                <a:solidFill>
                  <a:srgbClr val="62766E"/>
                </a:solidFill>
                <a:latin typeface="Arial"/>
                <a:ea typeface="Arial"/>
                <a:cs typeface="Arial"/>
              </a:defRPr>
            </a:pPr>
            <a:r>
              <a:rPr sz="1350" b="0">
                <a:solidFill>
                  <a:srgbClr val="62766E"/>
                </a:solidFill>
                <a:latin typeface="Arial"/>
                <a:ea typeface="Arial"/>
                <a:cs typeface="Arial"/>
              </a:rPr>
              <a:t>6</a:t>
            </a:r>
          </a:p>
        </p:txBody>
      </p:sp>
      <p:graphicFrame>
        <p:nvGraphicFramePr>
          <p:cNvPr id="4" name="Chart">
            <a:extLst xmlns:a="http://schemas.openxmlformats.org/drawingml/2006/main">
              <a:ext uri="{FF2B5EF4-FFF2-40B4-BE49-F238E27FC236}">
                <a16:creationId xmlns:a16="http://schemas.microsoft.com/office/drawing/2014/main" id="{60F5AC56-E0D3-4E46-9B4A-00DC5478A6B7}"/>
              </a:ext>
            </a:extLst>
          </p:cNvPr>
          <p:cNvGraphicFramePr/>
          <p:nvPr/>
        </p:nvGraphicFramePr>
        <p:xfrm>
          <a:off xmlns:a="http://schemas.openxmlformats.org/drawingml/2006/main" x="666750" y="1676400"/>
          <a:ext xmlns:a="http://schemas.openxmlformats.org/drawingml/2006/main" cx="10572750" cy="3752850"/>
        </p:xfrm>
        <a:graphic xmlns:a="http://schemas.openxmlformats.org/drawingml/2006/main">
          <a:graphicData uri="http://schemas.openxmlformats.org/drawingml/2006/chart">
            <c:chart xmlns:r="http://schemas.openxmlformats.org/officeDocument/2006/relationships" xmlns:c="http://schemas.openxmlformats.org/drawingml/2006/chart" r:id="R037db73d7dcb48cd"/>
          </a:graphicData>
        </a:graphic>
      </p:graphicFrame>
      <p:sp>
        <p:nvSpPr>
          <p:cNvPr id="5" name="">
            <a:extLst xmlns:a="http://schemas.openxmlformats.org/drawingml/2006/main">
              <a:ext uri="{FF2B5EF4-FFF2-40B4-BE49-F238E27FC236}">
                <a16:creationId xmlns:a16="http://schemas.microsoft.com/office/drawing/2014/main" id="{38F4606B-F6FB-4955-9B33-DD9BE35D27CF}"/>
              </a:ext>
            </a:extLst>
          </p:cNvPr>
          <p:cNvSpPr>
            <a:spLocks xmlns:a="http://schemas.openxmlformats.org/drawingml/2006/main" noGrp="1"/>
          </p:cNvSpPr>
          <p:nvPr/>
        </p:nvSpPr>
        <p:spPr>
          <a:xfrm xmlns:a="http://schemas.openxmlformats.org/drawingml/2006/main">
            <a:off x="762000" y="57150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1">
                <a:solidFill>
                  <a:srgbClr val="12796B"/>
                </a:solidFill>
                <a:latin typeface="Arial"/>
                <a:ea typeface="Arial"/>
                <a:cs typeface="Arial"/>
              </a:defRPr>
            </a:defPPr>
          </a:lstStyle>
          <a:p xmlns:a="http://schemas.openxmlformats.org/drawingml/2006/main">
            <a:pPr>
              <a:defRPr sz="1950" b="1">
                <a:solidFill>
                  <a:srgbClr val="12796B"/>
                </a:solidFill>
                <a:latin typeface="Arial"/>
                <a:ea typeface="Arial"/>
                <a:cs typeface="Arial"/>
              </a:defRPr>
            </a:pPr>
            <a:r>
              <a:rPr sz="1950" b="1">
                <a:solidFill>
                  <a:srgbClr val="12796B"/>
                </a:solidFill>
                <a:latin typeface="Arial"/>
                <a:ea typeface="Arial"/>
                <a:cs typeface="Arial"/>
              </a:rPr>
              <a:t>RF getuned: 1.940,49 ritten/uurvak. 31,34% lagere RMSE dan de weekbaseline.</a:t>
            </a:r>
          </a:p>
        </p:txBody>
      </p:sp>
      <p:sp>
        <p:nvSpPr>
          <p:cNvPr id="6" name="">
            <a:extLst xmlns:a="http://schemas.openxmlformats.org/drawingml/2006/main">
              <a:ext uri="{FF2B5EF4-FFF2-40B4-BE49-F238E27FC236}">
                <a16:creationId xmlns:a16="http://schemas.microsoft.com/office/drawing/2014/main" id="{732661AA-8B3A-49D0-9918-E06BF4C0BAF1}"/>
              </a:ext>
            </a:extLst>
          </p:cNvPr>
          <p:cNvSpPr>
            <a:spLocks xmlns:a="http://schemas.openxmlformats.org/drawingml/2006/main" noGrp="1"/>
          </p:cNvSpPr>
          <p:nvPr/>
        </p:nvSpPr>
        <p:spPr>
          <a:xfrm xmlns:a="http://schemas.openxmlformats.org/drawingml/2006/main">
            <a:off x="762000" y="61722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575" b="0">
                <a:solidFill>
                  <a:srgbClr val="62766E"/>
                </a:solidFill>
                <a:latin typeface="Arial"/>
                <a:ea typeface="Arial"/>
                <a:cs typeface="Arial"/>
              </a:defRPr>
            </a:defPPr>
          </a:lstStyle>
          <a:p xmlns:a="http://schemas.openxmlformats.org/drawingml/2006/main">
            <a:pPr>
              <a:defRPr sz="1575" b="0">
                <a:solidFill>
                  <a:srgbClr val="62766E"/>
                </a:solidFill>
                <a:latin typeface="Arial"/>
                <a:ea typeface="Arial"/>
                <a:cs typeface="Arial"/>
              </a:defRPr>
            </a:pPr>
            <a:r>
              <a:rPr sz="1575" b="0">
                <a:solidFill>
                  <a:srgbClr val="62766E"/>
                </a:solidFill>
                <a:latin typeface="Arial"/>
                <a:ea typeface="Arial"/>
                <a:cs typeface="Arial"/>
              </a:rPr>
              <a:t>PyCaret vergelijkt dezelfde basismodellen. Deze rangschikking gebruikt validatie.</a:t>
            </a:r>
          </a:p>
        </p:txBody>
      </p:sp>
    </p:spTree>
    <p:extLst>
      <p:ext uri="{BB962C8B-B14F-4D97-AF65-F5344CB8AC3E}">
        <p14:creationId xmlns:p14="http://schemas.microsoft.com/office/powerpoint/2010/main" val="1041002759"/>
      </p:ext>
    </p:extLst>
  </p:cSld>
</p:sld>
</file>

<file path=ppt/slides/slide7.xml><?xml version="1.0" encoding="utf-8"?>
<p:sld xmlns:p="http://schemas.openxmlformats.org/presentationml/2006/main">
  <p:cSld>
    <p:bg>
      <p:bgPr>
        <a:solidFill xmlns:a="http://schemas.openxmlformats.org/drawingml/2006/main">
          <a:srgbClr val="F7F9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07665AD-72BE-45D9-AC17-84C9782AA92C}"/>
              </a:ext>
            </a:extLst>
          </p:cNvPr>
          <p:cNvSpPr>
            <a:spLocks xmlns:a="http://schemas.openxmlformats.org/drawingml/2006/main" noGrp="1"/>
          </p:cNvSpPr>
          <p:nvPr/>
        </p:nvSpPr>
        <p:spPr>
          <a:xfrm xmlns:a="http://schemas.openxmlformats.org/drawingml/2006/main">
            <a:off x="685800" y="32385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1">
                <a:solidFill>
                  <a:srgbClr val="12796B"/>
                </a:solidFill>
                <a:latin typeface="Arial"/>
                <a:ea typeface="Arial"/>
                <a:cs typeface="Arial"/>
              </a:defRPr>
            </a:defPPr>
          </a:lstStyle>
          <a:p xmlns:a="http://schemas.openxmlformats.org/drawingml/2006/main">
            <a:pPr>
              <a:defRPr sz="1425" b="1">
                <a:solidFill>
                  <a:srgbClr val="12796B"/>
                </a:solidFill>
                <a:latin typeface="Arial"/>
                <a:ea typeface="Arial"/>
                <a:cs typeface="Arial"/>
              </a:defRPr>
            </a:pPr>
            <a:r>
              <a:rPr sz="1425" b="1">
                <a:solidFill>
                  <a:srgbClr val="12796B"/>
                </a:solidFill>
                <a:latin typeface="Arial"/>
                <a:ea typeface="Arial"/>
                <a:cs typeface="Arial"/>
              </a:rPr>
              <a:t>MODELLEN</a:t>
            </a:r>
          </a:p>
        </p:txBody>
      </p:sp>
      <p:sp>
        <p:nvSpPr>
          <p:cNvPr id="2" name="">
            <a:extLst xmlns:a="http://schemas.openxmlformats.org/drawingml/2006/main">
              <a:ext uri="{FF2B5EF4-FFF2-40B4-BE49-F238E27FC236}">
                <a16:creationId xmlns:a16="http://schemas.microsoft.com/office/drawing/2014/main" id="{950CEEB3-B69A-4AE9-85AB-D1840FB87A43}"/>
              </a:ext>
            </a:extLst>
          </p:cNvPr>
          <p:cNvSpPr>
            <a:spLocks xmlns:a="http://schemas.openxmlformats.org/drawingml/2006/main" noGrp="1"/>
          </p:cNvSpPr>
          <p:nvPr/>
        </p:nvSpPr>
        <p:spPr>
          <a:xfrm xmlns:a="http://schemas.openxmlformats.org/drawingml/2006/main">
            <a:off x="685800" y="7810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A42"/>
                </a:solidFill>
                <a:latin typeface="Arial"/>
                <a:ea typeface="Arial"/>
                <a:cs typeface="Arial"/>
              </a:defRPr>
            </a:defPPr>
          </a:lstStyle>
          <a:p xmlns:a="http://schemas.openxmlformats.org/drawingml/2006/main">
            <a:pPr>
              <a:defRPr sz="3300" b="1">
                <a:solidFill>
                  <a:srgbClr val="173A42"/>
                </a:solidFill>
                <a:latin typeface="Arial"/>
                <a:ea typeface="Arial"/>
                <a:cs typeface="Arial"/>
              </a:defRPr>
            </a:pPr>
            <a:r>
              <a:rPr sz="3300" b="1">
                <a:solidFill>
                  <a:srgbClr val="173A42"/>
                </a:solidFill>
                <a:latin typeface="Arial"/>
                <a:ea typeface="Arial"/>
                <a:cs typeface="Arial"/>
              </a:rPr>
              <a:t>Snelle training en generalisatie verschillen</a:t>
            </a:r>
          </a:p>
        </p:txBody>
      </p:sp>
      <p:sp>
        <p:nvSpPr>
          <p:cNvPr id="3" name="">
            <a:extLst xmlns:a="http://schemas.openxmlformats.org/drawingml/2006/main">
              <a:ext uri="{FF2B5EF4-FFF2-40B4-BE49-F238E27FC236}">
                <a16:creationId xmlns:a16="http://schemas.microsoft.com/office/drawing/2014/main" id="{091EB777-ACCC-4F5F-BC37-E96CA600AE69}"/>
              </a:ext>
            </a:extLst>
          </p:cNvPr>
          <p:cNvSpPr>
            <a:spLocks xmlns:a="http://schemas.openxmlformats.org/drawingml/2006/main" noGrp="1"/>
          </p:cNvSpPr>
          <p:nvPr/>
        </p:nvSpPr>
        <p:spPr>
          <a:xfrm xmlns:a="http://schemas.openxmlformats.org/drawingml/2006/main">
            <a:off x="11239500" y="64198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2766E"/>
                </a:solidFill>
                <a:latin typeface="Arial"/>
                <a:ea typeface="Arial"/>
                <a:cs typeface="Arial"/>
              </a:defRPr>
            </a:defPPr>
          </a:lstStyle>
          <a:p xmlns:a="http://schemas.openxmlformats.org/drawingml/2006/main">
            <a:pPr>
              <a:defRPr sz="1350" b="0">
                <a:solidFill>
                  <a:srgbClr val="62766E"/>
                </a:solidFill>
                <a:latin typeface="Arial"/>
                <a:ea typeface="Arial"/>
                <a:cs typeface="Arial"/>
              </a:defRPr>
            </a:pPr>
            <a:r>
              <a:rPr sz="1350" b="0">
                <a:solidFill>
                  <a:srgbClr val="62766E"/>
                </a:solidFill>
                <a:latin typeface="Arial"/>
                <a:ea typeface="Arial"/>
                <a:cs typeface="Arial"/>
              </a:rPr>
              <a:t>7</a:t>
            </a:r>
          </a:p>
        </p:txBody>
      </p:sp>
      <p:graphicFrame>
        <p:nvGraphicFramePr>
          <p:cNvPr id="4" name="">
            <a:extLst xmlns:a="http://schemas.openxmlformats.org/drawingml/2006/main">
              <a:ext uri="{FF2B5EF4-FFF2-40B4-BE49-F238E27FC236}">
                <a16:creationId xmlns:a16="http://schemas.microsoft.com/office/drawing/2014/main" id="{09027018-04AA-4203-A20C-6BB6FE412CA7}"/>
              </a:ext>
            </a:extLst>
          </p:cNvPr>
          <p:cNvGraphicFramePr/>
          <p:nvPr/>
        </p:nvGraphicFramePr>
        <p:xfrm>
          <a:off xmlns:a="http://schemas.openxmlformats.org/drawingml/2006/main" x="685800" y="1743075"/>
          <a:ext xmlns:a="http://schemas.openxmlformats.org/drawingml/2006/main" cx="10820400" cy="3286125"/>
        </p:xfrm>
        <a:graphic xmlns:a="http://schemas.openxmlformats.org/drawingml/2006/main">
          <a:graphicData uri="http://schemas.openxmlformats.org/drawingml/2006/table">
            <a:tbl>
              <a:tblPr firstRow="1" bandRow="0"/>
              <a:tblGrid>
                <a:gridCol w="3333750"/>
                <a:gridCol w="2238375"/>
                <a:gridCol w="2809875"/>
                <a:gridCol w="2438400"/>
              </a:tblGrid>
              <a:tr h="657225">
                <a:tc>
                  <a:txBody>
                    <a:bodyPr/>
                    <a:lstStyle/>
                    <a:p>
                      <a:r>
                        <a:rPr sz="1800" b="1">
                          <a:solidFill>
                            <a:srgbClr val="FFFFFF"/>
                          </a:solidFill>
                          <a:latin typeface="Arial"/>
                          <a:ea typeface="Arial"/>
                          <a:cs typeface="Arial"/>
                        </a:rPr>
                        <a:t>Model</a:t>
                      </a:r>
                    </a:p>
                  </a:txBody>
                  <a:tcPr marL="91440" marR="91440" marT="45720" marB="45720">
                    <a:lnL w="7620">
                      <a:solidFill>
                        <a:srgbClr val="D8E1DB"/>
                      </a:solidFill>
                      <a:prstDash val="solid"/>
                    </a:lnL>
                    <a:lnR w="7620">
                      <a:solidFill>
                        <a:srgbClr val="D8E1DB"/>
                      </a:solidFill>
                      <a:prstDash val="solid"/>
                    </a:lnR>
                    <a:lnT w="7620">
                      <a:solidFill>
                        <a:srgbClr val="D8E1DB"/>
                      </a:solidFill>
                      <a:prstDash val="solid"/>
                    </a:lnT>
                    <a:lnB w="7620">
                      <a:solidFill>
                        <a:srgbClr val="D8E1DB"/>
                      </a:solidFill>
                      <a:prstDash val="solid"/>
                    </a:lnB>
                    <a:solidFill>
                      <a:srgbClr val="12796B"/>
                    </a:solidFill>
                  </a:tcPr>
                </a:tc>
                <a:tc>
                  <a:txBody>
                    <a:bodyPr/>
                    <a:lstStyle/>
                    <a:p>
                      <a:r>
                        <a:rPr sz="1800" b="1">
                          <a:solidFill>
                            <a:srgbClr val="FFFFFF"/>
                          </a:solidFill>
                          <a:latin typeface="Arial"/>
                          <a:ea typeface="Arial"/>
                          <a:cs typeface="Arial"/>
                        </a:rPr>
                        <a:t>Train-RMSE</a:t>
                      </a:r>
                    </a:p>
                  </a:txBody>
                  <a:tcPr marL="91440" marR="91440" marT="45720" marB="45720">
                    <a:lnR w="7620">
                      <a:solidFill>
                        <a:srgbClr val="D8E1DB"/>
                      </a:solidFill>
                      <a:prstDash val="solid"/>
                    </a:lnR>
                    <a:lnT w="7620">
                      <a:solidFill>
                        <a:srgbClr val="D8E1DB"/>
                      </a:solidFill>
                      <a:prstDash val="solid"/>
                    </a:lnT>
                    <a:lnB w="7620">
                      <a:solidFill>
                        <a:srgbClr val="D8E1DB"/>
                      </a:solidFill>
                      <a:prstDash val="solid"/>
                    </a:lnB>
                    <a:solidFill>
                      <a:srgbClr val="12796B"/>
                    </a:solidFill>
                  </a:tcPr>
                </a:tc>
                <a:tc>
                  <a:txBody>
                    <a:bodyPr/>
                    <a:lstStyle/>
                    <a:p>
                      <a:r>
                        <a:rPr sz="1800" b="1">
                          <a:solidFill>
                            <a:srgbClr val="FFFFFF"/>
                          </a:solidFill>
                          <a:latin typeface="Arial"/>
                          <a:ea typeface="Arial"/>
                          <a:cs typeface="Arial"/>
                        </a:rPr>
                        <a:t>Validatie-RMSE</a:t>
                      </a:r>
                    </a:p>
                  </a:txBody>
                  <a:tcPr marL="91440" marR="91440" marT="45720" marB="45720">
                    <a:lnR w="7620">
                      <a:solidFill>
                        <a:srgbClr val="D8E1DB"/>
                      </a:solidFill>
                      <a:prstDash val="solid"/>
                    </a:lnR>
                    <a:lnT w="7620">
                      <a:solidFill>
                        <a:srgbClr val="D8E1DB"/>
                      </a:solidFill>
                      <a:prstDash val="solid"/>
                    </a:lnT>
                    <a:lnB w="7620">
                      <a:solidFill>
                        <a:srgbClr val="D8E1DB"/>
                      </a:solidFill>
                      <a:prstDash val="solid"/>
                    </a:lnB>
                    <a:solidFill>
                      <a:srgbClr val="12796B"/>
                    </a:solidFill>
                  </a:tcPr>
                </a:tc>
                <a:tc>
                  <a:txBody>
                    <a:bodyPr/>
                    <a:lstStyle/>
                    <a:p>
                      <a:r>
                        <a:rPr sz="1800" b="1">
                          <a:solidFill>
                            <a:srgbClr val="FFFFFF"/>
                          </a:solidFill>
                          <a:latin typeface="Arial"/>
                          <a:ea typeface="Arial"/>
                          <a:cs typeface="Arial"/>
                        </a:rPr>
                        <a:t>Fit op deze pc</a:t>
                      </a:r>
                    </a:p>
                  </a:txBody>
                  <a:tcPr marL="91440" marR="91440" marT="45720" marB="45720">
                    <a:lnR w="7620">
                      <a:solidFill>
                        <a:srgbClr val="D8E1DB"/>
                      </a:solidFill>
                      <a:prstDash val="solid"/>
                    </a:lnR>
                    <a:lnT w="7620">
                      <a:solidFill>
                        <a:srgbClr val="D8E1DB"/>
                      </a:solidFill>
                      <a:prstDash val="solid"/>
                    </a:lnT>
                    <a:lnB w="7620">
                      <a:solidFill>
                        <a:srgbClr val="D8E1DB"/>
                      </a:solidFill>
                      <a:prstDash val="solid"/>
                    </a:lnB>
                    <a:solidFill>
                      <a:srgbClr val="12796B"/>
                    </a:solidFill>
                  </a:tcPr>
                </a:tc>
              </a:tr>
              <a:tr h="657225">
                <a:tc>
                  <a:txBody>
                    <a:bodyPr/>
                    <a:lstStyle/>
                    <a:p>
                      <a:r>
                        <a:rPr sz="1800" b="0">
                          <a:solidFill>
                            <a:srgbClr val="173A42"/>
                          </a:solidFill>
                          <a:latin typeface="Arial"/>
                          <a:ea typeface="Arial"/>
                          <a:cs typeface="Arial"/>
                        </a:rPr>
                        <a:t>Ridge</a:t>
                      </a:r>
                    </a:p>
                  </a:txBody>
                  <a:tcPr marL="91440" marR="91440" marT="45720" marB="45720">
                    <a:lnL w="7620">
                      <a:solidFill>
                        <a:srgbClr val="D8E1DB"/>
                      </a:solidFill>
                      <a:prstDash val="solid"/>
                    </a:lnL>
                    <a:lnR w="7620">
                      <a:solidFill>
                        <a:srgbClr val="D8E1DB"/>
                      </a:solidFill>
                      <a:prstDash val="solid"/>
                    </a:lnR>
                    <a:lnB w="7620">
                      <a:solidFill>
                        <a:srgbClr val="D8E1DB"/>
                      </a:solidFill>
                      <a:prstDash val="solid"/>
                    </a:lnB>
                    <a:solidFill>
                      <a:srgbClr val="F7F9F5"/>
                    </a:solidFill>
                  </a:tcPr>
                </a:tc>
                <a:tc>
                  <a:txBody>
                    <a:bodyPr/>
                    <a:lstStyle/>
                    <a:p>
                      <a:r>
                        <a:rPr sz="1800" b="0">
                          <a:solidFill>
                            <a:srgbClr val="173A42"/>
                          </a:solidFill>
                          <a:latin typeface="Arial"/>
                          <a:ea typeface="Arial"/>
                          <a:cs typeface="Arial"/>
                        </a:rPr>
                        <a:t>1.022</a:t>
                      </a:r>
                    </a:p>
                  </a:txBody>
                  <a:tcPr marL="91440" marR="91440" marT="45720" marB="45720">
                    <a:lnR w="7620">
                      <a:solidFill>
                        <a:srgbClr val="D8E1DB"/>
                      </a:solidFill>
                      <a:prstDash val="solid"/>
                    </a:lnR>
                    <a:lnB w="7620">
                      <a:solidFill>
                        <a:srgbClr val="D8E1DB"/>
                      </a:solidFill>
                      <a:prstDash val="solid"/>
                    </a:lnB>
                    <a:solidFill>
                      <a:srgbClr val="F7F9F5"/>
                    </a:solidFill>
                  </a:tcPr>
                </a:tc>
                <a:tc>
                  <a:txBody>
                    <a:bodyPr/>
                    <a:lstStyle/>
                    <a:p>
                      <a:r>
                        <a:rPr sz="1800" b="0">
                          <a:solidFill>
                            <a:srgbClr val="173A42"/>
                          </a:solidFill>
                          <a:latin typeface="Arial"/>
                          <a:ea typeface="Arial"/>
                          <a:cs typeface="Arial"/>
                        </a:rPr>
                        <a:t>1.982</a:t>
                      </a:r>
                    </a:p>
                  </a:txBody>
                  <a:tcPr marL="91440" marR="91440" marT="45720" marB="45720">
                    <a:lnR w="7620">
                      <a:solidFill>
                        <a:srgbClr val="D8E1DB"/>
                      </a:solidFill>
                      <a:prstDash val="solid"/>
                    </a:lnR>
                    <a:lnB w="7620">
                      <a:solidFill>
                        <a:srgbClr val="D8E1DB"/>
                      </a:solidFill>
                      <a:prstDash val="solid"/>
                    </a:lnB>
                    <a:solidFill>
                      <a:srgbClr val="F7F9F5"/>
                    </a:solidFill>
                  </a:tcPr>
                </a:tc>
                <a:tc>
                  <a:txBody>
                    <a:bodyPr/>
                    <a:lstStyle/>
                    <a:p>
                      <a:r>
                        <a:rPr sz="1800" b="0">
                          <a:solidFill>
                            <a:srgbClr val="173A42"/>
                          </a:solidFill>
                          <a:latin typeface="Arial"/>
                          <a:ea typeface="Arial"/>
                          <a:cs typeface="Arial"/>
                        </a:rPr>
                        <a:t>0,05 s</a:t>
                      </a:r>
                    </a:p>
                  </a:txBody>
                  <a:tcPr marL="91440" marR="91440" marT="45720" marB="45720">
                    <a:lnR w="7620">
                      <a:solidFill>
                        <a:srgbClr val="D8E1DB"/>
                      </a:solidFill>
                      <a:prstDash val="solid"/>
                    </a:lnR>
                    <a:lnB w="7620">
                      <a:solidFill>
                        <a:srgbClr val="D8E1DB"/>
                      </a:solidFill>
                      <a:prstDash val="solid"/>
                    </a:lnB>
                    <a:solidFill>
                      <a:srgbClr val="F7F9F5"/>
                    </a:solidFill>
                  </a:tcPr>
                </a:tc>
              </a:tr>
              <a:tr h="657225">
                <a:tc>
                  <a:txBody>
                    <a:bodyPr/>
                    <a:lstStyle/>
                    <a:p>
                      <a:r>
                        <a:rPr sz="1800" b="0">
                          <a:solidFill>
                            <a:srgbClr val="173A42"/>
                          </a:solidFill>
                          <a:latin typeface="Arial"/>
                          <a:ea typeface="Arial"/>
                          <a:cs typeface="Arial"/>
                        </a:rPr>
                        <a:t>LightGBM</a:t>
                      </a:r>
                    </a:p>
                  </a:txBody>
                  <a:tcPr marL="91440" marR="91440" marT="45720" marB="45720">
                    <a:lnL w="7620">
                      <a:solidFill>
                        <a:srgbClr val="D8E1DB"/>
                      </a:solidFill>
                      <a:prstDash val="solid"/>
                    </a:lnL>
                    <a:lnR w="7620">
                      <a:solidFill>
                        <a:srgbClr val="D8E1DB"/>
                      </a:solidFill>
                      <a:prstDash val="solid"/>
                    </a:lnR>
                    <a:lnB w="7620">
                      <a:solidFill>
                        <a:srgbClr val="D8E1DB"/>
                      </a:solidFill>
                      <a:prstDash val="solid"/>
                    </a:lnB>
                    <a:solidFill>
                      <a:srgbClr val="F7F9F5"/>
                    </a:solidFill>
                  </a:tcPr>
                </a:tc>
                <a:tc>
                  <a:txBody>
                    <a:bodyPr/>
                    <a:lstStyle/>
                    <a:p>
                      <a:r>
                        <a:rPr sz="1800" b="0">
                          <a:solidFill>
                            <a:srgbClr val="173A42"/>
                          </a:solidFill>
                          <a:latin typeface="Arial"/>
                          <a:ea typeface="Arial"/>
                          <a:cs typeface="Arial"/>
                        </a:rPr>
                        <a:t>778</a:t>
                      </a:r>
                    </a:p>
                  </a:txBody>
                  <a:tcPr marL="91440" marR="91440" marT="45720" marB="45720">
                    <a:lnR w="7620">
                      <a:solidFill>
                        <a:srgbClr val="D8E1DB"/>
                      </a:solidFill>
                      <a:prstDash val="solid"/>
                    </a:lnR>
                    <a:lnB w="7620">
                      <a:solidFill>
                        <a:srgbClr val="D8E1DB"/>
                      </a:solidFill>
                      <a:prstDash val="solid"/>
                    </a:lnB>
                    <a:solidFill>
                      <a:srgbClr val="F7F9F5"/>
                    </a:solidFill>
                  </a:tcPr>
                </a:tc>
                <a:tc>
                  <a:txBody>
                    <a:bodyPr/>
                    <a:lstStyle/>
                    <a:p>
                      <a:r>
                        <a:rPr sz="1800" b="0">
                          <a:solidFill>
                            <a:srgbClr val="173A42"/>
                          </a:solidFill>
                          <a:latin typeface="Arial"/>
                          <a:ea typeface="Arial"/>
                          <a:cs typeface="Arial"/>
                        </a:rPr>
                        <a:t>1.952</a:t>
                      </a:r>
                    </a:p>
                  </a:txBody>
                  <a:tcPr marL="91440" marR="91440" marT="45720" marB="45720">
                    <a:lnR w="7620">
                      <a:solidFill>
                        <a:srgbClr val="D8E1DB"/>
                      </a:solidFill>
                      <a:prstDash val="solid"/>
                    </a:lnR>
                    <a:lnB w="7620">
                      <a:solidFill>
                        <a:srgbClr val="D8E1DB"/>
                      </a:solidFill>
                      <a:prstDash val="solid"/>
                    </a:lnB>
                    <a:solidFill>
                      <a:srgbClr val="F7F9F5"/>
                    </a:solidFill>
                  </a:tcPr>
                </a:tc>
                <a:tc>
                  <a:txBody>
                    <a:bodyPr/>
                    <a:lstStyle/>
                    <a:p>
                      <a:r>
                        <a:rPr sz="1800" b="0">
                          <a:solidFill>
                            <a:srgbClr val="173A42"/>
                          </a:solidFill>
                          <a:latin typeface="Arial"/>
                          <a:ea typeface="Arial"/>
                          <a:cs typeface="Arial"/>
                        </a:rPr>
                        <a:t>0,72 s</a:t>
                      </a:r>
                    </a:p>
                  </a:txBody>
                  <a:tcPr marL="91440" marR="91440" marT="45720" marB="45720">
                    <a:lnR w="7620">
                      <a:solidFill>
                        <a:srgbClr val="D8E1DB"/>
                      </a:solidFill>
                      <a:prstDash val="solid"/>
                    </a:lnR>
                    <a:lnB w="7620">
                      <a:solidFill>
                        <a:srgbClr val="D8E1DB"/>
                      </a:solidFill>
                      <a:prstDash val="solid"/>
                    </a:lnB>
                    <a:solidFill>
                      <a:srgbClr val="F7F9F5"/>
                    </a:solidFill>
                  </a:tcPr>
                </a:tc>
              </a:tr>
              <a:tr h="657225">
                <a:tc>
                  <a:txBody>
                    <a:bodyPr/>
                    <a:lstStyle/>
                    <a:p>
                      <a:r>
                        <a:rPr sz="1800" b="0">
                          <a:solidFill>
                            <a:srgbClr val="173A42"/>
                          </a:solidFill>
                          <a:latin typeface="Arial"/>
                          <a:ea typeface="Arial"/>
                          <a:cs typeface="Arial"/>
                        </a:rPr>
                        <a:t>Random Forest</a:t>
                      </a:r>
                    </a:p>
                  </a:txBody>
                  <a:tcPr marL="91440" marR="91440" marT="45720" marB="45720">
                    <a:lnL w="7620">
                      <a:solidFill>
                        <a:srgbClr val="D8E1DB"/>
                      </a:solidFill>
                      <a:prstDash val="solid"/>
                    </a:lnL>
                    <a:lnR w="7620">
                      <a:solidFill>
                        <a:srgbClr val="D8E1DB"/>
                      </a:solidFill>
                      <a:prstDash val="solid"/>
                    </a:lnR>
                    <a:lnB w="7620">
                      <a:solidFill>
                        <a:srgbClr val="D8E1DB"/>
                      </a:solidFill>
                      <a:prstDash val="solid"/>
                    </a:lnB>
                    <a:solidFill>
                      <a:srgbClr val="F7F9F5"/>
                    </a:solidFill>
                  </a:tcPr>
                </a:tc>
                <a:tc>
                  <a:txBody>
                    <a:bodyPr/>
                    <a:lstStyle/>
                    <a:p>
                      <a:r>
                        <a:rPr sz="1800" b="0">
                          <a:solidFill>
                            <a:srgbClr val="173A42"/>
                          </a:solidFill>
                          <a:latin typeface="Arial"/>
                          <a:ea typeface="Arial"/>
                          <a:cs typeface="Arial"/>
                        </a:rPr>
                        <a:t>684</a:t>
                      </a:r>
                    </a:p>
                  </a:txBody>
                  <a:tcPr marL="91440" marR="91440" marT="45720" marB="45720">
                    <a:lnR w="7620">
                      <a:solidFill>
                        <a:srgbClr val="D8E1DB"/>
                      </a:solidFill>
                      <a:prstDash val="solid"/>
                    </a:lnR>
                    <a:lnB w="7620">
                      <a:solidFill>
                        <a:srgbClr val="D8E1DB"/>
                      </a:solidFill>
                      <a:prstDash val="solid"/>
                    </a:lnB>
                    <a:solidFill>
                      <a:srgbClr val="F7F9F5"/>
                    </a:solidFill>
                  </a:tcPr>
                </a:tc>
                <a:tc>
                  <a:txBody>
                    <a:bodyPr/>
                    <a:lstStyle/>
                    <a:p>
                      <a:r>
                        <a:rPr sz="1800" b="0">
                          <a:solidFill>
                            <a:srgbClr val="173A42"/>
                          </a:solidFill>
                          <a:latin typeface="Arial"/>
                          <a:ea typeface="Arial"/>
                          <a:cs typeface="Arial"/>
                        </a:rPr>
                        <a:t>1.946</a:t>
                      </a:r>
                    </a:p>
                  </a:txBody>
                  <a:tcPr marL="91440" marR="91440" marT="45720" marB="45720">
                    <a:lnR w="7620">
                      <a:solidFill>
                        <a:srgbClr val="D8E1DB"/>
                      </a:solidFill>
                      <a:prstDash val="solid"/>
                    </a:lnR>
                    <a:lnB w="7620">
                      <a:solidFill>
                        <a:srgbClr val="D8E1DB"/>
                      </a:solidFill>
                      <a:prstDash val="solid"/>
                    </a:lnB>
                    <a:solidFill>
                      <a:srgbClr val="F7F9F5"/>
                    </a:solidFill>
                  </a:tcPr>
                </a:tc>
                <a:tc>
                  <a:txBody>
                    <a:bodyPr/>
                    <a:lstStyle/>
                    <a:p>
                      <a:r>
                        <a:rPr sz="1800" b="0">
                          <a:solidFill>
                            <a:srgbClr val="173A42"/>
                          </a:solidFill>
                          <a:latin typeface="Arial"/>
                          <a:ea typeface="Arial"/>
                          <a:cs typeface="Arial"/>
                        </a:rPr>
                        <a:t>37,92 s</a:t>
                      </a:r>
                    </a:p>
                  </a:txBody>
                  <a:tcPr marL="91440" marR="91440" marT="45720" marB="45720">
                    <a:lnR w="7620">
                      <a:solidFill>
                        <a:srgbClr val="D8E1DB"/>
                      </a:solidFill>
                      <a:prstDash val="solid"/>
                    </a:lnR>
                    <a:lnB w="7620">
                      <a:solidFill>
                        <a:srgbClr val="D8E1DB"/>
                      </a:solidFill>
                      <a:prstDash val="solid"/>
                    </a:lnB>
                    <a:solidFill>
                      <a:srgbClr val="F7F9F5"/>
                    </a:solidFill>
                  </a:tcPr>
                </a:tc>
              </a:tr>
              <a:tr h="657225">
                <a:tc>
                  <a:txBody>
                    <a:bodyPr/>
                    <a:lstStyle/>
                    <a:p>
                      <a:r>
                        <a:rPr sz="1800" b="0">
                          <a:solidFill>
                            <a:srgbClr val="173A42"/>
                          </a:solidFill>
                          <a:latin typeface="Arial"/>
                          <a:ea typeface="Arial"/>
                          <a:cs typeface="Arial"/>
                        </a:rPr>
                        <a:t>RF getuned</a:t>
                      </a:r>
                    </a:p>
                  </a:txBody>
                  <a:tcPr marL="91440" marR="91440" marT="45720" marB="45720">
                    <a:lnL w="7620">
                      <a:solidFill>
                        <a:srgbClr val="D8E1DB"/>
                      </a:solidFill>
                      <a:prstDash val="solid"/>
                    </a:lnL>
                    <a:lnR w="7620">
                      <a:solidFill>
                        <a:srgbClr val="D8E1DB"/>
                      </a:solidFill>
                      <a:prstDash val="solid"/>
                    </a:lnR>
                    <a:lnB w="7620">
                      <a:solidFill>
                        <a:srgbClr val="D8E1DB"/>
                      </a:solidFill>
                      <a:prstDash val="solid"/>
                    </a:lnB>
                    <a:solidFill>
                      <a:srgbClr val="F7F9F5"/>
                    </a:solidFill>
                  </a:tcPr>
                </a:tc>
                <a:tc>
                  <a:txBody>
                    <a:bodyPr/>
                    <a:lstStyle/>
                    <a:p>
                      <a:r>
                        <a:rPr sz="1800" b="0">
                          <a:solidFill>
                            <a:srgbClr val="173A42"/>
                          </a:solidFill>
                          <a:latin typeface="Arial"/>
                          <a:ea typeface="Arial"/>
                          <a:cs typeface="Arial"/>
                        </a:rPr>
                        <a:t>536</a:t>
                      </a:r>
                    </a:p>
                  </a:txBody>
                  <a:tcPr marL="91440" marR="91440" marT="45720" marB="45720">
                    <a:lnR w="7620">
                      <a:solidFill>
                        <a:srgbClr val="D8E1DB"/>
                      </a:solidFill>
                      <a:prstDash val="solid"/>
                    </a:lnR>
                    <a:lnB w="7620">
                      <a:solidFill>
                        <a:srgbClr val="D8E1DB"/>
                      </a:solidFill>
                      <a:prstDash val="solid"/>
                    </a:lnB>
                    <a:solidFill>
                      <a:srgbClr val="F7F9F5"/>
                    </a:solidFill>
                  </a:tcPr>
                </a:tc>
                <a:tc>
                  <a:txBody>
                    <a:bodyPr/>
                    <a:lstStyle/>
                    <a:p>
                      <a:r>
                        <a:rPr sz="1800" b="0">
                          <a:solidFill>
                            <a:srgbClr val="173A42"/>
                          </a:solidFill>
                          <a:latin typeface="Arial"/>
                          <a:ea typeface="Arial"/>
                          <a:cs typeface="Arial"/>
                        </a:rPr>
                        <a:t>1.940</a:t>
                      </a:r>
                    </a:p>
                  </a:txBody>
                  <a:tcPr marL="91440" marR="91440" marT="45720" marB="45720">
                    <a:lnR w="7620">
                      <a:solidFill>
                        <a:srgbClr val="D8E1DB"/>
                      </a:solidFill>
                      <a:prstDash val="solid"/>
                    </a:lnR>
                    <a:lnB w="7620">
                      <a:solidFill>
                        <a:srgbClr val="D8E1DB"/>
                      </a:solidFill>
                      <a:prstDash val="solid"/>
                    </a:lnB>
                    <a:solidFill>
                      <a:srgbClr val="F7F9F5"/>
                    </a:solidFill>
                  </a:tcPr>
                </a:tc>
                <a:tc>
                  <a:txBody>
                    <a:bodyPr/>
                    <a:lstStyle/>
                    <a:p>
                      <a:r>
                        <a:rPr sz="1800" b="0">
                          <a:solidFill>
                            <a:srgbClr val="173A42"/>
                          </a:solidFill>
                          <a:latin typeface="Arial"/>
                          <a:ea typeface="Arial"/>
                          <a:cs typeface="Arial"/>
                        </a:rPr>
                        <a:t>71,24 s</a:t>
                      </a:r>
                    </a:p>
                  </a:txBody>
                  <a:tcPr marL="91440" marR="91440" marT="45720" marB="45720">
                    <a:lnR w="7620">
                      <a:solidFill>
                        <a:srgbClr val="D8E1DB"/>
                      </a:solidFill>
                      <a:prstDash val="solid"/>
                    </a:lnR>
                    <a:lnB w="7620">
                      <a:solidFill>
                        <a:srgbClr val="D8E1DB"/>
                      </a:solidFill>
                      <a:prstDash val="solid"/>
                    </a:lnB>
                    <a:solidFill>
                      <a:srgbClr val="F7F9F5"/>
                    </a:solidFill>
                  </a:tcPr>
                </a:tc>
              </a:tr>
            </a:tbl>
          </a:graphicData>
        </a:graphic>
      </p:graphicFrame>
      <p:sp>
        <p:nvSpPr>
          <p:cNvPr id="5" name="">
            <a:extLst xmlns:a="http://schemas.openxmlformats.org/drawingml/2006/main">
              <a:ext uri="{FF2B5EF4-FFF2-40B4-BE49-F238E27FC236}">
                <a16:creationId xmlns:a16="http://schemas.microsoft.com/office/drawing/2014/main" id="{9DDAA187-83E4-42CE-A8A8-FB95F9266ADF}"/>
              </a:ext>
            </a:extLst>
          </p:cNvPr>
          <p:cNvSpPr>
            <a:spLocks xmlns:a="http://schemas.openxmlformats.org/drawingml/2006/main" noGrp="1"/>
          </p:cNvSpPr>
          <p:nvPr/>
        </p:nvSpPr>
        <p:spPr>
          <a:xfrm xmlns:a="http://schemas.openxmlformats.org/drawingml/2006/main">
            <a:off x="723900" y="53911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12796B"/>
                </a:solidFill>
                <a:latin typeface="Arial"/>
                <a:ea typeface="Arial"/>
                <a:cs typeface="Arial"/>
              </a:defRPr>
            </a:defPPr>
          </a:lstStyle>
          <a:p xmlns:a="http://schemas.openxmlformats.org/drawingml/2006/main">
            <a:pPr>
              <a:defRPr sz="2325" b="1">
                <a:solidFill>
                  <a:srgbClr val="12796B"/>
                </a:solidFill>
                <a:latin typeface="Arial"/>
                <a:ea typeface="Arial"/>
                <a:cs typeface="Arial"/>
              </a:defRPr>
            </a:pPr>
            <a:r>
              <a:rPr sz="2325" b="1">
                <a:solidFill>
                  <a:srgbClr val="12796B"/>
                </a:solidFill>
                <a:latin typeface="Arial"/>
                <a:ea typeface="Arial"/>
                <a:cs typeface="Arial"/>
              </a:rPr>
              <a:t>RF-tuning: slechts 0,27% extra validatiewinst</a:t>
            </a:r>
          </a:p>
        </p:txBody>
      </p:sp>
      <p:sp>
        <p:nvSpPr>
          <p:cNvPr id="6" name="">
            <a:extLst xmlns:a="http://schemas.openxmlformats.org/drawingml/2006/main">
              <a:ext uri="{FF2B5EF4-FFF2-40B4-BE49-F238E27FC236}">
                <a16:creationId xmlns:a16="http://schemas.microsoft.com/office/drawing/2014/main" id="{AE7CDAC8-34D5-4C77-8881-19F7D524D5DC}"/>
              </a:ext>
            </a:extLst>
          </p:cNvPr>
          <p:cNvSpPr>
            <a:spLocks xmlns:a="http://schemas.openxmlformats.org/drawingml/2006/main" noGrp="1"/>
          </p:cNvSpPr>
          <p:nvPr/>
        </p:nvSpPr>
        <p:spPr>
          <a:xfrm xmlns:a="http://schemas.openxmlformats.org/drawingml/2006/main">
            <a:off x="723900" y="59150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62766E"/>
                </a:solidFill>
                <a:latin typeface="Arial"/>
                <a:ea typeface="Arial"/>
                <a:cs typeface="Arial"/>
              </a:defRPr>
            </a:defPPr>
          </a:lstStyle>
          <a:p xmlns:a="http://schemas.openxmlformats.org/drawingml/2006/main">
            <a:pPr>
              <a:defRPr sz="1875" b="0">
                <a:solidFill>
                  <a:srgbClr val="62766E"/>
                </a:solidFill>
                <a:latin typeface="Arial"/>
                <a:ea typeface="Arial"/>
                <a:cs typeface="Arial"/>
              </a:defRPr>
            </a:pPr>
            <a:r>
              <a:rPr sz="1875" b="0">
                <a:solidFill>
                  <a:srgbClr val="62766E"/>
                </a:solidFill>
                <a:latin typeface="Arial"/>
                <a:ea typeface="Arial"/>
                <a:cs typeface="Arial"/>
              </a:rPr>
              <a:t>Circa 647 MiB voor het finale oorspronkelijke artefact</a:t>
            </a:r>
          </a:p>
        </p:txBody>
      </p:sp>
    </p:spTree>
    <p:extLst>
      <p:ext uri="{BB962C8B-B14F-4D97-AF65-F5344CB8AC3E}">
        <p14:creationId xmlns:p14="http://schemas.microsoft.com/office/powerpoint/2010/main" val="306017781"/>
      </p:ext>
    </p:extLst>
  </p:cSld>
</p:sld>
</file>

<file path=ppt/slides/slide8.xml><?xml version="1.0" encoding="utf-8"?>
<p:sld xmlns:p="http://schemas.openxmlformats.org/presentationml/2006/main">
  <p:cSld>
    <p:bg>
      <p:bgPr>
        <a:solidFill xmlns:a="http://schemas.openxmlformats.org/drawingml/2006/main">
          <a:srgbClr val="F7F9F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5AB7923-734A-4C70-9BEA-562B0913AA46}"/>
              </a:ext>
            </a:extLst>
          </p:cNvPr>
          <p:cNvSpPr>
            <a:spLocks xmlns:a="http://schemas.openxmlformats.org/drawingml/2006/main" noGrp="1"/>
          </p:cNvSpPr>
          <p:nvPr/>
        </p:nvSpPr>
        <p:spPr>
          <a:xfrm xmlns:a="http://schemas.openxmlformats.org/drawingml/2006/main">
            <a:off x="685800" y="32385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1">
                <a:solidFill>
                  <a:srgbClr val="12796B"/>
                </a:solidFill>
                <a:latin typeface="Arial"/>
                <a:ea typeface="Arial"/>
                <a:cs typeface="Arial"/>
              </a:defRPr>
            </a:defPPr>
          </a:lstStyle>
          <a:p xmlns:a="http://schemas.openxmlformats.org/drawingml/2006/main">
            <a:pPr>
              <a:defRPr sz="1425" b="1">
                <a:solidFill>
                  <a:srgbClr val="12796B"/>
                </a:solidFill>
                <a:latin typeface="Arial"/>
                <a:ea typeface="Arial"/>
                <a:cs typeface="Arial"/>
              </a:defRPr>
            </a:pPr>
            <a:r>
              <a:rPr sz="1425" b="1">
                <a:solidFill>
                  <a:srgbClr val="12796B"/>
                </a:solidFill>
                <a:latin typeface="Arial"/>
                <a:ea typeface="Arial"/>
                <a:cs typeface="Arial"/>
              </a:rPr>
              <a:t>CONCLUSIE</a:t>
            </a:r>
          </a:p>
        </p:txBody>
      </p:sp>
      <p:sp>
        <p:nvSpPr>
          <p:cNvPr id="2" name="">
            <a:extLst xmlns:a="http://schemas.openxmlformats.org/drawingml/2006/main">
              <a:ext uri="{FF2B5EF4-FFF2-40B4-BE49-F238E27FC236}">
                <a16:creationId xmlns:a16="http://schemas.microsoft.com/office/drawing/2014/main" id="{31D82681-0076-43F2-A33A-3E8ECA3A2E7F}"/>
              </a:ext>
            </a:extLst>
          </p:cNvPr>
          <p:cNvSpPr>
            <a:spLocks xmlns:a="http://schemas.openxmlformats.org/drawingml/2006/main" noGrp="1"/>
          </p:cNvSpPr>
          <p:nvPr/>
        </p:nvSpPr>
        <p:spPr>
          <a:xfrm xmlns:a="http://schemas.openxmlformats.org/drawingml/2006/main">
            <a:off x="685800" y="7810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A42"/>
                </a:solidFill>
                <a:latin typeface="Arial"/>
                <a:ea typeface="Arial"/>
                <a:cs typeface="Arial"/>
              </a:defRPr>
            </a:defPPr>
          </a:lstStyle>
          <a:p xmlns:a="http://schemas.openxmlformats.org/drawingml/2006/main">
            <a:pPr>
              <a:defRPr sz="3300" b="1">
                <a:solidFill>
                  <a:srgbClr val="173A42"/>
                </a:solidFill>
                <a:latin typeface="Arial"/>
                <a:ea typeface="Arial"/>
                <a:cs typeface="Arial"/>
              </a:defRPr>
            </a:pPr>
            <a:r>
              <a:rPr sz="3300" b="1">
                <a:solidFill>
                  <a:srgbClr val="173A42"/>
                </a:solidFill>
                <a:latin typeface="Arial"/>
                <a:ea typeface="Arial"/>
                <a:cs typeface="Arial"/>
              </a:rPr>
              <a:t>De bestaande eindtest bevestigt winst</a:t>
            </a:r>
          </a:p>
        </p:txBody>
      </p:sp>
      <p:sp>
        <p:nvSpPr>
          <p:cNvPr id="3" name="">
            <a:extLst xmlns:a="http://schemas.openxmlformats.org/drawingml/2006/main">
              <a:ext uri="{FF2B5EF4-FFF2-40B4-BE49-F238E27FC236}">
                <a16:creationId xmlns:a16="http://schemas.microsoft.com/office/drawing/2014/main" id="{067D5910-6F5C-48E6-9D3E-C4BB2B890918}"/>
              </a:ext>
            </a:extLst>
          </p:cNvPr>
          <p:cNvSpPr>
            <a:spLocks xmlns:a="http://schemas.openxmlformats.org/drawingml/2006/main" noGrp="1"/>
          </p:cNvSpPr>
          <p:nvPr/>
        </p:nvSpPr>
        <p:spPr>
          <a:xfrm xmlns:a="http://schemas.openxmlformats.org/drawingml/2006/main">
            <a:off x="11239500" y="64198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2766E"/>
                </a:solidFill>
                <a:latin typeface="Arial"/>
                <a:ea typeface="Arial"/>
                <a:cs typeface="Arial"/>
              </a:defRPr>
            </a:defPPr>
          </a:lstStyle>
          <a:p xmlns:a="http://schemas.openxmlformats.org/drawingml/2006/main">
            <a:pPr>
              <a:defRPr sz="1350" b="0">
                <a:solidFill>
                  <a:srgbClr val="62766E"/>
                </a:solidFill>
                <a:latin typeface="Arial"/>
                <a:ea typeface="Arial"/>
                <a:cs typeface="Arial"/>
              </a:defRPr>
            </a:pPr>
            <a:r>
              <a:rPr sz="1350" b="0">
                <a:solidFill>
                  <a:srgbClr val="62766E"/>
                </a:solidFill>
                <a:latin typeface="Arial"/>
                <a:ea typeface="Arial"/>
                <a:cs typeface="Arial"/>
              </a:rPr>
              <a:t>8</a:t>
            </a:r>
          </a:p>
        </p:txBody>
      </p:sp>
      <p:graphicFrame>
        <p:nvGraphicFramePr>
          <p:cNvPr id="4" name="Chart">
            <a:extLst xmlns:a="http://schemas.openxmlformats.org/drawingml/2006/main">
              <a:ext uri="{FF2B5EF4-FFF2-40B4-BE49-F238E27FC236}">
                <a16:creationId xmlns:a16="http://schemas.microsoft.com/office/drawing/2014/main" id="{8C2C1DF3-0BAD-4DAC-A59D-FBF3F0CC80C4}"/>
              </a:ext>
            </a:extLst>
          </p:cNvPr>
          <p:cNvGraphicFramePr/>
          <p:nvPr/>
        </p:nvGraphicFramePr>
        <p:xfrm>
          <a:off xmlns:a="http://schemas.openxmlformats.org/drawingml/2006/main" x="685800" y="1828800"/>
          <a:ext xmlns:a="http://schemas.openxmlformats.org/drawingml/2006/main" cx="6810375" cy="3124200"/>
        </p:xfrm>
        <a:graphic xmlns:a="http://schemas.openxmlformats.org/drawingml/2006/main">
          <a:graphicData uri="http://schemas.openxmlformats.org/drawingml/2006/chart">
            <c:chart xmlns:r="http://schemas.openxmlformats.org/officeDocument/2006/relationships" xmlns:c="http://schemas.openxmlformats.org/drawingml/2006/chart" r:id="R181bec2c980a4c90"/>
          </a:graphicData>
        </a:graphic>
      </p:graphicFrame>
      <p:sp>
        <p:nvSpPr>
          <p:cNvPr id="5" name="">
            <a:extLst xmlns:a="http://schemas.openxmlformats.org/drawingml/2006/main">
              <a:ext uri="{FF2B5EF4-FFF2-40B4-BE49-F238E27FC236}">
                <a16:creationId xmlns:a16="http://schemas.microsoft.com/office/drawing/2014/main" id="{DEA9EBCA-44EB-45B0-A1BD-C323B54CD67E}"/>
              </a:ext>
            </a:extLst>
          </p:cNvPr>
          <p:cNvSpPr>
            <a:spLocks xmlns:a="http://schemas.openxmlformats.org/drawingml/2006/main" noGrp="1"/>
          </p:cNvSpPr>
          <p:nvPr/>
        </p:nvSpPr>
        <p:spPr>
          <a:xfrm xmlns:a="http://schemas.openxmlformats.org/drawingml/2006/main">
            <a:off x="8191500" y="1790700"/>
            <a:ext cx="3381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4800" b="1">
                <a:solidFill>
                  <a:srgbClr val="12796B"/>
                </a:solidFill>
                <a:latin typeface="Arial"/>
                <a:ea typeface="Arial"/>
                <a:cs typeface="Arial"/>
              </a:defRPr>
            </a:defPPr>
          </a:lstStyle>
          <a:p xmlns:a="http://schemas.openxmlformats.org/drawingml/2006/main">
            <a:pPr>
              <a:defRPr sz="4800" b="1">
                <a:solidFill>
                  <a:srgbClr val="12796B"/>
                </a:solidFill>
                <a:latin typeface="Arial"/>
                <a:ea typeface="Arial"/>
                <a:cs typeface="Arial"/>
              </a:defRPr>
            </a:pPr>
            <a:r>
              <a:rPr sz="4800" b="1">
                <a:solidFill>
                  <a:srgbClr val="12796B"/>
                </a:solidFill>
                <a:latin typeface="Arial"/>
                <a:ea typeface="Arial"/>
                <a:cs typeface="Arial"/>
              </a:rPr>
              <a:t>24,12%</a:t>
            </a:r>
          </a:p>
        </p:txBody>
      </p:sp>
      <p:sp>
        <p:nvSpPr>
          <p:cNvPr id="6" name="">
            <a:extLst xmlns:a="http://schemas.openxmlformats.org/drawingml/2006/main">
              <a:ext uri="{FF2B5EF4-FFF2-40B4-BE49-F238E27FC236}">
                <a16:creationId xmlns:a16="http://schemas.microsoft.com/office/drawing/2014/main" id="{CAB6B751-EFA3-4A0F-A494-EE9B95F4606A}"/>
              </a:ext>
            </a:extLst>
          </p:cNvPr>
          <p:cNvSpPr>
            <a:spLocks xmlns:a="http://schemas.openxmlformats.org/drawingml/2006/main" noGrp="1"/>
          </p:cNvSpPr>
          <p:nvPr/>
        </p:nvSpPr>
        <p:spPr>
          <a:xfrm xmlns:a="http://schemas.openxmlformats.org/drawingml/2006/main">
            <a:off x="8210550" y="274320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73A42"/>
                </a:solidFill>
                <a:latin typeface="Arial"/>
                <a:ea typeface="Arial"/>
                <a:cs typeface="Arial"/>
              </a:defRPr>
            </a:defPPr>
          </a:lstStyle>
          <a:p xmlns:a="http://schemas.openxmlformats.org/drawingml/2006/main">
            <a:pPr>
              <a:defRPr sz="2025" b="0">
                <a:solidFill>
                  <a:srgbClr val="173A42"/>
                </a:solidFill>
                <a:latin typeface="Arial"/>
                <a:ea typeface="Arial"/>
                <a:cs typeface="Arial"/>
              </a:defRPr>
            </a:pPr>
            <a:r>
              <a:rPr sz="2025" b="0">
                <a:solidFill>
                  <a:srgbClr val="173A42"/>
                </a:solidFill>
                <a:latin typeface="Arial"/>
                <a:ea typeface="Arial"/>
                <a:cs typeface="Arial"/>
              </a:rPr>
              <a:t>lagere RMSE dan de baseline</a:t>
            </a:r>
          </a:p>
        </p:txBody>
      </p:sp>
      <p:sp>
        <p:nvSpPr>
          <p:cNvPr id="7" name="">
            <a:extLst xmlns:a="http://schemas.openxmlformats.org/drawingml/2006/main">
              <a:ext uri="{FF2B5EF4-FFF2-40B4-BE49-F238E27FC236}">
                <a16:creationId xmlns:a16="http://schemas.microsoft.com/office/drawing/2014/main" id="{24E0CC60-E2C4-463E-8188-59AEFEF15E01}"/>
              </a:ext>
            </a:extLst>
          </p:cNvPr>
          <p:cNvSpPr>
            <a:spLocks xmlns:a="http://schemas.openxmlformats.org/drawingml/2006/main" noGrp="1"/>
          </p:cNvSpPr>
          <p:nvPr/>
        </p:nvSpPr>
        <p:spPr>
          <a:xfrm xmlns:a="http://schemas.openxmlformats.org/drawingml/2006/main">
            <a:off x="8210550" y="3876675"/>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73A42"/>
                </a:solidFill>
                <a:latin typeface="Arial"/>
                <a:ea typeface="Arial"/>
                <a:cs typeface="Arial"/>
              </a:defRPr>
            </a:defPPr>
          </a:lstStyle>
          <a:p xmlns:a="http://schemas.openxmlformats.org/drawingml/2006/main">
            <a:pPr>
              <a:defRPr sz="2250" b="1">
                <a:solidFill>
                  <a:srgbClr val="173A42"/>
                </a:solidFill>
                <a:latin typeface="Arial"/>
                <a:ea typeface="Arial"/>
                <a:cs typeface="Arial"/>
              </a:defRPr>
            </a:pPr>
            <a:r>
              <a:rPr sz="2250" b="1">
                <a:solidFill>
                  <a:srgbClr val="173A42"/>
                </a:solidFill>
                <a:latin typeface="Arial"/>
                <a:ea typeface="Arial"/>
                <a:cs typeface="Arial"/>
              </a:rPr>
              <a:t>MAE: 1.076,23</a:t>
            </a:r>
            <a:br>
              <a:rPr sz="2250" b="1">
                <a:solidFill>
                  <a:srgbClr val="173A42"/>
                </a:solidFill>
                <a:latin typeface="Arial"/>
                <a:ea typeface="Arial"/>
                <a:cs typeface="Arial"/>
              </a:rPr>
            </a:br>
            <a:r>
              <a:rPr sz="2250" b="1">
                <a:solidFill>
                  <a:srgbClr val="173A42"/>
                </a:solidFill>
                <a:latin typeface="Arial"/>
                <a:ea typeface="Arial"/>
                <a:cs typeface="Arial"/>
              </a:rPr>
              <a:t>R²: 0,828</a:t>
            </a:r>
          </a:p>
        </p:txBody>
      </p:sp>
      <p:sp>
        <p:nvSpPr>
          <p:cNvPr id="8" name="">
            <a:extLst xmlns:a="http://schemas.openxmlformats.org/drawingml/2006/main">
              <a:ext uri="{FF2B5EF4-FFF2-40B4-BE49-F238E27FC236}">
                <a16:creationId xmlns:a16="http://schemas.microsoft.com/office/drawing/2014/main" id="{430D3F3F-D42B-4112-A1C7-87B6697A3331}"/>
              </a:ext>
            </a:extLst>
          </p:cNvPr>
          <p:cNvSpPr>
            <a:spLocks xmlns:a="http://schemas.openxmlformats.org/drawingml/2006/main" noGrp="1"/>
          </p:cNvSpPr>
          <p:nvPr/>
        </p:nvSpPr>
        <p:spPr>
          <a:xfrm xmlns:a="http://schemas.openxmlformats.org/drawingml/2006/main">
            <a:off x="723900" y="55530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75" b="0">
                <a:solidFill>
                  <a:srgbClr val="62766E"/>
                </a:solidFill>
                <a:latin typeface="Arial"/>
                <a:ea typeface="Arial"/>
                <a:cs typeface="Arial"/>
              </a:defRPr>
            </a:defPPr>
          </a:lstStyle>
          <a:p xmlns:a="http://schemas.openxmlformats.org/drawingml/2006/main">
            <a:pPr>
              <a:defRPr sz="1875" b="0">
                <a:solidFill>
                  <a:srgbClr val="62766E"/>
                </a:solidFill>
                <a:latin typeface="Arial"/>
                <a:ea typeface="Arial"/>
                <a:cs typeface="Arial"/>
              </a:defRPr>
            </a:pPr>
            <a:r>
              <a:rPr sz="1875" b="0">
                <a:solidFill>
                  <a:srgbClr val="62766E"/>
                </a:solidFill>
                <a:latin typeface="Arial"/>
                <a:ea typeface="Arial"/>
                <a:cs typeface="Arial"/>
              </a:rPr>
              <a:t>Juli–augustus 2026. Alleen de vooraf gekozen winnaar en baseline.</a:t>
            </a:r>
          </a:p>
        </p:txBody>
      </p:sp>
      <p:sp>
        <p:nvSpPr>
          <p:cNvPr id="9" name="">
            <a:extLst xmlns:a="http://schemas.openxmlformats.org/drawingml/2006/main">
              <a:ext uri="{FF2B5EF4-FFF2-40B4-BE49-F238E27FC236}">
                <a16:creationId xmlns:a16="http://schemas.microsoft.com/office/drawing/2014/main" id="{3648A9AD-BF5B-469A-BE8B-6577D8DECE5D}"/>
              </a:ext>
            </a:extLst>
          </p:cNvPr>
          <p:cNvSpPr>
            <a:spLocks xmlns:a="http://schemas.openxmlformats.org/drawingml/2006/main" noGrp="1"/>
          </p:cNvSpPr>
          <p:nvPr/>
        </p:nvSpPr>
        <p:spPr>
          <a:xfrm xmlns:a="http://schemas.openxmlformats.org/drawingml/2006/main">
            <a:off x="723900" y="6038850"/>
            <a:ext cx="10715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725" b="0">
                <a:solidFill>
                  <a:srgbClr val="173A42"/>
                </a:solidFill>
                <a:latin typeface="Arial"/>
                <a:ea typeface="Arial"/>
                <a:cs typeface="Arial"/>
              </a:defRPr>
            </a:defPPr>
          </a:lstStyle>
          <a:p xmlns:a="http://schemas.openxmlformats.org/drawingml/2006/main">
            <a:pPr>
              <a:defRPr sz="1725" b="0">
                <a:solidFill>
                  <a:srgbClr val="173A42"/>
                </a:solidFill>
                <a:latin typeface="Arial"/>
                <a:ea typeface="Arial"/>
                <a:cs typeface="Arial"/>
              </a:defRPr>
            </a:pPr>
            <a:r>
              <a:rPr sz="1725" b="0">
                <a:solidFill>
                  <a:srgbClr val="173A42"/>
                </a:solidFill>
                <a:latin typeface="Arial"/>
                <a:ea typeface="Arial"/>
                <a:cs typeface="Arial"/>
              </a:rPr>
              <a:t>De test blijft een eindrapport. Twee zomermaanden beperken de generalisatieclaim.</a:t>
            </a:r>
          </a:p>
        </p:txBody>
      </p:sp>
    </p:spTree>
    <p:extLst>
      <p:ext uri="{BB962C8B-B14F-4D97-AF65-F5344CB8AC3E}">
        <p14:creationId xmlns:p14="http://schemas.microsoft.com/office/powerpoint/2010/main" val="573992475"/>
      </p:ext>
    </p:extLst>
  </p:cSld>
</p:sld>
</file>

<file path=ppt/slides/slide9.xml><?xml version="1.0" encoding="utf-8"?>
<p:sld xmlns:p="http://schemas.openxmlformats.org/presentationml/2006/main">
  <p:cSld>
    <p:bg>
      <p:bgPr>
        <a:solidFill xmlns:a="http://schemas.openxmlformats.org/drawingml/2006/main">
          <a:srgbClr val="F7F9F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C0F10A4-FDBD-48E0-B451-31323102B50C}"/>
              </a:ext>
            </a:extLst>
          </p:cNvPr>
          <p:cNvSpPr>
            <a:spLocks xmlns:a="http://schemas.openxmlformats.org/drawingml/2006/main" noGrp="1"/>
          </p:cNvSpPr>
          <p:nvPr/>
        </p:nvSpPr>
        <p:spPr>
          <a:xfrm xmlns:a="http://schemas.openxmlformats.org/drawingml/2006/main">
            <a:off x="685800" y="32385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1">
                <a:solidFill>
                  <a:srgbClr val="12796B"/>
                </a:solidFill>
                <a:latin typeface="Arial"/>
                <a:ea typeface="Arial"/>
                <a:cs typeface="Arial"/>
              </a:defRPr>
            </a:defPPr>
          </a:lstStyle>
          <a:p xmlns:a="http://schemas.openxmlformats.org/drawingml/2006/main">
            <a:pPr>
              <a:defRPr sz="1425" b="1">
                <a:solidFill>
                  <a:srgbClr val="12796B"/>
                </a:solidFill>
                <a:latin typeface="Arial"/>
                <a:ea typeface="Arial"/>
                <a:cs typeface="Arial"/>
              </a:defRPr>
            </a:pPr>
            <a:r>
              <a:rPr sz="1425" b="1">
                <a:solidFill>
                  <a:srgbClr val="12796B"/>
                </a:solidFill>
                <a:latin typeface="Arial"/>
                <a:ea typeface="Arial"/>
                <a:cs typeface="Arial"/>
              </a:rPr>
              <a:t>CONCLUSIE</a:t>
            </a:r>
          </a:p>
        </p:txBody>
      </p:sp>
      <p:sp>
        <p:nvSpPr>
          <p:cNvPr id="2" name="">
            <a:extLst xmlns:a="http://schemas.openxmlformats.org/drawingml/2006/main">
              <a:ext uri="{FF2B5EF4-FFF2-40B4-BE49-F238E27FC236}">
                <a16:creationId xmlns:a16="http://schemas.microsoft.com/office/drawing/2014/main" id="{251781FD-7A68-4C3B-A03B-08845D8DA93B}"/>
              </a:ext>
            </a:extLst>
          </p:cNvPr>
          <p:cNvSpPr>
            <a:spLocks xmlns:a="http://schemas.openxmlformats.org/drawingml/2006/main" noGrp="1"/>
          </p:cNvSpPr>
          <p:nvPr/>
        </p:nvSpPr>
        <p:spPr>
          <a:xfrm xmlns:a="http://schemas.openxmlformats.org/drawingml/2006/main">
            <a:off x="685800" y="7810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A42"/>
                </a:solidFill>
                <a:latin typeface="Arial"/>
                <a:ea typeface="Arial"/>
                <a:cs typeface="Arial"/>
              </a:defRPr>
            </a:defPPr>
          </a:lstStyle>
          <a:p xmlns:a="http://schemas.openxmlformats.org/drawingml/2006/main">
            <a:pPr>
              <a:defRPr sz="3300" b="1">
                <a:solidFill>
                  <a:srgbClr val="173A42"/>
                </a:solidFill>
                <a:latin typeface="Arial"/>
                <a:ea typeface="Arial"/>
                <a:cs typeface="Arial"/>
              </a:defRPr>
            </a:pPr>
            <a:r>
              <a:rPr sz="3300" b="1">
                <a:solidFill>
                  <a:srgbClr val="173A42"/>
                </a:solidFill>
                <a:latin typeface="Arial"/>
                <a:ea typeface="Arial"/>
                <a:cs typeface="Arial"/>
              </a:rPr>
              <a:t>Mijn resultaat en de volgende stap</a:t>
            </a:r>
          </a:p>
        </p:txBody>
      </p:sp>
      <p:sp>
        <p:nvSpPr>
          <p:cNvPr id="3" name="">
            <a:extLst xmlns:a="http://schemas.openxmlformats.org/drawingml/2006/main">
              <a:ext uri="{FF2B5EF4-FFF2-40B4-BE49-F238E27FC236}">
                <a16:creationId xmlns:a16="http://schemas.microsoft.com/office/drawing/2014/main" id="{5F25B884-6878-444D-A3A9-349B7DDCDBC8}"/>
              </a:ext>
            </a:extLst>
          </p:cNvPr>
          <p:cNvSpPr>
            <a:spLocks xmlns:a="http://schemas.openxmlformats.org/drawingml/2006/main" noGrp="1"/>
          </p:cNvSpPr>
          <p:nvPr/>
        </p:nvSpPr>
        <p:spPr>
          <a:xfrm xmlns:a="http://schemas.openxmlformats.org/drawingml/2006/main">
            <a:off x="11239500" y="64198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2766E"/>
                </a:solidFill>
                <a:latin typeface="Arial"/>
                <a:ea typeface="Arial"/>
                <a:cs typeface="Arial"/>
              </a:defRPr>
            </a:defPPr>
          </a:lstStyle>
          <a:p xmlns:a="http://schemas.openxmlformats.org/drawingml/2006/main">
            <a:pPr>
              <a:defRPr sz="1350" b="0">
                <a:solidFill>
                  <a:srgbClr val="62766E"/>
                </a:solidFill>
                <a:latin typeface="Arial"/>
                <a:ea typeface="Arial"/>
                <a:cs typeface="Arial"/>
              </a:defRPr>
            </a:pPr>
            <a:r>
              <a:rPr sz="1350" b="0">
                <a:solidFill>
                  <a:srgbClr val="62766E"/>
                </a:solidFill>
                <a:latin typeface="Arial"/>
                <a:ea typeface="Arial"/>
                <a:cs typeface="Arial"/>
              </a:rPr>
              <a:t>9</a:t>
            </a:r>
          </a:p>
        </p:txBody>
      </p:sp>
      <p:pic>
        <p:nvPicPr>
          <p:cNvPr id="4" name="">
            <a:extLst xmlns:a="http://schemas.openxmlformats.org/drawingml/2006/main">
              <a:ext uri="{FF2B5EF4-FFF2-40B4-BE49-F238E27FC236}">
                <a16:creationId xmlns:a16="http://schemas.microsoft.com/office/drawing/2014/main" id="{C0FF7853-76CC-43B6-B852-A461E04300AB}"/>
              </a:ext>
            </a:extLst>
          </p:cNvPr>
          <p:cNvPicPr>
            <a:picLocks xmlns:a="http://schemas.openxmlformats.org/drawingml/2006/main" noChangeAspect="1"/>
          </p:cNvPicPr>
          <p:nvPr/>
        </p:nvPicPr>
        <p:blipFill>
          <a:blip xmlns:r="http://schemas.openxmlformats.org/officeDocument/2006/relationships" xmlns:a="http://schemas.openxmlformats.org/drawingml/2006/main" r:embed="R7a504e1dd8bc4254"/>
          <a:stretch xmlns:a="http://schemas.openxmlformats.org/drawingml/2006/main"/>
        </p:blipFill>
        <p:spPr>
          <a:xfrm xmlns:a="http://schemas.openxmlformats.org/drawingml/2006/main">
            <a:off x="719349" y="1590675"/>
            <a:ext cx="3266651" cy="457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CE6EFB6-51EB-479D-8E40-83AC05233601}"/>
              </a:ext>
            </a:extLst>
          </p:cNvPr>
          <p:cNvSpPr>
            <a:spLocks xmlns:a="http://schemas.openxmlformats.org/drawingml/2006/main" noGrp="1"/>
          </p:cNvSpPr>
          <p:nvPr/>
        </p:nvSpPr>
        <p:spPr>
          <a:xfrm xmlns:a="http://schemas.openxmlformats.org/drawingml/2006/main">
            <a:off x="4724400" y="1714500"/>
            <a:ext cx="666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475" b="1">
                <a:solidFill>
                  <a:srgbClr val="12796B"/>
                </a:solidFill>
                <a:latin typeface="Arial"/>
                <a:ea typeface="Arial"/>
                <a:cs typeface="Arial"/>
              </a:defRPr>
            </a:defPPr>
          </a:lstStyle>
          <a:p xmlns:a="http://schemas.openxmlformats.org/drawingml/2006/main">
            <a:pPr>
              <a:defRPr sz="2475" b="1">
                <a:solidFill>
                  <a:srgbClr val="12796B"/>
                </a:solidFill>
                <a:latin typeface="Arial"/>
                <a:ea typeface="Arial"/>
                <a:cs typeface="Arial"/>
              </a:defRPr>
            </a:pPr>
            <a:r>
              <a:rPr sz="2475" b="1">
                <a:solidFill>
                  <a:srgbClr val="12796B"/>
                </a:solidFill>
                <a:latin typeface="Arial"/>
                <a:ea typeface="Arial"/>
                <a:cs typeface="Arial"/>
              </a:rPr>
              <a:t>Werkende frontend en API</a:t>
            </a:r>
          </a:p>
        </p:txBody>
      </p:sp>
      <p:sp>
        <p:nvSpPr>
          <p:cNvPr id="6" name="">
            <a:extLst xmlns:a="http://schemas.openxmlformats.org/drawingml/2006/main">
              <a:ext uri="{FF2B5EF4-FFF2-40B4-BE49-F238E27FC236}">
                <a16:creationId xmlns:a16="http://schemas.microsoft.com/office/drawing/2014/main" id="{331F9F9B-95A6-416E-BDD9-76BCC0F54FDE}"/>
              </a:ext>
            </a:extLst>
          </p:cNvPr>
          <p:cNvSpPr>
            <a:spLocks xmlns:a="http://schemas.openxmlformats.org/drawingml/2006/main" noGrp="1"/>
          </p:cNvSpPr>
          <p:nvPr/>
        </p:nvSpPr>
        <p:spPr>
          <a:xfrm xmlns:a="http://schemas.openxmlformats.org/drawingml/2006/main">
            <a:off x="4724400" y="2457450"/>
            <a:ext cx="6667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73A42"/>
                </a:solidFill>
                <a:latin typeface="Arial"/>
                <a:ea typeface="Arial"/>
                <a:cs typeface="Arial"/>
              </a:defRPr>
            </a:defPPr>
          </a:lstStyle>
          <a:p xmlns:a="http://schemas.openxmlformats.org/drawingml/2006/main">
            <a:pPr>
              <a:defRPr sz="2100" b="0">
                <a:solidFill>
                  <a:srgbClr val="173A42"/>
                </a:solidFill>
                <a:latin typeface="Arial"/>
                <a:ea typeface="Arial"/>
                <a:cs typeface="Arial"/>
              </a:defRPr>
            </a:pPr>
            <a:r>
              <a:rPr sz="2100" b="0">
                <a:solidFill>
                  <a:srgbClr val="173A42"/>
                </a:solidFill>
                <a:latin typeface="Arial"/>
                <a:ea typeface="Arial"/>
                <a:cs typeface="Arial"/>
              </a:rPr>
              <a:t>Dezelfde voorspelfunctie als offline</a:t>
            </a:r>
            <a:br>
              <a:rPr sz="2100" b="0">
                <a:solidFill>
                  <a:srgbClr val="173A42"/>
                </a:solidFill>
                <a:latin typeface="Arial"/>
                <a:ea typeface="Arial"/>
                <a:cs typeface="Arial"/>
              </a:rPr>
            </a:br>
            <a:br>
              <a:rPr sz="2100" b="0">
                <a:solidFill>
                  <a:srgbClr val="173A42"/>
                </a:solidFill>
                <a:latin typeface="Arial"/>
                <a:ea typeface="Arial"/>
                <a:cs typeface="Arial"/>
              </a:rPr>
            </a:br>
            <a:r>
              <a:rPr sz="2100" b="0">
                <a:solidFill>
                  <a:srgbClr val="173A42"/>
                </a:solidFill>
                <a:latin typeface="Arial"/>
                <a:ea typeface="Arial"/>
                <a:cs typeface="Arial"/>
              </a:rPr>
              <a:t>Gecontroleerde lokale RF-hertraining</a:t>
            </a:r>
            <a:br>
              <a:rPr sz="2100" b="0">
                <a:solidFill>
                  <a:srgbClr val="173A42"/>
                </a:solidFill>
                <a:latin typeface="Arial"/>
                <a:ea typeface="Arial"/>
                <a:cs typeface="Arial"/>
              </a:rPr>
            </a:br>
            <a:r>
              <a:rPr sz="2100" b="0">
                <a:solidFill>
                  <a:srgbClr val="173A42"/>
                </a:solidFill>
                <a:latin typeface="Arial"/>
                <a:ea typeface="Arial"/>
                <a:cs typeface="Arial"/>
              </a:rPr>
              <a:t>met een apart modelartefact</a:t>
            </a:r>
          </a:p>
        </p:txBody>
      </p:sp>
      <p:sp>
        <p:nvSpPr>
          <p:cNvPr id="7" name="">
            <a:extLst xmlns:a="http://schemas.openxmlformats.org/drawingml/2006/main">
              <a:ext uri="{FF2B5EF4-FFF2-40B4-BE49-F238E27FC236}">
                <a16:creationId xmlns:a16="http://schemas.microsoft.com/office/drawing/2014/main" id="{5F6B7D22-A0B9-435C-BA19-01301DA5C1D8}"/>
              </a:ext>
            </a:extLst>
          </p:cNvPr>
          <p:cNvSpPr>
            <a:spLocks xmlns:a="http://schemas.openxmlformats.org/drawingml/2006/main" noGrp="1"/>
          </p:cNvSpPr>
          <p:nvPr/>
        </p:nvSpPr>
        <p:spPr>
          <a:xfrm xmlns:a="http://schemas.openxmlformats.org/drawingml/2006/main">
            <a:off x="4724400" y="4248150"/>
            <a:ext cx="666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250" b="1">
                <a:solidFill>
                  <a:srgbClr val="173A42"/>
                </a:solidFill>
                <a:latin typeface="Arial"/>
                <a:ea typeface="Arial"/>
                <a:cs typeface="Arial"/>
              </a:defRPr>
            </a:defPPr>
          </a:lstStyle>
          <a:p xmlns:a="http://schemas.openxmlformats.org/drawingml/2006/main">
            <a:pPr>
              <a:defRPr sz="2250" b="1">
                <a:solidFill>
                  <a:srgbClr val="173A42"/>
                </a:solidFill>
                <a:latin typeface="Arial"/>
                <a:ea typeface="Arial"/>
                <a:cs typeface="Arial"/>
              </a:defRPr>
            </a:pPr>
            <a:r>
              <a:rPr sz="2250" b="1">
                <a:solidFill>
                  <a:srgbClr val="173A42"/>
                </a:solidFill>
                <a:latin typeface="Arial"/>
                <a:ea typeface="Arial"/>
                <a:cs typeface="Arial"/>
              </a:rPr>
              <a:t>Nog te regelen</a:t>
            </a:r>
          </a:p>
        </p:txBody>
      </p:sp>
      <p:sp>
        <p:nvSpPr>
          <p:cNvPr id="8" name="">
            <a:extLst xmlns:a="http://schemas.openxmlformats.org/drawingml/2006/main">
              <a:ext uri="{FF2B5EF4-FFF2-40B4-BE49-F238E27FC236}">
                <a16:creationId xmlns:a16="http://schemas.microsoft.com/office/drawing/2014/main" id="{92A48D01-10FC-40AB-8351-2F97F94DA0E0}"/>
              </a:ext>
            </a:extLst>
          </p:cNvPr>
          <p:cNvSpPr>
            <a:spLocks xmlns:a="http://schemas.openxmlformats.org/drawingml/2006/main" noGrp="1"/>
          </p:cNvSpPr>
          <p:nvPr/>
        </p:nvSpPr>
        <p:spPr>
          <a:xfrm xmlns:a="http://schemas.openxmlformats.org/drawingml/2006/main">
            <a:off x="4724400" y="4829175"/>
            <a:ext cx="6667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950" b="0">
                <a:solidFill>
                  <a:srgbClr val="173A42"/>
                </a:solidFill>
                <a:latin typeface="Arial"/>
                <a:ea typeface="Arial"/>
                <a:cs typeface="Arial"/>
              </a:defRPr>
            </a:defPPr>
          </a:lstStyle>
          <a:p xmlns:a="http://schemas.openxmlformats.org/drawingml/2006/main">
            <a:pPr>
              <a:defRPr sz="1950" b="0">
                <a:solidFill>
                  <a:srgbClr val="173A42"/>
                </a:solidFill>
                <a:latin typeface="Arial"/>
                <a:ea typeface="Arial"/>
                <a:cs typeface="Arial"/>
              </a:defRPr>
            </a:pPr>
            <a:r>
              <a:rPr sz="1950" b="0">
                <a:solidFill>
                  <a:srgbClr val="173A42"/>
                </a:solidFill>
                <a:latin typeface="Arial"/>
                <a:ea typeface="Arial"/>
                <a:cs typeface="Arial"/>
              </a:rPr>
              <a:t>Runnerregistratie en een GitHub-run</a:t>
            </a:r>
            <a:br>
              <a:rPr sz="1950" b="0">
                <a:solidFill>
                  <a:srgbClr val="173A42"/>
                </a:solidFill>
                <a:latin typeface="Arial"/>
                <a:ea typeface="Arial"/>
                <a:cs typeface="Arial"/>
              </a:rPr>
            </a:br>
            <a:r>
              <a:rPr sz="1950" b="0">
                <a:solidFill>
                  <a:srgbClr val="173A42"/>
                </a:solidFill>
                <a:latin typeface="Arial"/>
                <a:ea typeface="Arial"/>
                <a:cs typeface="Arial"/>
              </a:rPr>
              <a:t>Live modelupdate</a:t>
            </a:r>
            <a:br>
              <a:rPr sz="1950" b="0">
                <a:solidFill>
                  <a:srgbClr val="173A42"/>
                </a:solidFill>
                <a:latin typeface="Arial"/>
                <a:ea typeface="Arial"/>
                <a:cs typeface="Arial"/>
              </a:rPr>
            </a:br>
            <a:r>
              <a:rPr sz="1950" b="0">
                <a:solidFill>
                  <a:srgbClr val="173A42"/>
                </a:solidFill>
                <a:latin typeface="Arial"/>
                <a:ea typeface="Arial"/>
                <a:cs typeface="Arial"/>
              </a:rPr>
              <a:t>AWS-cloudbewijs in het groepsproject</a:t>
            </a:r>
          </a:p>
        </p:txBody>
      </p:sp>
    </p:spTree>
    <p:extLst>
      <p:ext uri="{BB962C8B-B14F-4D97-AF65-F5344CB8AC3E}">
        <p14:creationId xmlns:p14="http://schemas.microsoft.com/office/powerpoint/2010/main" val="80768617"/>
      </p:ext>
    </p:extLst>
  </p:cSld>
</p:sld>
</file>

<file path=ppt/slides/slide10.xml><?xml version="1.0" encoding="utf-8"?>
<p:sld xmlns:p="http://schemas.openxmlformats.org/presentationml/2006/main">
  <p:cSld>
    <p:bg>
      <p:bgPr>
        <a:solidFill xmlns:a="http://schemas.openxmlformats.org/drawingml/2006/main">
          <a:srgbClr val="F7F9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C560F37-8EDD-48A9-883C-B631F9800E56}"/>
              </a:ext>
            </a:extLst>
          </p:cNvPr>
          <p:cNvSpPr>
            <a:spLocks xmlns:a="http://schemas.openxmlformats.org/drawingml/2006/main" noGrp="1"/>
          </p:cNvSpPr>
          <p:nvPr/>
        </p:nvSpPr>
        <p:spPr>
          <a:xfrm xmlns:a="http://schemas.openxmlformats.org/drawingml/2006/main">
            <a:off x="685800" y="32385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1">
                <a:solidFill>
                  <a:srgbClr val="12796B"/>
                </a:solidFill>
                <a:latin typeface="Arial"/>
                <a:ea typeface="Arial"/>
                <a:cs typeface="Arial"/>
              </a:defRPr>
            </a:defPPr>
          </a:lstStyle>
          <a:p xmlns:a="http://schemas.openxmlformats.org/drawingml/2006/main">
            <a:pPr>
              <a:defRPr sz="1425" b="1">
                <a:solidFill>
                  <a:srgbClr val="12796B"/>
                </a:solidFill>
                <a:latin typeface="Arial"/>
                <a:ea typeface="Arial"/>
                <a:cs typeface="Arial"/>
              </a:defRPr>
            </a:pPr>
            <a:r>
              <a:rPr sz="1425" b="1">
                <a:solidFill>
                  <a:srgbClr val="12796B"/>
                </a:solidFill>
                <a:latin typeface="Arial"/>
                <a:ea typeface="Arial"/>
                <a:cs typeface="Arial"/>
              </a:rPr>
              <a:t>RESERVE: VRAGEN</a:t>
            </a:r>
          </a:p>
        </p:txBody>
      </p:sp>
      <p:sp>
        <p:nvSpPr>
          <p:cNvPr id="2" name="">
            <a:extLst xmlns:a="http://schemas.openxmlformats.org/drawingml/2006/main">
              <a:ext uri="{FF2B5EF4-FFF2-40B4-BE49-F238E27FC236}">
                <a16:creationId xmlns:a16="http://schemas.microsoft.com/office/drawing/2014/main" id="{82D99350-513E-4DA1-9D60-E15AF495A73E}"/>
              </a:ext>
            </a:extLst>
          </p:cNvPr>
          <p:cNvSpPr>
            <a:spLocks xmlns:a="http://schemas.openxmlformats.org/drawingml/2006/main" noGrp="1"/>
          </p:cNvSpPr>
          <p:nvPr/>
        </p:nvSpPr>
        <p:spPr>
          <a:xfrm xmlns:a="http://schemas.openxmlformats.org/drawingml/2006/main">
            <a:off x="685800" y="7810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A42"/>
                </a:solidFill>
                <a:latin typeface="Arial"/>
                <a:ea typeface="Arial"/>
                <a:cs typeface="Arial"/>
              </a:defRPr>
            </a:defPPr>
          </a:lstStyle>
          <a:p xmlns:a="http://schemas.openxmlformats.org/drawingml/2006/main">
            <a:pPr>
              <a:defRPr sz="3300" b="1">
                <a:solidFill>
                  <a:srgbClr val="173A42"/>
                </a:solidFill>
                <a:latin typeface="Arial"/>
                <a:ea typeface="Arial"/>
                <a:cs typeface="Arial"/>
              </a:defRPr>
            </a:pPr>
            <a:r>
              <a:rPr sz="3300" b="1">
                <a:solidFill>
                  <a:srgbClr val="173A42"/>
                </a:solidFill>
                <a:latin typeface="Arial"/>
                <a:ea typeface="Arial"/>
                <a:cs typeface="Arial"/>
              </a:rPr>
              <a:t>Grootste fouten blijven rond drukke uren</a:t>
            </a:r>
          </a:p>
        </p:txBody>
      </p:sp>
      <p:sp>
        <p:nvSpPr>
          <p:cNvPr id="3" name="">
            <a:extLst xmlns:a="http://schemas.openxmlformats.org/drawingml/2006/main">
              <a:ext uri="{FF2B5EF4-FFF2-40B4-BE49-F238E27FC236}">
                <a16:creationId xmlns:a16="http://schemas.microsoft.com/office/drawing/2014/main" id="{68485D0B-DEA2-4BFC-A2E9-AB771F8F513A}"/>
              </a:ext>
            </a:extLst>
          </p:cNvPr>
          <p:cNvSpPr>
            <a:spLocks xmlns:a="http://schemas.openxmlformats.org/drawingml/2006/main" noGrp="1"/>
          </p:cNvSpPr>
          <p:nvPr/>
        </p:nvSpPr>
        <p:spPr>
          <a:xfrm xmlns:a="http://schemas.openxmlformats.org/drawingml/2006/main">
            <a:off x="11239500" y="64198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2766E"/>
                </a:solidFill>
                <a:latin typeface="Arial"/>
                <a:ea typeface="Arial"/>
                <a:cs typeface="Arial"/>
              </a:defRPr>
            </a:defPPr>
          </a:lstStyle>
          <a:p xmlns:a="http://schemas.openxmlformats.org/drawingml/2006/main">
            <a:pPr>
              <a:defRPr sz="1350" b="0">
                <a:solidFill>
                  <a:srgbClr val="62766E"/>
                </a:solidFill>
                <a:latin typeface="Arial"/>
                <a:ea typeface="Arial"/>
                <a:cs typeface="Arial"/>
              </a:defRPr>
            </a:pPr>
            <a:r>
              <a:rPr sz="1350" b="0">
                <a:solidFill>
                  <a:srgbClr val="62766E"/>
                </a:solidFill>
                <a:latin typeface="Arial"/>
                <a:ea typeface="Arial"/>
                <a:cs typeface="Arial"/>
              </a:rPr>
              <a:t>10</a:t>
            </a:r>
          </a:p>
        </p:txBody>
      </p:sp>
      <p:graphicFrame>
        <p:nvGraphicFramePr>
          <p:cNvPr id="4" name="Chart">
            <a:extLst xmlns:a="http://schemas.openxmlformats.org/drawingml/2006/main">
              <a:ext uri="{FF2B5EF4-FFF2-40B4-BE49-F238E27FC236}">
                <a16:creationId xmlns:a16="http://schemas.microsoft.com/office/drawing/2014/main" id="{8678328C-7504-4681-96F6-E73219CEC3B9}"/>
              </a:ext>
            </a:extLst>
          </p:cNvPr>
          <p:cNvGraphicFramePr/>
          <p:nvPr/>
        </p:nvGraphicFramePr>
        <p:xfrm>
          <a:off xmlns:a="http://schemas.openxmlformats.org/drawingml/2006/main" x="723900" y="1752600"/>
          <a:ext xmlns:a="http://schemas.openxmlformats.org/drawingml/2006/main" cx="10668000" cy="3771900"/>
        </p:xfrm>
        <a:graphic xmlns:a="http://schemas.openxmlformats.org/drawingml/2006/main">
          <a:graphicData uri="http://schemas.openxmlformats.org/drawingml/2006/chart">
            <c:chart xmlns:r="http://schemas.openxmlformats.org/officeDocument/2006/relationships" xmlns:c="http://schemas.openxmlformats.org/drawingml/2006/chart" r:id="Rce0c8690095e4f73"/>
          </a:graphicData>
        </a:graphic>
      </p:graphicFrame>
      <p:sp>
        <p:nvSpPr>
          <p:cNvPr id="5" name="">
            <a:extLst xmlns:a="http://schemas.openxmlformats.org/drawingml/2006/main">
              <a:ext uri="{FF2B5EF4-FFF2-40B4-BE49-F238E27FC236}">
                <a16:creationId xmlns:a16="http://schemas.microsoft.com/office/drawing/2014/main" id="{7623CA94-CE71-41B5-8033-8FCEA7E5AFED}"/>
              </a:ext>
            </a:extLst>
          </p:cNvPr>
          <p:cNvSpPr>
            <a:spLocks xmlns:a="http://schemas.openxmlformats.org/drawingml/2006/main" noGrp="1"/>
          </p:cNvSpPr>
          <p:nvPr/>
        </p:nvSpPr>
        <p:spPr>
          <a:xfrm xmlns:a="http://schemas.openxmlformats.org/drawingml/2006/main">
            <a:off x="762000" y="590550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800" b="0">
                <a:solidFill>
                  <a:srgbClr val="62766E"/>
                </a:solidFill>
                <a:latin typeface="Arial"/>
                <a:ea typeface="Arial"/>
                <a:cs typeface="Arial"/>
              </a:defRPr>
            </a:defPPr>
          </a:lstStyle>
          <a:p xmlns:a="http://schemas.openxmlformats.org/drawingml/2006/main">
            <a:pPr>
              <a:defRPr sz="1800" b="0">
                <a:solidFill>
                  <a:srgbClr val="62766E"/>
                </a:solidFill>
                <a:latin typeface="Arial"/>
                <a:ea typeface="Arial"/>
                <a:cs typeface="Arial"/>
              </a:defRPr>
            </a:pPr>
            <a:r>
              <a:rPr sz="1800" b="0">
                <a:solidFill>
                  <a:srgbClr val="62766E"/>
                </a:solidFill>
                <a:latin typeface="Arial"/>
                <a:ea typeface="Arial"/>
                <a:cs typeface="Arial"/>
              </a:rPr>
              <a:t>Residual = actual − prediction. De foutenanalyse gebruikt mei–juni-validatie.</a:t>
            </a:r>
          </a:p>
        </p:txBody>
      </p:sp>
    </p:spTree>
    <p:extLst>
      <p:ext uri="{BB962C8B-B14F-4D97-AF65-F5344CB8AC3E}">
        <p14:creationId xmlns:p14="http://schemas.microsoft.com/office/powerpoint/2010/main" val="192343643"/>
      </p:ext>
    </p:extLst>
  </p:cSld>
</p:sld>
</file>

<file path=ppt/slides/slide11.xml><?xml version="1.0" encoding="utf-8"?>
<p:sld xmlns:p="http://schemas.openxmlformats.org/presentationml/2006/main">
  <p:cSld>
    <p:bg>
      <p:bgPr>
        <a:solidFill xmlns:a="http://schemas.openxmlformats.org/drawingml/2006/main">
          <a:srgbClr val="F7F9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EFABAB0-A536-4108-A6B5-B366693B99E8}"/>
              </a:ext>
            </a:extLst>
          </p:cNvPr>
          <p:cNvSpPr>
            <a:spLocks xmlns:a="http://schemas.openxmlformats.org/drawingml/2006/main" noGrp="1"/>
          </p:cNvSpPr>
          <p:nvPr/>
        </p:nvSpPr>
        <p:spPr>
          <a:xfrm xmlns:a="http://schemas.openxmlformats.org/drawingml/2006/main">
            <a:off x="685800" y="32385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425" b="1">
                <a:solidFill>
                  <a:srgbClr val="12796B"/>
                </a:solidFill>
                <a:latin typeface="Arial"/>
                <a:ea typeface="Arial"/>
                <a:cs typeface="Arial"/>
              </a:defRPr>
            </a:defPPr>
          </a:lstStyle>
          <a:p xmlns:a="http://schemas.openxmlformats.org/drawingml/2006/main">
            <a:pPr>
              <a:defRPr sz="1425" b="1">
                <a:solidFill>
                  <a:srgbClr val="12796B"/>
                </a:solidFill>
                <a:latin typeface="Arial"/>
                <a:ea typeface="Arial"/>
                <a:cs typeface="Arial"/>
              </a:defRPr>
            </a:pPr>
            <a:r>
              <a:rPr sz="1425" b="1">
                <a:solidFill>
                  <a:srgbClr val="12796B"/>
                </a:solidFill>
                <a:latin typeface="Arial"/>
                <a:ea typeface="Arial"/>
                <a:cs typeface="Arial"/>
              </a:rPr>
              <a:t>RESERVE: VRAGEN</a:t>
            </a:r>
          </a:p>
        </p:txBody>
      </p:sp>
      <p:sp>
        <p:nvSpPr>
          <p:cNvPr id="2" name="">
            <a:extLst xmlns:a="http://schemas.openxmlformats.org/drawingml/2006/main">
              <a:ext uri="{FF2B5EF4-FFF2-40B4-BE49-F238E27FC236}">
                <a16:creationId xmlns:a16="http://schemas.microsoft.com/office/drawing/2014/main" id="{BA5B4D0D-3003-44F1-A51B-0F2598AB25EB}"/>
              </a:ext>
            </a:extLst>
          </p:cNvPr>
          <p:cNvSpPr>
            <a:spLocks xmlns:a="http://schemas.openxmlformats.org/drawingml/2006/main" noGrp="1"/>
          </p:cNvSpPr>
          <p:nvPr/>
        </p:nvSpPr>
        <p:spPr>
          <a:xfrm xmlns:a="http://schemas.openxmlformats.org/drawingml/2006/main">
            <a:off x="685800" y="7810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300" b="1">
                <a:solidFill>
                  <a:srgbClr val="173A42"/>
                </a:solidFill>
                <a:latin typeface="Arial"/>
                <a:ea typeface="Arial"/>
                <a:cs typeface="Arial"/>
              </a:defRPr>
            </a:defPPr>
          </a:lstStyle>
          <a:p xmlns:a="http://schemas.openxmlformats.org/drawingml/2006/main">
            <a:pPr>
              <a:defRPr sz="3300" b="1">
                <a:solidFill>
                  <a:srgbClr val="173A42"/>
                </a:solidFill>
                <a:latin typeface="Arial"/>
                <a:ea typeface="Arial"/>
                <a:cs typeface="Arial"/>
              </a:defRPr>
            </a:pPr>
            <a:r>
              <a:rPr sz="3300" b="1">
                <a:solidFill>
                  <a:srgbClr val="173A42"/>
                </a:solidFill>
                <a:latin typeface="Arial"/>
                <a:ea typeface="Arial"/>
                <a:cs typeface="Arial"/>
              </a:rPr>
              <a:t>Keuzes die ik mondeling kan uitleggen</a:t>
            </a:r>
          </a:p>
        </p:txBody>
      </p:sp>
      <p:sp>
        <p:nvSpPr>
          <p:cNvPr id="3" name="">
            <a:extLst xmlns:a="http://schemas.openxmlformats.org/drawingml/2006/main">
              <a:ext uri="{FF2B5EF4-FFF2-40B4-BE49-F238E27FC236}">
                <a16:creationId xmlns:a16="http://schemas.microsoft.com/office/drawing/2014/main" id="{C68DBFB3-17B9-4FBF-9856-329FAE05A522}"/>
              </a:ext>
            </a:extLst>
          </p:cNvPr>
          <p:cNvSpPr>
            <a:spLocks xmlns:a="http://schemas.openxmlformats.org/drawingml/2006/main" noGrp="1"/>
          </p:cNvSpPr>
          <p:nvPr/>
        </p:nvSpPr>
        <p:spPr>
          <a:xfrm xmlns:a="http://schemas.openxmlformats.org/drawingml/2006/main">
            <a:off x="11239500" y="64198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350" b="0">
                <a:solidFill>
                  <a:srgbClr val="62766E"/>
                </a:solidFill>
                <a:latin typeface="Arial"/>
                <a:ea typeface="Arial"/>
                <a:cs typeface="Arial"/>
              </a:defRPr>
            </a:defPPr>
          </a:lstStyle>
          <a:p xmlns:a="http://schemas.openxmlformats.org/drawingml/2006/main">
            <a:pPr>
              <a:defRPr sz="1350" b="0">
                <a:solidFill>
                  <a:srgbClr val="62766E"/>
                </a:solidFill>
                <a:latin typeface="Arial"/>
                <a:ea typeface="Arial"/>
                <a:cs typeface="Arial"/>
              </a:defRPr>
            </a:pPr>
            <a:r>
              <a:rPr sz="1350" b="0">
                <a:solidFill>
                  <a:srgbClr val="62766E"/>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B32E2892-5940-487E-84D1-1037F04572AE}"/>
              </a:ext>
            </a:extLst>
          </p:cNvPr>
          <p:cNvSpPr>
            <a:spLocks xmlns:a="http://schemas.openxmlformats.org/drawingml/2006/main" noGrp="1"/>
          </p:cNvSpPr>
          <p:nvPr/>
        </p:nvSpPr>
        <p:spPr>
          <a:xfrm xmlns:a="http://schemas.openxmlformats.org/drawingml/2006/main">
            <a:off x="723900" y="181927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12796B"/>
                </a:solidFill>
                <a:latin typeface="Arial"/>
                <a:ea typeface="Arial"/>
                <a:cs typeface="Arial"/>
              </a:defRPr>
            </a:defPPr>
          </a:lstStyle>
          <a:p xmlns:a="http://schemas.openxmlformats.org/drawingml/2006/main">
            <a:pPr>
              <a:defRPr sz="2325" b="1">
                <a:solidFill>
                  <a:srgbClr val="12796B"/>
                </a:solidFill>
                <a:latin typeface="Arial"/>
                <a:ea typeface="Arial"/>
                <a:cs typeface="Arial"/>
              </a:defRPr>
            </a:pPr>
            <a:r>
              <a:rPr sz="2325" b="1">
                <a:solidFill>
                  <a:srgbClr val="12796B"/>
                </a:solidFill>
                <a:latin typeface="Arial"/>
                <a:ea typeface="Arial"/>
                <a:cs typeface="Arial"/>
              </a:rPr>
              <a:t>Waarom chronologisch?</a:t>
            </a:r>
          </a:p>
        </p:txBody>
      </p:sp>
      <p:sp>
        <p:nvSpPr>
          <p:cNvPr id="5" name="">
            <a:extLst xmlns:a="http://schemas.openxmlformats.org/drawingml/2006/main">
              <a:ext uri="{FF2B5EF4-FFF2-40B4-BE49-F238E27FC236}">
                <a16:creationId xmlns:a16="http://schemas.microsoft.com/office/drawing/2014/main" id="{9F1A37E5-1B77-4D5F-8486-69C650BF9DF9}"/>
              </a:ext>
            </a:extLst>
          </p:cNvPr>
          <p:cNvSpPr>
            <a:spLocks xmlns:a="http://schemas.openxmlformats.org/drawingml/2006/main" noGrp="1"/>
          </p:cNvSpPr>
          <p:nvPr/>
        </p:nvSpPr>
        <p:spPr>
          <a:xfrm xmlns:a="http://schemas.openxmlformats.org/drawingml/2006/main">
            <a:off x="723900" y="2457450"/>
            <a:ext cx="4857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73A42"/>
                </a:solidFill>
                <a:latin typeface="Arial"/>
                <a:ea typeface="Arial"/>
                <a:cs typeface="Arial"/>
              </a:defRPr>
            </a:defPPr>
          </a:lstStyle>
          <a:p xmlns:a="http://schemas.openxmlformats.org/drawingml/2006/main">
            <a:pPr>
              <a:defRPr sz="2175" b="0">
                <a:solidFill>
                  <a:srgbClr val="173A42"/>
                </a:solidFill>
                <a:latin typeface="Arial"/>
                <a:ea typeface="Arial"/>
                <a:cs typeface="Arial"/>
              </a:defRPr>
            </a:pPr>
            <a:r>
              <a:rPr sz="2175" b="0">
                <a:solidFill>
                  <a:srgbClr val="173A42"/>
                </a:solidFill>
                <a:latin typeface="Arial"/>
                <a:ea typeface="Arial"/>
                <a:cs typeface="Arial"/>
              </a:rPr>
              <a:t>De toekomst mag het verleden niet beïnvloeden</a:t>
            </a:r>
          </a:p>
        </p:txBody>
      </p:sp>
      <p:sp>
        <p:nvSpPr>
          <p:cNvPr id="6" name="">
            <a:extLst xmlns:a="http://schemas.openxmlformats.org/drawingml/2006/main">
              <a:ext uri="{FF2B5EF4-FFF2-40B4-BE49-F238E27FC236}">
                <a16:creationId xmlns:a16="http://schemas.microsoft.com/office/drawing/2014/main" id="{85B29B84-5FE6-467E-B527-CD182A3BCE36}"/>
              </a:ext>
            </a:extLst>
          </p:cNvPr>
          <p:cNvSpPr>
            <a:spLocks xmlns:a="http://schemas.openxmlformats.org/drawingml/2006/main" noGrp="1"/>
          </p:cNvSpPr>
          <p:nvPr/>
        </p:nvSpPr>
        <p:spPr>
          <a:xfrm xmlns:a="http://schemas.openxmlformats.org/drawingml/2006/main">
            <a:off x="723900" y="408622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12796B"/>
                </a:solidFill>
                <a:latin typeface="Arial"/>
                <a:ea typeface="Arial"/>
                <a:cs typeface="Arial"/>
              </a:defRPr>
            </a:defPPr>
          </a:lstStyle>
          <a:p xmlns:a="http://schemas.openxmlformats.org/drawingml/2006/main">
            <a:pPr>
              <a:defRPr sz="2325" b="1">
                <a:solidFill>
                  <a:srgbClr val="12796B"/>
                </a:solidFill>
                <a:latin typeface="Arial"/>
                <a:ea typeface="Arial"/>
                <a:cs typeface="Arial"/>
              </a:defRPr>
            </a:pPr>
            <a:r>
              <a:rPr sz="2325" b="1">
                <a:solidFill>
                  <a:srgbClr val="12796B"/>
                </a:solidFill>
                <a:latin typeface="Arial"/>
                <a:ea typeface="Arial"/>
                <a:cs typeface="Arial"/>
              </a:rPr>
              <a:t>Waarom tijdsblokken?</a:t>
            </a:r>
          </a:p>
        </p:txBody>
      </p:sp>
      <p:sp>
        <p:nvSpPr>
          <p:cNvPr id="7" name="">
            <a:extLst xmlns:a="http://schemas.openxmlformats.org/drawingml/2006/main">
              <a:ext uri="{FF2B5EF4-FFF2-40B4-BE49-F238E27FC236}">
                <a16:creationId xmlns:a16="http://schemas.microsoft.com/office/drawing/2014/main" id="{1C4D4637-6505-4ACB-BE1B-0D1B03AE0A10}"/>
              </a:ext>
            </a:extLst>
          </p:cNvPr>
          <p:cNvSpPr>
            <a:spLocks xmlns:a="http://schemas.openxmlformats.org/drawingml/2006/main" noGrp="1"/>
          </p:cNvSpPr>
          <p:nvPr/>
        </p:nvSpPr>
        <p:spPr>
          <a:xfrm xmlns:a="http://schemas.openxmlformats.org/drawingml/2006/main">
            <a:off x="723900" y="4743450"/>
            <a:ext cx="4857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73A42"/>
                </a:solidFill>
                <a:latin typeface="Arial"/>
                <a:ea typeface="Arial"/>
                <a:cs typeface="Arial"/>
              </a:defRPr>
            </a:defPPr>
          </a:lstStyle>
          <a:p xmlns:a="http://schemas.openxmlformats.org/drawingml/2006/main">
            <a:pPr>
              <a:defRPr sz="2175" b="0">
                <a:solidFill>
                  <a:srgbClr val="173A42"/>
                </a:solidFill>
                <a:latin typeface="Arial"/>
                <a:ea typeface="Arial"/>
                <a:cs typeface="Arial"/>
              </a:defRPr>
            </a:pPr>
            <a:r>
              <a:rPr sz="2175" b="0">
                <a:solidFill>
                  <a:srgbClr val="173A42"/>
                </a:solidFill>
                <a:latin typeface="Arial"/>
                <a:ea typeface="Arial"/>
                <a:cs typeface="Arial"/>
              </a:rPr>
              <a:t>Ritten en naburige uren zijn afhankelijk</a:t>
            </a:r>
          </a:p>
        </p:txBody>
      </p:sp>
      <p:sp>
        <p:nvSpPr>
          <p:cNvPr id="8" name="">
            <a:extLst xmlns:a="http://schemas.openxmlformats.org/drawingml/2006/main">
              <a:ext uri="{FF2B5EF4-FFF2-40B4-BE49-F238E27FC236}">
                <a16:creationId xmlns:a16="http://schemas.microsoft.com/office/drawing/2014/main" id="{81F0FF50-76FF-4C7C-91A6-F912F2A04F81}"/>
              </a:ext>
            </a:extLst>
          </p:cNvPr>
          <p:cNvSpPr>
            <a:spLocks xmlns:a="http://schemas.openxmlformats.org/drawingml/2006/main" noGrp="1"/>
          </p:cNvSpPr>
          <p:nvPr/>
        </p:nvSpPr>
        <p:spPr>
          <a:xfrm xmlns:a="http://schemas.openxmlformats.org/drawingml/2006/main">
            <a:off x="6553200" y="181927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12796B"/>
                </a:solidFill>
                <a:latin typeface="Arial"/>
                <a:ea typeface="Arial"/>
                <a:cs typeface="Arial"/>
              </a:defRPr>
            </a:defPPr>
          </a:lstStyle>
          <a:p xmlns:a="http://schemas.openxmlformats.org/drawingml/2006/main">
            <a:pPr>
              <a:defRPr sz="2325" b="1">
                <a:solidFill>
                  <a:srgbClr val="12796B"/>
                </a:solidFill>
                <a:latin typeface="Arial"/>
                <a:ea typeface="Arial"/>
                <a:cs typeface="Arial"/>
              </a:defRPr>
            </a:pPr>
            <a:r>
              <a:rPr sz="2325" b="1">
                <a:solidFill>
                  <a:srgbClr val="12796B"/>
                </a:solidFill>
                <a:latin typeface="Arial"/>
                <a:ea typeface="Arial"/>
                <a:cs typeface="Arial"/>
              </a:rPr>
              <a:t>Waarom deze RF?</a:t>
            </a:r>
          </a:p>
        </p:txBody>
      </p:sp>
      <p:sp>
        <p:nvSpPr>
          <p:cNvPr id="9" name="">
            <a:extLst xmlns:a="http://schemas.openxmlformats.org/drawingml/2006/main">
              <a:ext uri="{FF2B5EF4-FFF2-40B4-BE49-F238E27FC236}">
                <a16:creationId xmlns:a16="http://schemas.microsoft.com/office/drawing/2014/main" id="{7192CEEF-EB7F-4838-B75C-655A612C0886}"/>
              </a:ext>
            </a:extLst>
          </p:cNvPr>
          <p:cNvSpPr>
            <a:spLocks xmlns:a="http://schemas.openxmlformats.org/drawingml/2006/main" noGrp="1"/>
          </p:cNvSpPr>
          <p:nvPr/>
        </p:nvSpPr>
        <p:spPr>
          <a:xfrm xmlns:a="http://schemas.openxmlformats.org/drawingml/2006/main">
            <a:off x="6553200" y="2457450"/>
            <a:ext cx="485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73A42"/>
                </a:solidFill>
                <a:latin typeface="Arial"/>
                <a:ea typeface="Arial"/>
                <a:cs typeface="Arial"/>
              </a:defRPr>
            </a:defPPr>
          </a:lstStyle>
          <a:p xmlns:a="http://schemas.openxmlformats.org/drawingml/2006/main">
            <a:pPr>
              <a:defRPr sz="2175" b="0">
                <a:solidFill>
                  <a:srgbClr val="173A42"/>
                </a:solidFill>
                <a:latin typeface="Arial"/>
                <a:ea typeface="Arial"/>
                <a:cs typeface="Arial"/>
              </a:defRPr>
            </a:pPr>
            <a:r>
              <a:rPr sz="2175" b="0">
                <a:solidFill>
                  <a:srgbClr val="173A42"/>
                </a:solidFill>
                <a:latin typeface="Arial"/>
                <a:ea typeface="Arial"/>
                <a:cs typeface="Arial"/>
              </a:rPr>
              <a:t>De vooraf vastgelegde 1%-regel</a:t>
            </a:r>
            <a:br>
              <a:rPr sz="2175" b="0">
                <a:solidFill>
                  <a:srgbClr val="173A42"/>
                </a:solidFill>
                <a:latin typeface="Arial"/>
                <a:ea typeface="Arial"/>
                <a:cs typeface="Arial"/>
              </a:rPr>
            </a:br>
            <a:r>
              <a:rPr sz="2175" b="0">
                <a:solidFill>
                  <a:srgbClr val="173A42"/>
                </a:solidFill>
                <a:latin typeface="Arial"/>
                <a:ea typeface="Arial"/>
                <a:cs typeface="Arial"/>
              </a:rPr>
              <a:t>vergelijkt modeltypen</a:t>
            </a:r>
          </a:p>
        </p:txBody>
      </p:sp>
      <p:sp>
        <p:nvSpPr>
          <p:cNvPr id="10" name="">
            <a:extLst xmlns:a="http://schemas.openxmlformats.org/drawingml/2006/main">
              <a:ext uri="{FF2B5EF4-FFF2-40B4-BE49-F238E27FC236}">
                <a16:creationId xmlns:a16="http://schemas.microsoft.com/office/drawing/2014/main" id="{3B90F1DC-FF59-4849-B9E6-C8FF12825E92}"/>
              </a:ext>
            </a:extLst>
          </p:cNvPr>
          <p:cNvSpPr>
            <a:spLocks xmlns:a="http://schemas.openxmlformats.org/drawingml/2006/main" noGrp="1"/>
          </p:cNvSpPr>
          <p:nvPr/>
        </p:nvSpPr>
        <p:spPr>
          <a:xfrm xmlns:a="http://schemas.openxmlformats.org/drawingml/2006/main">
            <a:off x="6553200" y="408622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1">
                <a:solidFill>
                  <a:srgbClr val="12796B"/>
                </a:solidFill>
                <a:latin typeface="Arial"/>
                <a:ea typeface="Arial"/>
                <a:cs typeface="Arial"/>
              </a:defRPr>
            </a:defPPr>
          </a:lstStyle>
          <a:p xmlns:a="http://schemas.openxmlformats.org/drawingml/2006/main">
            <a:pPr>
              <a:defRPr sz="2325" b="1">
                <a:solidFill>
                  <a:srgbClr val="12796B"/>
                </a:solidFill>
                <a:latin typeface="Arial"/>
                <a:ea typeface="Arial"/>
                <a:cs typeface="Arial"/>
              </a:defRPr>
            </a:pPr>
            <a:r>
              <a:rPr sz="2325" b="1">
                <a:solidFill>
                  <a:srgbClr val="12796B"/>
                </a:solidFill>
                <a:latin typeface="Arial"/>
                <a:ea typeface="Arial"/>
                <a:cs typeface="Arial"/>
              </a:rPr>
              <a:t>Waarom geen nieuwe tuning?</a:t>
            </a:r>
          </a:p>
        </p:txBody>
      </p:sp>
      <p:sp>
        <p:nvSpPr>
          <p:cNvPr id="11" name="">
            <a:extLst xmlns:a="http://schemas.openxmlformats.org/drawingml/2006/main">
              <a:ext uri="{FF2B5EF4-FFF2-40B4-BE49-F238E27FC236}">
                <a16:creationId xmlns:a16="http://schemas.microsoft.com/office/drawing/2014/main" id="{5F32C86A-CDA6-44CC-A1A7-021893AF6503}"/>
              </a:ext>
            </a:extLst>
          </p:cNvPr>
          <p:cNvSpPr>
            <a:spLocks xmlns:a="http://schemas.openxmlformats.org/drawingml/2006/main" noGrp="1"/>
          </p:cNvSpPr>
          <p:nvPr/>
        </p:nvSpPr>
        <p:spPr>
          <a:xfrm xmlns:a="http://schemas.openxmlformats.org/drawingml/2006/main">
            <a:off x="6553200" y="4743450"/>
            <a:ext cx="4857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73A42"/>
                </a:solidFill>
                <a:latin typeface="Arial"/>
                <a:ea typeface="Arial"/>
                <a:cs typeface="Arial"/>
              </a:defRPr>
            </a:defPPr>
          </a:lstStyle>
          <a:p xmlns:a="http://schemas.openxmlformats.org/drawingml/2006/main">
            <a:pPr>
              <a:defRPr sz="2175" b="0">
                <a:solidFill>
                  <a:srgbClr val="173A42"/>
                </a:solidFill>
                <a:latin typeface="Arial"/>
                <a:ea typeface="Arial"/>
                <a:cs typeface="Arial"/>
              </a:defRPr>
            </a:pPr>
            <a:r>
              <a:rPr sz="2175" b="0">
                <a:solidFill>
                  <a:srgbClr val="173A42"/>
                </a:solidFill>
                <a:latin typeface="Arial"/>
                <a:ea typeface="Arial"/>
                <a:cs typeface="Arial"/>
              </a:rPr>
              <a:t>Een nieuwe keuze vraagt een</a:t>
            </a:r>
            <a:br>
              <a:rPr sz="2175" b="0">
                <a:solidFill>
                  <a:srgbClr val="173A42"/>
                </a:solidFill>
                <a:latin typeface="Arial"/>
                <a:ea typeface="Arial"/>
                <a:cs typeface="Arial"/>
              </a:rPr>
            </a:br>
            <a:r>
              <a:rPr sz="2175" b="0">
                <a:solidFill>
                  <a:srgbClr val="173A42"/>
                </a:solidFill>
                <a:latin typeface="Arial"/>
                <a:ea typeface="Arial"/>
                <a:cs typeface="Arial"/>
              </a:rPr>
              <a:t>nieuwe onafhankelijke eindtest</a:t>
            </a:r>
          </a:p>
        </p:txBody>
      </p:sp>
    </p:spTree>
    <p:extLst>
      <p:ext uri="{BB962C8B-B14F-4D97-AF65-F5344CB8AC3E}">
        <p14:creationId xmlns:p14="http://schemas.microsoft.com/office/powerpoint/2010/main" val="3026908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2026-10-14T16:59:18.2030000Z</dcterms:created>
  <dcterms:modified xsi:type="dcterms:W3CDTF">2026-10-14T16:59:18.2030000Z</dcterms:modified>
</coreProperties>
</file>