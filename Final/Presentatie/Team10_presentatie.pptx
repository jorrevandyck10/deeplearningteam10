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3.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4.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5.xml" ContentType="application/vnd.openxmlformats-officedocument.drawingml.chart+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6.xml" ContentType="application/vnd.openxmlformats-officedocument.drawingml.chart+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2"/>
  </p:sldMasterIdLst>
  <p:notesMasterIdLst>
    <p:notesMasterId r:id="rId30"/>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8"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nl-NL"/>
  <c:roundedCorners val="1"/>
  <c:style val="2"/>
  <c:chart>
    <c:title>
      <c:tx>
        <c:rich>
          <a:bodyPr/>
          <a:lstStyle/>
          <a:p>
            <a:r>
              <a:rPr lang="nl-NL" sz="1875">
                <a:latin typeface="Aptos"/>
                <a:ea typeface="Aptos"/>
                <a:cs typeface="Aptos"/>
              </a:rPr>
              <a:t>Records</a:t>
            </a:r>
          </a:p>
        </c:rich>
      </c:tx>
      <c:overlay val="0"/>
    </c:title>
    <c:autoTitleDeleted val="0"/>
    <c:plotArea>
      <c:layout/>
      <c:barChart>
        <c:barDir val="col"/>
        <c:grouping val="clustered"/>
        <c:varyColors val="0"/>
        <c:ser>
          <c:idx val="0"/>
          <c:order val="0"/>
          <c:tx>
            <c:v>Records</c:v>
          </c:tx>
          <c:spPr>
            <a:solidFill>
              <a:srgbClr val="0F9ED5"/>
            </a:solidFill>
          </c:spPr>
          <c:invertIfNegative val="0"/>
          <c:dLbls>
            <c:numFmt formatCode="0" sourceLinked="0"/>
            <c:spPr>
              <a:noFill/>
              <a:ln>
                <a:noFill/>
              </a:ln>
              <a:effectLst/>
            </c:spPr>
            <c:txPr>
              <a:bodyPr anchorCtr="1"/>
              <a:lstStyle/>
              <a:p>
                <a:pPr>
                  <a:defRPr sz="1800">
                    <a:latin typeface="Aptos"/>
                    <a:ea typeface="Aptos"/>
                    <a:cs typeface="Aptos"/>
                  </a:defRPr>
                </a:pPr>
                <a:endParaRPr lang="en-B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Edible</c:v>
                </c:pt>
                <c:pt idx="1">
                  <c:v>Poisonous</c:v>
                </c:pt>
              </c:strCache>
            </c:strRef>
          </c:cat>
          <c:val>
            <c:numRef>
              <c:f>'Chart Data'!$B$2:$B$3</c:f>
              <c:numCache>
                <c:formatCode>0</c:formatCode>
                <c:ptCount val="2"/>
                <c:pt idx="0">
                  <c:v>3107</c:v>
                </c:pt>
                <c:pt idx="1">
                  <c:v>1893</c:v>
                </c:pt>
              </c:numCache>
            </c:numRef>
          </c:val>
          <c:extLst>
            <c:ext xmlns:c16="http://schemas.microsoft.com/office/drawing/2014/chart" uri="{C3380CC4-5D6E-409C-BE32-E72D297353CC}">
              <c16:uniqueId val="{00000000-5553-4004-964D-6027E0237163}"/>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650">
                <a:solidFill>
                  <a:srgbClr val="666666"/>
                </a:solidFill>
                <a:latin typeface="Aptos"/>
                <a:ea typeface="Aptos"/>
                <a:cs typeface="Aptos"/>
              </a:defRPr>
            </a:pPr>
            <a:endParaRPr lang="en-BE"/>
          </a:p>
        </c:txPr>
        <c:crossAx val="48672768"/>
        <c:crosses val="autoZero"/>
        <c:auto val="1"/>
        <c:lblAlgn val="ctr"/>
        <c:lblOffset val="100"/>
        <c:noMultiLvlLbl val="1"/>
      </c:catAx>
      <c:valAx>
        <c:axId val="48672768"/>
        <c:scaling>
          <c:orientation val="minMax"/>
        </c:scaling>
        <c:delete val="0"/>
        <c:axPos val="l"/>
        <c:majorGridlines>
          <c:spPr>
            <a:ln w="5715">
              <a:solidFill>
                <a:srgbClr val="DDDDDD"/>
              </a:solidFill>
            </a:ln>
          </c:spPr>
        </c:majorGridlines>
        <c:numFmt formatCode="0" sourceLinked="1"/>
        <c:majorTickMark val="none"/>
        <c:minorTickMark val="none"/>
        <c:tickLblPos val="nextTo"/>
        <c:spPr>
          <a:ln w="9525">
            <a:solidFill>
              <a:srgbClr val="D4D4D4"/>
            </a:solidFill>
            <a:prstDash val="solid"/>
          </a:ln>
        </c:spPr>
        <c:txPr>
          <a:bodyPr anchorCtr="1"/>
          <a:lstStyle/>
          <a:p>
            <a:pPr>
              <a:defRPr sz="1500">
                <a:solidFill>
                  <a:srgbClr val="666666"/>
                </a:solidFill>
                <a:latin typeface="Aptos"/>
                <a:ea typeface="Aptos"/>
                <a:cs typeface="Aptos"/>
              </a:defRPr>
            </a:pPr>
            <a:endParaRPr lang="en-BE"/>
          </a:p>
        </c:txPr>
        <c:crossAx val="48650112"/>
        <c:crosses val="autoZero"/>
        <c:crossBetween val="between"/>
      </c:valAx>
      <c:spPr>
        <a:noFill/>
      </c:spPr>
    </c:plotArea>
    <c:plotVisOnly val="1"/>
    <c:dispBlanksAs val="zero"/>
    <c:showDLblsOverMax val="1"/>
  </c:chart>
  <c:spPr>
    <a:noFill/>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nl-NL"/>
  <c:roundedCorners val="1"/>
  <c:style val="2"/>
  <c:chart>
    <c:title>
      <c:tx>
        <c:rich>
          <a:bodyPr/>
          <a:lstStyle/>
          <a:p>
            <a:r>
              <a:rPr lang="nl-NL" sz="1875">
                <a:latin typeface="Aptos"/>
                <a:ea typeface="Aptos"/>
                <a:cs typeface="Aptos"/>
              </a:rPr>
              <a:t>Missing records</a:t>
            </a:r>
          </a:p>
        </c:rich>
      </c:tx>
      <c:overlay val="0"/>
    </c:title>
    <c:autoTitleDeleted val="0"/>
    <c:plotArea>
      <c:layout/>
      <c:barChart>
        <c:barDir val="col"/>
        <c:grouping val="clustered"/>
        <c:varyColors val="0"/>
        <c:ser>
          <c:idx val="0"/>
          <c:order val="0"/>
          <c:tx>
            <c:v>Missing records</c:v>
          </c:tx>
          <c:spPr>
            <a:solidFill>
              <a:srgbClr val="0F9ED5"/>
            </a:solidFill>
          </c:spPr>
          <c:invertIfNegative val="0"/>
          <c:dLbls>
            <c:numFmt formatCode="0" sourceLinked="0"/>
            <c:spPr>
              <a:noFill/>
              <a:ln>
                <a:noFill/>
              </a:ln>
              <a:effectLst/>
            </c:spPr>
            <c:txPr>
              <a:bodyPr anchorCtr="1"/>
              <a:lstStyle/>
              <a:p>
                <a:pPr>
                  <a:defRPr sz="1800">
                    <a:latin typeface="Aptos"/>
                    <a:ea typeface="Aptos"/>
                    <a:cs typeface="Aptos"/>
                  </a:defRPr>
                </a:pPr>
                <a:endParaRPr lang="en-B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Spore print</c:v>
                </c:pt>
                <c:pt idx="1">
                  <c:v>Stem surface</c:v>
                </c:pt>
                <c:pt idx="2">
                  <c:v>Cap diameter</c:v>
                </c:pt>
              </c:strCache>
            </c:strRef>
          </c:cat>
          <c:val>
            <c:numRef>
              <c:f>'Chart Data'!$B$2:$B$4</c:f>
              <c:numCache>
                <c:formatCode>0</c:formatCode>
                <c:ptCount val="3"/>
                <c:pt idx="0">
                  <c:v>4740</c:v>
                </c:pt>
                <c:pt idx="1">
                  <c:v>3359</c:v>
                </c:pt>
                <c:pt idx="2">
                  <c:v>2032</c:v>
                </c:pt>
              </c:numCache>
            </c:numRef>
          </c:val>
          <c:extLst>
            <c:ext xmlns:c16="http://schemas.microsoft.com/office/drawing/2014/chart" uri="{C3380CC4-5D6E-409C-BE32-E72D297353CC}">
              <c16:uniqueId val="{00000000-8BD0-43D7-A3E6-030019A45582}"/>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650">
                <a:solidFill>
                  <a:srgbClr val="666666"/>
                </a:solidFill>
                <a:latin typeface="Aptos"/>
                <a:ea typeface="Aptos"/>
                <a:cs typeface="Aptos"/>
              </a:defRPr>
            </a:pPr>
            <a:endParaRPr lang="en-BE"/>
          </a:p>
        </c:txPr>
        <c:crossAx val="48672768"/>
        <c:crosses val="autoZero"/>
        <c:auto val="1"/>
        <c:lblAlgn val="ctr"/>
        <c:lblOffset val="100"/>
        <c:noMultiLvlLbl val="1"/>
      </c:catAx>
      <c:valAx>
        <c:axId val="48672768"/>
        <c:scaling>
          <c:orientation val="minMax"/>
        </c:scaling>
        <c:delete val="0"/>
        <c:axPos val="l"/>
        <c:majorGridlines>
          <c:spPr>
            <a:ln w="5715">
              <a:solidFill>
                <a:srgbClr val="DDDDDD"/>
              </a:solidFill>
            </a:ln>
          </c:spPr>
        </c:majorGridlines>
        <c:numFmt formatCode="0" sourceLinked="1"/>
        <c:majorTickMark val="none"/>
        <c:minorTickMark val="none"/>
        <c:tickLblPos val="nextTo"/>
        <c:spPr>
          <a:ln w="9525">
            <a:solidFill>
              <a:srgbClr val="D4D4D4"/>
            </a:solidFill>
            <a:prstDash val="solid"/>
          </a:ln>
        </c:spPr>
        <c:txPr>
          <a:bodyPr anchorCtr="1"/>
          <a:lstStyle/>
          <a:p>
            <a:pPr>
              <a:defRPr sz="1500">
                <a:solidFill>
                  <a:srgbClr val="666666"/>
                </a:solidFill>
                <a:latin typeface="Aptos"/>
                <a:ea typeface="Aptos"/>
                <a:cs typeface="Aptos"/>
              </a:defRPr>
            </a:pPr>
            <a:endParaRPr lang="en-BE"/>
          </a:p>
        </c:txPr>
        <c:crossAx val="48650112"/>
        <c:crosses val="autoZero"/>
        <c:crossBetween val="between"/>
      </c:valAx>
      <c:spPr>
        <a:noFill/>
      </c:spPr>
    </c:plotArea>
    <c:plotVisOnly val="1"/>
    <c:dispBlanksAs val="zero"/>
    <c:showDLblsOverMax val="1"/>
  </c:chart>
  <c:spPr>
    <a:noFill/>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nl-NL"/>
  <c:roundedCorners val="1"/>
  <c:style val="2"/>
  <c:chart>
    <c:title>
      <c:tx>
        <c:rich>
          <a:bodyPr/>
          <a:lstStyle/>
          <a:p>
            <a:r>
              <a:rPr sz="1650">
                <a:latin typeface="Aptos"/>
                <a:ea typeface="Aptos"/>
                <a:cs typeface="Aptos"/>
              </a:rPr>
              <a:t>Gemiddelde ritstarts per uur</a:t>
            </a:r>
          </a:p>
        </c:rich>
      </c:tx>
      <c:overlay val="0"/>
    </c:title>
    <c:autoTitleDeleted val="0"/>
    <c:plotArea>
      <c:layout/>
      <c:lineChart>
        <c:grouping val="standard"/>
        <c:varyColors val="0"/>
        <c:ser>
          <c:idx val="0"/>
          <c:order val="0"/>
          <c:tx>
            <c:v>Weekend</c:v>
          </c:tx>
          <c:spPr>
            <a:ln w="38100">
              <a:solidFill>
                <a:srgbClr val="0F9ED5"/>
              </a:solidFill>
            </a:ln>
          </c:spPr>
          <c:marker>
            <c:symbol val="none"/>
          </c:marker>
          <c:cat>
            <c:numRef>
              <c:f>'Chart Data'!$A$2:$A$25</c:f>
              <c:numCache>
                <c:formatCode>#,##0</c:formatCod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Data'!$B$2:$B$25</c:f>
              <c:numCache>
                <c:formatCode>#,##0</c:formatCode>
                <c:ptCount val="24"/>
                <c:pt idx="0">
                  <c:v>2401.84</c:v>
                </c:pt>
                <c:pt idx="1">
                  <c:v>1693.79</c:v>
                </c:pt>
                <c:pt idx="2">
                  <c:v>1147.58</c:v>
                </c:pt>
                <c:pt idx="3">
                  <c:v>764.12</c:v>
                </c:pt>
                <c:pt idx="4">
                  <c:v>511.89</c:v>
                </c:pt>
                <c:pt idx="5">
                  <c:v>421.2</c:v>
                </c:pt>
                <c:pt idx="6">
                  <c:v>832.07</c:v>
                </c:pt>
                <c:pt idx="7">
                  <c:v>1547.51</c:v>
                </c:pt>
                <c:pt idx="8">
                  <c:v>2656.42</c:v>
                </c:pt>
                <c:pt idx="9">
                  <c:v>4200.53</c:v>
                </c:pt>
                <c:pt idx="10">
                  <c:v>5616.55</c:v>
                </c:pt>
                <c:pt idx="11">
                  <c:v>6769.73</c:v>
                </c:pt>
                <c:pt idx="12">
                  <c:v>7561.7</c:v>
                </c:pt>
                <c:pt idx="13">
                  <c:v>7880.8</c:v>
                </c:pt>
                <c:pt idx="14">
                  <c:v>8035.29</c:v>
                </c:pt>
                <c:pt idx="15">
                  <c:v>8071</c:v>
                </c:pt>
                <c:pt idx="16">
                  <c:v>7855.56</c:v>
                </c:pt>
                <c:pt idx="17">
                  <c:v>7425.96</c:v>
                </c:pt>
                <c:pt idx="18">
                  <c:v>6903.7</c:v>
                </c:pt>
                <c:pt idx="19">
                  <c:v>5746.77</c:v>
                </c:pt>
                <c:pt idx="20">
                  <c:v>4307.92</c:v>
                </c:pt>
                <c:pt idx="21">
                  <c:v>3384.31</c:v>
                </c:pt>
                <c:pt idx="22">
                  <c:v>2881.9</c:v>
                </c:pt>
                <c:pt idx="23">
                  <c:v>2358.6999999999998</c:v>
                </c:pt>
              </c:numCache>
            </c:numRef>
          </c:val>
          <c:smooth val="1"/>
          <c:extLst>
            <c:ext xmlns:c16="http://schemas.microsoft.com/office/drawing/2014/chart" uri="{C3380CC4-5D6E-409C-BE32-E72D297353CC}">
              <c16:uniqueId val="{00000000-611A-4C07-9652-A0136EE05092}"/>
            </c:ext>
          </c:extLst>
        </c:ser>
        <c:ser>
          <c:idx val="1"/>
          <c:order val="1"/>
          <c:tx>
            <c:v>Werkdag</c:v>
          </c:tx>
          <c:spPr>
            <a:ln w="38100">
              <a:solidFill>
                <a:srgbClr val="C77842"/>
              </a:solidFill>
            </a:ln>
          </c:spPr>
          <c:marker>
            <c:symbol val="none"/>
          </c:marker>
          <c:cat>
            <c:numRef>
              <c:f>'Chart Data'!$C$2:$C$25</c:f>
              <c:numCache>
                <c:formatCode>#,##0</c:formatCod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Data'!$D$2:$D$25</c:f>
              <c:numCache>
                <c:formatCode>#,##0</c:formatCode>
                <c:ptCount val="24"/>
                <c:pt idx="0">
                  <c:v>1184.01</c:v>
                </c:pt>
                <c:pt idx="1">
                  <c:v>626.78</c:v>
                </c:pt>
                <c:pt idx="2">
                  <c:v>377.68</c:v>
                </c:pt>
                <c:pt idx="3">
                  <c:v>250.42</c:v>
                </c:pt>
                <c:pt idx="4">
                  <c:v>309.39999999999998</c:v>
                </c:pt>
                <c:pt idx="5">
                  <c:v>959.95</c:v>
                </c:pt>
                <c:pt idx="6">
                  <c:v>2735.24</c:v>
                </c:pt>
                <c:pt idx="7">
                  <c:v>5706.84</c:v>
                </c:pt>
                <c:pt idx="8">
                  <c:v>8643.43</c:v>
                </c:pt>
                <c:pt idx="9">
                  <c:v>6425.48</c:v>
                </c:pt>
                <c:pt idx="10">
                  <c:v>4662.8100000000004</c:v>
                </c:pt>
                <c:pt idx="11">
                  <c:v>4733.88</c:v>
                </c:pt>
                <c:pt idx="12">
                  <c:v>5340.62</c:v>
                </c:pt>
                <c:pt idx="13">
                  <c:v>5702.24</c:v>
                </c:pt>
                <c:pt idx="14">
                  <c:v>6387.07</c:v>
                </c:pt>
                <c:pt idx="15">
                  <c:v>7236.5</c:v>
                </c:pt>
                <c:pt idx="16">
                  <c:v>8482.14</c:v>
                </c:pt>
                <c:pt idx="17">
                  <c:v>11389.2</c:v>
                </c:pt>
                <c:pt idx="18">
                  <c:v>10638.36</c:v>
                </c:pt>
                <c:pt idx="19">
                  <c:v>7841.02</c:v>
                </c:pt>
                <c:pt idx="20">
                  <c:v>5548.13</c:v>
                </c:pt>
                <c:pt idx="21">
                  <c:v>4158.82</c:v>
                </c:pt>
                <c:pt idx="22">
                  <c:v>3345.06</c:v>
                </c:pt>
                <c:pt idx="23">
                  <c:v>2371.3200000000002</c:v>
                </c:pt>
              </c:numCache>
            </c:numRef>
          </c:val>
          <c:smooth val="1"/>
          <c:extLst>
            <c:ext xmlns:c16="http://schemas.microsoft.com/office/drawing/2014/chart" uri="{C3380CC4-5D6E-409C-BE32-E72D297353CC}">
              <c16:uniqueId val="{00000001-611A-4C07-9652-A0136EE05092}"/>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title>
          <c:tx>
            <c:rich>
              <a:bodyPr/>
              <a:lstStyle/>
              <a:p>
                <a:r>
                  <a:rPr sz="1650">
                    <a:solidFill>
                      <a:srgbClr val="62766E"/>
                    </a:solidFill>
                    <a:latin typeface="Aptos"/>
                    <a:ea typeface="Aptos"/>
                    <a:cs typeface="Aptos"/>
                  </a:rPr>
                  <a:t>Lokaal uur in New York</a:t>
                </a:r>
              </a:p>
            </c:rich>
          </c:tx>
          <c:overlay val="0"/>
        </c:title>
        <c:numFmt formatCode="#,##0" sourceLinked="1"/>
        <c:majorTickMark val="none"/>
        <c:minorTickMark val="none"/>
        <c:tickLblPos val="nextTo"/>
        <c:spPr>
          <a:ln w="9525">
            <a:solidFill>
              <a:srgbClr val="D8E1DB"/>
            </a:solidFill>
          </a:ln>
        </c:spPr>
        <c:txPr>
          <a:bodyPr anchorCtr="1"/>
          <a:lstStyle/>
          <a:p>
            <a:pPr>
              <a:defRPr sz="1650">
                <a:solidFill>
                  <a:srgbClr val="000000"/>
                </a:solidFill>
                <a:latin typeface="Aptos"/>
                <a:ea typeface="Aptos"/>
                <a:cs typeface="Aptos"/>
              </a:defRPr>
            </a:pPr>
            <a:endParaRPr lang="en-BE"/>
          </a:p>
        </c:txPr>
        <c:crossAx val="48672768"/>
        <c:crosses val="autoZero"/>
        <c:auto val="1"/>
        <c:lblAlgn val="ctr"/>
        <c:lblOffset val="100"/>
        <c:noMultiLvlLbl val="1"/>
      </c:catAx>
      <c:valAx>
        <c:axId val="48672768"/>
        <c:scaling>
          <c:orientation val="minMax"/>
          <c:min val="0"/>
        </c:scaling>
        <c:delete val="0"/>
        <c:axPos val="l"/>
        <c:majorGridlines>
          <c:spPr>
            <a:ln w="9525">
              <a:solidFill>
                <a:srgbClr val="D8E1DB"/>
              </a:solidFill>
            </a:ln>
          </c:spPr>
        </c:majorGridlines>
        <c:title>
          <c:tx>
            <c:rich>
              <a:bodyPr/>
              <a:lstStyle/>
              <a:p>
                <a:r>
                  <a:rPr sz="1650">
                    <a:solidFill>
                      <a:srgbClr val="62766E"/>
                    </a:solidFill>
                    <a:latin typeface="Aptos"/>
                    <a:ea typeface="Aptos"/>
                    <a:cs typeface="Aptos"/>
                  </a:rPr>
                  <a:t>Gemiddelde vertrekken</a:t>
                </a:r>
              </a:p>
            </c:rich>
          </c:tx>
          <c:overlay val="0"/>
        </c:title>
        <c:numFmt formatCode="#,##0" sourceLinked="1"/>
        <c:majorTickMark val="none"/>
        <c:minorTickMark val="none"/>
        <c:tickLblPos val="nextTo"/>
        <c:spPr>
          <a:ln w="9525">
            <a:solidFill>
              <a:srgbClr val="D8E1DB"/>
            </a:solidFill>
          </a:ln>
        </c:spPr>
        <c:txPr>
          <a:bodyPr anchorCtr="1"/>
          <a:lstStyle/>
          <a:p>
            <a:pPr>
              <a:defRPr sz="1650">
                <a:solidFill>
                  <a:srgbClr val="000000"/>
                </a:solidFill>
                <a:latin typeface="Aptos"/>
                <a:ea typeface="Aptos"/>
                <a:cs typeface="Aptos"/>
              </a:defRPr>
            </a:pPr>
            <a:endParaRPr lang="en-BE"/>
          </a:p>
        </c:txPr>
        <c:crossAx val="48650112"/>
        <c:crosses val="autoZero"/>
        <c:crossBetween val="between"/>
      </c:valAx>
      <c:spPr>
        <a:noFill/>
      </c:spPr>
    </c:plotArea>
    <c:legend>
      <c:legendPos val="b"/>
      <c:overlay val="0"/>
      <c:txPr>
        <a:bodyPr anchorCtr="1"/>
        <a:lstStyle/>
        <a:p>
          <a:pPr>
            <a:defRPr sz="1800">
              <a:solidFill>
                <a:srgbClr val="000000"/>
              </a:solidFill>
              <a:latin typeface="Aptos"/>
              <a:ea typeface="Aptos"/>
              <a:cs typeface="Aptos"/>
            </a:defRPr>
          </a:pPr>
          <a:endParaRPr lang="en-BE"/>
        </a:p>
      </c:txPr>
    </c:legend>
    <c:plotVisOnly val="1"/>
    <c:dispBlanksAs val="zero"/>
    <c:showDLblsOverMax val="1"/>
  </c:chart>
  <c:spPr>
    <a:noFill/>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nl-NL"/>
  <c:roundedCorners val="1"/>
  <c:style val="2"/>
  <c:chart>
    <c:title>
      <c:tx>
        <c:rich>
          <a:bodyPr/>
          <a:lstStyle/>
          <a:p>
            <a:r>
              <a:rPr lang="nl-BE" sz="1650">
                <a:latin typeface="Aptos"/>
                <a:ea typeface="Aptos"/>
                <a:cs typeface="Aptos"/>
              </a:rPr>
              <a:t>Validatie-RMSE in ritten per uurvak</a:t>
            </a:r>
          </a:p>
        </c:rich>
      </c:tx>
      <c:overlay val="0"/>
    </c:title>
    <c:autoTitleDeleted val="0"/>
    <c:plotArea>
      <c:layout/>
      <c:barChart>
        <c:barDir val="bar"/>
        <c:grouping val="clustered"/>
        <c:varyColors val="0"/>
        <c:ser>
          <c:idx val="0"/>
          <c:order val="0"/>
          <c:tx>
            <c:v>Validatie-RMSE</c:v>
          </c:tx>
          <c:spPr>
            <a:solidFill>
              <a:srgbClr val="0F9ED5"/>
            </a:solidFill>
          </c:spPr>
          <c:invertIfNegative val="0"/>
          <c:dLbls>
            <c:numFmt formatCode="0" sourceLinked="0"/>
            <c:spPr>
              <a:noFill/>
              <a:ln>
                <a:noFill/>
              </a:ln>
              <a:effectLst/>
            </c:spPr>
            <c:txPr>
              <a:bodyPr anchorCtr="1"/>
              <a:lstStyle/>
              <a:p>
                <a:pPr>
                  <a:defRPr sz="1800" b="1">
                    <a:solidFill>
                      <a:srgbClr val="000000"/>
                    </a:solidFill>
                    <a:latin typeface="Aptos"/>
                    <a:ea typeface="Aptos"/>
                    <a:cs typeface="Aptos"/>
                  </a:defRPr>
                </a:pPr>
                <a:endParaRPr lang="en-B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Data'!$A$2:$A$7</c:f>
              <c:strCache>
                <c:ptCount val="6"/>
                <c:pt idx="0">
                  <c:v>Weekbaseline</c:v>
                </c:pt>
                <c:pt idx="1">
                  <c:v>Ridge</c:v>
                </c:pt>
                <c:pt idx="2">
                  <c:v>Random Forest</c:v>
                </c:pt>
                <c:pt idx="3">
                  <c:v>LightGBM</c:v>
                </c:pt>
                <c:pt idx="4">
                  <c:v>LightGBM getuned</c:v>
                </c:pt>
                <c:pt idx="5">
                  <c:v>RF getuned</c:v>
                </c:pt>
              </c:strCache>
            </c:strRef>
          </c:cat>
          <c:val>
            <c:numRef>
              <c:f>'Chart Data'!$B$2:$B$7</c:f>
              <c:numCache>
                <c:formatCode>#,##0</c:formatCode>
                <c:ptCount val="6"/>
                <c:pt idx="0">
                  <c:v>2826.16</c:v>
                </c:pt>
                <c:pt idx="1">
                  <c:v>1982.44</c:v>
                </c:pt>
                <c:pt idx="2">
                  <c:v>1945.71</c:v>
                </c:pt>
                <c:pt idx="3">
                  <c:v>1952.24</c:v>
                </c:pt>
                <c:pt idx="4">
                  <c:v>1972.51</c:v>
                </c:pt>
                <c:pt idx="5">
                  <c:v>1940.49</c:v>
                </c:pt>
              </c:numCache>
            </c:numRef>
          </c:val>
          <c:extLst>
            <c:ext xmlns:c16="http://schemas.microsoft.com/office/drawing/2014/chart" uri="{C3380CC4-5D6E-409C-BE32-E72D297353CC}">
              <c16:uniqueId val="{00000000-AD83-4CF0-8BEC-949976A00F66}"/>
            </c:ext>
          </c:extLst>
        </c:ser>
        <c:dLbls>
          <c:dLblPos val="outEnd"/>
          <c:showLegendKey val="0"/>
          <c:showVal val="1"/>
          <c:showCatName val="0"/>
          <c:showSerName val="0"/>
          <c:showPercent val="0"/>
          <c:showBubbleSize val="0"/>
        </c:dLbls>
        <c:gapWidth val="75"/>
        <c:axId val="48650112"/>
        <c:axId val="48672768"/>
      </c:barChart>
      <c:catAx>
        <c:axId val="48650112"/>
        <c:scaling>
          <c:orientation val="minMax"/>
        </c:scaling>
        <c:delete val="0"/>
        <c:axPos val="l"/>
        <c:majorGridlines>
          <c:spPr>
            <a:ln w="9525">
              <a:solidFill>
                <a:srgbClr val="D8E1DB"/>
              </a:solidFill>
            </a:ln>
          </c:spPr>
        </c:majorGridlines>
        <c:numFmt formatCode="General" sourceLinked="1"/>
        <c:majorTickMark val="none"/>
        <c:minorTickMark val="none"/>
        <c:tickLblPos val="nextTo"/>
        <c:spPr>
          <a:ln w="9525">
            <a:solidFill>
              <a:srgbClr val="D8E1DB"/>
            </a:solidFill>
          </a:ln>
        </c:spPr>
        <c:txPr>
          <a:bodyPr anchorCtr="1"/>
          <a:lstStyle/>
          <a:p>
            <a:pPr>
              <a:defRPr sz="1650">
                <a:solidFill>
                  <a:srgbClr val="000000"/>
                </a:solidFill>
                <a:latin typeface="Aptos"/>
                <a:ea typeface="Aptos"/>
                <a:cs typeface="Aptos"/>
              </a:defRPr>
            </a:pPr>
            <a:endParaRPr lang="en-BE"/>
          </a:p>
        </c:txPr>
        <c:crossAx val="48672768"/>
        <c:crosses val="autoZero"/>
        <c:auto val="1"/>
        <c:lblAlgn val="ctr"/>
        <c:lblOffset val="100"/>
        <c:noMultiLvlLbl val="1"/>
      </c:catAx>
      <c:valAx>
        <c:axId val="48672768"/>
        <c:scaling>
          <c:orientation val="minMax"/>
        </c:scaling>
        <c:delete val="0"/>
        <c:axPos val="b"/>
        <c:numFmt formatCode="#,##0" sourceLinked="1"/>
        <c:majorTickMark val="none"/>
        <c:minorTickMark val="none"/>
        <c:tickLblPos val="nextTo"/>
        <c:spPr>
          <a:ln w="9525">
            <a:solidFill>
              <a:srgbClr val="D8E1DB"/>
            </a:solidFill>
          </a:ln>
        </c:spPr>
        <c:txPr>
          <a:bodyPr anchorCtr="1"/>
          <a:lstStyle/>
          <a:p>
            <a:pPr>
              <a:defRPr sz="1650">
                <a:solidFill>
                  <a:srgbClr val="000000"/>
                </a:solidFill>
                <a:latin typeface="Aptos"/>
                <a:ea typeface="Aptos"/>
                <a:cs typeface="Aptos"/>
              </a:defRPr>
            </a:pPr>
            <a:endParaRPr lang="en-BE"/>
          </a:p>
        </c:txPr>
        <c:crossAx val="48650112"/>
        <c:crosses val="autoZero"/>
        <c:crossBetween val="between"/>
      </c:valAx>
      <c:spPr>
        <a:noFill/>
      </c:spPr>
    </c:plotArea>
    <c:plotVisOnly val="1"/>
    <c:dispBlanksAs val="zero"/>
    <c:showDLblsOverMax val="1"/>
  </c:chart>
  <c:spPr>
    <a:noFill/>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nl-NL"/>
  <c:roundedCorners val="1"/>
  <c:style val="2"/>
  <c:chart>
    <c:title>
      <c:tx>
        <c:rich>
          <a:bodyPr/>
          <a:lstStyle/>
          <a:p>
            <a:r>
              <a:rPr lang="nl-NL" sz="1650">
                <a:latin typeface="Aptos"/>
                <a:ea typeface="Aptos"/>
                <a:cs typeface="Aptos"/>
              </a:rPr>
              <a:t>Eindtest-RMSE in ritten per uurvak</a:t>
            </a:r>
          </a:p>
        </c:rich>
      </c:tx>
      <c:overlay val="0"/>
    </c:title>
    <c:autoTitleDeleted val="0"/>
    <c:plotArea>
      <c:layout/>
      <c:barChart>
        <c:barDir val="col"/>
        <c:grouping val="clustered"/>
        <c:varyColors val="0"/>
        <c:ser>
          <c:idx val="0"/>
          <c:order val="0"/>
          <c:tx>
            <c:v>Eindtest-RMSE</c:v>
          </c:tx>
          <c:spPr>
            <a:solidFill>
              <a:srgbClr val="0F9ED5"/>
            </a:solidFill>
          </c:spPr>
          <c:invertIfNegative val="0"/>
          <c:dLbls>
            <c:numFmt formatCode="0" sourceLinked="0"/>
            <c:spPr>
              <a:noFill/>
              <a:ln>
                <a:noFill/>
              </a:ln>
              <a:effectLst/>
            </c:spPr>
            <c:txPr>
              <a:bodyPr anchorCtr="1"/>
              <a:lstStyle/>
              <a:p>
                <a:pPr>
                  <a:defRPr sz="1950" b="1">
                    <a:solidFill>
                      <a:srgbClr val="000000"/>
                    </a:solidFill>
                    <a:latin typeface="Aptos"/>
                    <a:ea typeface="Aptos"/>
                    <a:cs typeface="Aptos"/>
                  </a:defRPr>
                </a:pPr>
                <a:endParaRPr lang="en-B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Weekbaseline</c:v>
                </c:pt>
                <c:pt idx="1">
                  <c:v>Gekozen RF</c:v>
                </c:pt>
              </c:strCache>
            </c:strRef>
          </c:cat>
          <c:val>
            <c:numRef>
              <c:f>'Chart Data'!$B$2:$B$3</c:f>
              <c:numCache>
                <c:formatCode>#,##0</c:formatCode>
                <c:ptCount val="2"/>
                <c:pt idx="0">
                  <c:v>2608.7800000000002</c:v>
                </c:pt>
                <c:pt idx="1">
                  <c:v>1979.51</c:v>
                </c:pt>
              </c:numCache>
            </c:numRef>
          </c:val>
          <c:extLst>
            <c:ext xmlns:c16="http://schemas.microsoft.com/office/drawing/2014/chart" uri="{C3380CC4-5D6E-409C-BE32-E72D297353CC}">
              <c16:uniqueId val="{00000000-775E-407F-B7C8-6561FFBF668C}"/>
            </c:ext>
          </c:extLst>
        </c:ser>
        <c:dLbls>
          <c:dLblPos val="outEnd"/>
          <c:showLegendKey val="0"/>
          <c:showVal val="1"/>
          <c:showCatName val="0"/>
          <c:showSerName val="0"/>
          <c:showPercent val="0"/>
          <c:showBubbleSize val="0"/>
        </c:dLbls>
        <c:gapWidth val="13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8E1DB"/>
            </a:solidFill>
          </a:ln>
        </c:spPr>
        <c:txPr>
          <a:bodyPr anchorCtr="1"/>
          <a:lstStyle/>
          <a:p>
            <a:pPr>
              <a:defRPr sz="1650">
                <a:solidFill>
                  <a:srgbClr val="000000"/>
                </a:solidFill>
                <a:latin typeface="Aptos"/>
                <a:ea typeface="Aptos"/>
                <a:cs typeface="Aptos"/>
              </a:defRPr>
            </a:pPr>
            <a:endParaRPr lang="en-BE"/>
          </a:p>
        </c:txPr>
        <c:crossAx val="48672768"/>
        <c:crosses val="autoZero"/>
        <c:auto val="1"/>
        <c:lblAlgn val="ctr"/>
        <c:lblOffset val="100"/>
        <c:noMultiLvlLbl val="1"/>
      </c:catAx>
      <c:valAx>
        <c:axId val="48672768"/>
        <c:scaling>
          <c:orientation val="minMax"/>
          <c:max val="3000"/>
          <c:min val="0"/>
        </c:scaling>
        <c:delete val="0"/>
        <c:axPos val="l"/>
        <c:majorGridlines>
          <c:spPr>
            <a:ln w="9525">
              <a:solidFill>
                <a:srgbClr val="D8E1DB"/>
              </a:solidFill>
            </a:ln>
          </c:spPr>
        </c:majorGridlines>
        <c:numFmt formatCode="#,##0" sourceLinked="1"/>
        <c:majorTickMark val="none"/>
        <c:minorTickMark val="none"/>
        <c:tickLblPos val="nextTo"/>
        <c:spPr>
          <a:ln w="9525">
            <a:solidFill>
              <a:srgbClr val="D8E1DB"/>
            </a:solidFill>
          </a:ln>
        </c:spPr>
        <c:txPr>
          <a:bodyPr anchorCtr="1"/>
          <a:lstStyle/>
          <a:p>
            <a:pPr>
              <a:defRPr sz="1650">
                <a:solidFill>
                  <a:srgbClr val="000000"/>
                </a:solidFill>
                <a:latin typeface="Aptos"/>
                <a:ea typeface="Aptos"/>
                <a:cs typeface="Aptos"/>
              </a:defRPr>
            </a:pPr>
            <a:endParaRPr lang="en-BE"/>
          </a:p>
        </c:txPr>
        <c:crossAx val="48650112"/>
        <c:crosses val="autoZero"/>
        <c:crossBetween val="between"/>
        <c:majorUnit val="1000"/>
      </c:valAx>
      <c:spPr>
        <a:noFill/>
      </c:spPr>
    </c:plotArea>
    <c:plotVisOnly val="1"/>
    <c:dispBlanksAs val="zero"/>
    <c:showDLblsOverMax val="1"/>
  </c:chart>
  <c:spPr>
    <a:noFill/>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nl-NL"/>
  <c:roundedCorners val="1"/>
  <c:style val="2"/>
  <c:chart>
    <c:title>
      <c:tx>
        <c:rich>
          <a:bodyPr/>
          <a:lstStyle/>
          <a:p>
            <a:r>
              <a:rPr sz="1650">
                <a:latin typeface="Aptos"/>
                <a:ea typeface="Aptos"/>
                <a:cs typeface="Aptos"/>
              </a:rPr>
              <a:t>Validatie-MAE per lokaal uur</a:t>
            </a:r>
          </a:p>
        </c:rich>
      </c:tx>
      <c:overlay val="0"/>
    </c:title>
    <c:autoTitleDeleted val="0"/>
    <c:plotArea>
      <c:layout/>
      <c:barChart>
        <c:barDir val="col"/>
        <c:grouping val="clustered"/>
        <c:varyColors val="0"/>
        <c:ser>
          <c:idx val="0"/>
          <c:order val="0"/>
          <c:tx>
            <c:v>Validatie-MAE</c:v>
          </c:tx>
          <c:spPr>
            <a:solidFill>
              <a:srgbClr val="0F9ED5"/>
            </a:solidFill>
          </c:spPr>
          <c:invertIfNegative val="0"/>
          <c:cat>
            <c:numRef>
              <c:f>'Chart Data'!$A$2:$A$25</c:f>
              <c:numCache>
                <c:formatCode>#,##0</c:formatCod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numCache>
            </c:numRef>
          </c:cat>
          <c:val>
            <c:numRef>
              <c:f>'Chart Data'!$B$2:$B$25</c:f>
              <c:numCache>
                <c:formatCode>#,##0</c:formatCode>
                <c:ptCount val="24"/>
                <c:pt idx="0">
                  <c:v>1275</c:v>
                </c:pt>
                <c:pt idx="1">
                  <c:v>628.62</c:v>
                </c:pt>
                <c:pt idx="2">
                  <c:v>341.41</c:v>
                </c:pt>
                <c:pt idx="3">
                  <c:v>161.18</c:v>
                </c:pt>
                <c:pt idx="4">
                  <c:v>101.48</c:v>
                </c:pt>
                <c:pt idx="5">
                  <c:v>142.13999999999999</c:v>
                </c:pt>
                <c:pt idx="6">
                  <c:v>319.05</c:v>
                </c:pt>
                <c:pt idx="7">
                  <c:v>676.26</c:v>
                </c:pt>
                <c:pt idx="8">
                  <c:v>1151.54</c:v>
                </c:pt>
                <c:pt idx="9">
                  <c:v>807.3</c:v>
                </c:pt>
                <c:pt idx="10">
                  <c:v>700.89</c:v>
                </c:pt>
                <c:pt idx="11">
                  <c:v>971.18</c:v>
                </c:pt>
                <c:pt idx="12">
                  <c:v>1262.58</c:v>
                </c:pt>
                <c:pt idx="13">
                  <c:v>1395.73</c:v>
                </c:pt>
                <c:pt idx="14">
                  <c:v>1688.46</c:v>
                </c:pt>
                <c:pt idx="15">
                  <c:v>1659.27</c:v>
                </c:pt>
                <c:pt idx="16">
                  <c:v>1926.01</c:v>
                </c:pt>
                <c:pt idx="17">
                  <c:v>2422.61</c:v>
                </c:pt>
                <c:pt idx="18">
                  <c:v>2220.23</c:v>
                </c:pt>
                <c:pt idx="19">
                  <c:v>1960.05</c:v>
                </c:pt>
                <c:pt idx="20">
                  <c:v>1602.58</c:v>
                </c:pt>
                <c:pt idx="21">
                  <c:v>1078.21</c:v>
                </c:pt>
                <c:pt idx="22">
                  <c:v>838.09</c:v>
                </c:pt>
                <c:pt idx="23">
                  <c:v>1417.6</c:v>
                </c:pt>
              </c:numCache>
            </c:numRef>
          </c:val>
          <c:extLst>
            <c:ext xmlns:c16="http://schemas.microsoft.com/office/drawing/2014/chart" uri="{C3380CC4-5D6E-409C-BE32-E72D297353CC}">
              <c16:uniqueId val="{00000000-E4F7-464B-897C-333210FF1FCB}"/>
            </c:ext>
          </c:extLst>
        </c:ser>
        <c:dLbls>
          <c:showLegendKey val="0"/>
          <c:showVal val="0"/>
          <c:showCatName val="0"/>
          <c:showSerName val="0"/>
          <c:showPercent val="0"/>
          <c:showBubbleSize val="0"/>
        </c:dLbls>
        <c:gapWidth val="40"/>
        <c:axId val="48650112"/>
        <c:axId val="48672768"/>
      </c:barChart>
      <c:catAx>
        <c:axId val="48650112"/>
        <c:scaling>
          <c:orientation val="minMax"/>
        </c:scaling>
        <c:delete val="0"/>
        <c:axPos val="b"/>
        <c:title>
          <c:tx>
            <c:rich>
              <a:bodyPr/>
              <a:lstStyle/>
              <a:p>
                <a:r>
                  <a:rPr>
                    <a:latin typeface="Aptos"/>
                    <a:ea typeface="Aptos"/>
                    <a:cs typeface="Aptos"/>
                  </a:rPr>
                  <a:t>Lokaal uur</a:t>
                </a:r>
              </a:p>
            </c:rich>
          </c:tx>
          <c:overlay val="0"/>
        </c:title>
        <c:numFmt formatCode="#,##0" sourceLinked="1"/>
        <c:majorTickMark val="none"/>
        <c:minorTickMark val="none"/>
        <c:tickLblPos val="nextTo"/>
        <c:spPr>
          <a:ln w="9525">
            <a:solidFill>
              <a:srgbClr val="D8E1DB"/>
            </a:solidFill>
          </a:ln>
        </c:spPr>
        <c:txPr>
          <a:bodyPr anchorCtr="1"/>
          <a:lstStyle/>
          <a:p>
            <a:pPr>
              <a:defRPr sz="1650">
                <a:solidFill>
                  <a:srgbClr val="000000"/>
                </a:solidFill>
                <a:latin typeface="Aptos"/>
                <a:ea typeface="Aptos"/>
                <a:cs typeface="Aptos"/>
              </a:defRPr>
            </a:pPr>
            <a:endParaRPr lang="en-BE"/>
          </a:p>
        </c:txPr>
        <c:crossAx val="48672768"/>
        <c:crosses val="autoZero"/>
        <c:auto val="1"/>
        <c:lblAlgn val="ctr"/>
        <c:lblOffset val="100"/>
        <c:noMultiLvlLbl val="1"/>
      </c:catAx>
      <c:valAx>
        <c:axId val="48672768"/>
        <c:scaling>
          <c:orientation val="minMax"/>
          <c:min val="0"/>
        </c:scaling>
        <c:delete val="0"/>
        <c:axPos val="l"/>
        <c:majorGridlines>
          <c:spPr>
            <a:ln w="9525">
              <a:solidFill>
                <a:srgbClr val="D8E1DB"/>
              </a:solidFill>
            </a:ln>
          </c:spPr>
        </c:majorGridlines>
        <c:title>
          <c:tx>
            <c:rich>
              <a:bodyPr/>
              <a:lstStyle/>
              <a:p>
                <a:r>
                  <a:rPr>
                    <a:latin typeface="Aptos"/>
                    <a:ea typeface="Aptos"/>
                    <a:cs typeface="Aptos"/>
                  </a:rPr>
                  <a:t>MAE in ritten/uurvak</a:t>
                </a:r>
              </a:p>
            </c:rich>
          </c:tx>
          <c:overlay val="0"/>
        </c:title>
        <c:numFmt formatCode="#,##0" sourceLinked="1"/>
        <c:majorTickMark val="none"/>
        <c:minorTickMark val="none"/>
        <c:tickLblPos val="nextTo"/>
        <c:spPr>
          <a:ln w="9525">
            <a:solidFill>
              <a:srgbClr val="D8E1DB"/>
            </a:solidFill>
          </a:ln>
        </c:spPr>
        <c:txPr>
          <a:bodyPr anchorCtr="1"/>
          <a:lstStyle/>
          <a:p>
            <a:pPr>
              <a:defRPr sz="1650">
                <a:solidFill>
                  <a:srgbClr val="000000"/>
                </a:solidFill>
                <a:latin typeface="Aptos"/>
                <a:ea typeface="Aptos"/>
                <a:cs typeface="Aptos"/>
              </a:defRPr>
            </a:pPr>
            <a:endParaRPr lang="en-BE"/>
          </a:p>
        </c:txPr>
        <c:crossAx val="48650112"/>
        <c:crosses val="autoZero"/>
        <c:crossBetween val="between"/>
      </c:valAx>
      <c:spPr>
        <a:noFill/>
      </c:spPr>
    </c:plotArea>
    <c:plotVisOnly val="1"/>
    <c:dispBlanksAs val="zero"/>
    <c:showDLblsOverMax val="1"/>
  </c:chart>
  <c:spPr>
    <a:no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20 seconden. Twee problemen: Mushroom-classificatie en Citi Bike-uurvraag. Deze presentatie is met Codex bijgewerkt vanuit Andrews bronpresentatie en gecontroleerde projectresultaten. Het team controleert de GenAI-policy en kan de keuzes zelf toelichten.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15 seconden.</a:t>
            </a:r>
          </a:p>
          <a:p>
            <a:r>
              <a:t>Overzicht. Ongeveer 19,5 minuten inclusief demo; houd 5,5 minuten vrij voor vragen.</a:t>
            </a:r>
          </a:p>
          <a:p>
            <a:endParaRPr/>
          </a:p>
          <a:p>
            <a:r>
              <a:t>Bronnen:</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25 seconden. Stel het team voor en licht de echte taakverdeling mondeling toe. De definitieve bijdragen en GenAI-vermelding moeten door het team worden bevestigd; deze dia verzint geen rollen.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40 seconden.</a:t>
            </a:r>
          </a:p>
          <a:p>
            <a:r>
              <a:t>Het juiste cursusbestand heeft 5.000 rijen; de oude UCI-download met 61.069 rijen is een andere studie. Drie numerieke en acht categorische modelvelden. jumbled_noise_0 verwijderd, jumbled_noise_1 behouden. Hypothetische cursusdata.</a:t>
            </a:r>
          </a:p>
          <a:p>
            <a:endParaRPr/>
          </a:p>
          <a:p>
            <a:r>
              <a:t>Bronnen:</a:t>
            </a:r>
          </a:p>
          <a:p>
            <a:r>
              <a:t>https://github.com/JorreVanDyck10/DeepLearningTeam10/blob/main/MushroomFinal/README.md</a:t>
            </a:r>
          </a:p>
          <a:p>
            <a:r>
              <a:t>https://github.com/JorreVanDyck10/DeepLearningTeam10/blob/main/MushroomFinal/mushroom_project_dataset.csv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45 seconden.</a:t>
            </a:r>
          </a:p>
          <a:p>
            <a:r>
              <a:t>3.107 eetbare en 1.893 giftige gevallen. De meerderheid voorspellen levert ongeveer 62% accuracy. Daarom gebruiken we dummy en beslisboom als baselines, macro F1 en recall van de giftige klasse.</a:t>
            </a:r>
          </a:p>
          <a:p>
            <a:endParaRPr/>
          </a:p>
          <a:p>
            <a:r>
              <a:t>Bronnen:</a:t>
            </a:r>
          </a:p>
          <a:p>
            <a:r>
              <a:t>https://github.com/JorreVanDyck10/DeepLearningTeam10/blob/main/MushroomFinal/mushroom_project_dataset.csv</a:t>
            </a:r>
          </a:p>
          <a:p>
            <a:r>
              <a:t>https://github.com/JorreVanDyck10/DeepLearningTeam10/blob/main/MushroomFinal/comparison_correct/model_comparison.csv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60 seconden.</a:t>
            </a:r>
          </a:p>
          <a:p>
            <a:r>
              <a:t>Spore print ontbreekt bij 94,8%; stem surface bij 67,18%; cap diameter bij 40,64%. Niet alle rijen weggooien. RF300 gebruikt mediaan voor getallen, modus en one-hot voor categorieën. Alles leert alleen uit de betreffende trainingsfold. De oorspronkelijke proximity-imputatie vóór CV gaf leakage-risico; de gecorrigeerde fits gebruiken fold-lokale preprocessing.</a:t>
            </a:r>
          </a:p>
          <a:p>
            <a:endParaRPr/>
          </a:p>
          <a:p>
            <a:r>
              <a:t>Bronnen:</a:t>
            </a:r>
          </a:p>
          <a:p>
            <a:r>
              <a:t>https://github.com/JorreVanDyck10/DeepLearningTeam10/blob/main/MushroomFinal/mushroom_project_dataset.csv</a:t>
            </a:r>
          </a:p>
          <a:p>
            <a:r>
              <a:t>https://github.com/JorreVanDyck10/DeepLearningTeam10/blob/main/MushroomFinal/final_model_support.py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40 seconden.</a:t>
            </a:r>
          </a:p>
          <a:p>
            <a:r>
              <a:t>De stamhoogteverdelingen overlappen sterk. Eén kenmerk kan dus niet beslissen. Extreme waarden zijn niet automatisch meetfouten. We verwijderen ze niet blind; bij RF300 blijven nulmetingen nul. De grafiek komt uit Andrews EDA op dezelfde cursusdata.</a:t>
            </a:r>
          </a:p>
          <a:p>
            <a:endParaRPr/>
          </a:p>
          <a:p>
            <a:r>
              <a:t>Bronnen:</a:t>
            </a:r>
          </a:p>
          <a:p>
            <a:r>
              <a:t>https://github.com/JorreVanDyck10/DeepLearningTeam10/blob/main/MushroomFinal/mushroom_project.ipynb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60 seconden.</a:t>
            </a:r>
          </a:p>
          <a:p>
            <a:r>
              <a:t>Stratified split seed42: 4.100 train, 900 ontwikkeltest. Vijf gedeelde stratified trainingsfolds. Fit preprocessing en model opnieuw binnen elke fold. Selecteer op CV macro F1 en rapporteer giftige recall. De ontwikkeltest is eerder bekeken, dus geen onaangeraakte eindtest. Gecorrigeerde fits hebben andere scores dan oorspronkelijke screenshots.</a:t>
            </a:r>
          </a:p>
          <a:p>
            <a:endParaRPr/>
          </a:p>
          <a:p>
            <a:r>
              <a:t>Bronnen:</a:t>
            </a:r>
          </a:p>
          <a:p>
            <a:r>
              <a:t>https://github.com/JorreVanDyck10/DeepLearningTeam10/blob/main/MushroomFinal/final_model_support.py</a:t>
            </a:r>
          </a:p>
          <a:p>
            <a:r>
              <a:t>https://github.com/JorreVanDyck10/DeepLearningTeam10/blob/main/MushroomFinal/comparison_correct/protocol.json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65 seconden.</a:t>
            </a:r>
          </a:p>
          <a:p>
            <a:r>
              <a:t>RF300 is geselecteerd op de gemiddelde macro F1 over de vijf trainingsfolds: 0,761876. De 300 bomen hebben max_depth=20, max_features=None, min_samples_split=4, min_samples_leaf=1, class_weight=balanced en random_state=42. De matrix en de scores horen bij dezelfde gecorrigeerde pipeline. Accuracy is (512+220)/900 = 81,33%. Giftige recall is 220/341 = 64,52%. De 121 giftige gevallen die als eetbaar geclassificeerd worden, tonen waarom accuracy onvoldoende is. De website gebruikt deze RF300, niet de oorspronkelijke RF200 uit Andrews eerdere screenshot. De preprocessing gebruikt medianen en modi, geen vooraf op alle trainingsrijen geleerde proximity-matrix.</a:t>
            </a:r>
          </a:p>
          <a:p>
            <a:endParaRPr/>
          </a:p>
          <a:p>
            <a:r>
              <a:t>Bronnen:</a:t>
            </a:r>
          </a:p>
          <a:p>
            <a:r>
              <a:t>https://github.com/JorreVanDyck10/DeepLearningTeam10/blob/main/Final/config/mushroom.json</a:t>
            </a:r>
          </a:p>
          <a:p>
            <a:r>
              <a:t>https://github.com/JorreVanDyck10/DeepLearningTeam10/blob/main/MushroomFinal/comparison_correct/model_comparison.csv</a:t>
            </a:r>
          </a:p>
          <a:p>
            <a:r>
              <a:t>https://github.com/JorreVanDyck10/DeepLearningTeam10/blob/main/backend/artifacts/mushroom_rf300.json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55 seconden.</a:t>
            </a:r>
          </a:p>
          <a:p>
            <a:r>
              <a:t>Gradient Boosting leert opeenvolgende bomen die fouten van eerdere bomen corrigeren. Logistic Regression is een lineaire referentie met scaling. In de gecontroleerde vergelijking wordt ook de proximity-imputatie van GB binnen elke fold geleerd. GB heeft TN536, FP23, FN171 en TP170. LR heeft TN410, FP149, FN136 en TP205. De oude GB-matrix en het oude rapport spraken elkaar tegen en zijn vervangen door cijfers uit dezelfde gecontroleerde fit. De gemiddelde fitduur per trainingsfold was ongeveer 0,31 seconde voor LR, 3,07 seconden voor GB en 6,36 seconden voor RF300. Dit zijn gemeten looptijden op die omgeving, geen garanties voor andere computers. LR is het snelste; RF300 heeft hier de hoogste CV macro F1.</a:t>
            </a:r>
          </a:p>
          <a:p>
            <a:endParaRPr/>
          </a:p>
          <a:p>
            <a:r>
              <a:t>Bronnen:</a:t>
            </a:r>
          </a:p>
          <a:p>
            <a:r>
              <a:t>https://github.com/JorreVanDyck10/DeepLearningTeam10/blob/main/MushroomFinal/final_model_support.py</a:t>
            </a:r>
          </a:p>
          <a:p>
            <a:r>
              <a:t>https://github.com/JorreVanDyck10/DeepLearningTeam10/blob/main/MushroomFinal/comparison_correct/model_comparison.csv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45 seconden.</a:t>
            </a:r>
          </a:p>
          <a:p>
            <a:r>
              <a:t>PyCaret 3.3.2 is daadwerkelijk uitgevoerd op het juiste cursusbestand. De brede vergelijking retourneerde dertien modellen. De tabel toont de aparte vergelijking van drie standaardmodellen met dezelfde trainingsrijen en vijf folds. Het betreft geen handmatig getunede eindmodellen. Macro F1 is expliciet als macro-gemiddelde gecontroleerd. De getoonde recall betreft de giftige klasse. RF scoort hier beter dan GB en LR. Deze cijfers moeten niet rechtstreeks verwisseld worden met de volgende tabel met de uiteindelijke fits.</a:t>
            </a:r>
          </a:p>
          <a:p>
            <a:endParaRPr/>
          </a:p>
          <a:p>
            <a:r>
              <a:t>Bronnen:</a:t>
            </a:r>
          </a:p>
          <a:p>
            <a:r>
              <a:t>https://github.com/JorreVanDyck10/DeepLearningTeam10/blob/main/MushroomFinal/comparison_correct/pycaret_audit.json</a:t>
            </a:r>
          </a:p>
          <a:p>
            <a:r>
              <a:t>https://github.com/JorreVanDyck10/DeepLearningTeam10/blob/main/MushroomFinal/comparison_correct/pycaret_three.csv</a:t>
            </a:r>
          </a:p>
          <a:p>
            <a:r>
              <a:t>https://github.com/JorreVanDyck10/DeepLearningTeam10/blob/main/MushroomFinal/comparison_correct/pycaret_all.csv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70 seconden.</a:t>
            </a:r>
          </a:p>
          <a:p>
            <a:r>
              <a:t>Alle kandidaten gebruiken dezelfde 4.100 trainingsrijen, 900 ontwikkeltestrecords en vijf trainingsfolds. De primaire modelkeuze gebruikt gemiddelde CV macro F1. De beslisboom is de snelle eerste baseline; de dummy voorspelt de meerderheidsklasse. De AWS-rij komt uit de afzonderlijk gecontroleerde echte SageMaker-pipeline. Haar voorspellingen komen overeen met de lokale AWS-baseline. RF300 blijft de geselecteerde keuze, met een kleine voorsprong op AWS. De verschillen zijn geen bewijs van statistische significantie. De ontwikkeltest is eerder bekeken en is dus niet meer onaangeraakt. De tabel toont de belangrijkste modelfamilies en baselines; de volledige vergelijking in GitHub bevat ook andere RF-configuraties.</a:t>
            </a:r>
          </a:p>
          <a:p>
            <a:endParaRPr/>
          </a:p>
          <a:p>
            <a:r>
              <a:t>Bronnen:</a:t>
            </a:r>
          </a:p>
          <a:p>
            <a:r>
              <a:t>https://github.com/JorreVanDyck10/DeepLearningTeam10/blob/main/MushroomFinal/comparison_correct/model_comparison.csv</a:t>
            </a:r>
          </a:p>
          <a:p>
            <a:r>
              <a:t>https://github.com/JorreVanDyck10/DeepLearningTeam10/blob/main/MushroomFinal/comparison_correct/aws_artifact_audit.json</a:t>
            </a:r>
          </a:p>
          <a:p>
            <a:r>
              <a:t>https://github.com/JorreVanDyck10/DeepLearningTeam10/blob/main/MushroomFinal/comparison_correct/cv_selection.json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50 seconden.</a:t>
            </a:r>
          </a:p>
          <a:p>
            <a:r>
              <a:t>Jorre heeft in AWS SageMaker opnieuw getraind op het correcte cursusbestand met 5.000 rijen. Er zijn vier kandidaatconfiguraties onderzocht. Het uitgevoerde notebook, de herlaadbare pipeline, het resultatenbestand en de tuningtabel zijn gedownload naar de repository. Een aparte artifactaudit controleert de voorspellingen van de werkelijk gedownloade pipeline: 80,11% accuracy en 58,94% recall voor de giftige klasse. De oude 100%-run gebruikte een ander databestand en hoort niet in deze vergelijking. De AWS-training is uitgevoerd, maar RF300 blijft het gekozen gehoste model.</a:t>
            </a:r>
          </a:p>
          <a:p>
            <a:endParaRPr/>
          </a:p>
          <a:p>
            <a:r>
              <a:t>Bronnen:</a:t>
            </a:r>
          </a:p>
          <a:p>
            <a:r>
              <a:t>https://github.com/JorreVanDyck10/DeepLearningTeam10/blob/main/SolutionJorre/MushroomDataset/correct_dataset/04_aws_correct_dataset.ipynb</a:t>
            </a:r>
          </a:p>
          <a:p>
            <a:r>
              <a:t>https://github.com/JorreVanDyck10/DeepLearningTeam10/blob/main/SolutionJorre/MushroomDataset/correct_dataset/correct_aws_tuning_results.csv</a:t>
            </a:r>
          </a:p>
          <a:p>
            <a:r>
              <a:t>https://github.com/JorreVanDyck10/DeepLearningTeam10/blob/main/MushroomFinal/comparison_correct/aws_artifact_audit.json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25 seconden.</a:t>
            </a:r>
          </a:p>
          <a:p>
            <a:endParaRPr/>
          </a:p>
          <a:p>
            <a:r>
              <a:t>Ik ben Raoul Buffels. Ons team heet Messi10. In dit deel bespreek ik mijn Citi Bike-uitwerking. Ik werkte aan de bronverwerking, cleaning, EDA, hypothesen, modellen en vergelijking. Ik maakte ook de Citi Bike-frontend en backend. Jorre hielp met deployment op Render. De andere teamleden presenteren hun eigen werk. Ik volg de opdrachtvolgorde: EDA, modellen en conclusie. Codex hielp bij implementatie en uitleg, zoals vermeld in de repository. Ik moet de keuzes zelf kunnen verdedigen.</a:t>
            </a:r>
          </a:p>
          <a:p>
            <a:endParaRPr/>
          </a:p>
          <a:p>
            <a:r>
              <a:t>Bronnen: README.md en SolutionRaoul/Citybike/notebooks/00_projectoverzicht.ipynb; opdracht: CloudAI/Discussion topics/project assignment.md (bestaande gecontroleerde uitwerking, 14 oktober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45 seconden.</a:t>
            </a:r>
          </a:p>
          <a:p>
            <a:endParaRPr/>
          </a:p>
          <a:p>
            <a:r>
              <a:t>Ik had grote bestanden verwacht. De lastigste stap was bepalen welke records echte bronkopieën waren. De 175 ZIPs bevatten NYC en Jersey City en verschillende oude en nieuwe schema’s. Na verwerking blijven circa 323,8 miljoen NYC-records over. Dat is technische dekking tot augustus 2026, geen EDA op de eindtest. Mijn EDA gebruikt alleen ontwikkeling vóór mei. Een ontbrekend eindstation hoeft een geldige start niet onbruikbaar te maken. Extreem lange duur kan een registratieprobleem of een laat afgesloten rit zijn. Voor uurvolume tel ik de start en behoud ik kwaliteitsflags. Alleen bewezen bronkopieën verwijder ik. Identieke historische ritten kunnen echte afzonderlijke ritten zijn.</a:t>
            </a:r>
          </a:p>
          <a:p>
            <a:endParaRPr/>
          </a:p>
          <a:p>
            <a:r>
              <a:t>Bronnen: reports/data_manifest.json; 01a_dataonderzoek_en_cleaning.ipynb; reports/NYC_duration_sample_audit.json (bestaande gecontroleerde uitwerking, 14 oktober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45 seconden.</a:t>
            </a:r>
          </a:p>
          <a:p>
            <a:endParaRPr/>
          </a:p>
          <a:p>
            <a:r>
              <a:t>Deze figuur gebruikt echte gemiddelde uurtellingen vanaf 2023 tot eind april 2026. Ik vergelijk werkdagen met weekends. Werkdagen hebben een ander dagprofiel en vooral een duidelijke avondpiek. Het hoogste gemiddelde uur ligt hier om 17 uur op werkdagen en om 15 uur in het weekend. Een verschil tussen dagtypes past bij woon-werkgebruik, maar de data bewijzen het reisdoel niet. Ik verwachte herhaling in tijd. De grafiek toont dat de patronen veranderen met dagtype en dat één algemeen gemiddelde onvoldoende is. Dat motiveert kalenderkenmerken en historische tellingen in het model.</a:t>
            </a:r>
          </a:p>
          <a:p>
            <a:endParaRPr/>
          </a:p>
          <a:p>
            <a:r>
              <a:t>Bronnen: data/NYC_hourly_development.parquet, dezelfde aggregatie als citibike/plots.py hour_weekday (bestaande gecontroleerde uitwerking, 14 oktober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55 seconden.</a:t>
            </a:r>
          </a:p>
          <a:p>
            <a:endParaRPr/>
          </a:p>
          <a:p>
            <a:r>
              <a:t>Mijn hoofdhypothese is dat een uurtelling samenhangt met hetzelfde uur vorige week. H0 zegt dat de gemiddelde correlatie over tijdsblokken nul is. H1 zegt dat die verschilt van nul. Ik behandel miljoenen ritten niet als onafhankelijke observaties. Ik bereken effecten per week en toets met 43 vierweekblokken. De bestaande sign-fliptoets veronderstelt voldoende onafhankelijke blokken en symmetrie onder H0. De correlatie is ongeveer 0,856 met een interval van 0,837 tot 0,876. De Holm-p is ongeveer 0,00015. Het patroon is dus sterk in ontwikkeling. De vraag kwam uit EDA en blijft exploratief. Correlatie bewijst geen oorzaak of modelprestatie. Pas daarna kies ik het bestaande doel: geregistreerd uurvolume één dag vooruit.</a:t>
            </a:r>
          </a:p>
          <a:p>
            <a:endParaRPr/>
          </a:p>
          <a:p>
            <a:r>
              <a:t>Bronnen: reports/hypotheses.json; reports/hypothesis_protocol.json; reports/target_decision.json (bestaande gecontroleerde uitwerking, 14 oktober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45 seconden.</a:t>
            </a:r>
          </a:p>
          <a:p>
            <a:endParaRPr/>
          </a:p>
          <a:p>
            <a:r>
              <a:t>Notebook 02 maakt zelfstandig de definitieve modeldata vanaf de bronnen of gecontroleerde caches. Het target is geregistreerde vertrekken per lokaal uurvak. Ik gebruik veertien features: kalenderkenmerken en historische tellingen. Voorbeelden zijn het uur en de weekdag, hetzelfde uur gisteren en vorige week, en een gemiddelde van zeven afgesloten dagen. Rolling wordt eerst verschoven. Niets van de voorspeldag komt als historische input binnen. De eerste veertien dagen vallen weg omdat historie ontbreekt. Ik split chronologisch: training vóór mei, validatie mei en juni, test juli en augustus. Binnen training gebruik ik vijf chronologische folds van 28 dagen. Ridge leert zijn scaler alleen op de trainingsrijen van iedere fold.</a:t>
            </a:r>
          </a:p>
          <a:p>
            <a:endParaRPr/>
          </a:p>
          <a:p>
            <a:r>
              <a:t>Bronnen: 02_definitieve_voorbereiding.ipynb; reports/prepared_model_data.json; citibike/features.py (bestaande gecontroleerde uitwerking, 14 oktober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65 seconden.</a:t>
            </a:r>
          </a:p>
          <a:p>
            <a:endParaRPr/>
          </a:p>
          <a:p>
            <a:r>
              <a:t>De weekbaseline voorspelt hetzelfde uur van vorige week. Ridge is een eenvoudige lineaire referentie. Random Forest en LightGBM leren niet-lineaire verbanden. PyCaret vergelijkt dezelfde vier basismodellen met dezelfde chronologische folds. Daarna behoud ik de beperkte bestaande RF- en LightGBM-tuning. De finale getunede RF heeft een validatie-RMSE van ongeveer 1940,49 ritten per uurvak tegenover 2826,16 voor de baseline. Dat is circa 31,34 procent lager. LightGBM-tuning verbeterde trainings-CV, maar niet de mei-juni-validatie. De verschillen tussen de sterke modellen zijn klein. De keuze lag vóór de test vast en gebruikte de bestaande 1%-regel met een eenvoudigheidsrang per modeltype.</a:t>
            </a:r>
          </a:p>
          <a:p>
            <a:endParaRPr/>
          </a:p>
          <a:p>
            <a:r>
              <a:t>Bronnen: reports/model_comparison.csv; reports/model_selection.json; reports/pycaret_comparison.csv; tuningrapporten (bestaande gecontroleerde uitwerking, 14 oktober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55 seconden.</a:t>
            </a:r>
          </a:p>
          <a:p>
            <a:endParaRPr/>
          </a:p>
          <a:p>
            <a:r>
              <a:t>Ridge is het eenvoudigst uit te leggen en fit in deze reproductie in ongeveer 0,05 seconde. LightGBM fit in minder dan een seconde, terwijl RF tientallen seconden nodig heeft. Die tijden zijn echte afzonderlijke fits op deze computer en niet de volledige tuningduur. De getunede RF heeft een trainings-RMSE van ongeveer 536 tegenover 1940 op validatie. Dat is een grote kloof. Overfit kan meespelen, maar de vroege trainingsjaren hebben ook minder intensiteit dan 2026. Ik kan die kloof dus niet uitsluitend aan overfit toeschrijven. RF-tuning bracht maar circa 0,27 procent extra validatiewinst en een groot modelbestand. Dat bespreek ik naast de score. Ik wijzig de keuze niet nadat de test al bekeken is.</a:t>
            </a:r>
          </a:p>
          <a:p>
            <a:endParaRPr/>
          </a:p>
          <a:p>
            <a:r>
              <a:t>Bronnen: reports/notebook_reproduction/*.json, fit_seconds; reports/model_comparison.csv; reports/model_artifact.json (bestaande gecontroleerde uitwerking, 14 oktober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45 seconden.</a:t>
            </a:r>
          </a:p>
          <a:p>
            <a:endParaRPr/>
          </a:p>
          <a:p>
            <a:r>
              <a:t>Ik bespreek de bestaande eindtest juli en augustus 2026. Alleen de vooraf geselecteerde RF en de baseline zijn daarop vergeleken. De model-RMSE is ongeveer 1979,51 tegenover 2608,78 voor de baseline. Dat is 24,12 procent lager. De MAE is ongeveer 1076 ritten per uurvak en R² is 0,828. Deze scores horen bij de finale refit tot eind juni, niet bij de ontwikkelingsfit op de vorige dia. De test was al bekeken. Ik gebruik hem nu niet om features of instellingen te veranderen. Twee zomermaanden garanderen geen prestaties voor een heel toekomstig jaar. Weer en evenementen ontbreken, en recente historische tellingen moeten op tijd beschikbaar zijn.</a:t>
            </a:r>
          </a:p>
          <a:p>
            <a:endParaRPr/>
          </a:p>
          <a:p>
            <a:r>
              <a:t>Bronnen: reports/final_evaluation.json; reports/MODEL_CARD.md (bestaande gecontroleerde uitwerking, 14 oktober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55 seconden.</a:t>
            </a:r>
          </a:p>
          <a:p>
            <a:endParaRPr/>
          </a:p>
          <a:p>
            <a:r>
              <a:t>Mijn uitwerking eindigt in een eigen webpagina en API. Een gebruiker kiest een datum en levert veertien volledige voorgaande dagen aan. De API gebruikt dezelfde preprocessing en predict_day als offline. De screenshot toont een ontwikkelingsdemonstratie en is geen onafhankelijk testresultaat. Ik heb voorspellingsovereenkomst gecontroleerd, ook bij beide DST-overgangen. Mijn lokale pipeline traint dezelfde RF opnieuw, controleert herladen en bewaart een apart artefact. De groepsintegratie is inmiddels bijgewerkt: er zijn geslaagde GitHub Actions-runs voor Mushroom-training en modelpublicatie. Render en Netlify volgen de gevalideerde publicatie. Het gedownloade Mushroom-SageMaker-model is afzonderlijk gecontroleerd. Deze centrale workflow traint Citi Bike niet automatisch opnieuw: die API gebruikt de gepinde modelrelease. De lokale Citi Bike-hertraining blijft een afzonderlijk traject. Mijn conclusie is dat historische tellingen bruikbaar zijn voor geregistreerd uurgebruik, onder een duidelijk invoercontract.</a:t>
            </a:r>
          </a:p>
          <a:p>
            <a:endParaRPr/>
          </a:p>
          <a:p>
            <a:r>
              <a:t>Bronnen: docs/citibike_raoul_frontend.jpg; DEPLOYMENT.md; reports/inference_parity.json; reports/retraining_pipeline_latest.json; OPDRACHTCONTROLE.md (bestaande gecontroleerde uitwerking, 14 oktober 2026).</a:t>
            </a:r>
          </a:p>
          <a:p>
            <a:endParaRPr/>
          </a:p>
          <a:p>
            <a:r>
              <a:t>Statusupdate: Final/AUTOMATISERING.md en Final/VALIDATIE.md.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30 seconden.</a:t>
            </a:r>
          </a:p>
          <a:p>
            <a:r>
              <a:t>De frontend gebruikt HTML, CSS en JavaScript op Netlify. De backend is Python met FastAPI op Render. De API valideert invoer en gebruikt het geselecteerde model. Mushroom gebruikt een verliesvrije NumPy-export van RF300; paritycontroles vergelijken de uitkomsten met de getrainde pipeline. Citi Bike laadt een gepinde modelrelease met checksum en memory mapping. Beide voorspeltaken gebruiken dezelfde API. Voor Mushroom controleert de frontend ook het model-id en de exacte modelrevisie. Dit voorkomt dat frontend en backend ongemerkt verschillende modelversies gebruiken. Het is een eigen website met API, geen Streamlit-app.</a:t>
            </a:r>
          </a:p>
          <a:p>
            <a:endParaRPr/>
          </a:p>
          <a:p>
            <a:r>
              <a:t>Bronnen:</a:t>
            </a:r>
          </a:p>
          <a:p>
            <a:r>
              <a:t>https://github.com/JorreVanDyck10/DeepLearningTeam10/blob/main/backend/main.py</a:t>
            </a:r>
          </a:p>
          <a:p>
            <a:r>
              <a:t>https://github.com/JorreVanDyck10/DeepLearningTeam10/blob/main/backend/mushroom_model.py</a:t>
            </a:r>
          </a:p>
          <a:p>
            <a:r>
              <a:t>https://github.com/JorreVanDyck10/DeepLearningTeam10/blob/main/backend/raoul_citibike.py</a:t>
            </a:r>
          </a:p>
          <a:p>
            <a:r>
              <a:t>https://github.com/JorreVanDyck10/DeepLearningTeam10/blob/main/frontend/README.md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40 seconden.</a:t>
            </a:r>
          </a:p>
          <a:p>
            <a:r>
              <a:t>Een relevante code-, configuratie- of datapush op GitHub start de Mushroom-workflow. Python 3.11 voert vijfvoudige cross-validatie en een refit van de vastgelegde RF300-configuratie uit. De CV macro F1 en giftige recall moeten de referentiedrempels halen. Een aparte Python 3.13-job controleert het servingexport en de API met beide modellen. De export wordt op alle 5.000 rijen vergeleken met de gefitte kandidaat. Pas na geslaagde controles worden model en metadata gepubliceerd. Een inmiddels verouderde broncommit wordt geweigerd. Render en Netlify volgen de gevalideerde publicatie. Dit is automatisch herfitten van de gekozen configuratie, geen nieuwe automatische hyperparameterzoektocht. Voor Citi Bike is er momenteel een gepinde modelrelease en geen automatische hertraining.</a:t>
            </a:r>
          </a:p>
          <a:p>
            <a:endParaRPr/>
          </a:p>
          <a:p>
            <a:r>
              <a:t>Bronnen:</a:t>
            </a:r>
          </a:p>
          <a:p>
            <a:r>
              <a:t>https://github.com/JorreVanDyck10/DeepLearningTeam10/blob/main/.github/workflows/model-training.yml</a:t>
            </a:r>
          </a:p>
          <a:p>
            <a:r>
              <a:t>https://github.com/JorreVanDyck10/DeepLearningTeam10/blob/main/Final/AUTOMATISERING.md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Richttijd: 75 seconden.</a:t>
            </a:r>
          </a:p>
          <a:p>
            <a:r>
              <a:t>Beide taken hebben een reproduceerbare keten van brondata en preprocessing tot vergelijking en gehoste inference. RF300 wint de Mushroom-vergelijking op CV, maar mist nog 121 giftige gevallen in de ontwikkeltest. Een grens van 95% eetbare modelscore is onvoldoende: van 55 toegelaten gevallen in out-of-fold-training waren er zeven giftig. Dat is geen schatting van het risico van echte paddenstoelen en de scores zijn niet aantoonbaar gekalibreerd. Daarom toont de website giftig of onzeker/mogelijk giftig en bevestigt zij geen eetbaarheid. Deze berichtgeving verbetert de statistische classifiermetrics niet. RF320 verlaagt bij Citi Bike de test-RMSE met 24,12%, maar pieken en drift blijven beperkingen. Demonstreer kort het Mushroom-voorbeeld en de historische Citi Bike-demo met de volgende 24 uur. Warm de backend vooraf op. Houd ongeveer zeven minuten vrij voor vragen. Het team controleert de werkelijke bijdragen en de GenAI-vermelding volgens de opleidingspolicy.</a:t>
            </a:r>
          </a:p>
          <a:p>
            <a:endParaRPr/>
          </a:p>
          <a:p>
            <a:r>
              <a:t>Bronnen:</a:t>
            </a:r>
          </a:p>
          <a:p>
            <a:r>
              <a:t>https://github.com/JorreVanDyck10/DeepLearningTeam10/blob/main/docs/mushroom_decisions.md</a:t>
            </a:r>
          </a:p>
          <a:p>
            <a:r>
              <a:t>https://github.com/JorreVanDyck10/DeepLearningTeam10/blob/main/SolutionRaoul/Citybike/reports/final_evaluation.json</a:t>
            </a:r>
          </a:p>
          <a:p>
            <a:r>
              <a:t>https://github.com/JorreVanDyck10/DeepLearningTeam10/blob/main/Final/INLEVERCHECK.md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Reservedia voor vragen.</a:t>
            </a:r>
          </a:p>
          <a:p>
            <a:endParaRPr/>
          </a:p>
          <a:p>
            <a:r>
              <a:t>Reservedia. Residual is actual minus prediction. Positief betekent onderschatting. Ik onderzocht de verdeling, fouten tegenover voorspellingen, fouten over tijd en de grootste missers. Deze figuur toont gemiddelde absolute validatiefout per uur. Een normale verdeling betekent niet dat het model perfect is. Systematische fouten kunnen wijzen op ontbrekende informatie, veranderde omstandigheden of beperkingen van het model. Weer en evenementen zijn mogelijke factoren, zonder dat ik daarmee één fout causaal verklaar. De analyse gebruikt mei-juni-validatie. Ze rechtvaardigt geen nieuwe keuze op basis van de reeds bekeken test.</a:t>
            </a:r>
          </a:p>
          <a:p>
            <a:endParaRPr/>
          </a:p>
          <a:p>
            <a:r>
              <a:t>Bronnen: reports/validation_errors_by_hour.csv; reports/validation_residuals.csv; 07_eindvergelijking.ipynb (bestaande gecontroleerde uitwerking, 14 oktober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Reservedia voor vragen.</a:t>
            </a:r>
          </a:p>
          <a:p>
            <a:endParaRPr/>
          </a:p>
          <a:p>
            <a:r>
              <a:t>Reservedia. De vaste selectieregel vergelijkt modeltypen: weekbaseline, Ridge, RF en LightGBM. Modellen die strikt minder dan één procent boven de minimale validatiefout zitten mogen winnen als ze eenvoudiger zijn volgens die rang. Binnen dezelfde RF-familie geldt de lagere validatiefout. Daarom behoud ik de getunede RF, ook al is de praktische extra winst klein. Daglags passen bij voorspellen om 00:00 en kennen geen uur van de voorspeldag. De scaler van Ridge wordt per trainfold gefit. Ik gebruik blokken omdat ritten en naburige uren samenhangen. Geen enkele normale residualverdeling garandeert goede toekomstvoorspellingen. Voor nieuwe keuzes na deze studie is een nieuwe onafhankelijke testperiode nodig.</a:t>
            </a:r>
          </a:p>
          <a:p>
            <a:endParaRPr/>
          </a:p>
          <a:p>
            <a:r>
              <a:t>Bronnen: citibike/modeling.py choose_model; citibike/features.py; hypotheseprotocol; model_selection.json (bestaande gecontroleerde uitwerking, 14 oktober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D496D2-904A-0E1D-D0B9-295EB5E68E70}"/>
              </a:ext>
            </a:extLst>
          </p:cNvPr>
          <p:cNvSpPr>
            <a:spLocks noGrp="1"/>
          </p:cNvSpPr>
          <p:nvPr>
            <p:ph type="ctrTitle"/>
          </p:nvPr>
        </p:nvSpPr>
        <p:spPr>
          <a:xfrm>
            <a:off x="1524000" y="1122363"/>
            <a:ext cx="9144000" cy="2387600"/>
          </a:xfrm>
        </p:spPr>
        <p:txBody>
          <a:bodyPr anchor="b"/>
          <a:lstStyle>
            <a:lvl1pPr algn="ctr">
              <a:buNone/>
              <a:defRPr sz="6000"/>
            </a:lvl1pPr>
          </a:lstStyle>
          <a:p>
            <a:r>
              <a:t>Klik om stijl te bewerken</a:t>
            </a:r>
          </a:p>
        </p:txBody>
      </p:sp>
      <p:sp>
        <p:nvSpPr>
          <p:cNvPr id="3" name="Ondertitel 2">
            <a:extLst>
              <a:ext uri="{FF2B5EF4-FFF2-40B4-BE49-F238E27FC236}">
                <a16:creationId xmlns:a16="http://schemas.microsoft.com/office/drawing/2014/main" id="{32D7E723-065C-FA75-5AB3-8784EBB38B2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Klikken om de ondertitelstijl van het model te bewerken</a:t>
            </a:r>
          </a:p>
        </p:txBody>
      </p:sp>
      <p:sp>
        <p:nvSpPr>
          <p:cNvPr id="4" name="Tijdelijke aanduiding voor datum 3">
            <a:extLst>
              <a:ext uri="{FF2B5EF4-FFF2-40B4-BE49-F238E27FC236}">
                <a16:creationId xmlns:a16="http://schemas.microsoft.com/office/drawing/2014/main" id="{34068693-8A15-D02F-F8C1-41B4CFE6C55C}"/>
              </a:ext>
            </a:extLst>
          </p:cNvPr>
          <p:cNvSpPr>
            <a:spLocks noGrp="1"/>
          </p:cNvSpPr>
          <p:nvPr>
            <p:ph type="dt" idx="10"/>
          </p:nvPr>
        </p:nvSpPr>
        <p:spPr/>
        <p:txBody>
          <a:bodyPr/>
          <a:lstStyle/>
          <a:p>
            <a:fld id="{1FEE39B5-A173-4B88-9E2E-FFD54790FD4E}" type="datetimeFigureOut">
              <a:t>15-10-2026</a:t>
            </a:fld>
            <a:endParaRPr/>
          </a:p>
        </p:txBody>
      </p:sp>
      <p:sp>
        <p:nvSpPr>
          <p:cNvPr id="5" name="Tijdelijke aanduiding voor voettekst 4">
            <a:extLst>
              <a:ext uri="{FF2B5EF4-FFF2-40B4-BE49-F238E27FC236}">
                <a16:creationId xmlns:a16="http://schemas.microsoft.com/office/drawing/2014/main" id="{DAF9E2C0-BFE0-2865-CB1A-8C6E20BF5BB4}"/>
              </a:ext>
            </a:extLst>
          </p:cNvPr>
          <p:cNvSpPr>
            <a:spLocks noGrp="1"/>
          </p:cNvSpPr>
          <p:nvPr>
            <p:ph type="ftr" idx="11"/>
          </p:nvPr>
        </p:nvSpPr>
        <p:spPr/>
        <p:txBody>
          <a:bodyPr/>
          <a:lstStyle/>
          <a:p>
            <a:endParaRPr/>
          </a:p>
        </p:txBody>
      </p:sp>
      <p:sp>
        <p:nvSpPr>
          <p:cNvPr id="6" name="Tijdelijke aanduiding voor dianummer 5">
            <a:extLst>
              <a:ext uri="{FF2B5EF4-FFF2-40B4-BE49-F238E27FC236}">
                <a16:creationId xmlns:a16="http://schemas.microsoft.com/office/drawing/2014/main" id="{20F29D19-F093-0866-E416-6AB3F455166D}"/>
              </a:ext>
            </a:extLst>
          </p:cNvPr>
          <p:cNvSpPr>
            <a:spLocks noGrp="1"/>
          </p:cNvSpPr>
          <p:nvPr>
            <p:ph type="sldNum" idx="12"/>
          </p:nvPr>
        </p:nvSpPr>
        <p:spPr/>
        <p:txBody>
          <a:bodyPr/>
          <a:lstStyle/>
          <a:p>
            <a:fld id="{B1BCDC85-8DB5-47E8-A022-26757C064B38}" type="slidenum">
              <a:t>‹nr.›</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ADDE3BB-6D39-C77E-0AB8-3F2F03627C81}"/>
              </a:ext>
            </a:extLst>
          </p:cNvPr>
          <p:cNvSpPr>
            <a:spLocks noGrp="1"/>
          </p:cNvSpPr>
          <p:nvPr>
            <p:ph type="title"/>
          </p:nvPr>
        </p:nvSpPr>
        <p:spPr/>
        <p:txBody>
          <a:bodyPr/>
          <a:lstStyle/>
          <a:p>
            <a:r>
              <a:t>Klik om stijl te bewerken</a:t>
            </a:r>
          </a:p>
        </p:txBody>
      </p:sp>
      <p:sp>
        <p:nvSpPr>
          <p:cNvPr id="3" name="Tijdelijke aanduiding voor inhoud 2">
            <a:extLst>
              <a:ext uri="{FF2B5EF4-FFF2-40B4-BE49-F238E27FC236}">
                <a16:creationId xmlns:a16="http://schemas.microsoft.com/office/drawing/2014/main" id="{EADD24E5-3AB3-3953-0328-D3FB32B7A576}"/>
              </a:ext>
            </a:extLst>
          </p:cNvPr>
          <p:cNvSpPr>
            <a:spLocks noGrp="1"/>
          </p:cNvSpPr>
          <p:nvPr>
            <p:ph idx="1"/>
          </p:nvPr>
        </p:nvSpPr>
        <p:spPr/>
        <p:txBody>
          <a:bodyPr/>
          <a:lstStyle/>
          <a:p>
            <a:pPr lvl="0">
              <a:buNone/>
            </a:pPr>
            <a:r>
              <a:t>Klikken om de tekststijl van het model te bewerken</a:t>
            </a:r>
          </a:p>
          <a:p>
            <a:pPr lvl="1">
              <a:buNone/>
            </a:pPr>
            <a:r>
              <a:t>Tweede niveau</a:t>
            </a:r>
          </a:p>
          <a:p>
            <a:pPr lvl="2">
              <a:buNone/>
            </a:pPr>
            <a:r>
              <a:t>Derde niveau</a:t>
            </a:r>
          </a:p>
          <a:p>
            <a:pPr lvl="3">
              <a:buNone/>
            </a:pPr>
            <a:r>
              <a:t>Vierde niveau</a:t>
            </a:r>
          </a:p>
          <a:p>
            <a:pPr lvl="4">
              <a:buNone/>
            </a:pPr>
            <a:r>
              <a:t>Vijfde niveau</a:t>
            </a:r>
          </a:p>
        </p:txBody>
      </p:sp>
      <p:sp>
        <p:nvSpPr>
          <p:cNvPr id="4" name="Tijdelijke aanduiding voor datum 3">
            <a:extLst>
              <a:ext uri="{FF2B5EF4-FFF2-40B4-BE49-F238E27FC236}">
                <a16:creationId xmlns:a16="http://schemas.microsoft.com/office/drawing/2014/main" id="{722F9C96-76C5-B8F5-CF7E-0879EA7D93CA}"/>
              </a:ext>
            </a:extLst>
          </p:cNvPr>
          <p:cNvSpPr>
            <a:spLocks noGrp="1"/>
          </p:cNvSpPr>
          <p:nvPr>
            <p:ph type="dt" idx="10"/>
          </p:nvPr>
        </p:nvSpPr>
        <p:spPr/>
        <p:txBody>
          <a:bodyPr/>
          <a:lstStyle/>
          <a:p>
            <a:fld id="{1FEE39B5-A173-4B88-9E2E-FFD54790FD4E}" type="datetimeFigureOut">
              <a:t>15-10-2026</a:t>
            </a:fld>
            <a:endParaRPr/>
          </a:p>
        </p:txBody>
      </p:sp>
      <p:sp>
        <p:nvSpPr>
          <p:cNvPr id="5" name="Tijdelijke aanduiding voor voettekst 4">
            <a:extLst>
              <a:ext uri="{FF2B5EF4-FFF2-40B4-BE49-F238E27FC236}">
                <a16:creationId xmlns:a16="http://schemas.microsoft.com/office/drawing/2014/main" id="{240AA054-9911-83B0-B72B-F22692B89034}"/>
              </a:ext>
            </a:extLst>
          </p:cNvPr>
          <p:cNvSpPr>
            <a:spLocks noGrp="1"/>
          </p:cNvSpPr>
          <p:nvPr>
            <p:ph type="ftr" idx="11"/>
          </p:nvPr>
        </p:nvSpPr>
        <p:spPr/>
        <p:txBody>
          <a:bodyPr/>
          <a:lstStyle/>
          <a:p>
            <a:endParaRPr/>
          </a:p>
        </p:txBody>
      </p:sp>
      <p:sp>
        <p:nvSpPr>
          <p:cNvPr id="6" name="Tijdelijke aanduiding voor dianummer 5">
            <a:extLst>
              <a:ext uri="{FF2B5EF4-FFF2-40B4-BE49-F238E27FC236}">
                <a16:creationId xmlns:a16="http://schemas.microsoft.com/office/drawing/2014/main" id="{A5C825BD-B699-BDF6-30ED-2237C14E036B}"/>
              </a:ext>
            </a:extLst>
          </p:cNvPr>
          <p:cNvSpPr>
            <a:spLocks noGrp="1"/>
          </p:cNvSpPr>
          <p:nvPr>
            <p:ph type="sldNum" idx="12"/>
          </p:nvPr>
        </p:nvSpPr>
        <p:spPr/>
        <p:txBody>
          <a:bodyPr/>
          <a:lstStyle/>
          <a:p>
            <a:fld id="{B1BCDC85-8DB5-47E8-A022-26757C064B38}" type="slidenum">
              <a:t>‹nr.›</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E9E87B-0231-8E73-B8D4-112A1FE41855}"/>
              </a:ext>
            </a:extLst>
          </p:cNvPr>
          <p:cNvSpPr>
            <a:spLocks noGrp="1"/>
          </p:cNvSpPr>
          <p:nvPr>
            <p:ph type="title"/>
          </p:nvPr>
        </p:nvSpPr>
        <p:spPr>
          <a:xfrm>
            <a:off x="831850" y="1709738"/>
            <a:ext cx="10515600" cy="2852737"/>
          </a:xfrm>
        </p:spPr>
        <p:txBody>
          <a:bodyPr anchor="b"/>
          <a:lstStyle>
            <a:lvl1pPr>
              <a:buNone/>
              <a:defRPr sz="6000"/>
            </a:lvl1pPr>
          </a:lstStyle>
          <a:p>
            <a:r>
              <a:t>Klik om stijl te bewerken</a:t>
            </a:r>
          </a:p>
        </p:txBody>
      </p:sp>
      <p:sp>
        <p:nvSpPr>
          <p:cNvPr id="3" name="Tijdelijke aanduiding voor tekst 2">
            <a:extLst>
              <a:ext uri="{FF2B5EF4-FFF2-40B4-BE49-F238E27FC236}">
                <a16:creationId xmlns:a16="http://schemas.microsoft.com/office/drawing/2014/main" id="{AAC304B9-0B97-7D08-8B2A-3AA347ACF3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buNone/>
            </a:pPr>
            <a:r>
              <a:t>Klikken om de tekststijl van het model te bewerken</a:t>
            </a:r>
          </a:p>
        </p:txBody>
      </p:sp>
      <p:sp>
        <p:nvSpPr>
          <p:cNvPr id="4" name="Tijdelijke aanduiding voor datum 3">
            <a:extLst>
              <a:ext uri="{FF2B5EF4-FFF2-40B4-BE49-F238E27FC236}">
                <a16:creationId xmlns:a16="http://schemas.microsoft.com/office/drawing/2014/main" id="{C106CC9A-DAB5-8AB9-C6E9-408142313044}"/>
              </a:ext>
            </a:extLst>
          </p:cNvPr>
          <p:cNvSpPr>
            <a:spLocks noGrp="1"/>
          </p:cNvSpPr>
          <p:nvPr>
            <p:ph type="dt" idx="10"/>
          </p:nvPr>
        </p:nvSpPr>
        <p:spPr/>
        <p:txBody>
          <a:bodyPr/>
          <a:lstStyle/>
          <a:p>
            <a:fld id="{1FEE39B5-A173-4B88-9E2E-FFD54790FD4E}" type="datetimeFigureOut">
              <a:t>15-10-2026</a:t>
            </a:fld>
            <a:endParaRPr/>
          </a:p>
        </p:txBody>
      </p:sp>
      <p:sp>
        <p:nvSpPr>
          <p:cNvPr id="5" name="Tijdelijke aanduiding voor voettekst 4">
            <a:extLst>
              <a:ext uri="{FF2B5EF4-FFF2-40B4-BE49-F238E27FC236}">
                <a16:creationId xmlns:a16="http://schemas.microsoft.com/office/drawing/2014/main" id="{9493C3E7-EF3C-D1FF-DC08-A12BBE0E7EEE}"/>
              </a:ext>
            </a:extLst>
          </p:cNvPr>
          <p:cNvSpPr>
            <a:spLocks noGrp="1"/>
          </p:cNvSpPr>
          <p:nvPr>
            <p:ph type="ftr" idx="11"/>
          </p:nvPr>
        </p:nvSpPr>
        <p:spPr/>
        <p:txBody>
          <a:bodyPr/>
          <a:lstStyle/>
          <a:p>
            <a:endParaRPr/>
          </a:p>
        </p:txBody>
      </p:sp>
      <p:sp>
        <p:nvSpPr>
          <p:cNvPr id="6" name="Tijdelijke aanduiding voor dianummer 5">
            <a:extLst>
              <a:ext uri="{FF2B5EF4-FFF2-40B4-BE49-F238E27FC236}">
                <a16:creationId xmlns:a16="http://schemas.microsoft.com/office/drawing/2014/main" id="{49C895AB-2248-D0C6-4675-772C06D164CD}"/>
              </a:ext>
            </a:extLst>
          </p:cNvPr>
          <p:cNvSpPr>
            <a:spLocks noGrp="1"/>
          </p:cNvSpPr>
          <p:nvPr>
            <p:ph type="sldNum" idx="12"/>
          </p:nvPr>
        </p:nvSpPr>
        <p:spPr/>
        <p:txBody>
          <a:bodyPr/>
          <a:lstStyle/>
          <a:p>
            <a:fld id="{B1BCDC85-8DB5-47E8-A022-26757C064B38}" type="slidenum">
              <a:t>‹nr.›</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971F1A-9345-DA9B-80CA-F8E2DB038721}"/>
              </a:ext>
            </a:extLst>
          </p:cNvPr>
          <p:cNvSpPr>
            <a:spLocks noGrp="1"/>
          </p:cNvSpPr>
          <p:nvPr>
            <p:ph type="title"/>
          </p:nvPr>
        </p:nvSpPr>
        <p:spPr/>
        <p:txBody>
          <a:bodyPr/>
          <a:lstStyle/>
          <a:p>
            <a:r>
              <a:t>Klik om stijl te bewerken</a:t>
            </a:r>
          </a:p>
        </p:txBody>
      </p:sp>
      <p:sp>
        <p:nvSpPr>
          <p:cNvPr id="3" name="Tijdelijke aanduiding voor inhoud 2">
            <a:extLst>
              <a:ext uri="{FF2B5EF4-FFF2-40B4-BE49-F238E27FC236}">
                <a16:creationId xmlns:a16="http://schemas.microsoft.com/office/drawing/2014/main" id="{55885883-0DC7-A78B-B65D-63D4BE7EE608}"/>
              </a:ext>
            </a:extLst>
          </p:cNvPr>
          <p:cNvSpPr>
            <a:spLocks noGrp="1"/>
          </p:cNvSpPr>
          <p:nvPr>
            <p:ph idx="1"/>
          </p:nvPr>
        </p:nvSpPr>
        <p:spPr>
          <a:xfrm>
            <a:off x="838200" y="1825625"/>
            <a:ext cx="5181600" cy="4351338"/>
          </a:xfrm>
        </p:spPr>
        <p:txBody>
          <a:bodyPr/>
          <a:lstStyle/>
          <a:p>
            <a:pPr lvl="0">
              <a:buNone/>
            </a:pPr>
            <a:r>
              <a:t>Klikken om de tekststijl van het model te bewerken</a:t>
            </a:r>
          </a:p>
          <a:p>
            <a:pPr lvl="1">
              <a:buNone/>
            </a:pPr>
            <a:r>
              <a:t>Tweede niveau</a:t>
            </a:r>
          </a:p>
          <a:p>
            <a:pPr lvl="2">
              <a:buNone/>
            </a:pPr>
            <a:r>
              <a:t>Derde niveau</a:t>
            </a:r>
          </a:p>
          <a:p>
            <a:pPr lvl="3">
              <a:buNone/>
            </a:pPr>
            <a:r>
              <a:t>Vierde niveau</a:t>
            </a:r>
          </a:p>
          <a:p>
            <a:pPr lvl="4">
              <a:buNone/>
            </a:pPr>
            <a:r>
              <a:t>Vijfde niveau</a:t>
            </a:r>
          </a:p>
        </p:txBody>
      </p:sp>
      <p:sp>
        <p:nvSpPr>
          <p:cNvPr id="4" name="Tijdelijke aanduiding voor inhoud 3">
            <a:extLst>
              <a:ext uri="{FF2B5EF4-FFF2-40B4-BE49-F238E27FC236}">
                <a16:creationId xmlns:a16="http://schemas.microsoft.com/office/drawing/2014/main" id="{9CC56F77-2AC5-1728-3F8F-285286375FFC}"/>
              </a:ext>
            </a:extLst>
          </p:cNvPr>
          <p:cNvSpPr>
            <a:spLocks noGrp="1"/>
          </p:cNvSpPr>
          <p:nvPr>
            <p:ph idx="2"/>
          </p:nvPr>
        </p:nvSpPr>
        <p:spPr>
          <a:xfrm>
            <a:off x="6172200" y="1825625"/>
            <a:ext cx="5181600" cy="4351338"/>
          </a:xfrm>
        </p:spPr>
        <p:txBody>
          <a:bodyPr/>
          <a:lstStyle/>
          <a:p>
            <a:pPr lvl="0">
              <a:buNone/>
            </a:pPr>
            <a:r>
              <a:t>Klikken om de tekststijl van het model te bewerken</a:t>
            </a:r>
          </a:p>
          <a:p>
            <a:pPr lvl="1">
              <a:buNone/>
            </a:pPr>
            <a:r>
              <a:t>Tweede niveau</a:t>
            </a:r>
          </a:p>
          <a:p>
            <a:pPr lvl="2">
              <a:buNone/>
            </a:pPr>
            <a:r>
              <a:t>Derde niveau</a:t>
            </a:r>
          </a:p>
          <a:p>
            <a:pPr lvl="3">
              <a:buNone/>
            </a:pPr>
            <a:r>
              <a:t>Vierde niveau</a:t>
            </a:r>
          </a:p>
          <a:p>
            <a:pPr lvl="4">
              <a:buNone/>
            </a:pPr>
            <a:r>
              <a:t>Vijfde niveau</a:t>
            </a:r>
          </a:p>
        </p:txBody>
      </p:sp>
      <p:sp>
        <p:nvSpPr>
          <p:cNvPr id="5" name="Tijdelijke aanduiding voor datum 4">
            <a:extLst>
              <a:ext uri="{FF2B5EF4-FFF2-40B4-BE49-F238E27FC236}">
                <a16:creationId xmlns:a16="http://schemas.microsoft.com/office/drawing/2014/main" id="{4459C230-FC5A-6180-CD9F-9BDB12836625}"/>
              </a:ext>
            </a:extLst>
          </p:cNvPr>
          <p:cNvSpPr>
            <a:spLocks noGrp="1"/>
          </p:cNvSpPr>
          <p:nvPr>
            <p:ph type="dt" idx="10"/>
          </p:nvPr>
        </p:nvSpPr>
        <p:spPr/>
        <p:txBody>
          <a:bodyPr/>
          <a:lstStyle/>
          <a:p>
            <a:fld id="{1FEE39B5-A173-4B88-9E2E-FFD54790FD4E}" type="datetimeFigureOut">
              <a:t>15-10-2026</a:t>
            </a:fld>
            <a:endParaRPr/>
          </a:p>
        </p:txBody>
      </p:sp>
      <p:sp>
        <p:nvSpPr>
          <p:cNvPr id="6" name="Tijdelijke aanduiding voor voettekst 5">
            <a:extLst>
              <a:ext uri="{FF2B5EF4-FFF2-40B4-BE49-F238E27FC236}">
                <a16:creationId xmlns:a16="http://schemas.microsoft.com/office/drawing/2014/main" id="{B4CAAB31-17BE-CF0C-BB5E-3E6E0FE127C8}"/>
              </a:ext>
            </a:extLst>
          </p:cNvPr>
          <p:cNvSpPr>
            <a:spLocks noGrp="1"/>
          </p:cNvSpPr>
          <p:nvPr>
            <p:ph type="ftr" idx="11"/>
          </p:nvPr>
        </p:nvSpPr>
        <p:spPr/>
        <p:txBody>
          <a:bodyPr/>
          <a:lstStyle/>
          <a:p>
            <a:endParaRPr/>
          </a:p>
        </p:txBody>
      </p:sp>
      <p:sp>
        <p:nvSpPr>
          <p:cNvPr id="7" name="Tijdelijke aanduiding voor dianummer 6">
            <a:extLst>
              <a:ext uri="{FF2B5EF4-FFF2-40B4-BE49-F238E27FC236}">
                <a16:creationId xmlns:a16="http://schemas.microsoft.com/office/drawing/2014/main" id="{68CE6D5A-68DA-164B-A985-8EF7321CF6C4}"/>
              </a:ext>
            </a:extLst>
          </p:cNvPr>
          <p:cNvSpPr>
            <a:spLocks noGrp="1"/>
          </p:cNvSpPr>
          <p:nvPr>
            <p:ph type="sldNum" idx="12"/>
          </p:nvPr>
        </p:nvSpPr>
        <p:spPr/>
        <p:txBody>
          <a:bodyPr/>
          <a:lstStyle/>
          <a:p>
            <a:fld id="{B1BCDC85-8DB5-47E8-A022-26757C064B38}" type="slidenum">
              <a:t>‹nr.›</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946249E-F2CF-E264-12C5-BD023AEE3F51}"/>
              </a:ext>
            </a:extLst>
          </p:cNvPr>
          <p:cNvSpPr>
            <a:spLocks noGrp="1"/>
          </p:cNvSpPr>
          <p:nvPr>
            <p:ph type="title"/>
          </p:nvPr>
        </p:nvSpPr>
        <p:spPr>
          <a:xfrm>
            <a:off x="839788" y="365125"/>
            <a:ext cx="10515600" cy="1325563"/>
          </a:xfrm>
        </p:spPr>
        <p:txBody>
          <a:bodyPr/>
          <a:lstStyle/>
          <a:p>
            <a:r>
              <a:t>Klik om stijl te bewerken</a:t>
            </a:r>
          </a:p>
        </p:txBody>
      </p:sp>
      <p:sp>
        <p:nvSpPr>
          <p:cNvPr id="3" name="Tijdelijke aanduiding voor tekst 2">
            <a:extLst>
              <a:ext uri="{FF2B5EF4-FFF2-40B4-BE49-F238E27FC236}">
                <a16:creationId xmlns:a16="http://schemas.microsoft.com/office/drawing/2014/main" id="{2F9A4582-F478-4162-375E-F739C077DF4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Klikken om de tekststijl van het model te bewerken</a:t>
            </a:r>
          </a:p>
        </p:txBody>
      </p:sp>
      <p:sp>
        <p:nvSpPr>
          <p:cNvPr id="4" name="Tijdelijke aanduiding voor inhoud 3">
            <a:extLst>
              <a:ext uri="{FF2B5EF4-FFF2-40B4-BE49-F238E27FC236}">
                <a16:creationId xmlns:a16="http://schemas.microsoft.com/office/drawing/2014/main" id="{4801ABD7-C995-15A0-18C6-3421157D3742}"/>
              </a:ext>
            </a:extLst>
          </p:cNvPr>
          <p:cNvSpPr>
            <a:spLocks noGrp="1"/>
          </p:cNvSpPr>
          <p:nvPr>
            <p:ph idx="2"/>
          </p:nvPr>
        </p:nvSpPr>
        <p:spPr>
          <a:xfrm>
            <a:off x="839788" y="2505075"/>
            <a:ext cx="5157787" cy="3684588"/>
          </a:xfrm>
        </p:spPr>
        <p:txBody>
          <a:bodyPr/>
          <a:lstStyle/>
          <a:p>
            <a:pPr lvl="0">
              <a:buNone/>
            </a:pPr>
            <a:r>
              <a:t>Klikken om de tekststijl van het model te bewerken</a:t>
            </a:r>
          </a:p>
          <a:p>
            <a:pPr lvl="1">
              <a:buNone/>
            </a:pPr>
            <a:r>
              <a:t>Tweede niveau</a:t>
            </a:r>
          </a:p>
          <a:p>
            <a:pPr lvl="2">
              <a:buNone/>
            </a:pPr>
            <a:r>
              <a:t>Derde niveau</a:t>
            </a:r>
          </a:p>
          <a:p>
            <a:pPr lvl="3">
              <a:buNone/>
            </a:pPr>
            <a:r>
              <a:t>Vierde niveau</a:t>
            </a:r>
          </a:p>
          <a:p>
            <a:pPr lvl="4">
              <a:buNone/>
            </a:pPr>
            <a:r>
              <a:t>Vijfde niveau</a:t>
            </a:r>
          </a:p>
        </p:txBody>
      </p:sp>
      <p:sp>
        <p:nvSpPr>
          <p:cNvPr id="5" name="Tijdelijke aanduiding voor tekst 4">
            <a:extLst>
              <a:ext uri="{FF2B5EF4-FFF2-40B4-BE49-F238E27FC236}">
                <a16:creationId xmlns:a16="http://schemas.microsoft.com/office/drawing/2014/main" id="{969E0612-BA4B-EC10-61D6-132F2472AF19}"/>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Klikken om de tekststijl van het model te bewerken</a:t>
            </a:r>
          </a:p>
        </p:txBody>
      </p:sp>
      <p:sp>
        <p:nvSpPr>
          <p:cNvPr id="6" name="Tijdelijke aanduiding voor inhoud 5">
            <a:extLst>
              <a:ext uri="{FF2B5EF4-FFF2-40B4-BE49-F238E27FC236}">
                <a16:creationId xmlns:a16="http://schemas.microsoft.com/office/drawing/2014/main" id="{047E6338-F4F6-26C9-3941-C460B8EA25DA}"/>
              </a:ext>
            </a:extLst>
          </p:cNvPr>
          <p:cNvSpPr>
            <a:spLocks noGrp="1"/>
          </p:cNvSpPr>
          <p:nvPr>
            <p:ph idx="4"/>
          </p:nvPr>
        </p:nvSpPr>
        <p:spPr>
          <a:xfrm>
            <a:off x="6172200" y="2505075"/>
            <a:ext cx="5183188" cy="3684588"/>
          </a:xfrm>
        </p:spPr>
        <p:txBody>
          <a:bodyPr/>
          <a:lstStyle/>
          <a:p>
            <a:pPr lvl="0">
              <a:buNone/>
            </a:pPr>
            <a:r>
              <a:t>Klikken om de tekststijl van het model te bewerken</a:t>
            </a:r>
          </a:p>
          <a:p>
            <a:pPr lvl="1">
              <a:buNone/>
            </a:pPr>
            <a:r>
              <a:t>Tweede niveau</a:t>
            </a:r>
          </a:p>
          <a:p>
            <a:pPr lvl="2">
              <a:buNone/>
            </a:pPr>
            <a:r>
              <a:t>Derde niveau</a:t>
            </a:r>
          </a:p>
          <a:p>
            <a:pPr lvl="3">
              <a:buNone/>
            </a:pPr>
            <a:r>
              <a:t>Vierde niveau</a:t>
            </a:r>
          </a:p>
          <a:p>
            <a:pPr lvl="4">
              <a:buNone/>
            </a:pPr>
            <a:r>
              <a:t>Vijfde niveau</a:t>
            </a:r>
          </a:p>
        </p:txBody>
      </p:sp>
      <p:sp>
        <p:nvSpPr>
          <p:cNvPr id="7" name="Tijdelijke aanduiding voor datum 6">
            <a:extLst>
              <a:ext uri="{FF2B5EF4-FFF2-40B4-BE49-F238E27FC236}">
                <a16:creationId xmlns:a16="http://schemas.microsoft.com/office/drawing/2014/main" id="{308B5CA2-588F-B0C6-5191-722F672A1CAB}"/>
              </a:ext>
            </a:extLst>
          </p:cNvPr>
          <p:cNvSpPr>
            <a:spLocks noGrp="1"/>
          </p:cNvSpPr>
          <p:nvPr>
            <p:ph type="dt" idx="10"/>
          </p:nvPr>
        </p:nvSpPr>
        <p:spPr/>
        <p:txBody>
          <a:bodyPr/>
          <a:lstStyle/>
          <a:p>
            <a:fld id="{1FEE39B5-A173-4B88-9E2E-FFD54790FD4E}" type="datetimeFigureOut">
              <a:t>15-10-2026</a:t>
            </a:fld>
            <a:endParaRPr/>
          </a:p>
        </p:txBody>
      </p:sp>
      <p:sp>
        <p:nvSpPr>
          <p:cNvPr id="8" name="Tijdelijke aanduiding voor voettekst 7">
            <a:extLst>
              <a:ext uri="{FF2B5EF4-FFF2-40B4-BE49-F238E27FC236}">
                <a16:creationId xmlns:a16="http://schemas.microsoft.com/office/drawing/2014/main" id="{4DDE659F-A583-0959-AF00-B7DB01FCB166}"/>
              </a:ext>
            </a:extLst>
          </p:cNvPr>
          <p:cNvSpPr>
            <a:spLocks noGrp="1"/>
          </p:cNvSpPr>
          <p:nvPr>
            <p:ph type="ftr" idx="11"/>
          </p:nvPr>
        </p:nvSpPr>
        <p:spPr/>
        <p:txBody>
          <a:bodyPr/>
          <a:lstStyle/>
          <a:p>
            <a:endParaRPr/>
          </a:p>
        </p:txBody>
      </p:sp>
      <p:sp>
        <p:nvSpPr>
          <p:cNvPr id="9" name="Tijdelijke aanduiding voor dianummer 8">
            <a:extLst>
              <a:ext uri="{FF2B5EF4-FFF2-40B4-BE49-F238E27FC236}">
                <a16:creationId xmlns:a16="http://schemas.microsoft.com/office/drawing/2014/main" id="{93476B59-481F-3936-95A2-F908A0F10DB9}"/>
              </a:ext>
            </a:extLst>
          </p:cNvPr>
          <p:cNvSpPr>
            <a:spLocks noGrp="1"/>
          </p:cNvSpPr>
          <p:nvPr>
            <p:ph type="sldNum" idx="12"/>
          </p:nvPr>
        </p:nvSpPr>
        <p:spPr/>
        <p:txBody>
          <a:bodyPr/>
          <a:lstStyle/>
          <a:p>
            <a:fld id="{B1BCDC85-8DB5-47E8-A022-26757C064B38}" type="slidenum">
              <a:t>‹nr.›</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6F52D34-D171-4702-7299-E2544B800E0F}"/>
              </a:ext>
            </a:extLst>
          </p:cNvPr>
          <p:cNvSpPr>
            <a:spLocks noGrp="1"/>
          </p:cNvSpPr>
          <p:nvPr>
            <p:ph type="title"/>
          </p:nvPr>
        </p:nvSpPr>
        <p:spPr/>
        <p:txBody>
          <a:bodyPr/>
          <a:lstStyle/>
          <a:p>
            <a:r>
              <a:t>Klik om stijl te bewerken</a:t>
            </a:r>
          </a:p>
        </p:txBody>
      </p:sp>
      <p:sp>
        <p:nvSpPr>
          <p:cNvPr id="3" name="Tijdelijke aanduiding voor datum 2">
            <a:extLst>
              <a:ext uri="{FF2B5EF4-FFF2-40B4-BE49-F238E27FC236}">
                <a16:creationId xmlns:a16="http://schemas.microsoft.com/office/drawing/2014/main" id="{CB82D844-2A55-45B8-B156-8B7B33E948B4}"/>
              </a:ext>
            </a:extLst>
          </p:cNvPr>
          <p:cNvSpPr>
            <a:spLocks noGrp="1"/>
          </p:cNvSpPr>
          <p:nvPr>
            <p:ph type="dt" idx="10"/>
          </p:nvPr>
        </p:nvSpPr>
        <p:spPr/>
        <p:txBody>
          <a:bodyPr/>
          <a:lstStyle/>
          <a:p>
            <a:fld id="{1FEE39B5-A173-4B88-9E2E-FFD54790FD4E}" type="datetimeFigureOut">
              <a:t>15-10-2026</a:t>
            </a:fld>
            <a:endParaRPr/>
          </a:p>
        </p:txBody>
      </p:sp>
      <p:sp>
        <p:nvSpPr>
          <p:cNvPr id="4" name="Tijdelijke aanduiding voor voettekst 3">
            <a:extLst>
              <a:ext uri="{FF2B5EF4-FFF2-40B4-BE49-F238E27FC236}">
                <a16:creationId xmlns:a16="http://schemas.microsoft.com/office/drawing/2014/main" id="{475DC7C8-68FF-8FFB-B5C7-40842AD381EA}"/>
              </a:ext>
            </a:extLst>
          </p:cNvPr>
          <p:cNvSpPr>
            <a:spLocks noGrp="1"/>
          </p:cNvSpPr>
          <p:nvPr>
            <p:ph type="ftr" idx="11"/>
          </p:nvPr>
        </p:nvSpPr>
        <p:spPr/>
        <p:txBody>
          <a:bodyPr/>
          <a:lstStyle/>
          <a:p>
            <a:endParaRPr/>
          </a:p>
        </p:txBody>
      </p:sp>
      <p:sp>
        <p:nvSpPr>
          <p:cNvPr id="5" name="Tijdelijke aanduiding voor dianummer 4">
            <a:extLst>
              <a:ext uri="{FF2B5EF4-FFF2-40B4-BE49-F238E27FC236}">
                <a16:creationId xmlns:a16="http://schemas.microsoft.com/office/drawing/2014/main" id="{3161EC81-AFB8-D3D0-AA8C-9A2D676B0B43}"/>
              </a:ext>
            </a:extLst>
          </p:cNvPr>
          <p:cNvSpPr>
            <a:spLocks noGrp="1"/>
          </p:cNvSpPr>
          <p:nvPr>
            <p:ph type="sldNum" idx="12"/>
          </p:nvPr>
        </p:nvSpPr>
        <p:spPr/>
        <p:txBody>
          <a:bodyPr/>
          <a:lstStyle/>
          <a:p>
            <a:fld id="{B1BCDC85-8DB5-47E8-A022-26757C064B38}" type="slidenum">
              <a:t>‹nr.›</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04BF2892-EEC1-A070-900C-12C159C8DCBD}"/>
              </a:ext>
            </a:extLst>
          </p:cNvPr>
          <p:cNvSpPr>
            <a:spLocks noGrp="1"/>
          </p:cNvSpPr>
          <p:nvPr>
            <p:ph type="dt" idx="10"/>
          </p:nvPr>
        </p:nvSpPr>
        <p:spPr/>
        <p:txBody>
          <a:bodyPr/>
          <a:lstStyle/>
          <a:p>
            <a:fld id="{1FEE39B5-A173-4B88-9E2E-FFD54790FD4E}" type="datetimeFigureOut">
              <a:t>15-10-2026</a:t>
            </a:fld>
            <a:endParaRPr/>
          </a:p>
        </p:txBody>
      </p:sp>
      <p:sp>
        <p:nvSpPr>
          <p:cNvPr id="3" name="Tijdelijke aanduiding voor voettekst 2">
            <a:extLst>
              <a:ext uri="{FF2B5EF4-FFF2-40B4-BE49-F238E27FC236}">
                <a16:creationId xmlns:a16="http://schemas.microsoft.com/office/drawing/2014/main" id="{4962471E-823A-E698-4F98-0E577813FCED}"/>
              </a:ext>
            </a:extLst>
          </p:cNvPr>
          <p:cNvSpPr>
            <a:spLocks noGrp="1"/>
          </p:cNvSpPr>
          <p:nvPr>
            <p:ph type="ftr" idx="11"/>
          </p:nvPr>
        </p:nvSpPr>
        <p:spPr/>
        <p:txBody>
          <a:bodyPr/>
          <a:lstStyle/>
          <a:p>
            <a:endParaRPr/>
          </a:p>
        </p:txBody>
      </p:sp>
      <p:sp>
        <p:nvSpPr>
          <p:cNvPr id="4" name="Tijdelijke aanduiding voor dianummer 3">
            <a:extLst>
              <a:ext uri="{FF2B5EF4-FFF2-40B4-BE49-F238E27FC236}">
                <a16:creationId xmlns:a16="http://schemas.microsoft.com/office/drawing/2014/main" id="{7E4A5F74-3BB1-E683-887F-E15E7C13BC99}"/>
              </a:ext>
            </a:extLst>
          </p:cNvPr>
          <p:cNvSpPr>
            <a:spLocks noGrp="1"/>
          </p:cNvSpPr>
          <p:nvPr>
            <p:ph type="sldNum" idx="12"/>
          </p:nvPr>
        </p:nvSpPr>
        <p:spPr/>
        <p:txBody>
          <a:bodyPr/>
          <a:lstStyle/>
          <a:p>
            <a:fld id="{B1BCDC85-8DB5-47E8-A022-26757C064B38}" type="slidenum">
              <a:t>‹nr.›</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359F0F1-D170-273B-ED33-F9ACAF5AE323}"/>
              </a:ext>
            </a:extLst>
          </p:cNvPr>
          <p:cNvSpPr>
            <a:spLocks noGrp="1"/>
          </p:cNvSpPr>
          <p:nvPr>
            <p:ph type="title"/>
          </p:nvPr>
        </p:nvSpPr>
        <p:spPr>
          <a:xfrm>
            <a:off x="839788" y="457200"/>
            <a:ext cx="3932237" cy="1600200"/>
          </a:xfrm>
        </p:spPr>
        <p:txBody>
          <a:bodyPr anchor="b"/>
          <a:lstStyle>
            <a:lvl1pPr>
              <a:buNone/>
              <a:defRPr sz="3200"/>
            </a:lvl1pPr>
          </a:lstStyle>
          <a:p>
            <a:r>
              <a:t>Klik om stijl te bewerken</a:t>
            </a:r>
          </a:p>
        </p:txBody>
      </p:sp>
      <p:sp>
        <p:nvSpPr>
          <p:cNvPr id="3" name="Tijdelijke aanduiding voor inhoud 2">
            <a:extLst>
              <a:ext uri="{FF2B5EF4-FFF2-40B4-BE49-F238E27FC236}">
                <a16:creationId xmlns:a16="http://schemas.microsoft.com/office/drawing/2014/main" id="{5A20AB1F-3E5C-3631-D819-1A2B42DEF00E}"/>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Klikken om de tekststijl van het model te bewerken</a:t>
            </a:r>
          </a:p>
          <a:p>
            <a:pPr lvl="1">
              <a:buNone/>
            </a:pPr>
            <a:r>
              <a:t>Tweede niveau</a:t>
            </a:r>
          </a:p>
          <a:p>
            <a:pPr lvl="2">
              <a:buNone/>
            </a:pPr>
            <a:r>
              <a:t>Derde niveau</a:t>
            </a:r>
          </a:p>
          <a:p>
            <a:pPr lvl="3">
              <a:buNone/>
            </a:pPr>
            <a:r>
              <a:t>Vierde niveau</a:t>
            </a:r>
          </a:p>
          <a:p>
            <a:pPr lvl="4">
              <a:buNone/>
            </a:pPr>
            <a:r>
              <a:t>Vijfde niveau</a:t>
            </a:r>
          </a:p>
        </p:txBody>
      </p:sp>
      <p:sp>
        <p:nvSpPr>
          <p:cNvPr id="4" name="Tijdelijke aanduiding voor tekst 3">
            <a:extLst>
              <a:ext uri="{FF2B5EF4-FFF2-40B4-BE49-F238E27FC236}">
                <a16:creationId xmlns:a16="http://schemas.microsoft.com/office/drawing/2014/main" id="{CA1E6AF8-0760-0A74-6672-5D228B8DECF5}"/>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Klikken om de tekststijl van het model te bewerken</a:t>
            </a:r>
          </a:p>
        </p:txBody>
      </p:sp>
      <p:sp>
        <p:nvSpPr>
          <p:cNvPr id="5" name="Tijdelijke aanduiding voor datum 4">
            <a:extLst>
              <a:ext uri="{FF2B5EF4-FFF2-40B4-BE49-F238E27FC236}">
                <a16:creationId xmlns:a16="http://schemas.microsoft.com/office/drawing/2014/main" id="{EF7F8A32-1649-CFD4-7442-0E95065EBDD2}"/>
              </a:ext>
            </a:extLst>
          </p:cNvPr>
          <p:cNvSpPr>
            <a:spLocks noGrp="1"/>
          </p:cNvSpPr>
          <p:nvPr>
            <p:ph type="dt" idx="10"/>
          </p:nvPr>
        </p:nvSpPr>
        <p:spPr/>
        <p:txBody>
          <a:bodyPr/>
          <a:lstStyle/>
          <a:p>
            <a:fld id="{1FEE39B5-A173-4B88-9E2E-FFD54790FD4E}" type="datetimeFigureOut">
              <a:t>15-10-2026</a:t>
            </a:fld>
            <a:endParaRPr/>
          </a:p>
        </p:txBody>
      </p:sp>
      <p:sp>
        <p:nvSpPr>
          <p:cNvPr id="6" name="Tijdelijke aanduiding voor voettekst 5">
            <a:extLst>
              <a:ext uri="{FF2B5EF4-FFF2-40B4-BE49-F238E27FC236}">
                <a16:creationId xmlns:a16="http://schemas.microsoft.com/office/drawing/2014/main" id="{60A70FBD-73ED-0A37-F2A6-E9AD081F049F}"/>
              </a:ext>
            </a:extLst>
          </p:cNvPr>
          <p:cNvSpPr>
            <a:spLocks noGrp="1"/>
          </p:cNvSpPr>
          <p:nvPr>
            <p:ph type="ftr" idx="11"/>
          </p:nvPr>
        </p:nvSpPr>
        <p:spPr/>
        <p:txBody>
          <a:bodyPr/>
          <a:lstStyle/>
          <a:p>
            <a:endParaRPr/>
          </a:p>
        </p:txBody>
      </p:sp>
      <p:sp>
        <p:nvSpPr>
          <p:cNvPr id="7" name="Tijdelijke aanduiding voor dianummer 6">
            <a:extLst>
              <a:ext uri="{FF2B5EF4-FFF2-40B4-BE49-F238E27FC236}">
                <a16:creationId xmlns:a16="http://schemas.microsoft.com/office/drawing/2014/main" id="{3CF2E514-3478-7C4F-98C8-BB2BE08BC198}"/>
              </a:ext>
            </a:extLst>
          </p:cNvPr>
          <p:cNvSpPr>
            <a:spLocks noGrp="1"/>
          </p:cNvSpPr>
          <p:nvPr>
            <p:ph type="sldNum" idx="12"/>
          </p:nvPr>
        </p:nvSpPr>
        <p:spPr/>
        <p:txBody>
          <a:bodyPr/>
          <a:lstStyle/>
          <a:p>
            <a:fld id="{B1BCDC85-8DB5-47E8-A022-26757C064B38}" type="slidenum">
              <a:t>‹nr.›</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41DBA8-A50D-8759-3E5B-F089125DE943}"/>
              </a:ext>
            </a:extLst>
          </p:cNvPr>
          <p:cNvSpPr>
            <a:spLocks noGrp="1"/>
          </p:cNvSpPr>
          <p:nvPr>
            <p:ph type="title"/>
          </p:nvPr>
        </p:nvSpPr>
        <p:spPr>
          <a:xfrm>
            <a:off x="839788" y="457200"/>
            <a:ext cx="3932237" cy="1600200"/>
          </a:xfrm>
        </p:spPr>
        <p:txBody>
          <a:bodyPr anchor="b"/>
          <a:lstStyle>
            <a:lvl1pPr>
              <a:buNone/>
              <a:defRPr sz="3200"/>
            </a:lvl1pPr>
          </a:lstStyle>
          <a:p>
            <a:r>
              <a:t>Klik om stijl te bewerken</a:t>
            </a:r>
          </a:p>
        </p:txBody>
      </p:sp>
      <p:sp>
        <p:nvSpPr>
          <p:cNvPr id="3" name="Tijdelijke aanduiding voor afbeelding 2">
            <a:extLst>
              <a:ext uri="{FF2B5EF4-FFF2-40B4-BE49-F238E27FC236}">
                <a16:creationId xmlns:a16="http://schemas.microsoft.com/office/drawing/2014/main" id="{069611FC-DE86-7A08-4517-74D916DF861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ijdelijke aanduiding voor tekst 3">
            <a:extLst>
              <a:ext uri="{FF2B5EF4-FFF2-40B4-BE49-F238E27FC236}">
                <a16:creationId xmlns:a16="http://schemas.microsoft.com/office/drawing/2014/main" id="{D89ECF73-2064-4145-DC3D-0740B9868FFD}"/>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Klikken om de tekststijl van het model te bewerken</a:t>
            </a:r>
          </a:p>
        </p:txBody>
      </p:sp>
      <p:sp>
        <p:nvSpPr>
          <p:cNvPr id="5" name="Tijdelijke aanduiding voor datum 4">
            <a:extLst>
              <a:ext uri="{FF2B5EF4-FFF2-40B4-BE49-F238E27FC236}">
                <a16:creationId xmlns:a16="http://schemas.microsoft.com/office/drawing/2014/main" id="{953BA847-EFA8-87A8-0E42-A4598802FE0D}"/>
              </a:ext>
            </a:extLst>
          </p:cNvPr>
          <p:cNvSpPr>
            <a:spLocks noGrp="1"/>
          </p:cNvSpPr>
          <p:nvPr>
            <p:ph type="dt" idx="10"/>
          </p:nvPr>
        </p:nvSpPr>
        <p:spPr/>
        <p:txBody>
          <a:bodyPr/>
          <a:lstStyle/>
          <a:p>
            <a:fld id="{1FEE39B5-A173-4B88-9E2E-FFD54790FD4E}" type="datetimeFigureOut">
              <a:t>15-10-2026</a:t>
            </a:fld>
            <a:endParaRPr/>
          </a:p>
        </p:txBody>
      </p:sp>
      <p:sp>
        <p:nvSpPr>
          <p:cNvPr id="6" name="Tijdelijke aanduiding voor voettekst 5">
            <a:extLst>
              <a:ext uri="{FF2B5EF4-FFF2-40B4-BE49-F238E27FC236}">
                <a16:creationId xmlns:a16="http://schemas.microsoft.com/office/drawing/2014/main" id="{40BC4785-8154-FB89-1F95-873BBADDC87D}"/>
              </a:ext>
            </a:extLst>
          </p:cNvPr>
          <p:cNvSpPr>
            <a:spLocks noGrp="1"/>
          </p:cNvSpPr>
          <p:nvPr>
            <p:ph type="ftr" idx="11"/>
          </p:nvPr>
        </p:nvSpPr>
        <p:spPr/>
        <p:txBody>
          <a:bodyPr/>
          <a:lstStyle/>
          <a:p>
            <a:endParaRPr/>
          </a:p>
        </p:txBody>
      </p:sp>
      <p:sp>
        <p:nvSpPr>
          <p:cNvPr id="7" name="Tijdelijke aanduiding voor dianummer 6">
            <a:extLst>
              <a:ext uri="{FF2B5EF4-FFF2-40B4-BE49-F238E27FC236}">
                <a16:creationId xmlns:a16="http://schemas.microsoft.com/office/drawing/2014/main" id="{11D3BB40-1948-9BD9-E699-714E635B6CBD}"/>
              </a:ext>
            </a:extLst>
          </p:cNvPr>
          <p:cNvSpPr>
            <a:spLocks noGrp="1"/>
          </p:cNvSpPr>
          <p:nvPr>
            <p:ph type="sldNum" idx="12"/>
          </p:nvPr>
        </p:nvSpPr>
        <p:spPr/>
        <p:txBody>
          <a:bodyPr/>
          <a:lstStyle/>
          <a:p>
            <a:fld id="{B1BCDC85-8DB5-47E8-A022-26757C064B38}" type="slidenum">
              <a:t>‹nr.›</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A82F67-FBD7-4D9B-4216-B83C1B9CFED8}"/>
              </a:ext>
            </a:extLst>
          </p:cNvPr>
          <p:cNvSpPr>
            <a:spLocks noGrp="1"/>
          </p:cNvSpPr>
          <p:nvPr>
            <p:ph type="title"/>
          </p:nvPr>
        </p:nvSpPr>
        <p:spPr/>
        <p:txBody>
          <a:bodyPr/>
          <a:lstStyle/>
          <a:p>
            <a:r>
              <a:t>Klik om stijl te bewerken</a:t>
            </a:r>
          </a:p>
        </p:txBody>
      </p:sp>
      <p:sp>
        <p:nvSpPr>
          <p:cNvPr id="3" name="Tijdelijke aanduiding voor verticale tekst 2">
            <a:extLst>
              <a:ext uri="{FF2B5EF4-FFF2-40B4-BE49-F238E27FC236}">
                <a16:creationId xmlns:a16="http://schemas.microsoft.com/office/drawing/2014/main" id="{92220771-0572-0B6F-965A-349E904CBB40}"/>
              </a:ext>
            </a:extLst>
          </p:cNvPr>
          <p:cNvSpPr>
            <a:spLocks noGrp="1"/>
          </p:cNvSpPr>
          <p:nvPr>
            <p:ph type="body" idx="1"/>
          </p:nvPr>
        </p:nvSpPr>
        <p:spPr/>
        <p:txBody>
          <a:bodyPr vert="eaVert"/>
          <a:lstStyle/>
          <a:p>
            <a:pPr lvl="0">
              <a:buNone/>
            </a:pPr>
            <a:r>
              <a:t>Klikken om de tekststijl van het model te bewerken</a:t>
            </a:r>
          </a:p>
          <a:p>
            <a:pPr lvl="1">
              <a:buNone/>
            </a:pPr>
            <a:r>
              <a:t>Tweede niveau</a:t>
            </a:r>
          </a:p>
          <a:p>
            <a:pPr lvl="2">
              <a:buNone/>
            </a:pPr>
            <a:r>
              <a:t>Derde niveau</a:t>
            </a:r>
          </a:p>
          <a:p>
            <a:pPr lvl="3">
              <a:buNone/>
            </a:pPr>
            <a:r>
              <a:t>Vierde niveau</a:t>
            </a:r>
          </a:p>
          <a:p>
            <a:pPr lvl="4">
              <a:buNone/>
            </a:pPr>
            <a:r>
              <a:t>Vijfde niveau</a:t>
            </a:r>
          </a:p>
        </p:txBody>
      </p:sp>
      <p:sp>
        <p:nvSpPr>
          <p:cNvPr id="4" name="Tijdelijke aanduiding voor datum 3">
            <a:extLst>
              <a:ext uri="{FF2B5EF4-FFF2-40B4-BE49-F238E27FC236}">
                <a16:creationId xmlns:a16="http://schemas.microsoft.com/office/drawing/2014/main" id="{C82AB655-B8CF-7765-8475-648044B320E4}"/>
              </a:ext>
            </a:extLst>
          </p:cNvPr>
          <p:cNvSpPr>
            <a:spLocks noGrp="1"/>
          </p:cNvSpPr>
          <p:nvPr>
            <p:ph type="dt" idx="10"/>
          </p:nvPr>
        </p:nvSpPr>
        <p:spPr/>
        <p:txBody>
          <a:bodyPr/>
          <a:lstStyle/>
          <a:p>
            <a:fld id="{1FEE39B5-A173-4B88-9E2E-FFD54790FD4E}" type="datetimeFigureOut">
              <a:t>15-10-2026</a:t>
            </a:fld>
            <a:endParaRPr/>
          </a:p>
        </p:txBody>
      </p:sp>
      <p:sp>
        <p:nvSpPr>
          <p:cNvPr id="5" name="Tijdelijke aanduiding voor voettekst 4">
            <a:extLst>
              <a:ext uri="{FF2B5EF4-FFF2-40B4-BE49-F238E27FC236}">
                <a16:creationId xmlns:a16="http://schemas.microsoft.com/office/drawing/2014/main" id="{7FAD2C33-BDED-116A-8E89-37326FE5DFAA}"/>
              </a:ext>
            </a:extLst>
          </p:cNvPr>
          <p:cNvSpPr>
            <a:spLocks noGrp="1"/>
          </p:cNvSpPr>
          <p:nvPr>
            <p:ph type="ftr" idx="11"/>
          </p:nvPr>
        </p:nvSpPr>
        <p:spPr/>
        <p:txBody>
          <a:bodyPr/>
          <a:lstStyle/>
          <a:p>
            <a:endParaRPr/>
          </a:p>
        </p:txBody>
      </p:sp>
      <p:sp>
        <p:nvSpPr>
          <p:cNvPr id="6" name="Tijdelijke aanduiding voor dianummer 5">
            <a:extLst>
              <a:ext uri="{FF2B5EF4-FFF2-40B4-BE49-F238E27FC236}">
                <a16:creationId xmlns:a16="http://schemas.microsoft.com/office/drawing/2014/main" id="{5FEFFFCE-8975-C959-DAC3-E064EB015DEE}"/>
              </a:ext>
            </a:extLst>
          </p:cNvPr>
          <p:cNvSpPr>
            <a:spLocks noGrp="1"/>
          </p:cNvSpPr>
          <p:nvPr>
            <p:ph type="sldNum" idx="12"/>
          </p:nvPr>
        </p:nvSpPr>
        <p:spPr/>
        <p:txBody>
          <a:bodyPr/>
          <a:lstStyle/>
          <a:p>
            <a:fld id="{B1BCDC85-8DB5-47E8-A022-26757C064B38}" type="slidenum">
              <a:t>‹nr.›</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8C658F6A-FD72-0A6C-07FA-61A0D65538CF}"/>
              </a:ext>
            </a:extLst>
          </p:cNvPr>
          <p:cNvSpPr>
            <a:spLocks noGrp="1"/>
          </p:cNvSpPr>
          <p:nvPr>
            <p:ph type="title"/>
          </p:nvPr>
        </p:nvSpPr>
        <p:spPr>
          <a:xfrm>
            <a:off x="8724900" y="365125"/>
            <a:ext cx="2628900" cy="5811838"/>
          </a:xfrm>
        </p:spPr>
        <p:txBody>
          <a:bodyPr vert="eaVert"/>
          <a:lstStyle/>
          <a:p>
            <a:r>
              <a:t>Klik om stijl te bewerken</a:t>
            </a:r>
          </a:p>
        </p:txBody>
      </p:sp>
      <p:sp>
        <p:nvSpPr>
          <p:cNvPr id="3" name="Tijdelijke aanduiding voor verticale tekst 2">
            <a:extLst>
              <a:ext uri="{FF2B5EF4-FFF2-40B4-BE49-F238E27FC236}">
                <a16:creationId xmlns:a16="http://schemas.microsoft.com/office/drawing/2014/main" id="{15FE1A1F-9EB9-3E7F-48B8-B84A3F41DAB5}"/>
              </a:ext>
            </a:extLst>
          </p:cNvPr>
          <p:cNvSpPr>
            <a:spLocks noGrp="1"/>
          </p:cNvSpPr>
          <p:nvPr>
            <p:ph type="body" idx="1"/>
          </p:nvPr>
        </p:nvSpPr>
        <p:spPr>
          <a:xfrm>
            <a:off x="838200" y="365125"/>
            <a:ext cx="7734300" cy="5811838"/>
          </a:xfrm>
        </p:spPr>
        <p:txBody>
          <a:bodyPr vert="eaVert"/>
          <a:lstStyle/>
          <a:p>
            <a:pPr lvl="0">
              <a:buNone/>
            </a:pPr>
            <a:r>
              <a:t>Klikken om de tekststijl van het model te bewerken</a:t>
            </a:r>
          </a:p>
          <a:p>
            <a:pPr lvl="1">
              <a:buNone/>
            </a:pPr>
            <a:r>
              <a:t>Tweede niveau</a:t>
            </a:r>
          </a:p>
          <a:p>
            <a:pPr lvl="2">
              <a:buNone/>
            </a:pPr>
            <a:r>
              <a:t>Derde niveau</a:t>
            </a:r>
          </a:p>
          <a:p>
            <a:pPr lvl="3">
              <a:buNone/>
            </a:pPr>
            <a:r>
              <a:t>Vierde niveau</a:t>
            </a:r>
          </a:p>
          <a:p>
            <a:pPr lvl="4">
              <a:buNone/>
            </a:pPr>
            <a:r>
              <a:t>Vijfde niveau</a:t>
            </a:r>
          </a:p>
        </p:txBody>
      </p:sp>
      <p:sp>
        <p:nvSpPr>
          <p:cNvPr id="4" name="Tijdelijke aanduiding voor datum 3">
            <a:extLst>
              <a:ext uri="{FF2B5EF4-FFF2-40B4-BE49-F238E27FC236}">
                <a16:creationId xmlns:a16="http://schemas.microsoft.com/office/drawing/2014/main" id="{D0C01585-0618-5C18-B2E6-258D9566CA3E}"/>
              </a:ext>
            </a:extLst>
          </p:cNvPr>
          <p:cNvSpPr>
            <a:spLocks noGrp="1"/>
          </p:cNvSpPr>
          <p:nvPr>
            <p:ph type="dt" idx="10"/>
          </p:nvPr>
        </p:nvSpPr>
        <p:spPr/>
        <p:txBody>
          <a:bodyPr/>
          <a:lstStyle/>
          <a:p>
            <a:fld id="{1FEE39B5-A173-4B88-9E2E-FFD54790FD4E}" type="datetimeFigureOut">
              <a:t>15-10-2026</a:t>
            </a:fld>
            <a:endParaRPr/>
          </a:p>
        </p:txBody>
      </p:sp>
      <p:sp>
        <p:nvSpPr>
          <p:cNvPr id="5" name="Tijdelijke aanduiding voor voettekst 4">
            <a:extLst>
              <a:ext uri="{FF2B5EF4-FFF2-40B4-BE49-F238E27FC236}">
                <a16:creationId xmlns:a16="http://schemas.microsoft.com/office/drawing/2014/main" id="{5E18DFE0-8EDB-C046-3C62-B658845A3F73}"/>
              </a:ext>
            </a:extLst>
          </p:cNvPr>
          <p:cNvSpPr>
            <a:spLocks noGrp="1"/>
          </p:cNvSpPr>
          <p:nvPr>
            <p:ph type="ftr" idx="11"/>
          </p:nvPr>
        </p:nvSpPr>
        <p:spPr/>
        <p:txBody>
          <a:bodyPr/>
          <a:lstStyle/>
          <a:p>
            <a:endParaRPr/>
          </a:p>
        </p:txBody>
      </p:sp>
      <p:sp>
        <p:nvSpPr>
          <p:cNvPr id="6" name="Tijdelijke aanduiding voor dianummer 5">
            <a:extLst>
              <a:ext uri="{FF2B5EF4-FFF2-40B4-BE49-F238E27FC236}">
                <a16:creationId xmlns:a16="http://schemas.microsoft.com/office/drawing/2014/main" id="{249EF0C5-8DBA-1A82-9A34-DD3EAA06A581}"/>
              </a:ext>
            </a:extLst>
          </p:cNvPr>
          <p:cNvSpPr>
            <a:spLocks noGrp="1"/>
          </p:cNvSpPr>
          <p:nvPr>
            <p:ph type="sldNum" idx="12"/>
          </p:nvPr>
        </p:nvSpPr>
        <p:spPr/>
        <p:txBody>
          <a:bodyPr/>
          <a:lstStyle/>
          <a:p>
            <a:fld id="{B1BCDC85-8DB5-47E8-A022-26757C064B38}" type="slidenum">
              <a:t>‹nr.›</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A847F58E-F98E-45A6-BFBD-D49425D2481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Subtitle">
            <a:extLst>
              <a:ext uri="{FF2B5EF4-FFF2-40B4-BE49-F238E27FC236}">
                <a16:creationId xmlns:a16="http://schemas.microsoft.com/office/drawing/2014/main" id="{341E0333-7CE7-4DB4-ADFA-3E59B936227D}"/>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71362A53-BA76-41B9-BCA3-834F685B59AE}"/>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E41BDD0-D9B2-44DD-82DE-C4FC31E14D3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Body">
            <a:extLst>
              <a:ext uri="{FF2B5EF4-FFF2-40B4-BE49-F238E27FC236}">
                <a16:creationId xmlns:a16="http://schemas.microsoft.com/office/drawing/2014/main" id="{8EABC9EA-796D-4C74-8172-CFE6424EC027}"/>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144D5D93-F30F-4BBD-A5F0-15B6FC36F26E}"/>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Left column">
            <a:extLst>
              <a:ext uri="{FF2B5EF4-FFF2-40B4-BE49-F238E27FC236}">
                <a16:creationId xmlns:a16="http://schemas.microsoft.com/office/drawing/2014/main" id="{4709205F-B2A3-4305-B4EC-775ECF643E0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
        <p:nvSpPr>
          <p:cNvPr id="3" name="Right column">
            <a:extLst>
              <a:ext uri="{FF2B5EF4-FFF2-40B4-BE49-F238E27FC236}">
                <a16:creationId xmlns:a16="http://schemas.microsoft.com/office/drawing/2014/main" id="{9F1CC8B1-3F85-4FE1-866C-77C1A6B773D0}"/>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C04332C-E0DF-49E5-9E1B-F2827EE6279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2" name="Left column">
            <a:extLst>
              <a:ext uri="{FF2B5EF4-FFF2-40B4-BE49-F238E27FC236}">
                <a16:creationId xmlns:a16="http://schemas.microsoft.com/office/drawing/2014/main" id="{76847947-3A3E-450E-A8B4-1CC91F92937D}"/>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7"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A9242B03-6421-45C4-4A6B-11EA98009B57}"/>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Klik om stijl te bewerken</a:t>
            </a:r>
          </a:p>
        </p:txBody>
      </p:sp>
      <p:sp>
        <p:nvSpPr>
          <p:cNvPr id="3" name="Tijdelijke aanduiding voor tekst 2">
            <a:extLst>
              <a:ext uri="{FF2B5EF4-FFF2-40B4-BE49-F238E27FC236}">
                <a16:creationId xmlns:a16="http://schemas.microsoft.com/office/drawing/2014/main" id="{5E7B77C6-0B0E-C328-2CE6-BCCDDB131BA7}"/>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Klikken om de tekststijl van het model te bewerken</a:t>
            </a:r>
          </a:p>
          <a:p>
            <a:pPr lvl="1">
              <a:buNone/>
            </a:pPr>
            <a:r>
              <a:t>Tweede niveau</a:t>
            </a:r>
          </a:p>
          <a:p>
            <a:pPr lvl="2">
              <a:buNone/>
            </a:pPr>
            <a:r>
              <a:t>Derde niveau</a:t>
            </a:r>
          </a:p>
          <a:p>
            <a:pPr lvl="3">
              <a:buNone/>
            </a:pPr>
            <a:r>
              <a:t>Vierde niveau</a:t>
            </a:r>
          </a:p>
          <a:p>
            <a:pPr lvl="4">
              <a:buNone/>
            </a:pPr>
            <a:r>
              <a:t>Vijfde niveau</a:t>
            </a:r>
          </a:p>
        </p:txBody>
      </p:sp>
      <p:sp>
        <p:nvSpPr>
          <p:cNvPr id="4" name="Tijdelijke aanduiding voor datum 3">
            <a:extLst>
              <a:ext uri="{FF2B5EF4-FFF2-40B4-BE49-F238E27FC236}">
                <a16:creationId xmlns:a16="http://schemas.microsoft.com/office/drawing/2014/main" id="{99F7DA9F-D38A-31BA-82BA-DCE3E92333AC}"/>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82000"/>
                  </a:schemeClr>
                </a:solidFill>
              </a:defRPr>
            </a:lvl1pPr>
          </a:lstStyle>
          <a:p>
            <a:fld id="{1FEE39B5-A173-4B88-9E2E-FFD54790FD4E}" type="datetimeFigureOut">
              <a:t>15-10-2026</a:t>
            </a:fld>
            <a:endParaRPr/>
          </a:p>
        </p:txBody>
      </p:sp>
      <p:sp>
        <p:nvSpPr>
          <p:cNvPr id="5" name="Tijdelijke aanduiding voor voettekst 4">
            <a:extLst>
              <a:ext uri="{FF2B5EF4-FFF2-40B4-BE49-F238E27FC236}">
                <a16:creationId xmlns:a16="http://schemas.microsoft.com/office/drawing/2014/main" id="{DD4F309F-EDC1-4B38-489D-802CB5DACDF4}"/>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82000"/>
                  </a:schemeClr>
                </a:solidFill>
              </a:defRPr>
            </a:lvl1pPr>
          </a:lstStyle>
          <a:p>
            <a:endParaRPr/>
          </a:p>
        </p:txBody>
      </p:sp>
      <p:sp>
        <p:nvSpPr>
          <p:cNvPr id="6" name="Tijdelijke aanduiding voor dianummer 5">
            <a:extLst>
              <a:ext uri="{FF2B5EF4-FFF2-40B4-BE49-F238E27FC236}">
                <a16:creationId xmlns:a16="http://schemas.microsoft.com/office/drawing/2014/main" id="{9F855ACA-9C6D-13E0-F5CA-51A1C5C005B5}"/>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82000"/>
                  </a:schemeClr>
                </a:solidFill>
              </a:defRPr>
            </a:lvl1pPr>
          </a:lstStyle>
          <a:p>
            <a:fld id="{B1BCDC85-8DB5-47E8-A022-26757C064B38}" type="slidenum">
              <a:t>‹nr.›</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jp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21.xml"/><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22.xml"/><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26.xml"/><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7895A40-19A4-42D6-9D30-DBC1E8002635}"/>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0" name="Rectangle 9">
            <a:extLst>
              <a:ext uri="{FF2B5EF4-FFF2-40B4-BE49-F238E27FC236}">
                <a16:creationId xmlns:a16="http://schemas.microsoft.com/office/drawing/2014/main" id="{02F429C4-ABC9-46FC-818A-B5429CDE4A96}"/>
              </a:ext>
            </a:extLst>
          </p:cNvPr>
          <p:cNvSpPr>
            <a:spLocks noGrp="1"/>
          </p:cNvSpPr>
          <p:nvPr/>
        </p:nvSpPr>
        <p:spPr>
          <a:xfrm rot="5400000">
            <a:off x="-1270325" y="3369273"/>
            <a:ext cx="32004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2CEF98E4-3709-4952-8F42-2305CCE34FA3}"/>
              </a:ext>
            </a:extLst>
          </p:cNvPr>
          <p:cNvSpPr>
            <a:spLocks noGrp="1"/>
          </p:cNvSpPr>
          <p:nvPr/>
        </p:nvSpPr>
        <p:spPr>
          <a:xfrm rot="16200000">
            <a:off x="6374475" y="1040470"/>
            <a:ext cx="6858003" cy="477704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F10BCCF5-D685-47FF-B675-647EAEB72C8E}"/>
              </a:ext>
            </a:extLst>
          </p:cNvPr>
          <p:cNvSpPr>
            <a:spLocks noGrp="1"/>
          </p:cNvSpPr>
          <p:nvPr/>
        </p:nvSpPr>
        <p:spPr>
          <a:xfrm>
            <a:off x="387914" y="857786"/>
            <a:ext cx="11067024" cy="520893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6" name="Rectangle 15">
            <a:extLst>
              <a:ext uri="{FF2B5EF4-FFF2-40B4-BE49-F238E27FC236}">
                <a16:creationId xmlns:a16="http://schemas.microsoft.com/office/drawing/2014/main" id="{B0EE8A42-107A-4D4C-8D56-BBAE95C7FC0D}"/>
              </a:ext>
            </a:extLst>
          </p:cNvPr>
          <p:cNvSpPr>
            <a:spLocks noGrp="1"/>
          </p:cNvSpPr>
          <p:nvPr/>
        </p:nvSpPr>
        <p:spPr>
          <a:xfrm rot="5400000">
            <a:off x="-1524009" y="3366125"/>
            <a:ext cx="32004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7" name="content-5">
            <a:extLst>
              <a:ext uri="{FF2B5EF4-FFF2-40B4-BE49-F238E27FC236}">
                <a16:creationId xmlns:a16="http://schemas.microsoft.com/office/drawing/2014/main" id="{128EF8DC-6ACA-4579-8EE1-7B1AC21CA3AB}"/>
              </a:ext>
            </a:extLst>
          </p:cNvPr>
          <p:cNvSpPr>
            <a:spLocks noGrp="1"/>
          </p:cNvSpPr>
          <p:nvPr/>
        </p:nvSpPr>
        <p:spPr>
          <a:xfrm>
            <a:off x="1047750" y="1476375"/>
            <a:ext cx="9810750" cy="2476500"/>
          </a:xfrm>
          <a:prstGeom prst="rect">
            <a:avLst/>
          </a:prstGeom>
          <a:noFill/>
          <a:ln w="0">
            <a:noFill/>
          </a:ln>
        </p:spPr>
        <p:txBody>
          <a:bodyPr lIns="0" tIns="0" rIns="0" bIns="0" anchor="t"/>
          <a:lstStyle>
            <a:defPPr>
              <a:defRPr sz="6450" b="0">
                <a:solidFill>
                  <a:srgbClr val="000000"/>
                </a:solidFill>
                <a:latin typeface="Aptos Display"/>
                <a:ea typeface="Aptos Display"/>
                <a:cs typeface="Aptos Display"/>
              </a:defRPr>
            </a:defPPr>
          </a:lstStyle>
          <a:p>
            <a:pPr>
              <a:buNone/>
              <a:defRPr sz="6450" b="0">
                <a:solidFill>
                  <a:srgbClr val="000000"/>
                </a:solidFill>
                <a:latin typeface="Aptos Display"/>
                <a:ea typeface="Aptos Display"/>
                <a:cs typeface="Aptos Display"/>
              </a:defRPr>
            </a:pPr>
            <a:r>
              <a:rPr sz="6450" b="0">
                <a:solidFill>
                  <a:srgbClr val="000000"/>
                </a:solidFill>
                <a:latin typeface="Aptos Display"/>
                <a:ea typeface="Aptos Display"/>
                <a:cs typeface="Aptos Display"/>
              </a:rPr>
              <a:t>Machine Learning /</a:t>
            </a:r>
          </a:p>
          <a:p>
            <a:pPr>
              <a:buNone/>
              <a:defRPr sz="6450" b="0">
                <a:solidFill>
                  <a:srgbClr val="000000"/>
                </a:solidFill>
                <a:latin typeface="Aptos Display"/>
                <a:ea typeface="Aptos Display"/>
                <a:cs typeface="Aptos Display"/>
              </a:defRPr>
            </a:pPr>
            <a:r>
              <a:rPr sz="6450" b="0">
                <a:solidFill>
                  <a:srgbClr val="000000"/>
                </a:solidFill>
                <a:latin typeface="Aptos Display"/>
                <a:ea typeface="Aptos Display"/>
                <a:cs typeface="Aptos Display"/>
              </a:rPr>
              <a:t>Cloud AI Challenge</a:t>
            </a:r>
          </a:p>
        </p:txBody>
      </p:sp>
      <p:sp>
        <p:nvSpPr>
          <p:cNvPr id="18" name="content-6">
            <a:extLst>
              <a:ext uri="{FF2B5EF4-FFF2-40B4-BE49-F238E27FC236}">
                <a16:creationId xmlns:a16="http://schemas.microsoft.com/office/drawing/2014/main" id="{CA91B837-FABA-4407-A232-9467B10616A4}"/>
              </a:ext>
            </a:extLst>
          </p:cNvPr>
          <p:cNvSpPr>
            <a:spLocks noGrp="1"/>
          </p:cNvSpPr>
          <p:nvPr/>
        </p:nvSpPr>
        <p:spPr>
          <a:xfrm>
            <a:off x="1066800" y="4181475"/>
            <a:ext cx="10001250" cy="428625"/>
          </a:xfrm>
          <a:prstGeom prst="rect">
            <a:avLst/>
          </a:prstGeom>
          <a:noFill/>
          <a:ln w="0">
            <a:noFill/>
          </a:ln>
        </p:spPr>
        <p:txBody>
          <a:bodyPr lIns="0" tIns="0" rIns="0" bIns="0" anchor="t"/>
          <a:lstStyle>
            <a:defPPr>
              <a:defRPr sz="2550" b="0">
                <a:solidFill>
                  <a:srgbClr val="000000"/>
                </a:solidFill>
                <a:latin typeface="Aptos"/>
                <a:ea typeface="Aptos"/>
                <a:cs typeface="Aptos"/>
              </a:defRPr>
            </a:defPPr>
          </a:lstStyle>
          <a:p>
            <a:pPr>
              <a:buNone/>
              <a:defRPr sz="2550" b="0">
                <a:solidFill>
                  <a:srgbClr val="000000"/>
                </a:solidFill>
                <a:latin typeface="Aptos"/>
                <a:ea typeface="Aptos"/>
                <a:cs typeface="Aptos"/>
              </a:defRPr>
            </a:pPr>
            <a:r>
              <a:rPr sz="2550" b="0">
                <a:solidFill>
                  <a:srgbClr val="000000"/>
                </a:solidFill>
                <a:latin typeface="Aptos"/>
                <a:ea typeface="Aptos"/>
                <a:cs typeface="Aptos"/>
              </a:rPr>
              <a:t>Team 10</a:t>
            </a:r>
          </a:p>
        </p:txBody>
      </p:sp>
      <p:sp>
        <p:nvSpPr>
          <p:cNvPr id="19" name="content-7">
            <a:extLst>
              <a:ext uri="{FF2B5EF4-FFF2-40B4-BE49-F238E27FC236}">
                <a16:creationId xmlns:a16="http://schemas.microsoft.com/office/drawing/2014/main" id="{53D8070D-A750-45AD-B4DF-9BD0F5888D4D}"/>
              </a:ext>
            </a:extLst>
          </p:cNvPr>
          <p:cNvSpPr>
            <a:spLocks noGrp="1"/>
          </p:cNvSpPr>
          <p:nvPr/>
        </p:nvSpPr>
        <p:spPr>
          <a:xfrm>
            <a:off x="1066800" y="4752975"/>
            <a:ext cx="9715500" cy="66675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Raoul Buffels, Jorre Van Dyck, Andrew Noeyens, Milan Wouters</a:t>
            </a:r>
          </a:p>
        </p:txBody>
      </p:sp>
    </p:spTree>
    <p:extLst>
      <p:ext uri="{BB962C8B-B14F-4D97-AF65-F5344CB8AC3E}">
        <p14:creationId xmlns:p14="http://schemas.microsoft.com/office/powerpoint/2010/main" val="4108576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BC6133C-0615-4CE4-9132-37E609A9BDFA}"/>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169CC832-2974-4E8D-90ED-3E2941BA7336}"/>
              </a:ext>
            </a:extLst>
          </p:cNvPr>
          <p:cNvSpPr>
            <a:spLocks noGrp="1"/>
          </p:cNvSpPr>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55222F96-971A-4F90-B841-6BAB416C7AC1}"/>
              </a:ext>
            </a:extLst>
          </p:cNvPr>
          <p:cNvSpPr>
            <a:spLocks noGrp="1"/>
          </p:cNvSpPr>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6" name="Rectangle 15">
            <a:extLst>
              <a:ext uri="{FF2B5EF4-FFF2-40B4-BE49-F238E27FC236}">
                <a16:creationId xmlns:a16="http://schemas.microsoft.com/office/drawing/2014/main" id="{08980754-6F4B-43C9-B9BE-127B6BED6586}"/>
              </a:ext>
            </a:extLst>
          </p:cNvPr>
          <p:cNvSpPr>
            <a:spLocks noGrp="1"/>
          </p:cNvSpPr>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8" name="Rectangle 17">
            <a:extLst>
              <a:ext uri="{FF2B5EF4-FFF2-40B4-BE49-F238E27FC236}">
                <a16:creationId xmlns:a16="http://schemas.microsoft.com/office/drawing/2014/main" id="{2C1BBA94-3F40-40AA-8BB9-E69E25E537C1}"/>
              </a:ext>
            </a:extLst>
          </p:cNvPr>
          <p:cNvSpPr>
            <a:spLocks noGrp="1"/>
          </p:cNvSpPr>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9" name="content-5">
            <a:extLst>
              <a:ext uri="{FF2B5EF4-FFF2-40B4-BE49-F238E27FC236}">
                <a16:creationId xmlns:a16="http://schemas.microsoft.com/office/drawing/2014/main" id="{2B5E0527-35C2-4E07-B344-5892B622FD11}"/>
              </a:ext>
            </a:extLst>
          </p:cNvPr>
          <p:cNvSpPr>
            <a:spLocks noGrp="1"/>
          </p:cNvSpPr>
          <p:nvPr/>
        </p:nvSpPr>
        <p:spPr>
          <a:xfrm>
            <a:off x="666750" y="914400"/>
            <a:ext cx="4429125" cy="1047750"/>
          </a:xfrm>
          <a:prstGeom prst="rect">
            <a:avLst/>
          </a:prstGeom>
          <a:noFill/>
          <a:ln w="0">
            <a:noFill/>
          </a:ln>
        </p:spPr>
        <p:txBody>
          <a:bodyPr lIns="0" tIns="0" rIns="0" bIns="0" anchor="t"/>
          <a:lstStyle>
            <a:defPPr>
              <a:defRPr sz="3300" b="0">
                <a:solidFill>
                  <a:srgbClr val="000000"/>
                </a:solidFill>
                <a:latin typeface="Aptos Display"/>
                <a:ea typeface="Aptos Display"/>
                <a:cs typeface="Aptos Display"/>
              </a:defRPr>
            </a:defPPr>
          </a:lstStyle>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Table of contents</a:t>
            </a:r>
          </a:p>
        </p:txBody>
      </p:sp>
      <p:sp>
        <p:nvSpPr>
          <p:cNvPr id="20" name="content-6">
            <a:extLst>
              <a:ext uri="{FF2B5EF4-FFF2-40B4-BE49-F238E27FC236}">
                <a16:creationId xmlns:a16="http://schemas.microsoft.com/office/drawing/2014/main" id="{6ABB727D-98C1-41B2-9160-2E2FE0454A83}"/>
              </a:ext>
            </a:extLst>
          </p:cNvPr>
          <p:cNvSpPr>
            <a:spLocks noGrp="1"/>
          </p:cNvSpPr>
          <p:nvPr/>
        </p:nvSpPr>
        <p:spPr>
          <a:xfrm>
            <a:off x="723900" y="2428875"/>
            <a:ext cx="4286250" cy="381000"/>
          </a:xfrm>
          <a:prstGeom prst="rect">
            <a:avLst/>
          </a:prstGeom>
          <a:noFill/>
          <a:ln w="0">
            <a:noFill/>
          </a:ln>
        </p:spPr>
        <p:txBody>
          <a:bodyPr lIns="0" tIns="0" rIns="0" bIns="0" anchor="t"/>
          <a:lstStyle>
            <a:defPPr>
              <a:defRPr sz="1875" b="0">
                <a:solidFill>
                  <a:srgbClr val="000000"/>
                </a:solidFill>
                <a:latin typeface="Aptos"/>
                <a:ea typeface="Aptos"/>
                <a:cs typeface="Aptos"/>
              </a:defRPr>
            </a:defPPr>
          </a:lstStyle>
          <a:p>
            <a:pPr>
              <a:buNone/>
              <a:defRPr sz="1875" b="0">
                <a:solidFill>
                  <a:srgbClr val="000000"/>
                </a:solidFill>
                <a:latin typeface="Aptos"/>
                <a:ea typeface="Aptos"/>
                <a:cs typeface="Aptos"/>
              </a:defRPr>
            </a:pPr>
            <a:r>
              <a:rPr sz="1875" b="0">
                <a:solidFill>
                  <a:srgbClr val="000000"/>
                </a:solidFill>
                <a:latin typeface="Aptos"/>
                <a:ea typeface="Aptos"/>
                <a:cs typeface="Aptos"/>
              </a:rPr>
              <a:t>Introduction</a:t>
            </a:r>
          </a:p>
        </p:txBody>
      </p:sp>
      <p:sp>
        <p:nvSpPr>
          <p:cNvPr id="21" name="content-7">
            <a:extLst>
              <a:ext uri="{FF2B5EF4-FFF2-40B4-BE49-F238E27FC236}">
                <a16:creationId xmlns:a16="http://schemas.microsoft.com/office/drawing/2014/main" id="{98AC404A-E788-4E8F-B682-EB04ACDADE60}"/>
              </a:ext>
            </a:extLst>
          </p:cNvPr>
          <p:cNvSpPr>
            <a:spLocks noGrp="1"/>
          </p:cNvSpPr>
          <p:nvPr/>
        </p:nvSpPr>
        <p:spPr>
          <a:xfrm>
            <a:off x="723900" y="2886075"/>
            <a:ext cx="4286250" cy="381000"/>
          </a:xfrm>
          <a:prstGeom prst="rect">
            <a:avLst/>
          </a:prstGeom>
          <a:noFill/>
          <a:ln w="0">
            <a:noFill/>
          </a:ln>
        </p:spPr>
        <p:txBody>
          <a:bodyPr lIns="0" tIns="0" rIns="0" bIns="0" anchor="t"/>
          <a:lstStyle>
            <a:defPPr>
              <a:defRPr sz="1875" b="0">
                <a:solidFill>
                  <a:srgbClr val="000000"/>
                </a:solidFill>
                <a:latin typeface="Aptos"/>
                <a:ea typeface="Aptos"/>
                <a:cs typeface="Aptos"/>
              </a:defRPr>
            </a:defPPr>
          </a:lstStyle>
          <a:p>
            <a:pPr>
              <a:buNone/>
              <a:defRPr sz="1875" b="0">
                <a:solidFill>
                  <a:srgbClr val="000000"/>
                </a:solidFill>
                <a:latin typeface="Aptos"/>
                <a:ea typeface="Aptos"/>
                <a:cs typeface="Aptos"/>
              </a:defRPr>
            </a:pPr>
            <a:r>
              <a:rPr sz="1875" b="0">
                <a:solidFill>
                  <a:srgbClr val="000000"/>
                </a:solidFill>
                <a:latin typeface="Aptos"/>
                <a:ea typeface="Aptos"/>
                <a:cs typeface="Aptos"/>
              </a:rPr>
              <a:t>Mushroom: EDA and models</a:t>
            </a:r>
          </a:p>
        </p:txBody>
      </p:sp>
      <p:sp>
        <p:nvSpPr>
          <p:cNvPr id="22" name="content-8">
            <a:extLst>
              <a:ext uri="{FF2B5EF4-FFF2-40B4-BE49-F238E27FC236}">
                <a16:creationId xmlns:a16="http://schemas.microsoft.com/office/drawing/2014/main" id="{EF5A7E78-6832-4ED4-95BA-66B009B5A91E}"/>
              </a:ext>
            </a:extLst>
          </p:cNvPr>
          <p:cNvSpPr>
            <a:spLocks noGrp="1"/>
          </p:cNvSpPr>
          <p:nvPr/>
        </p:nvSpPr>
        <p:spPr>
          <a:xfrm>
            <a:off x="723900" y="3343275"/>
            <a:ext cx="4286250" cy="381000"/>
          </a:xfrm>
          <a:prstGeom prst="rect">
            <a:avLst/>
          </a:prstGeom>
          <a:noFill/>
          <a:ln w="0">
            <a:noFill/>
          </a:ln>
        </p:spPr>
        <p:txBody>
          <a:bodyPr lIns="0" tIns="0" rIns="0" bIns="0" anchor="t"/>
          <a:lstStyle>
            <a:defPPr>
              <a:defRPr sz="1875" b="0">
                <a:solidFill>
                  <a:srgbClr val="000000"/>
                </a:solidFill>
                <a:latin typeface="Aptos"/>
                <a:ea typeface="Aptos"/>
                <a:cs typeface="Aptos"/>
              </a:defRPr>
            </a:defPPr>
          </a:lstStyle>
          <a:p>
            <a:pPr>
              <a:buNone/>
              <a:defRPr sz="1875" b="0">
                <a:solidFill>
                  <a:srgbClr val="000000"/>
                </a:solidFill>
                <a:latin typeface="Aptos"/>
                <a:ea typeface="Aptos"/>
                <a:cs typeface="Aptos"/>
              </a:defRPr>
            </a:pPr>
            <a:r>
              <a:rPr sz="1875" b="0">
                <a:solidFill>
                  <a:srgbClr val="000000"/>
                </a:solidFill>
                <a:latin typeface="Aptos"/>
                <a:ea typeface="Aptos"/>
                <a:cs typeface="Aptos"/>
              </a:rPr>
              <a:t>AWS training and tuning</a:t>
            </a:r>
          </a:p>
        </p:txBody>
      </p:sp>
      <p:sp>
        <p:nvSpPr>
          <p:cNvPr id="23" name="content-9">
            <a:extLst>
              <a:ext uri="{FF2B5EF4-FFF2-40B4-BE49-F238E27FC236}">
                <a16:creationId xmlns:a16="http://schemas.microsoft.com/office/drawing/2014/main" id="{6B152EBC-4742-403C-89AA-D2DAB3266A76}"/>
              </a:ext>
            </a:extLst>
          </p:cNvPr>
          <p:cNvSpPr>
            <a:spLocks noGrp="1"/>
          </p:cNvSpPr>
          <p:nvPr/>
        </p:nvSpPr>
        <p:spPr>
          <a:xfrm>
            <a:off x="723900" y="3800475"/>
            <a:ext cx="4286250" cy="381000"/>
          </a:xfrm>
          <a:prstGeom prst="rect">
            <a:avLst/>
          </a:prstGeom>
          <a:noFill/>
          <a:ln w="0">
            <a:noFill/>
          </a:ln>
        </p:spPr>
        <p:txBody>
          <a:bodyPr lIns="0" tIns="0" rIns="0" bIns="0" anchor="t"/>
          <a:lstStyle>
            <a:defPPr>
              <a:defRPr sz="1875" b="0">
                <a:solidFill>
                  <a:srgbClr val="000000"/>
                </a:solidFill>
                <a:latin typeface="Aptos"/>
                <a:ea typeface="Aptos"/>
                <a:cs typeface="Aptos"/>
              </a:defRPr>
            </a:defPPr>
          </a:lstStyle>
          <a:p>
            <a:pPr>
              <a:buNone/>
              <a:defRPr sz="1875" b="0">
                <a:solidFill>
                  <a:srgbClr val="000000"/>
                </a:solidFill>
                <a:latin typeface="Aptos"/>
                <a:ea typeface="Aptos"/>
                <a:cs typeface="Aptos"/>
              </a:defRPr>
            </a:pPr>
            <a:r>
              <a:rPr sz="1875" b="0">
                <a:solidFill>
                  <a:srgbClr val="000000"/>
                </a:solidFill>
                <a:latin typeface="Aptos"/>
                <a:ea typeface="Aptos"/>
                <a:cs typeface="Aptos"/>
              </a:rPr>
              <a:t>Citi Bike: EDA and models</a:t>
            </a:r>
          </a:p>
        </p:txBody>
      </p:sp>
      <p:sp>
        <p:nvSpPr>
          <p:cNvPr id="24" name="content-10">
            <a:extLst>
              <a:ext uri="{FF2B5EF4-FFF2-40B4-BE49-F238E27FC236}">
                <a16:creationId xmlns:a16="http://schemas.microsoft.com/office/drawing/2014/main" id="{2C870719-BFEF-4FE7-9B49-328232D64AC0}"/>
              </a:ext>
            </a:extLst>
          </p:cNvPr>
          <p:cNvSpPr>
            <a:spLocks noGrp="1"/>
          </p:cNvSpPr>
          <p:nvPr/>
        </p:nvSpPr>
        <p:spPr>
          <a:xfrm>
            <a:off x="723900" y="4257675"/>
            <a:ext cx="4286250" cy="381000"/>
          </a:xfrm>
          <a:prstGeom prst="rect">
            <a:avLst/>
          </a:prstGeom>
          <a:noFill/>
          <a:ln w="0">
            <a:noFill/>
          </a:ln>
        </p:spPr>
        <p:txBody>
          <a:bodyPr lIns="0" tIns="0" rIns="0" bIns="0" anchor="t"/>
          <a:lstStyle>
            <a:defPPr>
              <a:defRPr sz="1875" b="0">
                <a:solidFill>
                  <a:srgbClr val="000000"/>
                </a:solidFill>
                <a:latin typeface="Aptos"/>
                <a:ea typeface="Aptos"/>
                <a:cs typeface="Aptos"/>
              </a:defRPr>
            </a:defPPr>
          </a:lstStyle>
          <a:p>
            <a:pPr>
              <a:buNone/>
              <a:defRPr sz="1875" b="0">
                <a:solidFill>
                  <a:srgbClr val="000000"/>
                </a:solidFill>
                <a:latin typeface="Aptos"/>
                <a:ea typeface="Aptos"/>
                <a:cs typeface="Aptos"/>
              </a:defRPr>
            </a:pPr>
            <a:r>
              <a:rPr sz="1875" b="0">
                <a:solidFill>
                  <a:srgbClr val="000000"/>
                </a:solidFill>
                <a:latin typeface="Aptos"/>
                <a:ea typeface="Aptos"/>
                <a:cs typeface="Aptos"/>
              </a:rPr>
              <a:t>API, website and automation</a:t>
            </a:r>
          </a:p>
        </p:txBody>
      </p:sp>
      <p:sp>
        <p:nvSpPr>
          <p:cNvPr id="25" name="content-11">
            <a:extLst>
              <a:ext uri="{FF2B5EF4-FFF2-40B4-BE49-F238E27FC236}">
                <a16:creationId xmlns:a16="http://schemas.microsoft.com/office/drawing/2014/main" id="{0B839305-FE36-4B26-80E9-E1F4BC808278}"/>
              </a:ext>
            </a:extLst>
          </p:cNvPr>
          <p:cNvSpPr>
            <a:spLocks noGrp="1"/>
          </p:cNvSpPr>
          <p:nvPr/>
        </p:nvSpPr>
        <p:spPr>
          <a:xfrm>
            <a:off x="723900" y="4714875"/>
            <a:ext cx="4286250" cy="381000"/>
          </a:xfrm>
          <a:prstGeom prst="rect">
            <a:avLst/>
          </a:prstGeom>
          <a:noFill/>
          <a:ln w="0">
            <a:noFill/>
          </a:ln>
        </p:spPr>
        <p:txBody>
          <a:bodyPr lIns="0" tIns="0" rIns="0" bIns="0" anchor="t"/>
          <a:lstStyle>
            <a:defPPr>
              <a:defRPr sz="1875" b="0">
                <a:solidFill>
                  <a:srgbClr val="000000"/>
                </a:solidFill>
                <a:latin typeface="Aptos"/>
                <a:ea typeface="Aptos"/>
                <a:cs typeface="Aptos"/>
              </a:defRPr>
            </a:defPPr>
          </a:lstStyle>
          <a:p>
            <a:pPr>
              <a:buNone/>
              <a:defRPr sz="1875" b="0">
                <a:solidFill>
                  <a:srgbClr val="000000"/>
                </a:solidFill>
                <a:latin typeface="Aptos"/>
                <a:ea typeface="Aptos"/>
                <a:cs typeface="Aptos"/>
              </a:defRPr>
            </a:pPr>
            <a:r>
              <a:rPr sz="1875" b="0">
                <a:solidFill>
                  <a:srgbClr val="000000"/>
                </a:solidFill>
                <a:latin typeface="Aptos"/>
                <a:ea typeface="Aptos"/>
                <a:cs typeface="Aptos"/>
              </a:rPr>
              <a:t>Conclusion and demo</a:t>
            </a:r>
          </a:p>
        </p:txBody>
      </p:sp>
      <p:pic>
        <p:nvPicPr>
          <p:cNvPr id="26" name="Picture 25">
            <a:extLst>
              <a:ext uri="{FF2B5EF4-FFF2-40B4-BE49-F238E27FC236}">
                <a16:creationId xmlns:a16="http://schemas.microsoft.com/office/drawing/2014/main" id="{23703B52-550F-49A8-B59D-A7CAD38599AC}"/>
              </a:ext>
            </a:extLst>
          </p:cNvPr>
          <p:cNvPicPr>
            <a:picLocks noChangeAspect="1"/>
          </p:cNvPicPr>
          <p:nvPr/>
        </p:nvPicPr>
        <p:blipFill>
          <a:blip r:embed="rId3"/>
          <a:stretch/>
        </p:blipFill>
        <p:spPr>
          <a:xfrm>
            <a:off x="6334125" y="1047750"/>
            <a:ext cx="2286000" cy="2286000"/>
          </a:xfrm>
          <a:prstGeom prst="rect">
            <a:avLst/>
          </a:prstGeom>
        </p:spPr>
      </p:pic>
      <p:pic>
        <p:nvPicPr>
          <p:cNvPr id="27" name="Picture 26">
            <a:extLst>
              <a:ext uri="{FF2B5EF4-FFF2-40B4-BE49-F238E27FC236}">
                <a16:creationId xmlns:a16="http://schemas.microsoft.com/office/drawing/2014/main" id="{8087B358-0FC7-4BBE-BE37-768B923F4DF9}"/>
              </a:ext>
            </a:extLst>
          </p:cNvPr>
          <p:cNvPicPr>
            <a:picLocks noChangeAspect="1"/>
          </p:cNvPicPr>
          <p:nvPr/>
        </p:nvPicPr>
        <p:blipFill>
          <a:blip r:embed="rId4"/>
          <a:stretch/>
        </p:blipFill>
        <p:spPr>
          <a:xfrm>
            <a:off x="8596313" y="3381375"/>
            <a:ext cx="2571750" cy="2571750"/>
          </a:xfrm>
          <a:prstGeom prst="rect">
            <a:avLst/>
          </a:prstGeom>
        </p:spPr>
      </p:pic>
    </p:spTree>
    <p:extLst>
      <p:ext uri="{BB962C8B-B14F-4D97-AF65-F5344CB8AC3E}">
        <p14:creationId xmlns:p14="http://schemas.microsoft.com/office/powerpoint/2010/main" val="28876599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524E9777-DF7E-45E5-B387-86C306DA64AB}"/>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9" name="Rectangle 18">
            <a:extLst>
              <a:ext uri="{FF2B5EF4-FFF2-40B4-BE49-F238E27FC236}">
                <a16:creationId xmlns:a16="http://schemas.microsoft.com/office/drawing/2014/main" id="{90464369-70FA-42AF-948F-80664CA7BFE5}"/>
              </a:ext>
            </a:extLst>
          </p:cNvPr>
          <p:cNvSpPr>
            <a:spLocks noGrp="1"/>
          </p:cNvSpPr>
          <p:nvPr/>
        </p:nvSpPr>
        <p:spPr>
          <a:xfrm>
            <a:off x="0" y="0"/>
            <a:ext cx="12192000" cy="2146816"/>
          </a:xfrm>
          <a:prstGeom prst="rect">
            <a:avLst/>
          </a:prstGeom>
          <a:solidFill>
            <a:schemeClr val="bg1">
              <a:lumMod val="8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 name="Titel 1">
            <a:extLst>
              <a:ext uri="{FF2B5EF4-FFF2-40B4-BE49-F238E27FC236}">
                <a16:creationId xmlns:a16="http://schemas.microsoft.com/office/drawing/2014/main" id="{5CDD633E-700B-64B4-449A-C81426CCA393}"/>
              </a:ext>
            </a:extLst>
          </p:cNvPr>
          <p:cNvSpPr>
            <a:spLocks noGrp="1"/>
          </p:cNvSpPr>
          <p:nvPr>
            <p:ph type="title"/>
          </p:nvPr>
        </p:nvSpPr>
        <p:spPr>
          <a:xfrm>
            <a:off x="581646" y="573896"/>
            <a:ext cx="3639746" cy="1414145"/>
          </a:xfrm>
        </p:spPr>
        <p:txBody>
          <a:bodyPr anchor="b">
            <a:normAutofit/>
          </a:bodyPr>
          <a:lstStyle/>
          <a:p>
            <a:r>
              <a:rPr sz="3600"/>
              <a:t>Team 10</a:t>
            </a:r>
          </a:p>
        </p:txBody>
      </p:sp>
      <p:sp>
        <p:nvSpPr>
          <p:cNvPr id="3" name="Tijdelijke aanduiding voor inhoud 2">
            <a:extLst>
              <a:ext uri="{FF2B5EF4-FFF2-40B4-BE49-F238E27FC236}">
                <a16:creationId xmlns:a16="http://schemas.microsoft.com/office/drawing/2014/main" id="{11624857-CF52-1B85-A97F-31F834DE85FF}"/>
              </a:ext>
            </a:extLst>
          </p:cNvPr>
          <p:cNvSpPr>
            <a:spLocks noGrp="1"/>
          </p:cNvSpPr>
          <p:nvPr>
            <p:ph idx="1"/>
          </p:nvPr>
        </p:nvSpPr>
        <p:spPr>
          <a:xfrm>
            <a:off x="587987" y="2620641"/>
            <a:ext cx="3634877" cy="3023702"/>
          </a:xfrm>
        </p:spPr>
        <p:txBody>
          <a:bodyPr anchor="ctr">
            <a:normAutofit/>
          </a:bodyPr>
          <a:lstStyle/>
          <a:p>
            <a:r>
              <a:rPr sz="1800"/>
              <a:t>Raoul Buffels</a:t>
            </a:r>
          </a:p>
          <a:p>
            <a:r>
              <a:rPr sz="1800"/>
              <a:t>Jorre Van Dyck</a:t>
            </a:r>
          </a:p>
          <a:p>
            <a:r>
              <a:rPr sz="1800"/>
              <a:t>Andrew Noeyens</a:t>
            </a:r>
          </a:p>
          <a:p>
            <a:r>
              <a:rPr sz="1800"/>
              <a:t>Milan Wouters</a:t>
            </a:r>
          </a:p>
        </p:txBody>
      </p:sp>
      <p:sp>
        <p:nvSpPr>
          <p:cNvPr id="21" name="Rectangle 20">
            <a:extLst>
              <a:ext uri="{FF2B5EF4-FFF2-40B4-BE49-F238E27FC236}">
                <a16:creationId xmlns:a16="http://schemas.microsoft.com/office/drawing/2014/main" id="{A6604B49-AD5C-4590-B051-06C8222ECD99}"/>
              </a:ext>
            </a:extLst>
          </p:cNvPr>
          <p:cNvSpPr>
            <a:spLocks noGrp="1"/>
          </p:cNvSpPr>
          <p:nvPr/>
        </p:nvSpPr>
        <p:spPr>
          <a:xfrm rot="16200000" flipH="1">
            <a:off x="5669568" y="277912"/>
            <a:ext cx="524256" cy="1186339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3" name="Rectangle 22">
            <a:extLst>
              <a:ext uri="{FF2B5EF4-FFF2-40B4-BE49-F238E27FC236}">
                <a16:creationId xmlns:a16="http://schemas.microsoft.com/office/drawing/2014/main" id="{A648176E-454C-437C-B0FC-9B82FCF32B24}"/>
              </a:ext>
            </a:extLst>
          </p:cNvPr>
          <p:cNvSpPr>
            <a:spLocks noGrp="1"/>
          </p:cNvSpPr>
          <p:nvPr/>
        </p:nvSpPr>
        <p:spPr>
          <a:xfrm rot="5400000">
            <a:off x="11771105" y="6131892"/>
            <a:ext cx="524256"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5" name="Rectangle 24">
            <a:extLst>
              <a:ext uri="{FF2B5EF4-FFF2-40B4-BE49-F238E27FC236}">
                <a16:creationId xmlns:a16="http://schemas.microsoft.com/office/drawing/2014/main" id="{4335D5A6-AB7A-4677-8D44-034515D66C4B}"/>
              </a:ext>
            </a:extLst>
          </p:cNvPr>
          <p:cNvSpPr>
            <a:spLocks noGrp="1"/>
          </p:cNvSpPr>
          <p:nvPr/>
        </p:nvSpPr>
        <p:spPr>
          <a:xfrm>
            <a:off x="4804757" y="703666"/>
            <a:ext cx="7168911" cy="563811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8" name="Afbeelding 7">
            <a:extLst>
              <a:ext uri="{FF2B5EF4-FFF2-40B4-BE49-F238E27FC236}">
                <a16:creationId xmlns:a16="http://schemas.microsoft.com/office/drawing/2014/main" id="{2D33DD7A-3AD2-41CC-959F-8646596DE537}"/>
              </a:ext>
            </a:extLst>
          </p:cNvPr>
          <p:cNvPicPr>
            <a:picLocks noChangeAspect="1"/>
          </p:cNvPicPr>
          <p:nvPr/>
        </p:nvPicPr>
        <p:blipFill>
          <a:blip r:embed="rId3"/>
          <a:stretch>
            <a:fillRect/>
          </a:stretch>
        </p:blipFill>
        <p:spPr>
          <a:xfrm>
            <a:off x="5943173" y="650786"/>
            <a:ext cx="2379748" cy="2379748"/>
          </a:xfrm>
          <a:prstGeom prst="rect">
            <a:avLst/>
          </a:prstGeom>
          <a:ln>
            <a:noFill/>
          </a:ln>
          <a:effectLst>
            <a:outerShdw blurRad="292100" dist="139700" dir="2700000" algn="tl" rotWithShape="0">
              <a:srgbClr val="333333">
                <a:alpha val="65000"/>
              </a:srgbClr>
            </a:outerShdw>
          </a:effectLst>
        </p:spPr>
      </p:pic>
      <p:pic>
        <p:nvPicPr>
          <p:cNvPr id="6" name="Afbeelding 5">
            <a:extLst>
              <a:ext uri="{FF2B5EF4-FFF2-40B4-BE49-F238E27FC236}">
                <a16:creationId xmlns:a16="http://schemas.microsoft.com/office/drawing/2014/main" id="{8CCB430F-AB2D-4A9D-981F-C4B7C8A4D100}"/>
              </a:ext>
            </a:extLst>
          </p:cNvPr>
          <p:cNvPicPr>
            <a:picLocks noChangeAspect="1"/>
          </p:cNvPicPr>
          <p:nvPr/>
        </p:nvPicPr>
        <p:blipFill>
          <a:blip r:embed="rId3"/>
          <a:stretch>
            <a:fillRect/>
          </a:stretch>
        </p:blipFill>
        <p:spPr>
          <a:xfrm>
            <a:off x="8322921" y="3437775"/>
            <a:ext cx="2379748" cy="2379748"/>
          </a:xfrm>
          <a:prstGeom prst="rect">
            <a:avLst/>
          </a:prstGeom>
          <a:ln>
            <a:noFill/>
          </a:ln>
          <a:effectLst>
            <a:outerShdw blurRad="292100" dist="139700" dir="2700000" algn="tl" rotWithShape="0">
              <a:srgbClr val="333333">
                <a:alpha val="65000"/>
              </a:srgbClr>
            </a:outerShdw>
          </a:effectLst>
        </p:spPr>
      </p:pic>
      <p:pic>
        <p:nvPicPr>
          <p:cNvPr id="10" name="Afbeelding 9">
            <a:extLst>
              <a:ext uri="{FF2B5EF4-FFF2-40B4-BE49-F238E27FC236}">
                <a16:creationId xmlns:a16="http://schemas.microsoft.com/office/drawing/2014/main" id="{CE02806E-4A9A-4D8F-9445-D46D233D9AA6}"/>
              </a:ext>
            </a:extLst>
          </p:cNvPr>
          <p:cNvPicPr>
            <a:picLocks noChangeAspect="1"/>
          </p:cNvPicPr>
          <p:nvPr/>
        </p:nvPicPr>
        <p:blipFill>
          <a:blip r:embed="rId4"/>
          <a:srcRect l="35000" t="4000" r="25000" b="24889"/>
          <a:stretch>
            <a:fillRect/>
          </a:stretch>
        </p:blipFill>
        <p:spPr>
          <a:xfrm>
            <a:off x="8958420" y="672397"/>
            <a:ext cx="2379748" cy="2379748"/>
          </a:xfrm>
          <a:prstGeom prst="rect">
            <a:avLst/>
          </a:prstGeom>
          <a:ln>
            <a:noFill/>
          </a:ln>
          <a:effectLst>
            <a:outerShdw blurRad="292100" dist="139700" dir="2700000" algn="tl" rotWithShape="0">
              <a:srgbClr val="333333">
                <a:alpha val="65000"/>
              </a:srgbClr>
            </a:outerShdw>
          </a:effectLst>
        </p:spPr>
      </p:pic>
      <p:pic>
        <p:nvPicPr>
          <p:cNvPr id="12" name="Afbeelding 11">
            <a:extLst>
              <a:ext uri="{FF2B5EF4-FFF2-40B4-BE49-F238E27FC236}">
                <a16:creationId xmlns:a16="http://schemas.microsoft.com/office/drawing/2014/main" id="{91E0BDD3-F91A-480E-B685-557A504FBBA5}"/>
              </a:ext>
            </a:extLst>
          </p:cNvPr>
          <p:cNvPicPr>
            <a:picLocks noChangeAspect="1"/>
          </p:cNvPicPr>
          <p:nvPr/>
        </p:nvPicPr>
        <p:blipFill>
          <a:blip r:embed="rId5"/>
          <a:stretch>
            <a:fillRect/>
          </a:stretch>
        </p:blipFill>
        <p:spPr>
          <a:xfrm>
            <a:off x="5334469" y="3416163"/>
            <a:ext cx="2379748" cy="2379748"/>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9799661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AAAE94E3-A7DB-4868-B1E3-E49703488BBC}"/>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8" name="Rectangle 27">
            <a:extLst>
              <a:ext uri="{FF2B5EF4-FFF2-40B4-BE49-F238E27FC236}">
                <a16:creationId xmlns:a16="http://schemas.microsoft.com/office/drawing/2014/main" id="{F399A70F-F8CD-4992-9EF5-6CF15472E73F}"/>
              </a:ext>
            </a:extLst>
          </p:cNvPr>
          <p:cNvSpPr>
            <a:spLocks noGrp="1"/>
          </p:cNvSpPr>
          <p:nvPr/>
        </p:nvSpPr>
        <p:spPr>
          <a:xfrm>
            <a:off x="0" y="1083484"/>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9" name="Rectangle 28">
            <a:extLst>
              <a:ext uri="{FF2B5EF4-FFF2-40B4-BE49-F238E27FC236}">
                <a16:creationId xmlns:a16="http://schemas.microsoft.com/office/drawing/2014/main" id="{48F4FEDC-6D80-458C-A665-075D9B9500FD}"/>
              </a:ext>
            </a:extLst>
          </p:cNvPr>
          <p:cNvSpPr>
            <a:spLocks noGrp="1"/>
          </p:cNvSpPr>
          <p:nvPr/>
        </p:nvSpPr>
        <p:spPr>
          <a:xfrm>
            <a:off x="159341" y="1083484"/>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1" name="Rectangle 30">
            <a:extLst>
              <a:ext uri="{FF2B5EF4-FFF2-40B4-BE49-F238E27FC236}">
                <a16:creationId xmlns:a16="http://schemas.microsoft.com/office/drawing/2014/main" id="{3873B707-463F-40B0-8227-E8CC6C67EB25}"/>
              </a:ext>
            </a:extLst>
          </p:cNvPr>
          <p:cNvSpPr>
            <a:spLocks noGrp="1"/>
          </p:cNvSpPr>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3" name="Rectangle 32">
            <a:extLst>
              <a:ext uri="{FF2B5EF4-FFF2-40B4-BE49-F238E27FC236}">
                <a16:creationId xmlns:a16="http://schemas.microsoft.com/office/drawing/2014/main" id="{C13237C8-E62C-4F0D-A318-BD6FB6C2D138}"/>
              </a:ext>
            </a:extLst>
          </p:cNvPr>
          <p:cNvSpPr>
            <a:spLocks noGrp="1"/>
          </p:cNvSpPr>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Rectangle 34">
            <a:extLst>
              <a:ext uri="{FF2B5EF4-FFF2-40B4-BE49-F238E27FC236}">
                <a16:creationId xmlns:a16="http://schemas.microsoft.com/office/drawing/2014/main" id="{19C9EAEA-39D0-4B0E-A0EB-51E7B26740B1}"/>
              </a:ext>
            </a:extLst>
          </p:cNvPr>
          <p:cNvSpPr>
            <a:spLocks noGrp="1"/>
          </p:cNvSpPr>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7" name="Rectangle 36">
            <a:extLst>
              <a:ext uri="{FF2B5EF4-FFF2-40B4-BE49-F238E27FC236}">
                <a16:creationId xmlns:a16="http://schemas.microsoft.com/office/drawing/2014/main" id="{8CB5D2D7-DF65-4E86-BFBA-FFB9B5ACEB64}"/>
              </a:ext>
            </a:extLst>
          </p:cNvPr>
          <p:cNvSpPr>
            <a:spLocks noGrp="1"/>
          </p:cNvSpPr>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8" name="content-7">
            <a:extLst>
              <a:ext uri="{FF2B5EF4-FFF2-40B4-BE49-F238E27FC236}">
                <a16:creationId xmlns:a16="http://schemas.microsoft.com/office/drawing/2014/main" id="{5D449489-833D-46A0-91A6-67ED26C906A7}"/>
              </a:ext>
            </a:extLst>
          </p:cNvPr>
          <p:cNvSpPr>
            <a:spLocks noGrp="1"/>
          </p:cNvSpPr>
          <p:nvPr/>
        </p:nvSpPr>
        <p:spPr>
          <a:xfrm>
            <a:off x="666750" y="914400"/>
            <a:ext cx="4429125" cy="1047750"/>
          </a:xfrm>
          <a:prstGeom prst="rect">
            <a:avLst/>
          </a:prstGeom>
          <a:noFill/>
          <a:ln w="0">
            <a:noFill/>
          </a:ln>
        </p:spPr>
        <p:txBody>
          <a:bodyPr lIns="0" tIns="0" rIns="0" bIns="0" anchor="t"/>
          <a:lstStyle>
            <a:defPPr>
              <a:defRPr sz="3300" b="0">
                <a:solidFill>
                  <a:srgbClr val="000000"/>
                </a:solidFill>
                <a:latin typeface="Aptos Display"/>
                <a:ea typeface="Aptos Display"/>
                <a:cs typeface="Aptos Display"/>
              </a:defRPr>
            </a:defPPr>
          </a:lstStyle>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Mushroom Challenge</a:t>
            </a:r>
          </a:p>
        </p:txBody>
      </p:sp>
      <p:sp>
        <p:nvSpPr>
          <p:cNvPr id="39" name="content-8">
            <a:extLst>
              <a:ext uri="{FF2B5EF4-FFF2-40B4-BE49-F238E27FC236}">
                <a16:creationId xmlns:a16="http://schemas.microsoft.com/office/drawing/2014/main" id="{501BEBF2-ECE6-4810-B030-DFC5C3CEAD6B}"/>
              </a:ext>
            </a:extLst>
          </p:cNvPr>
          <p:cNvSpPr>
            <a:spLocks noGrp="1"/>
          </p:cNvSpPr>
          <p:nvPr/>
        </p:nvSpPr>
        <p:spPr>
          <a:xfrm>
            <a:off x="666750" y="2819400"/>
            <a:ext cx="5143500" cy="6096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5,000 course records</a:t>
            </a:r>
          </a:p>
        </p:txBody>
      </p:sp>
      <p:sp>
        <p:nvSpPr>
          <p:cNvPr id="40" name="content-9">
            <a:extLst>
              <a:ext uri="{FF2B5EF4-FFF2-40B4-BE49-F238E27FC236}">
                <a16:creationId xmlns:a16="http://schemas.microsoft.com/office/drawing/2014/main" id="{C42DF576-629B-4E41-9D1A-390DCFCC33DA}"/>
              </a:ext>
            </a:extLst>
          </p:cNvPr>
          <p:cNvSpPr>
            <a:spLocks noGrp="1"/>
          </p:cNvSpPr>
          <p:nvPr/>
        </p:nvSpPr>
        <p:spPr>
          <a:xfrm>
            <a:off x="666750" y="3505200"/>
            <a:ext cx="5143500" cy="6096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Target: edible (e) / poisonous (p)</a:t>
            </a:r>
          </a:p>
        </p:txBody>
      </p:sp>
      <p:sp>
        <p:nvSpPr>
          <p:cNvPr id="41" name="content-10">
            <a:extLst>
              <a:ext uri="{FF2B5EF4-FFF2-40B4-BE49-F238E27FC236}">
                <a16:creationId xmlns:a16="http://schemas.microsoft.com/office/drawing/2014/main" id="{62FE09E7-E240-488F-8B2A-4EEB040D8133}"/>
              </a:ext>
            </a:extLst>
          </p:cNvPr>
          <p:cNvSpPr>
            <a:spLocks noGrp="1"/>
          </p:cNvSpPr>
          <p:nvPr/>
        </p:nvSpPr>
        <p:spPr>
          <a:xfrm>
            <a:off x="666750" y="4191000"/>
            <a:ext cx="5143500" cy="6096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11 input features</a:t>
            </a:r>
          </a:p>
        </p:txBody>
      </p:sp>
      <p:sp>
        <p:nvSpPr>
          <p:cNvPr id="42" name="content-11">
            <a:extLst>
              <a:ext uri="{FF2B5EF4-FFF2-40B4-BE49-F238E27FC236}">
                <a16:creationId xmlns:a16="http://schemas.microsoft.com/office/drawing/2014/main" id="{4DF0CC83-A693-43D5-A69B-7FDE6484E4E3}"/>
              </a:ext>
            </a:extLst>
          </p:cNvPr>
          <p:cNvSpPr>
            <a:spLocks noGrp="1"/>
          </p:cNvSpPr>
          <p:nvPr/>
        </p:nvSpPr>
        <p:spPr>
          <a:xfrm>
            <a:off x="666750" y="4876800"/>
            <a:ext cx="5143500" cy="6096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jumbled_noise_0 removed</a:t>
            </a:r>
          </a:p>
        </p:txBody>
      </p:sp>
      <p:pic>
        <p:nvPicPr>
          <p:cNvPr id="43" name="Picture 42">
            <a:extLst>
              <a:ext uri="{FF2B5EF4-FFF2-40B4-BE49-F238E27FC236}">
                <a16:creationId xmlns:a16="http://schemas.microsoft.com/office/drawing/2014/main" id="{8A23B272-7709-4A28-ADAA-396DE4049C36}"/>
              </a:ext>
            </a:extLst>
          </p:cNvPr>
          <p:cNvPicPr>
            <a:picLocks noChangeAspect="1"/>
          </p:cNvPicPr>
          <p:nvPr/>
        </p:nvPicPr>
        <p:blipFill>
          <a:blip r:embed="rId3"/>
          <a:stretch/>
        </p:blipFill>
        <p:spPr>
          <a:xfrm>
            <a:off x="7929563" y="571500"/>
            <a:ext cx="2524125" cy="2524125"/>
          </a:xfrm>
          <a:prstGeom prst="rect">
            <a:avLst/>
          </a:prstGeom>
        </p:spPr>
      </p:pic>
      <p:pic>
        <p:nvPicPr>
          <p:cNvPr id="44" name="Picture 43">
            <a:extLst>
              <a:ext uri="{FF2B5EF4-FFF2-40B4-BE49-F238E27FC236}">
                <a16:creationId xmlns:a16="http://schemas.microsoft.com/office/drawing/2014/main" id="{A4A9C1BC-359A-4B0F-A4A0-E45B39A33C3E}"/>
              </a:ext>
            </a:extLst>
          </p:cNvPr>
          <p:cNvPicPr>
            <a:picLocks noChangeAspect="1"/>
          </p:cNvPicPr>
          <p:nvPr/>
        </p:nvPicPr>
        <p:blipFill>
          <a:blip r:embed="rId4"/>
          <a:stretch/>
        </p:blipFill>
        <p:spPr>
          <a:xfrm>
            <a:off x="7953375" y="3714750"/>
            <a:ext cx="2476500" cy="2476500"/>
          </a:xfrm>
          <a:prstGeom prst="rect">
            <a:avLst/>
          </a:prstGeom>
        </p:spPr>
      </p:pic>
    </p:spTree>
    <p:extLst>
      <p:ext uri="{BB962C8B-B14F-4D97-AF65-F5344CB8AC3E}">
        <p14:creationId xmlns:p14="http://schemas.microsoft.com/office/powerpoint/2010/main" val="3333968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201CC55D-ED54-4C5C-95E6-10947BD1103B}"/>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0" name="Rectangle 39">
            <a:extLst>
              <a:ext uri="{FF2B5EF4-FFF2-40B4-BE49-F238E27FC236}">
                <a16:creationId xmlns:a16="http://schemas.microsoft.com/office/drawing/2014/main" id="{F399A70F-F8CD-4992-9EF5-6CF15472E73F}"/>
              </a:ext>
            </a:extLst>
          </p:cNvPr>
          <p:cNvSpPr>
            <a:spLocks noGrp="1"/>
          </p:cNvSpPr>
          <p:nvPr/>
        </p:nvSpPr>
        <p:spPr>
          <a:xfrm>
            <a:off x="0" y="1083484"/>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1" name="Rectangle 40">
            <a:extLst>
              <a:ext uri="{FF2B5EF4-FFF2-40B4-BE49-F238E27FC236}">
                <a16:creationId xmlns:a16="http://schemas.microsoft.com/office/drawing/2014/main" id="{48F4FEDC-6D80-458C-A665-075D9B9500FD}"/>
              </a:ext>
            </a:extLst>
          </p:cNvPr>
          <p:cNvSpPr>
            <a:spLocks noGrp="1"/>
          </p:cNvSpPr>
          <p:nvPr/>
        </p:nvSpPr>
        <p:spPr>
          <a:xfrm>
            <a:off x="159341" y="1083484"/>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3" name="Rectangle 42">
            <a:extLst>
              <a:ext uri="{FF2B5EF4-FFF2-40B4-BE49-F238E27FC236}">
                <a16:creationId xmlns:a16="http://schemas.microsoft.com/office/drawing/2014/main" id="{3873B707-463F-40B0-8227-E8CC6C67EB25}"/>
              </a:ext>
            </a:extLst>
          </p:cNvPr>
          <p:cNvSpPr>
            <a:spLocks noGrp="1"/>
          </p:cNvSpPr>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5" name="Rectangle 44">
            <a:extLst>
              <a:ext uri="{FF2B5EF4-FFF2-40B4-BE49-F238E27FC236}">
                <a16:creationId xmlns:a16="http://schemas.microsoft.com/office/drawing/2014/main" id="{C13237C8-E62C-4F0D-A318-BD6FB6C2D138}"/>
              </a:ext>
            </a:extLst>
          </p:cNvPr>
          <p:cNvSpPr>
            <a:spLocks noGrp="1"/>
          </p:cNvSpPr>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7" name="Rectangle 46">
            <a:extLst>
              <a:ext uri="{FF2B5EF4-FFF2-40B4-BE49-F238E27FC236}">
                <a16:creationId xmlns:a16="http://schemas.microsoft.com/office/drawing/2014/main" id="{19C9EAEA-39D0-4B0E-A0EB-51E7B26740B1}"/>
              </a:ext>
            </a:extLst>
          </p:cNvPr>
          <p:cNvSpPr>
            <a:spLocks noGrp="1"/>
          </p:cNvSpPr>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8" name="content-6">
            <a:extLst>
              <a:ext uri="{FF2B5EF4-FFF2-40B4-BE49-F238E27FC236}">
                <a16:creationId xmlns:a16="http://schemas.microsoft.com/office/drawing/2014/main" id="{34BF0A27-FFE5-4FD9-9096-9C611A3B2421}"/>
              </a:ext>
            </a:extLst>
          </p:cNvPr>
          <p:cNvSpPr>
            <a:spLocks noGrp="1"/>
          </p:cNvSpPr>
          <p:nvPr/>
        </p:nvSpPr>
        <p:spPr>
          <a:xfrm>
            <a:off x="666750" y="914400"/>
            <a:ext cx="4429125" cy="1047750"/>
          </a:xfrm>
          <a:prstGeom prst="rect">
            <a:avLst/>
          </a:prstGeom>
          <a:noFill/>
          <a:ln w="0">
            <a:noFill/>
          </a:ln>
        </p:spPr>
        <p:txBody>
          <a:bodyPr lIns="0" tIns="0" rIns="0" bIns="0" anchor="t"/>
          <a:lstStyle>
            <a:defPPr>
              <a:defRPr sz="3300" b="0">
                <a:solidFill>
                  <a:srgbClr val="000000"/>
                </a:solidFill>
                <a:latin typeface="Aptos Display"/>
                <a:ea typeface="Aptos Display"/>
                <a:cs typeface="Aptos Display"/>
              </a:defRPr>
            </a:defPPr>
          </a:lstStyle>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Mushroom Challenge -</a:t>
            </a:r>
          </a:p>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Distribution</a:t>
            </a:r>
          </a:p>
        </p:txBody>
      </p:sp>
      <p:sp>
        <p:nvSpPr>
          <p:cNvPr id="49" name="content-7">
            <a:extLst>
              <a:ext uri="{FF2B5EF4-FFF2-40B4-BE49-F238E27FC236}">
                <a16:creationId xmlns:a16="http://schemas.microsoft.com/office/drawing/2014/main" id="{FFC24CEC-3104-4EE5-97E6-2D9833294214}"/>
              </a:ext>
            </a:extLst>
          </p:cNvPr>
          <p:cNvSpPr>
            <a:spLocks noGrp="1"/>
          </p:cNvSpPr>
          <p:nvPr/>
        </p:nvSpPr>
        <p:spPr>
          <a:xfrm>
            <a:off x="666750" y="2809875"/>
            <a:ext cx="4476750" cy="628650"/>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Edible: 3,107 records</a:t>
            </a:r>
          </a:p>
        </p:txBody>
      </p:sp>
      <p:sp>
        <p:nvSpPr>
          <p:cNvPr id="50" name="content-8">
            <a:extLst>
              <a:ext uri="{FF2B5EF4-FFF2-40B4-BE49-F238E27FC236}">
                <a16:creationId xmlns:a16="http://schemas.microsoft.com/office/drawing/2014/main" id="{7D50A7CB-A7F1-46B2-BC94-8F8EEACA8F36}"/>
              </a:ext>
            </a:extLst>
          </p:cNvPr>
          <p:cNvSpPr>
            <a:spLocks noGrp="1"/>
          </p:cNvSpPr>
          <p:nvPr/>
        </p:nvSpPr>
        <p:spPr>
          <a:xfrm>
            <a:off x="666750" y="3514725"/>
            <a:ext cx="4476750" cy="628650"/>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Poisonous: 1,893 records</a:t>
            </a:r>
          </a:p>
        </p:txBody>
      </p:sp>
      <p:sp>
        <p:nvSpPr>
          <p:cNvPr id="51" name="content-9">
            <a:extLst>
              <a:ext uri="{FF2B5EF4-FFF2-40B4-BE49-F238E27FC236}">
                <a16:creationId xmlns:a16="http://schemas.microsoft.com/office/drawing/2014/main" id="{6F652F62-FEAE-4A82-BE47-2973C29C5826}"/>
              </a:ext>
            </a:extLst>
          </p:cNvPr>
          <p:cNvSpPr>
            <a:spLocks noGrp="1"/>
          </p:cNvSpPr>
          <p:nvPr/>
        </p:nvSpPr>
        <p:spPr>
          <a:xfrm>
            <a:off x="666750" y="4219575"/>
            <a:ext cx="4476750" cy="628650"/>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Majority baseline: about 62%</a:t>
            </a:r>
          </a:p>
        </p:txBody>
      </p:sp>
      <p:sp>
        <p:nvSpPr>
          <p:cNvPr id="52" name="content-10">
            <a:extLst>
              <a:ext uri="{FF2B5EF4-FFF2-40B4-BE49-F238E27FC236}">
                <a16:creationId xmlns:a16="http://schemas.microsoft.com/office/drawing/2014/main" id="{E6D85B84-4857-4E46-9A39-5F618541708E}"/>
              </a:ext>
            </a:extLst>
          </p:cNvPr>
          <p:cNvSpPr>
            <a:spLocks noGrp="1"/>
          </p:cNvSpPr>
          <p:nvPr/>
        </p:nvSpPr>
        <p:spPr>
          <a:xfrm>
            <a:off x="666750" y="4924425"/>
            <a:ext cx="4476750" cy="628650"/>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Accuracy alone is insufficient</a:t>
            </a:r>
          </a:p>
        </p:txBody>
      </p:sp>
      <p:graphicFrame>
        <p:nvGraphicFramePr>
          <p:cNvPr id="53" name="Chart">
            <a:extLst>
              <a:ext uri="{FF2B5EF4-FFF2-40B4-BE49-F238E27FC236}">
                <a16:creationId xmlns:a16="http://schemas.microsoft.com/office/drawing/2014/main" id="{65FE2574-44D5-43CE-9F42-EE1C965BD2E2}"/>
              </a:ext>
            </a:extLst>
          </p:cNvPr>
          <p:cNvGraphicFramePr/>
          <p:nvPr/>
        </p:nvGraphicFramePr>
        <p:xfrm>
          <a:off x="6000750" y="1381125"/>
          <a:ext cx="5286375" cy="4143375"/>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81302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67" name="Rectangle 55">
            <a:extLst>
              <a:ext uri="{FF2B5EF4-FFF2-40B4-BE49-F238E27FC236}">
                <a16:creationId xmlns:a16="http://schemas.microsoft.com/office/drawing/2014/main" id="{201CC55D-ED54-4C5C-95E6-10947BD1103B}"/>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59" name="Rectangle 58">
            <a:extLst>
              <a:ext uri="{FF2B5EF4-FFF2-40B4-BE49-F238E27FC236}">
                <a16:creationId xmlns:a16="http://schemas.microsoft.com/office/drawing/2014/main" id="{F399A70F-F8CD-4992-9EF5-6CF15472E73F}"/>
              </a:ext>
            </a:extLst>
          </p:cNvPr>
          <p:cNvSpPr>
            <a:spLocks noGrp="1"/>
          </p:cNvSpPr>
          <p:nvPr/>
        </p:nvSpPr>
        <p:spPr>
          <a:xfrm>
            <a:off x="0" y="1083484"/>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69" name="Rectangle 59">
            <a:extLst>
              <a:ext uri="{FF2B5EF4-FFF2-40B4-BE49-F238E27FC236}">
                <a16:creationId xmlns:a16="http://schemas.microsoft.com/office/drawing/2014/main" id="{48F4FEDC-6D80-458C-A665-075D9B9500FD}"/>
              </a:ext>
            </a:extLst>
          </p:cNvPr>
          <p:cNvSpPr>
            <a:spLocks noGrp="1"/>
          </p:cNvSpPr>
          <p:nvPr/>
        </p:nvSpPr>
        <p:spPr>
          <a:xfrm>
            <a:off x="159341" y="1083484"/>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0" name="Rectangle 61">
            <a:extLst>
              <a:ext uri="{FF2B5EF4-FFF2-40B4-BE49-F238E27FC236}">
                <a16:creationId xmlns:a16="http://schemas.microsoft.com/office/drawing/2014/main" id="{3873B707-463F-40B0-8227-E8CC6C67EB25}"/>
              </a:ext>
            </a:extLst>
          </p:cNvPr>
          <p:cNvSpPr>
            <a:spLocks noGrp="1"/>
          </p:cNvSpPr>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1" name="Rectangle 63">
            <a:extLst>
              <a:ext uri="{FF2B5EF4-FFF2-40B4-BE49-F238E27FC236}">
                <a16:creationId xmlns:a16="http://schemas.microsoft.com/office/drawing/2014/main" id="{C13237C8-E62C-4F0D-A318-BD6FB6C2D138}"/>
              </a:ext>
            </a:extLst>
          </p:cNvPr>
          <p:cNvSpPr>
            <a:spLocks noGrp="1"/>
          </p:cNvSpPr>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66" name="Rectangle 65">
            <a:extLst>
              <a:ext uri="{FF2B5EF4-FFF2-40B4-BE49-F238E27FC236}">
                <a16:creationId xmlns:a16="http://schemas.microsoft.com/office/drawing/2014/main" id="{19C9EAEA-39D0-4B0E-A0EB-51E7B26740B1}"/>
              </a:ext>
            </a:extLst>
          </p:cNvPr>
          <p:cNvSpPr>
            <a:spLocks noGrp="1"/>
          </p:cNvSpPr>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2" name="content-6">
            <a:extLst>
              <a:ext uri="{FF2B5EF4-FFF2-40B4-BE49-F238E27FC236}">
                <a16:creationId xmlns:a16="http://schemas.microsoft.com/office/drawing/2014/main" id="{1CDD75AF-9DE3-4ECD-AD82-2E2941997932}"/>
              </a:ext>
            </a:extLst>
          </p:cNvPr>
          <p:cNvSpPr>
            <a:spLocks noGrp="1"/>
          </p:cNvSpPr>
          <p:nvPr/>
        </p:nvSpPr>
        <p:spPr>
          <a:xfrm>
            <a:off x="666750" y="914400"/>
            <a:ext cx="4429125" cy="1047750"/>
          </a:xfrm>
          <a:prstGeom prst="rect">
            <a:avLst/>
          </a:prstGeom>
          <a:noFill/>
          <a:ln w="0">
            <a:noFill/>
          </a:ln>
        </p:spPr>
        <p:txBody>
          <a:bodyPr lIns="0" tIns="0" rIns="0" bIns="0" anchor="t"/>
          <a:lstStyle>
            <a:defPPr>
              <a:defRPr sz="3300" b="0">
                <a:solidFill>
                  <a:srgbClr val="000000"/>
                </a:solidFill>
                <a:latin typeface="Aptos Display"/>
                <a:ea typeface="Aptos Display"/>
                <a:cs typeface="Aptos Display"/>
              </a:defRPr>
            </a:defPPr>
          </a:lstStyle>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Mushroom Challenge -</a:t>
            </a:r>
          </a:p>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Missing values</a:t>
            </a:r>
          </a:p>
        </p:txBody>
      </p:sp>
      <p:sp>
        <p:nvSpPr>
          <p:cNvPr id="73" name="content-7">
            <a:extLst>
              <a:ext uri="{FF2B5EF4-FFF2-40B4-BE49-F238E27FC236}">
                <a16:creationId xmlns:a16="http://schemas.microsoft.com/office/drawing/2014/main" id="{0B3533B3-6D07-4BCF-AB19-9A27515B6BDC}"/>
              </a:ext>
            </a:extLst>
          </p:cNvPr>
          <p:cNvSpPr>
            <a:spLocks noGrp="1"/>
          </p:cNvSpPr>
          <p:nvPr/>
        </p:nvSpPr>
        <p:spPr>
          <a:xfrm>
            <a:off x="666750" y="2809875"/>
            <a:ext cx="4476750" cy="619125"/>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Spore print: 94.8% missing</a:t>
            </a:r>
          </a:p>
        </p:txBody>
      </p:sp>
      <p:sp>
        <p:nvSpPr>
          <p:cNvPr id="74" name="content-8">
            <a:extLst>
              <a:ext uri="{FF2B5EF4-FFF2-40B4-BE49-F238E27FC236}">
                <a16:creationId xmlns:a16="http://schemas.microsoft.com/office/drawing/2014/main" id="{8EBDA809-EF48-4656-9C90-68D0410830D1}"/>
              </a:ext>
            </a:extLst>
          </p:cNvPr>
          <p:cNvSpPr>
            <a:spLocks noGrp="1"/>
          </p:cNvSpPr>
          <p:nvPr/>
        </p:nvSpPr>
        <p:spPr>
          <a:xfrm>
            <a:off x="666750" y="3505200"/>
            <a:ext cx="4476750" cy="619125"/>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Stem surface: 67.2% missing</a:t>
            </a:r>
          </a:p>
        </p:txBody>
      </p:sp>
      <p:sp>
        <p:nvSpPr>
          <p:cNvPr id="75" name="content-9">
            <a:extLst>
              <a:ext uri="{FF2B5EF4-FFF2-40B4-BE49-F238E27FC236}">
                <a16:creationId xmlns:a16="http://schemas.microsoft.com/office/drawing/2014/main" id="{739E7770-AC99-4BC1-AFA6-1779C5771071}"/>
              </a:ext>
            </a:extLst>
          </p:cNvPr>
          <p:cNvSpPr>
            <a:spLocks noGrp="1"/>
          </p:cNvSpPr>
          <p:nvPr/>
        </p:nvSpPr>
        <p:spPr>
          <a:xfrm>
            <a:off x="666750" y="4200525"/>
            <a:ext cx="4476750" cy="619125"/>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Median / mode imputation</a:t>
            </a:r>
          </a:p>
        </p:txBody>
      </p:sp>
      <p:sp>
        <p:nvSpPr>
          <p:cNvPr id="76" name="content-10">
            <a:extLst>
              <a:ext uri="{FF2B5EF4-FFF2-40B4-BE49-F238E27FC236}">
                <a16:creationId xmlns:a16="http://schemas.microsoft.com/office/drawing/2014/main" id="{AF717748-5A4C-4EC1-A36A-7F5DCC2129C2}"/>
              </a:ext>
            </a:extLst>
          </p:cNvPr>
          <p:cNvSpPr>
            <a:spLocks noGrp="1"/>
          </p:cNvSpPr>
          <p:nvPr/>
        </p:nvSpPr>
        <p:spPr>
          <a:xfrm>
            <a:off x="666750" y="4895850"/>
            <a:ext cx="4476750" cy="619125"/>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Fit preprocessing per fold</a:t>
            </a:r>
          </a:p>
        </p:txBody>
      </p:sp>
      <p:graphicFrame>
        <p:nvGraphicFramePr>
          <p:cNvPr id="77" name="Chart">
            <a:extLst>
              <a:ext uri="{FF2B5EF4-FFF2-40B4-BE49-F238E27FC236}">
                <a16:creationId xmlns:a16="http://schemas.microsoft.com/office/drawing/2014/main" id="{3C3B731C-45AD-487A-A640-16E2745D5111}"/>
              </a:ext>
            </a:extLst>
          </p:cNvPr>
          <p:cNvGraphicFramePr/>
          <p:nvPr/>
        </p:nvGraphicFramePr>
        <p:xfrm>
          <a:off x="6000750" y="1381125"/>
          <a:ext cx="5286375" cy="4143375"/>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941600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01CC55D-ED54-4C5C-95E6-10947BD1103B}"/>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F399A70F-F8CD-4992-9EF5-6CF15472E73F}"/>
              </a:ext>
            </a:extLst>
          </p:cNvPr>
          <p:cNvSpPr>
            <a:spLocks noGrp="1"/>
          </p:cNvSpPr>
          <p:nvPr/>
        </p:nvSpPr>
        <p:spPr>
          <a:xfrm>
            <a:off x="0" y="1083484"/>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5" name="Rectangle 14">
            <a:extLst>
              <a:ext uri="{FF2B5EF4-FFF2-40B4-BE49-F238E27FC236}">
                <a16:creationId xmlns:a16="http://schemas.microsoft.com/office/drawing/2014/main" id="{48F4FEDC-6D80-458C-A665-075D9B9500FD}"/>
              </a:ext>
            </a:extLst>
          </p:cNvPr>
          <p:cNvSpPr>
            <a:spLocks noGrp="1"/>
          </p:cNvSpPr>
          <p:nvPr/>
        </p:nvSpPr>
        <p:spPr>
          <a:xfrm>
            <a:off x="159341" y="1083484"/>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7" name="Rectangle 16">
            <a:extLst>
              <a:ext uri="{FF2B5EF4-FFF2-40B4-BE49-F238E27FC236}">
                <a16:creationId xmlns:a16="http://schemas.microsoft.com/office/drawing/2014/main" id="{3873B707-463F-40B0-8227-E8CC6C67EB25}"/>
              </a:ext>
            </a:extLst>
          </p:cNvPr>
          <p:cNvSpPr>
            <a:spLocks noGrp="1"/>
          </p:cNvSpPr>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9" name="Rectangle 18">
            <a:extLst>
              <a:ext uri="{FF2B5EF4-FFF2-40B4-BE49-F238E27FC236}">
                <a16:creationId xmlns:a16="http://schemas.microsoft.com/office/drawing/2014/main" id="{C13237C8-E62C-4F0D-A318-BD6FB6C2D138}"/>
              </a:ext>
            </a:extLst>
          </p:cNvPr>
          <p:cNvSpPr>
            <a:spLocks noGrp="1"/>
          </p:cNvSpPr>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19C9EAEA-39D0-4B0E-A0EB-51E7B26740B1}"/>
              </a:ext>
            </a:extLst>
          </p:cNvPr>
          <p:cNvSpPr>
            <a:spLocks noGrp="1"/>
          </p:cNvSpPr>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2" name="content-6">
            <a:extLst>
              <a:ext uri="{FF2B5EF4-FFF2-40B4-BE49-F238E27FC236}">
                <a16:creationId xmlns:a16="http://schemas.microsoft.com/office/drawing/2014/main" id="{AB321D3C-965D-4B03-B9AF-F63C6EDFE3B2}"/>
              </a:ext>
            </a:extLst>
          </p:cNvPr>
          <p:cNvSpPr>
            <a:spLocks noGrp="1"/>
          </p:cNvSpPr>
          <p:nvPr/>
        </p:nvSpPr>
        <p:spPr>
          <a:xfrm>
            <a:off x="666750" y="914400"/>
            <a:ext cx="4429125" cy="1047750"/>
          </a:xfrm>
          <a:prstGeom prst="rect">
            <a:avLst/>
          </a:prstGeom>
          <a:noFill/>
          <a:ln w="0">
            <a:noFill/>
          </a:ln>
        </p:spPr>
        <p:txBody>
          <a:bodyPr lIns="0" tIns="0" rIns="0" bIns="0" anchor="t"/>
          <a:lstStyle>
            <a:defPPr>
              <a:defRPr sz="3300" b="0">
                <a:solidFill>
                  <a:srgbClr val="000000"/>
                </a:solidFill>
                <a:latin typeface="Aptos Display"/>
                <a:ea typeface="Aptos Display"/>
                <a:cs typeface="Aptos Display"/>
              </a:defRPr>
            </a:defPPr>
          </a:lstStyle>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Mushroom Challenge -</a:t>
            </a:r>
          </a:p>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Outliers</a:t>
            </a:r>
          </a:p>
        </p:txBody>
      </p:sp>
      <p:sp>
        <p:nvSpPr>
          <p:cNvPr id="23" name="content-7">
            <a:extLst>
              <a:ext uri="{FF2B5EF4-FFF2-40B4-BE49-F238E27FC236}">
                <a16:creationId xmlns:a16="http://schemas.microsoft.com/office/drawing/2014/main" id="{A6D28FA1-B7F4-4675-8864-43756DE30F16}"/>
              </a:ext>
            </a:extLst>
          </p:cNvPr>
          <p:cNvSpPr>
            <a:spLocks noGrp="1"/>
          </p:cNvSpPr>
          <p:nvPr/>
        </p:nvSpPr>
        <p:spPr>
          <a:xfrm>
            <a:off x="666750" y="2809875"/>
            <a:ext cx="4476750" cy="619125"/>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Class distributions overlap</a:t>
            </a:r>
          </a:p>
        </p:txBody>
      </p:sp>
      <p:sp>
        <p:nvSpPr>
          <p:cNvPr id="24" name="content-8">
            <a:extLst>
              <a:ext uri="{FF2B5EF4-FFF2-40B4-BE49-F238E27FC236}">
                <a16:creationId xmlns:a16="http://schemas.microsoft.com/office/drawing/2014/main" id="{CBF5A617-BF8E-49D2-8CC1-9B38D60207CE}"/>
              </a:ext>
            </a:extLst>
          </p:cNvPr>
          <p:cNvSpPr>
            <a:spLocks noGrp="1"/>
          </p:cNvSpPr>
          <p:nvPr/>
        </p:nvSpPr>
        <p:spPr>
          <a:xfrm>
            <a:off x="666750" y="3505200"/>
            <a:ext cx="4476750" cy="619125"/>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One feature cannot decide</a:t>
            </a:r>
          </a:p>
        </p:txBody>
      </p:sp>
      <p:sp>
        <p:nvSpPr>
          <p:cNvPr id="25" name="content-9">
            <a:extLst>
              <a:ext uri="{FF2B5EF4-FFF2-40B4-BE49-F238E27FC236}">
                <a16:creationId xmlns:a16="http://schemas.microsoft.com/office/drawing/2014/main" id="{42E3F8EB-80C2-4EF5-BAC4-0401F28D24AD}"/>
              </a:ext>
            </a:extLst>
          </p:cNvPr>
          <p:cNvSpPr>
            <a:spLocks noGrp="1"/>
          </p:cNvSpPr>
          <p:nvPr/>
        </p:nvSpPr>
        <p:spPr>
          <a:xfrm>
            <a:off x="666750" y="4200525"/>
            <a:ext cx="4476750" cy="619125"/>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Inspect extreme measurements</a:t>
            </a:r>
          </a:p>
        </p:txBody>
      </p:sp>
      <p:sp>
        <p:nvSpPr>
          <p:cNvPr id="26" name="content-10">
            <a:extLst>
              <a:ext uri="{FF2B5EF4-FFF2-40B4-BE49-F238E27FC236}">
                <a16:creationId xmlns:a16="http://schemas.microsoft.com/office/drawing/2014/main" id="{6107355B-0721-4C94-9D53-4B9EE5F8CFD3}"/>
              </a:ext>
            </a:extLst>
          </p:cNvPr>
          <p:cNvSpPr>
            <a:spLocks noGrp="1"/>
          </p:cNvSpPr>
          <p:nvPr/>
        </p:nvSpPr>
        <p:spPr>
          <a:xfrm>
            <a:off x="666750" y="4895850"/>
            <a:ext cx="4476750" cy="619125"/>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No automatic outlier removal</a:t>
            </a:r>
          </a:p>
        </p:txBody>
      </p:sp>
      <p:pic>
        <p:nvPicPr>
          <p:cNvPr id="27" name="Picture 26">
            <a:extLst>
              <a:ext uri="{FF2B5EF4-FFF2-40B4-BE49-F238E27FC236}">
                <a16:creationId xmlns:a16="http://schemas.microsoft.com/office/drawing/2014/main" id="{1E3D41AA-4A1B-4F86-820A-915B094B2079}"/>
              </a:ext>
            </a:extLst>
          </p:cNvPr>
          <p:cNvPicPr>
            <a:picLocks noChangeAspect="1"/>
          </p:cNvPicPr>
          <p:nvPr/>
        </p:nvPicPr>
        <p:blipFill>
          <a:blip r:embed="rId3"/>
          <a:stretch/>
        </p:blipFill>
        <p:spPr>
          <a:xfrm>
            <a:off x="5953125" y="1965993"/>
            <a:ext cx="5381625" cy="3021263"/>
          </a:xfrm>
          <a:prstGeom prst="rect">
            <a:avLst/>
          </a:prstGeom>
        </p:spPr>
      </p:pic>
    </p:spTree>
    <p:extLst>
      <p:ext uri="{BB962C8B-B14F-4D97-AF65-F5344CB8AC3E}">
        <p14:creationId xmlns:p14="http://schemas.microsoft.com/office/powerpoint/2010/main" val="34959888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74B0B678-CD10-4371-96E5-2706F4579FAD}"/>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4" name="Rectangle 73">
            <a:extLst>
              <a:ext uri="{FF2B5EF4-FFF2-40B4-BE49-F238E27FC236}">
                <a16:creationId xmlns:a16="http://schemas.microsoft.com/office/drawing/2014/main" id="{8A3838D5-9565-4601-BAC3-D1B5BDB803ED}"/>
              </a:ext>
            </a:extLst>
          </p:cNvPr>
          <p:cNvSpPr>
            <a:spLocks noGrp="1"/>
          </p:cNvSpPr>
          <p:nvPr/>
        </p:nvSpPr>
        <p:spPr>
          <a:xfrm rot="5400000">
            <a:off x="3032052" y="2878474"/>
            <a:ext cx="816039" cy="10280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5" name="Rectangle 74">
            <a:extLst>
              <a:ext uri="{FF2B5EF4-FFF2-40B4-BE49-F238E27FC236}">
                <a16:creationId xmlns:a16="http://schemas.microsoft.com/office/drawing/2014/main" id="{3349A4B8-3246-4579-922E-FE1155C7F08C}"/>
              </a:ext>
            </a:extLst>
          </p:cNvPr>
          <p:cNvSpPr>
            <a:spLocks noGrp="1"/>
          </p:cNvSpPr>
          <p:nvPr/>
        </p:nvSpPr>
        <p:spPr>
          <a:xfrm flipH="1" flipV="1">
            <a:off x="-2340441" y="2666504"/>
            <a:ext cx="5608997" cy="52739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7" name="Rectangle 76">
            <a:extLst>
              <a:ext uri="{FF2B5EF4-FFF2-40B4-BE49-F238E27FC236}">
                <a16:creationId xmlns:a16="http://schemas.microsoft.com/office/drawing/2014/main" id="{CBC4F608-B4B8-48C3-9572-C0F061B1CD99}"/>
              </a:ext>
            </a:extLst>
          </p:cNvPr>
          <p:cNvSpPr>
            <a:spLocks noGrp="1"/>
          </p:cNvSpPr>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9" name="Rectangle 78">
            <a:extLst>
              <a:ext uri="{FF2B5EF4-FFF2-40B4-BE49-F238E27FC236}">
                <a16:creationId xmlns:a16="http://schemas.microsoft.com/office/drawing/2014/main" id="{1382A32C-5B0C-4B1C-A074-76C6DBCC9F87}"/>
              </a:ext>
            </a:extLst>
          </p:cNvPr>
          <p:cNvSpPr>
            <a:spLocks noGrp="1"/>
          </p:cNvSpPr>
          <p:nvPr/>
        </p:nvSpPr>
        <p:spPr>
          <a:xfrm flipH="1">
            <a:off x="5957331" y="2188548"/>
            <a:ext cx="5041025"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80" name="content-5">
            <a:extLst>
              <a:ext uri="{FF2B5EF4-FFF2-40B4-BE49-F238E27FC236}">
                <a16:creationId xmlns:a16="http://schemas.microsoft.com/office/drawing/2014/main" id="{225261BC-7647-4D55-A136-D30960761048}"/>
              </a:ext>
            </a:extLst>
          </p:cNvPr>
          <p:cNvSpPr>
            <a:spLocks noGrp="1"/>
          </p:cNvSpPr>
          <p:nvPr/>
        </p:nvSpPr>
        <p:spPr>
          <a:xfrm>
            <a:off x="5953125" y="971550"/>
            <a:ext cx="5143500" cy="1047750"/>
          </a:xfrm>
          <a:prstGeom prst="rect">
            <a:avLst/>
          </a:prstGeom>
          <a:noFill/>
          <a:ln w="0">
            <a:noFill/>
          </a:ln>
        </p:spPr>
        <p:txBody>
          <a:bodyPr lIns="0" tIns="0" rIns="0" bIns="0" anchor="t"/>
          <a:lstStyle>
            <a:defPPr>
              <a:defRPr sz="3300" b="0">
                <a:solidFill>
                  <a:srgbClr val="000000"/>
                </a:solidFill>
                <a:latin typeface="Aptos Display"/>
                <a:ea typeface="Aptos Display"/>
                <a:cs typeface="Aptos Display"/>
              </a:defRPr>
            </a:defPPr>
          </a:lstStyle>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Mushroom Challenge -</a:t>
            </a:r>
          </a:p>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Validation</a:t>
            </a:r>
          </a:p>
        </p:txBody>
      </p:sp>
      <p:graphicFrame>
        <p:nvGraphicFramePr>
          <p:cNvPr id="81" name="Table 80">
            <a:extLst>
              <a:ext uri="{FF2B5EF4-FFF2-40B4-BE49-F238E27FC236}">
                <a16:creationId xmlns:a16="http://schemas.microsoft.com/office/drawing/2014/main" id="{C8FF1840-6C5C-4CB2-86C3-CB66D39C8410}"/>
              </a:ext>
            </a:extLst>
          </p:cNvPr>
          <p:cNvGraphicFramePr/>
          <p:nvPr/>
        </p:nvGraphicFramePr>
        <p:xfrm>
          <a:off x="1028700" y="1619250"/>
          <a:ext cx="4286250" cy="2714624"/>
        </p:xfrm>
        <a:graphic>
          <a:graphicData uri="http://schemas.openxmlformats.org/drawingml/2006/table">
            <a:tbl>
              <a:tblPr/>
              <a:tblGrid>
                <a:gridCol w="266700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tblGrid>
              <a:tr h="678656">
                <a:tc>
                  <a:txBody>
                    <a:bodyPr/>
                    <a:lstStyle/>
                    <a:p>
                      <a:r>
                        <a:rPr sz="2025" b="1">
                          <a:solidFill>
                            <a:srgbClr val="FFFFFF"/>
                          </a:solidFill>
                          <a:latin typeface="Aptos"/>
                          <a:ea typeface="Aptos"/>
                          <a:cs typeface="Aptos"/>
                        </a:rPr>
                        <a:t>Stage</a:t>
                      </a:r>
                    </a:p>
                  </a:txBody>
                  <a:tcPr>
                    <a:lnL w="5715">
                      <a:solidFill>
                        <a:srgbClr val="D1DDE2"/>
                      </a:solidFill>
                      <a:prstDash val="soli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tc>
                  <a:txBody>
                    <a:bodyPr/>
                    <a:lstStyle/>
                    <a:p>
                      <a:r>
                        <a:rPr sz="2025" b="1">
                          <a:solidFill>
                            <a:srgbClr val="FFFFFF"/>
                          </a:solidFill>
                          <a:latin typeface="Aptos"/>
                          <a:ea typeface="Aptos"/>
                          <a:cs typeface="Aptos"/>
                        </a:rPr>
                        <a:t>Rows</a:t>
                      </a:r>
                    </a:p>
                  </a:txBody>
                  <a:tcPr>
                    <a:lnL w="5715" cap="flat" cmpd="sng" algn="ctr">
                      <a:solidFill>
                        <a:srgbClr val="D1DDE2"/>
                      </a:solidFill>
                      <a:prstDash val="solid"/>
                      <a:round/>
                      <a:headEnd type="none" w="med" len="med"/>
                      <a:tailEnd type="none" w="med" len="me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extLst>
                  <a:ext uri="{0D108BD9-81ED-4DB2-BD59-A6C34878D82A}">
                    <a16:rowId xmlns:a16="http://schemas.microsoft.com/office/drawing/2014/main" val="10000"/>
                  </a:ext>
                </a:extLst>
              </a:tr>
              <a:tr h="678656">
                <a:tc>
                  <a:txBody>
                    <a:bodyPr/>
                    <a:lstStyle/>
                    <a:p>
                      <a:r>
                        <a:rPr sz="2025" b="0">
                          <a:solidFill>
                            <a:srgbClr val="000000"/>
                          </a:solidFill>
                          <a:latin typeface="Aptos"/>
                          <a:ea typeface="Aptos"/>
                          <a:cs typeface="Aptos"/>
                        </a:rPr>
                        <a:t>Training</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2025" b="0">
                          <a:solidFill>
                            <a:srgbClr val="000000"/>
                          </a:solidFill>
                          <a:latin typeface="Aptos"/>
                          <a:ea typeface="Aptos"/>
                          <a:cs typeface="Aptos"/>
                        </a:rPr>
                        <a:t>4,100</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extLst>
                  <a:ext uri="{0D108BD9-81ED-4DB2-BD59-A6C34878D82A}">
                    <a16:rowId xmlns:a16="http://schemas.microsoft.com/office/drawing/2014/main" val="10001"/>
                  </a:ext>
                </a:extLst>
              </a:tr>
              <a:tr h="678656">
                <a:tc>
                  <a:txBody>
                    <a:bodyPr/>
                    <a:lstStyle/>
                    <a:p>
                      <a:r>
                        <a:rPr sz="2025" b="0">
                          <a:solidFill>
                            <a:srgbClr val="000000"/>
                          </a:solidFill>
                          <a:latin typeface="Aptos"/>
                          <a:ea typeface="Aptos"/>
                          <a:cs typeface="Aptos"/>
                        </a:rPr>
                        <a:t>Development test</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2025" b="0">
                          <a:solidFill>
                            <a:srgbClr val="000000"/>
                          </a:solidFill>
                          <a:latin typeface="Aptos"/>
                          <a:ea typeface="Aptos"/>
                          <a:cs typeface="Aptos"/>
                        </a:rPr>
                        <a:t>900</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extLst>
                  <a:ext uri="{0D108BD9-81ED-4DB2-BD59-A6C34878D82A}">
                    <a16:rowId xmlns:a16="http://schemas.microsoft.com/office/drawing/2014/main" val="10002"/>
                  </a:ext>
                </a:extLst>
              </a:tr>
              <a:tr h="678656">
                <a:tc>
                  <a:txBody>
                    <a:bodyPr/>
                    <a:lstStyle/>
                    <a:p>
                      <a:r>
                        <a:rPr sz="2025" b="0">
                          <a:solidFill>
                            <a:srgbClr val="000000"/>
                          </a:solidFill>
                          <a:latin typeface="Aptos"/>
                          <a:ea typeface="Aptos"/>
                          <a:cs typeface="Aptos"/>
                        </a:rPr>
                        <a:t>Training folds</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2025" b="0">
                          <a:solidFill>
                            <a:srgbClr val="000000"/>
                          </a:solidFill>
                          <a:latin typeface="Aptos"/>
                          <a:ea typeface="Aptos"/>
                          <a:cs typeface="Aptos"/>
                        </a:rPr>
                        <a:t>5</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82" name="content-6">
            <a:extLst>
              <a:ext uri="{FF2B5EF4-FFF2-40B4-BE49-F238E27FC236}">
                <a16:creationId xmlns:a16="http://schemas.microsoft.com/office/drawing/2014/main" id="{572FEAD1-D997-45B7-8B6E-5BC0122373B2}"/>
              </a:ext>
            </a:extLst>
          </p:cNvPr>
          <p:cNvSpPr>
            <a:spLocks noGrp="1"/>
          </p:cNvSpPr>
          <p:nvPr/>
        </p:nvSpPr>
        <p:spPr>
          <a:xfrm>
            <a:off x="1047750" y="4762500"/>
            <a:ext cx="4238625" cy="904875"/>
          </a:xfrm>
          <a:prstGeom prst="rect">
            <a:avLst/>
          </a:prstGeom>
          <a:noFill/>
          <a:ln w="0">
            <a:noFill/>
          </a:ln>
        </p:spPr>
        <p:txBody>
          <a:bodyPr lIns="0" tIns="0" rIns="0" bIns="0" anchor="t"/>
          <a:lstStyle>
            <a:defPPr>
              <a:defRPr sz="1875" b="0">
                <a:solidFill>
                  <a:srgbClr val="555555"/>
                </a:solidFill>
                <a:latin typeface="Aptos"/>
                <a:ea typeface="Aptos"/>
                <a:cs typeface="Aptos"/>
              </a:defRPr>
            </a:defPPr>
          </a:lstStyle>
          <a:p>
            <a:pPr>
              <a:buNone/>
              <a:defRPr sz="1875" b="0">
                <a:solidFill>
                  <a:srgbClr val="555555"/>
                </a:solidFill>
                <a:latin typeface="Aptos"/>
                <a:ea typeface="Aptos"/>
                <a:cs typeface="Aptos"/>
              </a:defRPr>
            </a:pPr>
            <a:r>
              <a:rPr sz="1875" b="0">
                <a:solidFill>
                  <a:srgbClr val="555555"/>
                </a:solidFill>
                <a:latin typeface="Aptos"/>
                <a:ea typeface="Aptos"/>
                <a:cs typeface="Aptos"/>
              </a:rPr>
              <a:t>Same rows and folds for every candidate</a:t>
            </a:r>
          </a:p>
        </p:txBody>
      </p:sp>
      <p:sp>
        <p:nvSpPr>
          <p:cNvPr id="83" name="content-7">
            <a:extLst>
              <a:ext uri="{FF2B5EF4-FFF2-40B4-BE49-F238E27FC236}">
                <a16:creationId xmlns:a16="http://schemas.microsoft.com/office/drawing/2014/main" id="{5332B100-2960-472B-8B91-D0A9AF12AC92}"/>
              </a:ext>
            </a:extLst>
          </p:cNvPr>
          <p:cNvSpPr>
            <a:spLocks noGrp="1"/>
          </p:cNvSpPr>
          <p:nvPr/>
        </p:nvSpPr>
        <p:spPr>
          <a:xfrm>
            <a:off x="5953125" y="2781300"/>
            <a:ext cx="5143500" cy="657225"/>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Preprocessing inside each fold</a:t>
            </a:r>
          </a:p>
        </p:txBody>
      </p:sp>
      <p:sp>
        <p:nvSpPr>
          <p:cNvPr id="84" name="content-8">
            <a:extLst>
              <a:ext uri="{FF2B5EF4-FFF2-40B4-BE49-F238E27FC236}">
                <a16:creationId xmlns:a16="http://schemas.microsoft.com/office/drawing/2014/main" id="{FD7483EA-80F2-4A67-9428-13D57CB24589}"/>
              </a:ext>
            </a:extLst>
          </p:cNvPr>
          <p:cNvSpPr>
            <a:spLocks noGrp="1"/>
          </p:cNvSpPr>
          <p:nvPr/>
        </p:nvSpPr>
        <p:spPr>
          <a:xfrm>
            <a:off x="5953125" y="3514725"/>
            <a:ext cx="5143500" cy="657225"/>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Select by CV macro F1</a:t>
            </a:r>
          </a:p>
        </p:txBody>
      </p:sp>
      <p:sp>
        <p:nvSpPr>
          <p:cNvPr id="85" name="content-9">
            <a:extLst>
              <a:ext uri="{FF2B5EF4-FFF2-40B4-BE49-F238E27FC236}">
                <a16:creationId xmlns:a16="http://schemas.microsoft.com/office/drawing/2014/main" id="{614CE162-C10B-450F-98BA-85E89FBDEECE}"/>
              </a:ext>
            </a:extLst>
          </p:cNvPr>
          <p:cNvSpPr>
            <a:spLocks noGrp="1"/>
          </p:cNvSpPr>
          <p:nvPr/>
        </p:nvSpPr>
        <p:spPr>
          <a:xfrm>
            <a:off x="5953125" y="4248150"/>
            <a:ext cx="5143500" cy="657225"/>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Report poisonous-class recall</a:t>
            </a:r>
          </a:p>
        </p:txBody>
      </p:sp>
      <p:sp>
        <p:nvSpPr>
          <p:cNvPr id="86" name="content-10">
            <a:extLst>
              <a:ext uri="{FF2B5EF4-FFF2-40B4-BE49-F238E27FC236}">
                <a16:creationId xmlns:a16="http://schemas.microsoft.com/office/drawing/2014/main" id="{46B520E8-6DAB-4233-A66E-43FD260F02F0}"/>
              </a:ext>
            </a:extLst>
          </p:cNvPr>
          <p:cNvSpPr>
            <a:spLocks noGrp="1"/>
          </p:cNvSpPr>
          <p:nvPr/>
        </p:nvSpPr>
        <p:spPr>
          <a:xfrm>
            <a:off x="5953125" y="4981575"/>
            <a:ext cx="5143500" cy="657225"/>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900 records already inspected</a:t>
            </a:r>
          </a:p>
        </p:txBody>
      </p:sp>
    </p:spTree>
    <p:extLst>
      <p:ext uri="{BB962C8B-B14F-4D97-AF65-F5344CB8AC3E}">
        <p14:creationId xmlns:p14="http://schemas.microsoft.com/office/powerpoint/2010/main" val="30760030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50" name="Rectangle 49">
            <a:extLst>
              <a:ext uri="{FF2B5EF4-FFF2-40B4-BE49-F238E27FC236}">
                <a16:creationId xmlns:a16="http://schemas.microsoft.com/office/drawing/2014/main" id="{74B0B678-CD10-4371-96E5-2706F4579FAD}"/>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53" name="Rectangle 52">
            <a:extLst>
              <a:ext uri="{FF2B5EF4-FFF2-40B4-BE49-F238E27FC236}">
                <a16:creationId xmlns:a16="http://schemas.microsoft.com/office/drawing/2014/main" id="{8A3838D5-9565-4601-BAC3-D1B5BDB803ED}"/>
              </a:ext>
            </a:extLst>
          </p:cNvPr>
          <p:cNvSpPr>
            <a:spLocks noGrp="1"/>
          </p:cNvSpPr>
          <p:nvPr/>
        </p:nvSpPr>
        <p:spPr>
          <a:xfrm rot="5400000">
            <a:off x="3032052" y="2878474"/>
            <a:ext cx="816039" cy="10280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54" name="Rectangle 53">
            <a:extLst>
              <a:ext uri="{FF2B5EF4-FFF2-40B4-BE49-F238E27FC236}">
                <a16:creationId xmlns:a16="http://schemas.microsoft.com/office/drawing/2014/main" id="{3349A4B8-3246-4579-922E-FE1155C7F08C}"/>
              </a:ext>
            </a:extLst>
          </p:cNvPr>
          <p:cNvSpPr>
            <a:spLocks noGrp="1"/>
          </p:cNvSpPr>
          <p:nvPr/>
        </p:nvSpPr>
        <p:spPr>
          <a:xfrm flipH="1" flipV="1">
            <a:off x="-2340441" y="2666504"/>
            <a:ext cx="5608997" cy="52739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56" name="Rectangle 55">
            <a:extLst>
              <a:ext uri="{FF2B5EF4-FFF2-40B4-BE49-F238E27FC236}">
                <a16:creationId xmlns:a16="http://schemas.microsoft.com/office/drawing/2014/main" id="{CBC4F608-B4B8-48C3-9572-C0F061B1CD99}"/>
              </a:ext>
            </a:extLst>
          </p:cNvPr>
          <p:cNvSpPr>
            <a:spLocks noGrp="1"/>
          </p:cNvSpPr>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58" name="Rectangle 57">
            <a:extLst>
              <a:ext uri="{FF2B5EF4-FFF2-40B4-BE49-F238E27FC236}">
                <a16:creationId xmlns:a16="http://schemas.microsoft.com/office/drawing/2014/main" id="{1382A32C-5B0C-4B1C-A074-76C6DBCC9F87}"/>
              </a:ext>
            </a:extLst>
          </p:cNvPr>
          <p:cNvSpPr>
            <a:spLocks noGrp="1"/>
          </p:cNvSpPr>
          <p:nvPr/>
        </p:nvSpPr>
        <p:spPr>
          <a:xfrm flipH="1">
            <a:off x="5957331" y="2188548"/>
            <a:ext cx="5041025"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59" name="content-5">
            <a:extLst>
              <a:ext uri="{FF2B5EF4-FFF2-40B4-BE49-F238E27FC236}">
                <a16:creationId xmlns:a16="http://schemas.microsoft.com/office/drawing/2014/main" id="{7D8C2DCA-5F06-46D4-B7D2-561F9815B67C}"/>
              </a:ext>
            </a:extLst>
          </p:cNvPr>
          <p:cNvSpPr>
            <a:spLocks noGrp="1"/>
          </p:cNvSpPr>
          <p:nvPr/>
        </p:nvSpPr>
        <p:spPr>
          <a:xfrm>
            <a:off x="5953125" y="971550"/>
            <a:ext cx="5143500" cy="1047750"/>
          </a:xfrm>
          <a:prstGeom prst="rect">
            <a:avLst/>
          </a:prstGeom>
          <a:noFill/>
          <a:ln w="0">
            <a:noFill/>
          </a:ln>
        </p:spPr>
        <p:txBody>
          <a:bodyPr lIns="0" tIns="0" rIns="0" bIns="0" anchor="t"/>
          <a:lstStyle>
            <a:defPPr>
              <a:defRPr sz="3300" b="0">
                <a:solidFill>
                  <a:srgbClr val="000000"/>
                </a:solidFill>
                <a:latin typeface="Aptos Display"/>
                <a:ea typeface="Aptos Display"/>
                <a:cs typeface="Aptos Display"/>
              </a:defRPr>
            </a:defPPr>
          </a:lstStyle>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Mushroom Challenge -</a:t>
            </a:r>
          </a:p>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Random Forest</a:t>
            </a:r>
          </a:p>
        </p:txBody>
      </p:sp>
      <p:graphicFrame>
        <p:nvGraphicFramePr>
          <p:cNvPr id="60" name="Table 59">
            <a:extLst>
              <a:ext uri="{FF2B5EF4-FFF2-40B4-BE49-F238E27FC236}">
                <a16:creationId xmlns:a16="http://schemas.microsoft.com/office/drawing/2014/main" id="{6A424F1F-B61E-4731-89B8-08C1328F2212}"/>
              </a:ext>
            </a:extLst>
          </p:cNvPr>
          <p:cNvGraphicFramePr/>
          <p:nvPr/>
        </p:nvGraphicFramePr>
        <p:xfrm>
          <a:off x="1000125" y="1857375"/>
          <a:ext cx="4429125" cy="2381250"/>
        </p:xfrm>
        <a:graphic>
          <a:graphicData uri="http://schemas.openxmlformats.org/drawingml/2006/table">
            <a:tbl>
              <a:tblPr/>
              <a:tblGrid>
                <a:gridCol w="2143125">
                  <a:extLst>
                    <a:ext uri="{9D8B030D-6E8A-4147-A177-3AD203B41FA5}">
                      <a16:colId xmlns:a16="http://schemas.microsoft.com/office/drawing/2014/main" val="20000"/>
                    </a:ext>
                  </a:extLst>
                </a:gridCol>
                <a:gridCol w="1095375">
                  <a:extLst>
                    <a:ext uri="{9D8B030D-6E8A-4147-A177-3AD203B41FA5}">
                      <a16:colId xmlns:a16="http://schemas.microsoft.com/office/drawing/2014/main" val="20001"/>
                    </a:ext>
                  </a:extLst>
                </a:gridCol>
                <a:gridCol w="1190625">
                  <a:extLst>
                    <a:ext uri="{9D8B030D-6E8A-4147-A177-3AD203B41FA5}">
                      <a16:colId xmlns:a16="http://schemas.microsoft.com/office/drawing/2014/main" val="20002"/>
                    </a:ext>
                  </a:extLst>
                </a:gridCol>
              </a:tblGrid>
              <a:tr h="793750">
                <a:tc>
                  <a:txBody>
                    <a:bodyPr/>
                    <a:lstStyle/>
                    <a:p>
                      <a:r>
                        <a:rPr sz="1875" b="1">
                          <a:solidFill>
                            <a:srgbClr val="FFFFFF"/>
                          </a:solidFill>
                          <a:latin typeface="Aptos"/>
                          <a:ea typeface="Aptos"/>
                          <a:cs typeface="Aptos"/>
                        </a:rPr>
                        <a:t>Actual / predicted</a:t>
                      </a:r>
                    </a:p>
                  </a:txBody>
                  <a:tcPr>
                    <a:lnL w="5715">
                      <a:solidFill>
                        <a:srgbClr val="D1DDE2"/>
                      </a:solidFill>
                      <a:prstDash val="soli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tc>
                  <a:txBody>
                    <a:bodyPr/>
                    <a:lstStyle/>
                    <a:p>
                      <a:r>
                        <a:rPr sz="1875" b="1">
                          <a:solidFill>
                            <a:srgbClr val="FFFFFF"/>
                          </a:solidFill>
                          <a:latin typeface="Aptos"/>
                          <a:ea typeface="Aptos"/>
                          <a:cs typeface="Aptos"/>
                        </a:rPr>
                        <a:t>e</a:t>
                      </a:r>
                    </a:p>
                  </a:txBody>
                  <a:tcPr>
                    <a:lnL w="5715" cap="flat" cmpd="sng" algn="ctr">
                      <a:solidFill>
                        <a:srgbClr val="D1DDE2"/>
                      </a:solidFill>
                      <a:prstDash val="solid"/>
                      <a:round/>
                      <a:headEnd type="none" w="med" len="med"/>
                      <a:tailEnd type="none" w="med" len="me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tc>
                  <a:txBody>
                    <a:bodyPr/>
                    <a:lstStyle/>
                    <a:p>
                      <a:r>
                        <a:rPr sz="1875" b="1">
                          <a:solidFill>
                            <a:srgbClr val="FFFFFF"/>
                          </a:solidFill>
                          <a:latin typeface="Aptos"/>
                          <a:ea typeface="Aptos"/>
                          <a:cs typeface="Aptos"/>
                        </a:rPr>
                        <a:t>p</a:t>
                      </a:r>
                    </a:p>
                  </a:txBody>
                  <a:tcPr>
                    <a:lnL w="5715" cap="flat" cmpd="sng" algn="ctr">
                      <a:solidFill>
                        <a:srgbClr val="D1DDE2"/>
                      </a:solidFill>
                      <a:prstDash val="solid"/>
                      <a:round/>
                      <a:headEnd type="none" w="med" len="med"/>
                      <a:tailEnd type="none" w="med" len="me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extLst>
                  <a:ext uri="{0D108BD9-81ED-4DB2-BD59-A6C34878D82A}">
                    <a16:rowId xmlns:a16="http://schemas.microsoft.com/office/drawing/2014/main" val="10000"/>
                  </a:ext>
                </a:extLst>
              </a:tr>
              <a:tr h="793750">
                <a:tc>
                  <a:txBody>
                    <a:bodyPr/>
                    <a:lstStyle/>
                    <a:p>
                      <a:r>
                        <a:rPr sz="1875" b="0">
                          <a:solidFill>
                            <a:srgbClr val="000000"/>
                          </a:solidFill>
                          <a:latin typeface="Aptos"/>
                          <a:ea typeface="Aptos"/>
                          <a:cs typeface="Aptos"/>
                        </a:rPr>
                        <a:t>Edible (e)</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875" b="0">
                          <a:solidFill>
                            <a:srgbClr val="000000"/>
                          </a:solidFill>
                          <a:latin typeface="Aptos"/>
                          <a:ea typeface="Aptos"/>
                          <a:cs typeface="Aptos"/>
                        </a:rPr>
                        <a:t>512</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875" b="0">
                          <a:solidFill>
                            <a:srgbClr val="000000"/>
                          </a:solidFill>
                          <a:latin typeface="Aptos"/>
                          <a:ea typeface="Aptos"/>
                          <a:cs typeface="Aptos"/>
                        </a:rPr>
                        <a:t>47</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extLst>
                  <a:ext uri="{0D108BD9-81ED-4DB2-BD59-A6C34878D82A}">
                    <a16:rowId xmlns:a16="http://schemas.microsoft.com/office/drawing/2014/main" val="10001"/>
                  </a:ext>
                </a:extLst>
              </a:tr>
              <a:tr h="793750">
                <a:tc>
                  <a:txBody>
                    <a:bodyPr/>
                    <a:lstStyle/>
                    <a:p>
                      <a:r>
                        <a:rPr sz="1875" b="0">
                          <a:solidFill>
                            <a:srgbClr val="000000"/>
                          </a:solidFill>
                          <a:latin typeface="Aptos"/>
                          <a:ea typeface="Aptos"/>
                          <a:cs typeface="Aptos"/>
                        </a:rPr>
                        <a:t>Poisonous (p)</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875" b="0">
                          <a:solidFill>
                            <a:srgbClr val="000000"/>
                          </a:solidFill>
                          <a:latin typeface="Aptos"/>
                          <a:ea typeface="Aptos"/>
                          <a:cs typeface="Aptos"/>
                        </a:rPr>
                        <a:t>121</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875" b="0">
                          <a:solidFill>
                            <a:srgbClr val="000000"/>
                          </a:solidFill>
                          <a:latin typeface="Aptos"/>
                          <a:ea typeface="Aptos"/>
                          <a:cs typeface="Aptos"/>
                        </a:rPr>
                        <a:t>220</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extLst>
                  <a:ext uri="{0D108BD9-81ED-4DB2-BD59-A6C34878D82A}">
                    <a16:rowId xmlns:a16="http://schemas.microsoft.com/office/drawing/2014/main" val="10002"/>
                  </a:ext>
                </a:extLst>
              </a:tr>
            </a:tbl>
          </a:graphicData>
        </a:graphic>
      </p:graphicFrame>
      <p:sp>
        <p:nvSpPr>
          <p:cNvPr id="61" name="content-6">
            <a:extLst>
              <a:ext uri="{FF2B5EF4-FFF2-40B4-BE49-F238E27FC236}">
                <a16:creationId xmlns:a16="http://schemas.microsoft.com/office/drawing/2014/main" id="{DFD67EDE-6918-4FB5-822B-5C5490013EC8}"/>
              </a:ext>
            </a:extLst>
          </p:cNvPr>
          <p:cNvSpPr>
            <a:spLocks noGrp="1"/>
          </p:cNvSpPr>
          <p:nvPr/>
        </p:nvSpPr>
        <p:spPr>
          <a:xfrm>
            <a:off x="1028700" y="4572000"/>
            <a:ext cx="4286250" cy="571500"/>
          </a:xfrm>
          <a:prstGeom prst="rect">
            <a:avLst/>
          </a:prstGeom>
          <a:noFill/>
          <a:ln w="0">
            <a:noFill/>
          </a:ln>
        </p:spPr>
        <p:txBody>
          <a:bodyPr lIns="0" tIns="0" rIns="0" bIns="0" anchor="t"/>
          <a:lstStyle>
            <a:defPPr>
              <a:defRPr sz="1875" b="0">
                <a:solidFill>
                  <a:srgbClr val="555555"/>
                </a:solidFill>
                <a:latin typeface="Aptos"/>
                <a:ea typeface="Aptos"/>
                <a:cs typeface="Aptos"/>
              </a:defRPr>
            </a:defPPr>
          </a:lstStyle>
          <a:p>
            <a:pPr>
              <a:buNone/>
              <a:defRPr sz="1875" b="0">
                <a:solidFill>
                  <a:srgbClr val="555555"/>
                </a:solidFill>
                <a:latin typeface="Aptos"/>
                <a:ea typeface="Aptos"/>
                <a:cs typeface="Aptos"/>
              </a:defRPr>
            </a:pPr>
            <a:r>
              <a:rPr sz="1875" b="0">
                <a:solidFill>
                  <a:srgbClr val="555555"/>
                </a:solidFill>
                <a:latin typeface="Aptos"/>
                <a:ea typeface="Aptos"/>
                <a:cs typeface="Aptos"/>
              </a:rPr>
              <a:t>Development test: 900 records</a:t>
            </a:r>
          </a:p>
        </p:txBody>
      </p:sp>
      <p:sp>
        <p:nvSpPr>
          <p:cNvPr id="62" name="content-7">
            <a:extLst>
              <a:ext uri="{FF2B5EF4-FFF2-40B4-BE49-F238E27FC236}">
                <a16:creationId xmlns:a16="http://schemas.microsoft.com/office/drawing/2014/main" id="{3BACDED6-E67E-40BE-94D9-A384C403A1CD}"/>
              </a:ext>
            </a:extLst>
          </p:cNvPr>
          <p:cNvSpPr>
            <a:spLocks noGrp="1"/>
          </p:cNvSpPr>
          <p:nvPr/>
        </p:nvSpPr>
        <p:spPr>
          <a:xfrm>
            <a:off x="5953125" y="2667000"/>
            <a:ext cx="5143500" cy="5334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300 trees; max depth 20</a:t>
            </a:r>
          </a:p>
        </p:txBody>
      </p:sp>
      <p:sp>
        <p:nvSpPr>
          <p:cNvPr id="63" name="content-8">
            <a:extLst>
              <a:ext uri="{FF2B5EF4-FFF2-40B4-BE49-F238E27FC236}">
                <a16:creationId xmlns:a16="http://schemas.microsoft.com/office/drawing/2014/main" id="{AC497436-D946-4061-A173-1ADC5345721A}"/>
              </a:ext>
            </a:extLst>
          </p:cNvPr>
          <p:cNvSpPr>
            <a:spLocks noGrp="1"/>
          </p:cNvSpPr>
          <p:nvPr/>
        </p:nvSpPr>
        <p:spPr>
          <a:xfrm>
            <a:off x="5953125" y="3276600"/>
            <a:ext cx="5143500" cy="5334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CV macro F1: 0.762</a:t>
            </a:r>
          </a:p>
        </p:txBody>
      </p:sp>
      <p:sp>
        <p:nvSpPr>
          <p:cNvPr id="64" name="content-9">
            <a:extLst>
              <a:ext uri="{FF2B5EF4-FFF2-40B4-BE49-F238E27FC236}">
                <a16:creationId xmlns:a16="http://schemas.microsoft.com/office/drawing/2014/main" id="{7F39D1C6-2B1A-41BD-82DD-860216302E32}"/>
              </a:ext>
            </a:extLst>
          </p:cNvPr>
          <p:cNvSpPr>
            <a:spLocks noGrp="1"/>
          </p:cNvSpPr>
          <p:nvPr/>
        </p:nvSpPr>
        <p:spPr>
          <a:xfrm>
            <a:off x="5953125" y="3886200"/>
            <a:ext cx="5143500" cy="5334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Accuracy: 81.33%</a:t>
            </a:r>
          </a:p>
        </p:txBody>
      </p:sp>
      <p:sp>
        <p:nvSpPr>
          <p:cNvPr id="65" name="content-10">
            <a:extLst>
              <a:ext uri="{FF2B5EF4-FFF2-40B4-BE49-F238E27FC236}">
                <a16:creationId xmlns:a16="http://schemas.microsoft.com/office/drawing/2014/main" id="{5ADE1183-4DF8-4F7A-943C-B2BA0AF02A9D}"/>
              </a:ext>
            </a:extLst>
          </p:cNvPr>
          <p:cNvSpPr>
            <a:spLocks noGrp="1"/>
          </p:cNvSpPr>
          <p:nvPr/>
        </p:nvSpPr>
        <p:spPr>
          <a:xfrm>
            <a:off x="5953125" y="4495800"/>
            <a:ext cx="5143500" cy="5334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Poisonous recall: 64.52%</a:t>
            </a:r>
          </a:p>
        </p:txBody>
      </p:sp>
      <p:sp>
        <p:nvSpPr>
          <p:cNvPr id="66" name="content-11">
            <a:extLst>
              <a:ext uri="{FF2B5EF4-FFF2-40B4-BE49-F238E27FC236}">
                <a16:creationId xmlns:a16="http://schemas.microsoft.com/office/drawing/2014/main" id="{D48F65C6-2427-49D3-B120-065D7F00555A}"/>
              </a:ext>
            </a:extLst>
          </p:cNvPr>
          <p:cNvSpPr>
            <a:spLocks noGrp="1"/>
          </p:cNvSpPr>
          <p:nvPr/>
        </p:nvSpPr>
        <p:spPr>
          <a:xfrm>
            <a:off x="5953125" y="5105400"/>
            <a:ext cx="5143500" cy="5334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121 poisonous cases missed</a:t>
            </a:r>
          </a:p>
        </p:txBody>
      </p:sp>
    </p:spTree>
    <p:extLst>
      <p:ext uri="{BB962C8B-B14F-4D97-AF65-F5344CB8AC3E}">
        <p14:creationId xmlns:p14="http://schemas.microsoft.com/office/powerpoint/2010/main" val="26771014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149FB5C3-7336-4FE0-A30C-CC0A3646D499}"/>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3" name="Rectangle 32">
            <a:extLst>
              <a:ext uri="{FF2B5EF4-FFF2-40B4-BE49-F238E27FC236}">
                <a16:creationId xmlns:a16="http://schemas.microsoft.com/office/drawing/2014/main" id="{E3F3EAA5-4E15-400B-BBA3-82B3F49A2178}"/>
              </a:ext>
            </a:extLst>
          </p:cNvPr>
          <p:cNvSpPr>
            <a:spLocks noGrp="1"/>
          </p:cNvSpPr>
          <p:nvPr/>
        </p:nvSpPr>
        <p:spPr>
          <a:xfrm rot="5400000">
            <a:off x="3032052" y="2878474"/>
            <a:ext cx="816039" cy="10280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4" name="Rectangle 33">
            <a:extLst>
              <a:ext uri="{FF2B5EF4-FFF2-40B4-BE49-F238E27FC236}">
                <a16:creationId xmlns:a16="http://schemas.microsoft.com/office/drawing/2014/main" id="{72BA2E40-BE9B-4C54-9CDD-40EE804CCE64}"/>
              </a:ext>
            </a:extLst>
          </p:cNvPr>
          <p:cNvSpPr>
            <a:spLocks noGrp="1"/>
          </p:cNvSpPr>
          <p:nvPr/>
        </p:nvSpPr>
        <p:spPr>
          <a:xfrm flipH="1" flipV="1">
            <a:off x="-2340441" y="2666504"/>
            <a:ext cx="5608997" cy="52739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6" name="Rectangle 35">
            <a:extLst>
              <a:ext uri="{FF2B5EF4-FFF2-40B4-BE49-F238E27FC236}">
                <a16:creationId xmlns:a16="http://schemas.microsoft.com/office/drawing/2014/main" id="{0DA909B4-15FF-46A6-8A7F-7AEF977FE9ED}"/>
              </a:ext>
            </a:extLst>
          </p:cNvPr>
          <p:cNvSpPr>
            <a:spLocks noGrp="1"/>
          </p:cNvSpPr>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8" name="Rectangle 37">
            <a:extLst>
              <a:ext uri="{FF2B5EF4-FFF2-40B4-BE49-F238E27FC236}">
                <a16:creationId xmlns:a16="http://schemas.microsoft.com/office/drawing/2014/main" id="{1382A32C-5B0C-4B1C-A074-76C6DBCC9F87}"/>
              </a:ext>
            </a:extLst>
          </p:cNvPr>
          <p:cNvSpPr>
            <a:spLocks noGrp="1"/>
          </p:cNvSpPr>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9" name="content-5">
            <a:extLst>
              <a:ext uri="{FF2B5EF4-FFF2-40B4-BE49-F238E27FC236}">
                <a16:creationId xmlns:a16="http://schemas.microsoft.com/office/drawing/2014/main" id="{F09FFC55-4F3D-4AB3-94AC-34EA94C8EE99}"/>
              </a:ext>
            </a:extLst>
          </p:cNvPr>
          <p:cNvSpPr>
            <a:spLocks noGrp="1"/>
          </p:cNvSpPr>
          <p:nvPr/>
        </p:nvSpPr>
        <p:spPr>
          <a:xfrm>
            <a:off x="1143000" y="981075"/>
            <a:ext cx="4857750" cy="1047750"/>
          </a:xfrm>
          <a:prstGeom prst="rect">
            <a:avLst/>
          </a:prstGeom>
          <a:noFill/>
          <a:ln w="0">
            <a:noFill/>
          </a:ln>
        </p:spPr>
        <p:txBody>
          <a:bodyPr lIns="0" tIns="0" rIns="0" bIns="0" anchor="t"/>
          <a:lstStyle>
            <a:defPPr>
              <a:defRPr sz="3300" b="0">
                <a:solidFill>
                  <a:srgbClr val="000000"/>
                </a:solidFill>
                <a:latin typeface="Aptos Display"/>
                <a:ea typeface="Aptos Display"/>
                <a:cs typeface="Aptos Display"/>
              </a:defRPr>
            </a:defPPr>
          </a:lstStyle>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Mushroom Challenge -</a:t>
            </a:r>
          </a:p>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Other models</a:t>
            </a:r>
          </a:p>
        </p:txBody>
      </p:sp>
      <p:sp>
        <p:nvSpPr>
          <p:cNvPr id="40" name="content-6">
            <a:extLst>
              <a:ext uri="{FF2B5EF4-FFF2-40B4-BE49-F238E27FC236}">
                <a16:creationId xmlns:a16="http://schemas.microsoft.com/office/drawing/2014/main" id="{AA4FD0D3-C227-4239-86DE-E9469CE46B60}"/>
              </a:ext>
            </a:extLst>
          </p:cNvPr>
          <p:cNvSpPr>
            <a:spLocks noGrp="1"/>
          </p:cNvSpPr>
          <p:nvPr/>
        </p:nvSpPr>
        <p:spPr>
          <a:xfrm>
            <a:off x="1143000" y="2857500"/>
            <a:ext cx="4572000" cy="5334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Gradient Boosting</a:t>
            </a:r>
          </a:p>
        </p:txBody>
      </p:sp>
      <p:sp>
        <p:nvSpPr>
          <p:cNvPr id="41" name="content-7">
            <a:extLst>
              <a:ext uri="{FF2B5EF4-FFF2-40B4-BE49-F238E27FC236}">
                <a16:creationId xmlns:a16="http://schemas.microsoft.com/office/drawing/2014/main" id="{D699B8E9-4310-464F-B980-00F994761E2E}"/>
              </a:ext>
            </a:extLst>
          </p:cNvPr>
          <p:cNvSpPr>
            <a:spLocks noGrp="1"/>
          </p:cNvSpPr>
          <p:nvPr/>
        </p:nvSpPr>
        <p:spPr>
          <a:xfrm>
            <a:off x="1143000" y="3467100"/>
            <a:ext cx="4572000" cy="5334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Sequential decision trees</a:t>
            </a:r>
          </a:p>
        </p:txBody>
      </p:sp>
      <p:sp>
        <p:nvSpPr>
          <p:cNvPr id="42" name="content-8">
            <a:extLst>
              <a:ext uri="{FF2B5EF4-FFF2-40B4-BE49-F238E27FC236}">
                <a16:creationId xmlns:a16="http://schemas.microsoft.com/office/drawing/2014/main" id="{6BAEE175-CC9E-4DFE-9E8F-9BB3871280DB}"/>
              </a:ext>
            </a:extLst>
          </p:cNvPr>
          <p:cNvSpPr>
            <a:spLocks noGrp="1"/>
          </p:cNvSpPr>
          <p:nvPr/>
        </p:nvSpPr>
        <p:spPr>
          <a:xfrm>
            <a:off x="1143000" y="4076700"/>
            <a:ext cx="4572000" cy="5334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Logistic Regression</a:t>
            </a:r>
          </a:p>
        </p:txBody>
      </p:sp>
      <p:sp>
        <p:nvSpPr>
          <p:cNvPr id="43" name="content-9">
            <a:extLst>
              <a:ext uri="{FF2B5EF4-FFF2-40B4-BE49-F238E27FC236}">
                <a16:creationId xmlns:a16="http://schemas.microsoft.com/office/drawing/2014/main" id="{FB36201B-F9C9-4997-9884-D2698688A704}"/>
              </a:ext>
            </a:extLst>
          </p:cNvPr>
          <p:cNvSpPr>
            <a:spLocks noGrp="1"/>
          </p:cNvSpPr>
          <p:nvPr/>
        </p:nvSpPr>
        <p:spPr>
          <a:xfrm>
            <a:off x="1143000" y="4686300"/>
            <a:ext cx="4572000" cy="5334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Scaled linear reference</a:t>
            </a:r>
          </a:p>
        </p:txBody>
      </p:sp>
      <p:graphicFrame>
        <p:nvGraphicFramePr>
          <p:cNvPr id="44" name="Table 43">
            <a:extLst>
              <a:ext uri="{FF2B5EF4-FFF2-40B4-BE49-F238E27FC236}">
                <a16:creationId xmlns:a16="http://schemas.microsoft.com/office/drawing/2014/main" id="{A8B5DC3A-0E17-4ABB-A42F-D020B9B8B6F9}"/>
              </a:ext>
            </a:extLst>
          </p:cNvPr>
          <p:cNvGraphicFramePr/>
          <p:nvPr/>
        </p:nvGraphicFramePr>
        <p:xfrm>
          <a:off x="6667500" y="1666875"/>
          <a:ext cx="4476750" cy="3143250"/>
        </p:xfrm>
        <a:graphic>
          <a:graphicData uri="http://schemas.openxmlformats.org/drawingml/2006/table">
            <a:tbl>
              <a:tblPr/>
              <a:tblGrid>
                <a:gridCol w="2095500">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190625">
                  <a:extLst>
                    <a:ext uri="{9D8B030D-6E8A-4147-A177-3AD203B41FA5}">
                      <a16:colId xmlns:a16="http://schemas.microsoft.com/office/drawing/2014/main" val="20002"/>
                    </a:ext>
                  </a:extLst>
                </a:gridCol>
              </a:tblGrid>
              <a:tr h="628650">
                <a:tc>
                  <a:txBody>
                    <a:bodyPr/>
                    <a:lstStyle/>
                    <a:p>
                      <a:r>
                        <a:rPr sz="1725" b="1">
                          <a:solidFill>
                            <a:srgbClr val="FFFFFF"/>
                          </a:solidFill>
                          <a:latin typeface="Aptos"/>
                          <a:ea typeface="Aptos"/>
                          <a:cs typeface="Aptos"/>
                        </a:rPr>
                        <a:t>Metric</a:t>
                      </a:r>
                    </a:p>
                  </a:txBody>
                  <a:tcPr>
                    <a:lnL w="5715">
                      <a:solidFill>
                        <a:srgbClr val="D1DDE2"/>
                      </a:solidFill>
                      <a:prstDash val="soli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tc>
                  <a:txBody>
                    <a:bodyPr/>
                    <a:lstStyle/>
                    <a:p>
                      <a:r>
                        <a:rPr sz="1725" b="1">
                          <a:solidFill>
                            <a:srgbClr val="FFFFFF"/>
                          </a:solidFill>
                          <a:latin typeface="Aptos"/>
                          <a:ea typeface="Aptos"/>
                          <a:cs typeface="Aptos"/>
                        </a:rPr>
                        <a:t>GB</a:t>
                      </a:r>
                    </a:p>
                  </a:txBody>
                  <a:tcPr>
                    <a:lnL w="5715" cap="flat" cmpd="sng" algn="ctr">
                      <a:solidFill>
                        <a:srgbClr val="D1DDE2"/>
                      </a:solidFill>
                      <a:prstDash val="solid"/>
                      <a:round/>
                      <a:headEnd type="none" w="med" len="med"/>
                      <a:tailEnd type="none" w="med" len="me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tc>
                  <a:txBody>
                    <a:bodyPr/>
                    <a:lstStyle/>
                    <a:p>
                      <a:r>
                        <a:rPr sz="1725" b="1">
                          <a:solidFill>
                            <a:srgbClr val="FFFFFF"/>
                          </a:solidFill>
                          <a:latin typeface="Aptos"/>
                          <a:ea typeface="Aptos"/>
                          <a:cs typeface="Aptos"/>
                        </a:rPr>
                        <a:t>LR</a:t>
                      </a:r>
                    </a:p>
                  </a:txBody>
                  <a:tcPr>
                    <a:lnL w="5715" cap="flat" cmpd="sng" algn="ctr">
                      <a:solidFill>
                        <a:srgbClr val="D1DDE2"/>
                      </a:solidFill>
                      <a:prstDash val="solid"/>
                      <a:round/>
                      <a:headEnd type="none" w="med" len="med"/>
                      <a:tailEnd type="none" w="med" len="me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extLst>
                  <a:ext uri="{0D108BD9-81ED-4DB2-BD59-A6C34878D82A}">
                    <a16:rowId xmlns:a16="http://schemas.microsoft.com/office/drawing/2014/main" val="10000"/>
                  </a:ext>
                </a:extLst>
              </a:tr>
              <a:tr h="628650">
                <a:tc>
                  <a:txBody>
                    <a:bodyPr/>
                    <a:lstStyle/>
                    <a:p>
                      <a:r>
                        <a:rPr sz="1725" b="0">
                          <a:solidFill>
                            <a:srgbClr val="000000"/>
                          </a:solidFill>
                          <a:latin typeface="Aptos"/>
                          <a:ea typeface="Aptos"/>
                          <a:cs typeface="Aptos"/>
                        </a:rPr>
                        <a:t>CV macro F1</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725" b="0">
                          <a:solidFill>
                            <a:srgbClr val="000000"/>
                          </a:solidFill>
                          <a:latin typeface="Aptos"/>
                          <a:ea typeface="Aptos"/>
                          <a:cs typeface="Aptos"/>
                        </a:rPr>
                        <a:t>0.719</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725" b="0">
                          <a:solidFill>
                            <a:srgbClr val="000000"/>
                          </a:solidFill>
                          <a:latin typeface="Aptos"/>
                          <a:ea typeface="Aptos"/>
                          <a:cs typeface="Aptos"/>
                        </a:rPr>
                        <a:t>0.626</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extLst>
                  <a:ext uri="{0D108BD9-81ED-4DB2-BD59-A6C34878D82A}">
                    <a16:rowId xmlns:a16="http://schemas.microsoft.com/office/drawing/2014/main" val="10001"/>
                  </a:ext>
                </a:extLst>
              </a:tr>
              <a:tr h="628650">
                <a:tc>
                  <a:txBody>
                    <a:bodyPr/>
                    <a:lstStyle/>
                    <a:p>
                      <a:r>
                        <a:rPr sz="1725" b="0">
                          <a:solidFill>
                            <a:srgbClr val="000000"/>
                          </a:solidFill>
                          <a:latin typeface="Aptos"/>
                          <a:ea typeface="Aptos"/>
                          <a:cs typeface="Aptos"/>
                        </a:rPr>
                        <a:t>Accuracy</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725" b="0">
                          <a:solidFill>
                            <a:srgbClr val="000000"/>
                          </a:solidFill>
                          <a:latin typeface="Aptos"/>
                          <a:ea typeface="Aptos"/>
                          <a:cs typeface="Aptos"/>
                        </a:rPr>
                        <a:t>78.44%</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725" b="0">
                          <a:solidFill>
                            <a:srgbClr val="000000"/>
                          </a:solidFill>
                          <a:latin typeface="Aptos"/>
                          <a:ea typeface="Aptos"/>
                          <a:cs typeface="Aptos"/>
                        </a:rPr>
                        <a:t>68.33%</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extLst>
                  <a:ext uri="{0D108BD9-81ED-4DB2-BD59-A6C34878D82A}">
                    <a16:rowId xmlns:a16="http://schemas.microsoft.com/office/drawing/2014/main" val="10002"/>
                  </a:ext>
                </a:extLst>
              </a:tr>
              <a:tr h="628650">
                <a:tc>
                  <a:txBody>
                    <a:bodyPr/>
                    <a:lstStyle/>
                    <a:p>
                      <a:r>
                        <a:rPr sz="1725" b="0">
                          <a:solidFill>
                            <a:srgbClr val="000000"/>
                          </a:solidFill>
                          <a:latin typeface="Aptos"/>
                          <a:ea typeface="Aptos"/>
                          <a:cs typeface="Aptos"/>
                        </a:rPr>
                        <a:t>Poison recall</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725" b="0">
                          <a:solidFill>
                            <a:srgbClr val="000000"/>
                          </a:solidFill>
                          <a:latin typeface="Aptos"/>
                          <a:ea typeface="Aptos"/>
                          <a:cs typeface="Aptos"/>
                        </a:rPr>
                        <a:t>49.85%</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725" b="0">
                          <a:solidFill>
                            <a:srgbClr val="000000"/>
                          </a:solidFill>
                          <a:latin typeface="Aptos"/>
                          <a:ea typeface="Aptos"/>
                          <a:cs typeface="Aptos"/>
                        </a:rPr>
                        <a:t>60.12%</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extLst>
                  <a:ext uri="{0D108BD9-81ED-4DB2-BD59-A6C34878D82A}">
                    <a16:rowId xmlns:a16="http://schemas.microsoft.com/office/drawing/2014/main" val="10003"/>
                  </a:ext>
                </a:extLst>
              </a:tr>
              <a:tr h="628650">
                <a:tc>
                  <a:txBody>
                    <a:bodyPr/>
                    <a:lstStyle/>
                    <a:p>
                      <a:r>
                        <a:rPr sz="1725" b="0">
                          <a:solidFill>
                            <a:srgbClr val="000000"/>
                          </a:solidFill>
                          <a:latin typeface="Aptos"/>
                          <a:ea typeface="Aptos"/>
                          <a:cs typeface="Aptos"/>
                        </a:rPr>
                        <a:t>Missed poison</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725" b="0">
                          <a:solidFill>
                            <a:srgbClr val="000000"/>
                          </a:solidFill>
                          <a:latin typeface="Aptos"/>
                          <a:ea typeface="Aptos"/>
                          <a:cs typeface="Aptos"/>
                        </a:rPr>
                        <a:t>171</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725" b="0">
                          <a:solidFill>
                            <a:srgbClr val="000000"/>
                          </a:solidFill>
                          <a:latin typeface="Aptos"/>
                          <a:ea typeface="Aptos"/>
                          <a:cs typeface="Aptos"/>
                        </a:rPr>
                        <a:t>136</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extLst>
                  <a:ext uri="{0D108BD9-81ED-4DB2-BD59-A6C34878D82A}">
                    <a16:rowId xmlns:a16="http://schemas.microsoft.com/office/drawing/2014/main" val="10004"/>
                  </a:ext>
                </a:extLst>
              </a:tr>
            </a:tbl>
          </a:graphicData>
        </a:graphic>
      </p:graphicFrame>
      <p:sp>
        <p:nvSpPr>
          <p:cNvPr id="45" name="content-10">
            <a:extLst>
              <a:ext uri="{FF2B5EF4-FFF2-40B4-BE49-F238E27FC236}">
                <a16:creationId xmlns:a16="http://schemas.microsoft.com/office/drawing/2014/main" id="{CFF2CC4D-FF55-4C13-B421-4AF08B596D47}"/>
              </a:ext>
            </a:extLst>
          </p:cNvPr>
          <p:cNvSpPr>
            <a:spLocks noGrp="1"/>
          </p:cNvSpPr>
          <p:nvPr/>
        </p:nvSpPr>
        <p:spPr>
          <a:xfrm>
            <a:off x="6715125" y="5143500"/>
            <a:ext cx="4429125" cy="952500"/>
          </a:xfrm>
          <a:prstGeom prst="rect">
            <a:avLst/>
          </a:prstGeom>
          <a:noFill/>
          <a:ln w="0">
            <a:noFill/>
          </a:ln>
        </p:spPr>
        <p:txBody>
          <a:bodyPr lIns="0" tIns="0" rIns="0" bIns="0" anchor="t"/>
          <a:lstStyle>
            <a:defPPr>
              <a:defRPr sz="1725" b="0">
                <a:solidFill>
                  <a:srgbClr val="555555"/>
                </a:solidFill>
                <a:latin typeface="Aptos"/>
                <a:ea typeface="Aptos"/>
                <a:cs typeface="Aptos"/>
              </a:defRPr>
            </a:defPPr>
          </a:lstStyle>
          <a:p>
            <a:pPr>
              <a:buNone/>
              <a:defRPr sz="1725" b="0">
                <a:solidFill>
                  <a:srgbClr val="555555"/>
                </a:solidFill>
                <a:latin typeface="Aptos"/>
                <a:ea typeface="Aptos"/>
                <a:cs typeface="Aptos"/>
              </a:defRPr>
            </a:pPr>
            <a:r>
              <a:rPr sz="1725" b="0">
                <a:solidFill>
                  <a:srgbClr val="555555"/>
                </a:solidFill>
                <a:latin typeface="Aptos"/>
                <a:ea typeface="Aptos"/>
                <a:cs typeface="Aptos"/>
              </a:rPr>
              <a:t>Mean fit/fold: LR 0.31s, GB 3.07s</a:t>
            </a:r>
          </a:p>
          <a:p>
            <a:pPr>
              <a:buNone/>
              <a:defRPr sz="1725" b="0">
                <a:solidFill>
                  <a:srgbClr val="555555"/>
                </a:solidFill>
                <a:latin typeface="Aptos"/>
                <a:ea typeface="Aptos"/>
                <a:cs typeface="Aptos"/>
              </a:defRPr>
            </a:pPr>
            <a:r>
              <a:rPr sz="1725" b="0">
                <a:solidFill>
                  <a:srgbClr val="555555"/>
                </a:solidFill>
                <a:latin typeface="Aptos"/>
                <a:ea typeface="Aptos"/>
                <a:cs typeface="Aptos"/>
              </a:rPr>
              <a:t>RF300: 6.36s; strongest CV score</a:t>
            </a:r>
          </a:p>
        </p:txBody>
      </p:sp>
    </p:spTree>
    <p:extLst>
      <p:ext uri="{BB962C8B-B14F-4D97-AF65-F5344CB8AC3E}">
        <p14:creationId xmlns:p14="http://schemas.microsoft.com/office/powerpoint/2010/main" val="11644855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B60E8C-7224-44A4-87A0-46A1711DD2ED}"/>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5DA32751-37A2-45C0-BE94-63D375E27003}"/>
              </a:ext>
            </a:extLst>
          </p:cNvPr>
          <p:cNvSpPr>
            <a:spLocks noGrp="1"/>
          </p:cNvSpPr>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E659831F-0D9A-4C63-9EBB-8435B85A440F}"/>
              </a:ext>
            </a:extLst>
          </p:cNvPr>
          <p:cNvSpPr>
            <a:spLocks noGrp="1"/>
          </p:cNvSpPr>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6" name="Rectangle 15">
            <a:extLst>
              <a:ext uri="{FF2B5EF4-FFF2-40B4-BE49-F238E27FC236}">
                <a16:creationId xmlns:a16="http://schemas.microsoft.com/office/drawing/2014/main" id="{5A55FBCD-CD42-40F5-8A1B-3203F9CAEEAA}"/>
              </a:ext>
            </a:extLst>
          </p:cNvPr>
          <p:cNvSpPr>
            <a:spLocks noGrp="1"/>
          </p:cNvSpPr>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7" name="content-4">
            <a:extLst>
              <a:ext uri="{FF2B5EF4-FFF2-40B4-BE49-F238E27FC236}">
                <a16:creationId xmlns:a16="http://schemas.microsoft.com/office/drawing/2014/main" id="{7C05798D-ED3A-4E7B-BE01-ADC941C7555B}"/>
              </a:ext>
            </a:extLst>
          </p:cNvPr>
          <p:cNvSpPr>
            <a:spLocks noGrp="1"/>
          </p:cNvSpPr>
          <p:nvPr/>
        </p:nvSpPr>
        <p:spPr>
          <a:xfrm>
            <a:off x="809625" y="666750"/>
            <a:ext cx="10287000" cy="1000125"/>
          </a:xfrm>
          <a:prstGeom prst="rect">
            <a:avLst/>
          </a:prstGeom>
          <a:noFill/>
          <a:ln w="0">
            <a:noFill/>
          </a:ln>
        </p:spPr>
        <p:txBody>
          <a:bodyPr lIns="0" tIns="0" rIns="0" bIns="0" anchor="t"/>
          <a:lstStyle>
            <a:defPPr>
              <a:defRPr sz="3600" b="0">
                <a:solidFill>
                  <a:srgbClr val="000000"/>
                </a:solidFill>
                <a:latin typeface="Aptos Display"/>
                <a:ea typeface="Aptos Display"/>
                <a:cs typeface="Aptos Display"/>
              </a:defRPr>
            </a:defPPr>
          </a:lstStyle>
          <a:p>
            <a:pPr>
              <a:buNone/>
              <a:defRPr sz="3600" b="0">
                <a:solidFill>
                  <a:srgbClr val="000000"/>
                </a:solidFill>
                <a:latin typeface="Aptos Display"/>
                <a:ea typeface="Aptos Display"/>
                <a:cs typeface="Aptos Display"/>
              </a:defRPr>
            </a:pPr>
            <a:r>
              <a:rPr sz="3600" b="0">
                <a:solidFill>
                  <a:srgbClr val="000000"/>
                </a:solidFill>
                <a:latin typeface="Aptos Display"/>
                <a:ea typeface="Aptos Display"/>
                <a:cs typeface="Aptos Display"/>
              </a:rPr>
              <a:t>Mushroom Challenge - AutoML</a:t>
            </a:r>
          </a:p>
        </p:txBody>
      </p:sp>
      <p:graphicFrame>
        <p:nvGraphicFramePr>
          <p:cNvPr id="18" name="Table 17">
            <a:extLst>
              <a:ext uri="{FF2B5EF4-FFF2-40B4-BE49-F238E27FC236}">
                <a16:creationId xmlns:a16="http://schemas.microsoft.com/office/drawing/2014/main" id="{FAF0B56F-1651-41D7-BEB2-F2C2CC1B8F80}"/>
              </a:ext>
            </a:extLst>
          </p:cNvPr>
          <p:cNvGraphicFramePr/>
          <p:nvPr/>
        </p:nvGraphicFramePr>
        <p:xfrm>
          <a:off x="809625" y="2619375"/>
          <a:ext cx="9906000" cy="2476500"/>
        </p:xfrm>
        <a:graphic>
          <a:graphicData uri="http://schemas.openxmlformats.org/drawingml/2006/table">
            <a:tbl>
              <a:tblPr/>
              <a:tblGrid>
                <a:gridCol w="45720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619125">
                <a:tc>
                  <a:txBody>
                    <a:bodyPr/>
                    <a:lstStyle/>
                    <a:p>
                      <a:r>
                        <a:rPr sz="2025" b="1">
                          <a:solidFill>
                            <a:srgbClr val="FFFFFF"/>
                          </a:solidFill>
                          <a:latin typeface="Aptos"/>
                          <a:ea typeface="Aptos"/>
                          <a:cs typeface="Aptos"/>
                        </a:rPr>
                        <a:t>PyCaret default model</a:t>
                      </a:r>
                    </a:p>
                  </a:txBody>
                  <a:tcPr>
                    <a:lnL w="5715">
                      <a:solidFill>
                        <a:srgbClr val="D1DDE2"/>
                      </a:solidFill>
                      <a:prstDash val="soli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tc>
                  <a:txBody>
                    <a:bodyPr/>
                    <a:lstStyle/>
                    <a:p>
                      <a:r>
                        <a:rPr sz="2025" b="1">
                          <a:solidFill>
                            <a:srgbClr val="FFFFFF"/>
                          </a:solidFill>
                          <a:latin typeface="Aptos"/>
                          <a:ea typeface="Aptos"/>
                          <a:cs typeface="Aptos"/>
                        </a:rPr>
                        <a:t>CV macro F1</a:t>
                      </a:r>
                    </a:p>
                  </a:txBody>
                  <a:tcPr>
                    <a:lnL w="5715" cap="flat" cmpd="sng" algn="ctr">
                      <a:solidFill>
                        <a:srgbClr val="D1DDE2"/>
                      </a:solidFill>
                      <a:prstDash val="solid"/>
                      <a:round/>
                      <a:headEnd type="none" w="med" len="med"/>
                      <a:tailEnd type="none" w="med" len="me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tc>
                  <a:txBody>
                    <a:bodyPr/>
                    <a:lstStyle/>
                    <a:p>
                      <a:r>
                        <a:rPr sz="2025" b="1">
                          <a:solidFill>
                            <a:srgbClr val="FFFFFF"/>
                          </a:solidFill>
                          <a:latin typeface="Aptos"/>
                          <a:ea typeface="Aptos"/>
                          <a:cs typeface="Aptos"/>
                        </a:rPr>
                        <a:t>CV poison recall</a:t>
                      </a:r>
                    </a:p>
                  </a:txBody>
                  <a:tcPr>
                    <a:lnL w="5715" cap="flat" cmpd="sng" algn="ctr">
                      <a:solidFill>
                        <a:srgbClr val="D1DDE2"/>
                      </a:solidFill>
                      <a:prstDash val="solid"/>
                      <a:round/>
                      <a:headEnd type="none" w="med" len="med"/>
                      <a:tailEnd type="none" w="med" len="me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extLst>
                  <a:ext uri="{0D108BD9-81ED-4DB2-BD59-A6C34878D82A}">
                    <a16:rowId xmlns:a16="http://schemas.microsoft.com/office/drawing/2014/main" val="10000"/>
                  </a:ext>
                </a:extLst>
              </a:tr>
              <a:tr h="619125">
                <a:tc>
                  <a:txBody>
                    <a:bodyPr/>
                    <a:lstStyle/>
                    <a:p>
                      <a:r>
                        <a:rPr sz="2025" b="0">
                          <a:solidFill>
                            <a:srgbClr val="000000"/>
                          </a:solidFill>
                          <a:latin typeface="Aptos"/>
                          <a:ea typeface="Aptos"/>
                          <a:cs typeface="Aptos"/>
                        </a:rPr>
                        <a:t>Random Forest</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2025" b="0">
                          <a:solidFill>
                            <a:srgbClr val="000000"/>
                          </a:solidFill>
                          <a:latin typeface="Aptos"/>
                          <a:ea typeface="Aptos"/>
                          <a:cs typeface="Aptos"/>
                        </a:rPr>
                        <a:t>0.743</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2025" b="0">
                          <a:solidFill>
                            <a:srgbClr val="000000"/>
                          </a:solidFill>
                          <a:latin typeface="Aptos"/>
                          <a:ea typeface="Aptos"/>
                          <a:cs typeface="Aptos"/>
                        </a:rPr>
                        <a:t>57.02%</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extLst>
                  <a:ext uri="{0D108BD9-81ED-4DB2-BD59-A6C34878D82A}">
                    <a16:rowId xmlns:a16="http://schemas.microsoft.com/office/drawing/2014/main" val="10001"/>
                  </a:ext>
                </a:extLst>
              </a:tr>
              <a:tr h="619125">
                <a:tc>
                  <a:txBody>
                    <a:bodyPr/>
                    <a:lstStyle/>
                    <a:p>
                      <a:r>
                        <a:rPr sz="2025" b="0">
                          <a:solidFill>
                            <a:srgbClr val="000000"/>
                          </a:solidFill>
                          <a:latin typeface="Aptos"/>
                          <a:ea typeface="Aptos"/>
                          <a:cs typeface="Aptos"/>
                        </a:rPr>
                        <a:t>Gradient Boosting</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2025" b="0">
                          <a:solidFill>
                            <a:srgbClr val="000000"/>
                          </a:solidFill>
                          <a:latin typeface="Aptos"/>
                          <a:ea typeface="Aptos"/>
                          <a:cs typeface="Aptos"/>
                        </a:rPr>
                        <a:t>0.672</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2025" b="0">
                          <a:solidFill>
                            <a:srgbClr val="000000"/>
                          </a:solidFill>
                          <a:latin typeface="Aptos"/>
                          <a:ea typeface="Aptos"/>
                          <a:cs typeface="Aptos"/>
                        </a:rPr>
                        <a:t>39.95%</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extLst>
                  <a:ext uri="{0D108BD9-81ED-4DB2-BD59-A6C34878D82A}">
                    <a16:rowId xmlns:a16="http://schemas.microsoft.com/office/drawing/2014/main" val="10002"/>
                  </a:ext>
                </a:extLst>
              </a:tr>
              <a:tr h="619125">
                <a:tc>
                  <a:txBody>
                    <a:bodyPr/>
                    <a:lstStyle/>
                    <a:p>
                      <a:r>
                        <a:rPr sz="2025" b="0">
                          <a:solidFill>
                            <a:srgbClr val="000000"/>
                          </a:solidFill>
                          <a:latin typeface="Aptos"/>
                          <a:ea typeface="Aptos"/>
                          <a:cs typeface="Aptos"/>
                        </a:rPr>
                        <a:t>Logistic Regression</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2025" b="0">
                          <a:solidFill>
                            <a:srgbClr val="000000"/>
                          </a:solidFill>
                          <a:latin typeface="Aptos"/>
                          <a:ea typeface="Aptos"/>
                          <a:cs typeface="Aptos"/>
                        </a:rPr>
                        <a:t>0.620</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2025" b="0">
                          <a:solidFill>
                            <a:srgbClr val="000000"/>
                          </a:solidFill>
                          <a:latin typeface="Aptos"/>
                          <a:ea typeface="Aptos"/>
                          <a:cs typeface="Aptos"/>
                        </a:rPr>
                        <a:t>34.02%</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9" name="content-5">
            <a:extLst>
              <a:ext uri="{FF2B5EF4-FFF2-40B4-BE49-F238E27FC236}">
                <a16:creationId xmlns:a16="http://schemas.microsoft.com/office/drawing/2014/main" id="{A7B4C59A-5D92-4BC2-84C6-ED67DF7A9292}"/>
              </a:ext>
            </a:extLst>
          </p:cNvPr>
          <p:cNvSpPr>
            <a:spLocks noGrp="1"/>
          </p:cNvSpPr>
          <p:nvPr/>
        </p:nvSpPr>
        <p:spPr>
          <a:xfrm>
            <a:off x="809625" y="5381625"/>
            <a:ext cx="9906000" cy="523875"/>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13 models returned in the wider AutoML comparison</a:t>
            </a:r>
          </a:p>
        </p:txBody>
      </p:sp>
      <p:sp>
        <p:nvSpPr>
          <p:cNvPr id="20" name="content-6">
            <a:extLst>
              <a:ext uri="{FF2B5EF4-FFF2-40B4-BE49-F238E27FC236}">
                <a16:creationId xmlns:a16="http://schemas.microsoft.com/office/drawing/2014/main" id="{B80169AC-61D7-47DD-8F8F-5C00C33248BF}"/>
              </a:ext>
            </a:extLst>
          </p:cNvPr>
          <p:cNvSpPr>
            <a:spLocks noGrp="1"/>
          </p:cNvSpPr>
          <p:nvPr/>
        </p:nvSpPr>
        <p:spPr>
          <a:xfrm>
            <a:off x="809625" y="5905500"/>
            <a:ext cx="9906000" cy="381000"/>
          </a:xfrm>
          <a:prstGeom prst="rect">
            <a:avLst/>
          </a:prstGeom>
          <a:noFill/>
          <a:ln w="0">
            <a:noFill/>
          </a:ln>
        </p:spPr>
        <p:txBody>
          <a:bodyPr lIns="0" tIns="0" rIns="0" bIns="0" anchor="t"/>
          <a:lstStyle>
            <a:defPPr>
              <a:defRPr sz="1725" b="0">
                <a:solidFill>
                  <a:srgbClr val="555555"/>
                </a:solidFill>
                <a:latin typeface="Aptos"/>
                <a:ea typeface="Aptos"/>
                <a:cs typeface="Aptos"/>
              </a:defRPr>
            </a:defPPr>
          </a:lstStyle>
          <a:p>
            <a:pPr>
              <a:buNone/>
              <a:defRPr sz="1725" b="0">
                <a:solidFill>
                  <a:srgbClr val="555555"/>
                </a:solidFill>
                <a:latin typeface="Aptos"/>
                <a:ea typeface="Aptos"/>
                <a:cs typeface="Aptos"/>
              </a:defRPr>
            </a:pPr>
            <a:r>
              <a:rPr sz="1725" b="0">
                <a:solidFill>
                  <a:srgbClr val="555555"/>
                </a:solidFill>
                <a:latin typeface="Aptos"/>
                <a:ea typeface="Aptos"/>
                <a:cs typeface="Aptos"/>
              </a:rPr>
              <a:t>Default-model screening; final tuned fits are compared separately</a:t>
            </a:r>
          </a:p>
        </p:txBody>
      </p:sp>
    </p:spTree>
    <p:extLst>
      <p:ext uri="{BB962C8B-B14F-4D97-AF65-F5344CB8AC3E}">
        <p14:creationId xmlns:p14="http://schemas.microsoft.com/office/powerpoint/2010/main" val="26035415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B60E8C-7224-44A4-87A0-46A1711DD2ED}"/>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5DA32751-37A2-45C0-BE94-63D375E27003}"/>
              </a:ext>
            </a:extLst>
          </p:cNvPr>
          <p:cNvSpPr>
            <a:spLocks noGrp="1"/>
          </p:cNvSpPr>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E659831F-0D9A-4C63-9EBB-8435B85A440F}"/>
              </a:ext>
            </a:extLst>
          </p:cNvPr>
          <p:cNvSpPr>
            <a:spLocks noGrp="1"/>
          </p:cNvSpPr>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6" name="Rectangle 15">
            <a:extLst>
              <a:ext uri="{FF2B5EF4-FFF2-40B4-BE49-F238E27FC236}">
                <a16:creationId xmlns:a16="http://schemas.microsoft.com/office/drawing/2014/main" id="{5A55FBCD-CD42-40F5-8A1B-3203F9CAEEAA}"/>
              </a:ext>
            </a:extLst>
          </p:cNvPr>
          <p:cNvSpPr>
            <a:spLocks noGrp="1"/>
          </p:cNvSpPr>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7" name="content-4">
            <a:extLst>
              <a:ext uri="{FF2B5EF4-FFF2-40B4-BE49-F238E27FC236}">
                <a16:creationId xmlns:a16="http://schemas.microsoft.com/office/drawing/2014/main" id="{19D3E43D-5FA5-4FDB-93E5-EE3A57DBDE10}"/>
              </a:ext>
            </a:extLst>
          </p:cNvPr>
          <p:cNvSpPr>
            <a:spLocks noGrp="1"/>
          </p:cNvSpPr>
          <p:nvPr/>
        </p:nvSpPr>
        <p:spPr>
          <a:xfrm>
            <a:off x="809625" y="666750"/>
            <a:ext cx="10287000" cy="1000125"/>
          </a:xfrm>
          <a:prstGeom prst="rect">
            <a:avLst/>
          </a:prstGeom>
          <a:noFill/>
          <a:ln w="0">
            <a:noFill/>
          </a:ln>
        </p:spPr>
        <p:txBody>
          <a:bodyPr lIns="0" tIns="0" rIns="0" bIns="0" anchor="t"/>
          <a:lstStyle>
            <a:defPPr>
              <a:defRPr sz="3600" b="0">
                <a:solidFill>
                  <a:srgbClr val="000000"/>
                </a:solidFill>
                <a:latin typeface="Aptos Display"/>
                <a:ea typeface="Aptos Display"/>
                <a:cs typeface="Aptos Display"/>
              </a:defRPr>
            </a:defPPr>
          </a:lstStyle>
          <a:p>
            <a:pPr>
              <a:buNone/>
              <a:defRPr sz="3600" b="0">
                <a:solidFill>
                  <a:srgbClr val="000000"/>
                </a:solidFill>
                <a:latin typeface="Aptos Display"/>
                <a:ea typeface="Aptos Display"/>
                <a:cs typeface="Aptos Display"/>
              </a:defRPr>
            </a:pPr>
            <a:r>
              <a:rPr sz="3600" b="0">
                <a:solidFill>
                  <a:srgbClr val="000000"/>
                </a:solidFill>
                <a:latin typeface="Aptos Display"/>
                <a:ea typeface="Aptos Display"/>
                <a:cs typeface="Aptos Display"/>
              </a:rPr>
              <a:t>Mushroom Challenge - Final comparison</a:t>
            </a:r>
          </a:p>
        </p:txBody>
      </p:sp>
      <p:graphicFrame>
        <p:nvGraphicFramePr>
          <p:cNvPr id="18" name="Table 17">
            <a:extLst>
              <a:ext uri="{FF2B5EF4-FFF2-40B4-BE49-F238E27FC236}">
                <a16:creationId xmlns:a16="http://schemas.microsoft.com/office/drawing/2014/main" id="{AED90904-94F3-4111-990E-3510A7755B51}"/>
              </a:ext>
            </a:extLst>
          </p:cNvPr>
          <p:cNvGraphicFramePr/>
          <p:nvPr/>
        </p:nvGraphicFramePr>
        <p:xfrm>
          <a:off x="762000" y="2524125"/>
          <a:ext cx="10001250" cy="3333750"/>
        </p:xfrm>
        <a:graphic>
          <a:graphicData uri="http://schemas.openxmlformats.org/drawingml/2006/table">
            <a:tbl>
              <a:tblPr/>
              <a:tblGrid>
                <a:gridCol w="4000500">
                  <a:extLst>
                    <a:ext uri="{9D8B030D-6E8A-4147-A177-3AD203B41FA5}">
                      <a16:colId xmlns:a16="http://schemas.microsoft.com/office/drawing/2014/main" val="20000"/>
                    </a:ext>
                  </a:extLst>
                </a:gridCol>
                <a:gridCol w="2000250">
                  <a:extLst>
                    <a:ext uri="{9D8B030D-6E8A-4147-A177-3AD203B41FA5}">
                      <a16:colId xmlns:a16="http://schemas.microsoft.com/office/drawing/2014/main" val="20001"/>
                    </a:ext>
                  </a:extLst>
                </a:gridCol>
                <a:gridCol w="2000250">
                  <a:extLst>
                    <a:ext uri="{9D8B030D-6E8A-4147-A177-3AD203B41FA5}">
                      <a16:colId xmlns:a16="http://schemas.microsoft.com/office/drawing/2014/main" val="20002"/>
                    </a:ext>
                  </a:extLst>
                </a:gridCol>
                <a:gridCol w="2000250">
                  <a:extLst>
                    <a:ext uri="{9D8B030D-6E8A-4147-A177-3AD203B41FA5}">
                      <a16:colId xmlns:a16="http://schemas.microsoft.com/office/drawing/2014/main" val="20003"/>
                    </a:ext>
                  </a:extLst>
                </a:gridCol>
              </a:tblGrid>
              <a:tr h="476250">
                <a:tc>
                  <a:txBody>
                    <a:bodyPr/>
                    <a:lstStyle/>
                    <a:p>
                      <a:r>
                        <a:rPr sz="1800" b="1">
                          <a:solidFill>
                            <a:srgbClr val="FFFFFF"/>
                          </a:solidFill>
                          <a:latin typeface="Aptos"/>
                          <a:ea typeface="Aptos"/>
                          <a:cs typeface="Aptos"/>
                        </a:rPr>
                        <a:t>Model</a:t>
                      </a:r>
                    </a:p>
                  </a:txBody>
                  <a:tcPr>
                    <a:lnL w="5715">
                      <a:solidFill>
                        <a:srgbClr val="D1DDE2"/>
                      </a:solidFill>
                      <a:prstDash val="soli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tc>
                  <a:txBody>
                    <a:bodyPr/>
                    <a:lstStyle/>
                    <a:p>
                      <a:r>
                        <a:rPr sz="1800" b="1">
                          <a:solidFill>
                            <a:srgbClr val="FFFFFF"/>
                          </a:solidFill>
                          <a:latin typeface="Aptos"/>
                          <a:ea typeface="Aptos"/>
                          <a:cs typeface="Aptos"/>
                        </a:rPr>
                        <a:t>CV macro F1</a:t>
                      </a:r>
                    </a:p>
                  </a:txBody>
                  <a:tcPr>
                    <a:lnL w="5715" cap="flat" cmpd="sng" algn="ctr">
                      <a:solidFill>
                        <a:srgbClr val="D1DDE2"/>
                      </a:solidFill>
                      <a:prstDash val="solid"/>
                      <a:round/>
                      <a:headEnd type="none" w="med" len="med"/>
                      <a:tailEnd type="none" w="med" len="me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tc>
                  <a:txBody>
                    <a:bodyPr/>
                    <a:lstStyle/>
                    <a:p>
                      <a:r>
                        <a:rPr sz="1800" b="1">
                          <a:solidFill>
                            <a:srgbClr val="FFFFFF"/>
                          </a:solidFill>
                          <a:latin typeface="Aptos"/>
                          <a:ea typeface="Aptos"/>
                          <a:cs typeface="Aptos"/>
                        </a:rPr>
                        <a:t>Dev. accuracy</a:t>
                      </a:r>
                    </a:p>
                  </a:txBody>
                  <a:tcPr>
                    <a:lnL w="5715" cap="flat" cmpd="sng" algn="ctr">
                      <a:solidFill>
                        <a:srgbClr val="D1DDE2"/>
                      </a:solidFill>
                      <a:prstDash val="solid"/>
                      <a:round/>
                      <a:headEnd type="none" w="med" len="med"/>
                      <a:tailEnd type="none" w="med" len="me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tc>
                  <a:txBody>
                    <a:bodyPr/>
                    <a:lstStyle/>
                    <a:p>
                      <a:r>
                        <a:rPr sz="1800" b="1">
                          <a:solidFill>
                            <a:srgbClr val="FFFFFF"/>
                          </a:solidFill>
                          <a:latin typeface="Aptos"/>
                          <a:ea typeface="Aptos"/>
                          <a:cs typeface="Aptos"/>
                        </a:rPr>
                        <a:t>Poison recall</a:t>
                      </a:r>
                    </a:p>
                  </a:txBody>
                  <a:tcPr>
                    <a:lnL w="5715" cap="flat" cmpd="sng" algn="ctr">
                      <a:solidFill>
                        <a:srgbClr val="D1DDE2"/>
                      </a:solidFill>
                      <a:prstDash val="solid"/>
                      <a:round/>
                      <a:headEnd type="none" w="med" len="med"/>
                      <a:tailEnd type="none" w="med" len="me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extLst>
                  <a:ext uri="{0D108BD9-81ED-4DB2-BD59-A6C34878D82A}">
                    <a16:rowId xmlns:a16="http://schemas.microsoft.com/office/drawing/2014/main" val="10000"/>
                  </a:ext>
                </a:extLst>
              </a:tr>
              <a:tr h="476250">
                <a:tc>
                  <a:txBody>
                    <a:bodyPr/>
                    <a:lstStyle/>
                    <a:p>
                      <a:r>
                        <a:rPr sz="1800" b="0">
                          <a:solidFill>
                            <a:srgbClr val="000000"/>
                          </a:solidFill>
                          <a:latin typeface="Aptos"/>
                          <a:ea typeface="Aptos"/>
                          <a:cs typeface="Aptos"/>
                        </a:rPr>
                        <a:t>Random Forest 300</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800" b="0">
                          <a:solidFill>
                            <a:srgbClr val="000000"/>
                          </a:solidFill>
                          <a:latin typeface="Aptos"/>
                          <a:ea typeface="Aptos"/>
                          <a:cs typeface="Aptos"/>
                        </a:rPr>
                        <a:t>0.762</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800" b="0">
                          <a:solidFill>
                            <a:srgbClr val="000000"/>
                          </a:solidFill>
                          <a:latin typeface="Aptos"/>
                          <a:ea typeface="Aptos"/>
                          <a:cs typeface="Aptos"/>
                        </a:rPr>
                        <a:t>81.33%</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800" b="0">
                          <a:solidFill>
                            <a:srgbClr val="000000"/>
                          </a:solidFill>
                          <a:latin typeface="Aptos"/>
                          <a:ea typeface="Aptos"/>
                          <a:cs typeface="Aptos"/>
                        </a:rPr>
                        <a:t>64.52%</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extLst>
                  <a:ext uri="{0D108BD9-81ED-4DB2-BD59-A6C34878D82A}">
                    <a16:rowId xmlns:a16="http://schemas.microsoft.com/office/drawing/2014/main" val="10001"/>
                  </a:ext>
                </a:extLst>
              </a:tr>
              <a:tr h="476250">
                <a:tc>
                  <a:txBody>
                    <a:bodyPr/>
                    <a:lstStyle/>
                    <a:p>
                      <a:r>
                        <a:rPr sz="1800" b="0">
                          <a:solidFill>
                            <a:srgbClr val="000000"/>
                          </a:solidFill>
                          <a:latin typeface="Aptos"/>
                          <a:ea typeface="Aptos"/>
                          <a:cs typeface="Aptos"/>
                        </a:rPr>
                        <a:t>AWS Random Forest</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800" b="0">
                          <a:solidFill>
                            <a:srgbClr val="000000"/>
                          </a:solidFill>
                          <a:latin typeface="Aptos"/>
                          <a:ea typeface="Aptos"/>
                          <a:cs typeface="Aptos"/>
                        </a:rPr>
                        <a:t>0.753</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800" b="0">
                          <a:solidFill>
                            <a:srgbClr val="000000"/>
                          </a:solidFill>
                          <a:latin typeface="Aptos"/>
                          <a:ea typeface="Aptos"/>
                          <a:cs typeface="Aptos"/>
                        </a:rPr>
                        <a:t>80.11%</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800" b="0">
                          <a:solidFill>
                            <a:srgbClr val="000000"/>
                          </a:solidFill>
                          <a:latin typeface="Aptos"/>
                          <a:ea typeface="Aptos"/>
                          <a:cs typeface="Aptos"/>
                        </a:rPr>
                        <a:t>58.94%</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extLst>
                  <a:ext uri="{0D108BD9-81ED-4DB2-BD59-A6C34878D82A}">
                    <a16:rowId xmlns:a16="http://schemas.microsoft.com/office/drawing/2014/main" val="10002"/>
                  </a:ext>
                </a:extLst>
              </a:tr>
              <a:tr h="476250">
                <a:tc>
                  <a:txBody>
                    <a:bodyPr/>
                    <a:lstStyle/>
                    <a:p>
                      <a:r>
                        <a:rPr sz="1800" b="0">
                          <a:solidFill>
                            <a:srgbClr val="000000"/>
                          </a:solidFill>
                          <a:latin typeface="Aptos"/>
                          <a:ea typeface="Aptos"/>
                          <a:cs typeface="Aptos"/>
                        </a:rPr>
                        <a:t>Gradient Boosting</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800" b="0">
                          <a:solidFill>
                            <a:srgbClr val="000000"/>
                          </a:solidFill>
                          <a:latin typeface="Aptos"/>
                          <a:ea typeface="Aptos"/>
                          <a:cs typeface="Aptos"/>
                        </a:rPr>
                        <a:t>0.719</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800" b="0">
                          <a:solidFill>
                            <a:srgbClr val="000000"/>
                          </a:solidFill>
                          <a:latin typeface="Aptos"/>
                          <a:ea typeface="Aptos"/>
                          <a:cs typeface="Aptos"/>
                        </a:rPr>
                        <a:t>78.44%</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800" b="0">
                          <a:solidFill>
                            <a:srgbClr val="000000"/>
                          </a:solidFill>
                          <a:latin typeface="Aptos"/>
                          <a:ea typeface="Aptos"/>
                          <a:cs typeface="Aptos"/>
                        </a:rPr>
                        <a:t>49.85%</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extLst>
                  <a:ext uri="{0D108BD9-81ED-4DB2-BD59-A6C34878D82A}">
                    <a16:rowId xmlns:a16="http://schemas.microsoft.com/office/drawing/2014/main" val="10003"/>
                  </a:ext>
                </a:extLst>
              </a:tr>
              <a:tr h="476250">
                <a:tc>
                  <a:txBody>
                    <a:bodyPr/>
                    <a:lstStyle/>
                    <a:p>
                      <a:r>
                        <a:rPr sz="1800" b="0">
                          <a:solidFill>
                            <a:srgbClr val="000000"/>
                          </a:solidFill>
                          <a:latin typeface="Aptos"/>
                          <a:ea typeface="Aptos"/>
                          <a:cs typeface="Aptos"/>
                        </a:rPr>
                        <a:t>Logistic Regression</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800" b="0">
                          <a:solidFill>
                            <a:srgbClr val="000000"/>
                          </a:solidFill>
                          <a:latin typeface="Aptos"/>
                          <a:ea typeface="Aptos"/>
                          <a:cs typeface="Aptos"/>
                        </a:rPr>
                        <a:t>0.626</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800" b="0">
                          <a:solidFill>
                            <a:srgbClr val="000000"/>
                          </a:solidFill>
                          <a:latin typeface="Aptos"/>
                          <a:ea typeface="Aptos"/>
                          <a:cs typeface="Aptos"/>
                        </a:rPr>
                        <a:t>68.33%</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800" b="0">
                          <a:solidFill>
                            <a:srgbClr val="000000"/>
                          </a:solidFill>
                          <a:latin typeface="Aptos"/>
                          <a:ea typeface="Aptos"/>
                          <a:cs typeface="Aptos"/>
                        </a:rPr>
                        <a:t>60.12%</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extLst>
                  <a:ext uri="{0D108BD9-81ED-4DB2-BD59-A6C34878D82A}">
                    <a16:rowId xmlns:a16="http://schemas.microsoft.com/office/drawing/2014/main" val="10004"/>
                  </a:ext>
                </a:extLst>
              </a:tr>
              <a:tr h="476250">
                <a:tc>
                  <a:txBody>
                    <a:bodyPr/>
                    <a:lstStyle/>
                    <a:p>
                      <a:r>
                        <a:rPr sz="1800" b="0">
                          <a:solidFill>
                            <a:srgbClr val="000000"/>
                          </a:solidFill>
                          <a:latin typeface="Aptos"/>
                          <a:ea typeface="Aptos"/>
                          <a:cs typeface="Aptos"/>
                        </a:rPr>
                        <a:t>Decision-tree baseline</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800" b="0">
                          <a:solidFill>
                            <a:srgbClr val="000000"/>
                          </a:solidFill>
                          <a:latin typeface="Aptos"/>
                          <a:ea typeface="Aptos"/>
                          <a:cs typeface="Aptos"/>
                        </a:rPr>
                        <a:t>0.581</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800" b="0">
                          <a:solidFill>
                            <a:srgbClr val="000000"/>
                          </a:solidFill>
                          <a:latin typeface="Aptos"/>
                          <a:ea typeface="Aptos"/>
                          <a:cs typeface="Aptos"/>
                        </a:rPr>
                        <a:t>70.00%</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800" b="0">
                          <a:solidFill>
                            <a:srgbClr val="000000"/>
                          </a:solidFill>
                          <a:latin typeface="Aptos"/>
                          <a:ea typeface="Aptos"/>
                          <a:cs typeface="Aptos"/>
                        </a:rPr>
                        <a:t>23.75%</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extLst>
                  <a:ext uri="{0D108BD9-81ED-4DB2-BD59-A6C34878D82A}">
                    <a16:rowId xmlns:a16="http://schemas.microsoft.com/office/drawing/2014/main" val="10005"/>
                  </a:ext>
                </a:extLst>
              </a:tr>
              <a:tr h="476250">
                <a:tc>
                  <a:txBody>
                    <a:bodyPr/>
                    <a:lstStyle/>
                    <a:p>
                      <a:r>
                        <a:rPr sz="1800" b="0">
                          <a:solidFill>
                            <a:srgbClr val="000000"/>
                          </a:solidFill>
                          <a:latin typeface="Aptos"/>
                          <a:ea typeface="Aptos"/>
                          <a:cs typeface="Aptos"/>
                        </a:rPr>
                        <a:t>Majority baseline</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800" b="0">
                          <a:solidFill>
                            <a:srgbClr val="000000"/>
                          </a:solidFill>
                          <a:latin typeface="Aptos"/>
                          <a:ea typeface="Aptos"/>
                          <a:cs typeface="Aptos"/>
                        </a:rPr>
                        <a:t>0.383</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800" b="0">
                          <a:solidFill>
                            <a:srgbClr val="000000"/>
                          </a:solidFill>
                          <a:latin typeface="Aptos"/>
                          <a:ea typeface="Aptos"/>
                          <a:cs typeface="Aptos"/>
                        </a:rPr>
                        <a:t>62.11%</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800" b="0">
                          <a:solidFill>
                            <a:srgbClr val="000000"/>
                          </a:solidFill>
                          <a:latin typeface="Aptos"/>
                          <a:ea typeface="Aptos"/>
                          <a:cs typeface="Aptos"/>
                        </a:rPr>
                        <a:t>0.00%</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extLst>
                  <a:ext uri="{0D108BD9-81ED-4DB2-BD59-A6C34878D82A}">
                    <a16:rowId xmlns:a16="http://schemas.microsoft.com/office/drawing/2014/main" val="10006"/>
                  </a:ext>
                </a:extLst>
              </a:tr>
            </a:tbl>
          </a:graphicData>
        </a:graphic>
      </p:graphicFrame>
      <p:sp>
        <p:nvSpPr>
          <p:cNvPr id="19" name="content-5">
            <a:extLst>
              <a:ext uri="{FF2B5EF4-FFF2-40B4-BE49-F238E27FC236}">
                <a16:creationId xmlns:a16="http://schemas.microsoft.com/office/drawing/2014/main" id="{E9678A04-7F35-4E7D-B01E-A90070F0325A}"/>
              </a:ext>
            </a:extLst>
          </p:cNvPr>
          <p:cNvSpPr>
            <a:spLocks noGrp="1"/>
          </p:cNvSpPr>
          <p:nvPr/>
        </p:nvSpPr>
        <p:spPr>
          <a:xfrm>
            <a:off x="809625" y="6019800"/>
            <a:ext cx="10191750" cy="381000"/>
          </a:xfrm>
          <a:prstGeom prst="rect">
            <a:avLst/>
          </a:prstGeom>
          <a:noFill/>
          <a:ln w="0">
            <a:noFill/>
          </a:ln>
        </p:spPr>
        <p:txBody>
          <a:bodyPr lIns="0" tIns="0" rIns="0" bIns="0" anchor="t"/>
          <a:lstStyle>
            <a:defPPr>
              <a:defRPr sz="1725" b="0">
                <a:solidFill>
                  <a:srgbClr val="555555"/>
                </a:solidFill>
                <a:latin typeface="Aptos"/>
                <a:ea typeface="Aptos"/>
                <a:cs typeface="Aptos"/>
              </a:defRPr>
            </a:defPPr>
          </a:lstStyle>
          <a:p>
            <a:pPr>
              <a:buNone/>
              <a:defRPr sz="1725" b="0">
                <a:solidFill>
                  <a:srgbClr val="555555"/>
                </a:solidFill>
                <a:latin typeface="Aptos"/>
                <a:ea typeface="Aptos"/>
                <a:cs typeface="Aptos"/>
              </a:defRPr>
            </a:pPr>
            <a:r>
              <a:rPr sz="1725" b="0">
                <a:solidFill>
                  <a:srgbClr val="555555"/>
                </a:solidFill>
                <a:latin typeface="Aptos"/>
                <a:ea typeface="Aptos"/>
                <a:cs typeface="Aptos"/>
              </a:rPr>
              <a:t>Selected: RF300 by training CV; no tuning on development-test scores</a:t>
            </a:r>
          </a:p>
        </p:txBody>
      </p:sp>
    </p:spTree>
    <p:extLst>
      <p:ext uri="{BB962C8B-B14F-4D97-AF65-F5344CB8AC3E}">
        <p14:creationId xmlns:p14="http://schemas.microsoft.com/office/powerpoint/2010/main" val="26035415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74B0B678-CD10-4371-96E5-2706F4579FAD}"/>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4" name="Rectangle 73">
            <a:extLst>
              <a:ext uri="{FF2B5EF4-FFF2-40B4-BE49-F238E27FC236}">
                <a16:creationId xmlns:a16="http://schemas.microsoft.com/office/drawing/2014/main" id="{8A3838D5-9565-4601-BAC3-D1B5BDB803ED}"/>
              </a:ext>
            </a:extLst>
          </p:cNvPr>
          <p:cNvSpPr>
            <a:spLocks noGrp="1"/>
          </p:cNvSpPr>
          <p:nvPr/>
        </p:nvSpPr>
        <p:spPr>
          <a:xfrm rot="5400000">
            <a:off x="3032052" y="2878474"/>
            <a:ext cx="816039" cy="10280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5" name="Rectangle 74">
            <a:extLst>
              <a:ext uri="{FF2B5EF4-FFF2-40B4-BE49-F238E27FC236}">
                <a16:creationId xmlns:a16="http://schemas.microsoft.com/office/drawing/2014/main" id="{3349A4B8-3246-4579-922E-FE1155C7F08C}"/>
              </a:ext>
            </a:extLst>
          </p:cNvPr>
          <p:cNvSpPr>
            <a:spLocks noGrp="1"/>
          </p:cNvSpPr>
          <p:nvPr/>
        </p:nvSpPr>
        <p:spPr>
          <a:xfrm flipH="1" flipV="1">
            <a:off x="-2340441" y="2666504"/>
            <a:ext cx="5608997" cy="52739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7" name="Rectangle 76">
            <a:extLst>
              <a:ext uri="{FF2B5EF4-FFF2-40B4-BE49-F238E27FC236}">
                <a16:creationId xmlns:a16="http://schemas.microsoft.com/office/drawing/2014/main" id="{CBC4F608-B4B8-48C3-9572-C0F061B1CD99}"/>
              </a:ext>
            </a:extLst>
          </p:cNvPr>
          <p:cNvSpPr>
            <a:spLocks noGrp="1"/>
          </p:cNvSpPr>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9" name="Rectangle 78">
            <a:extLst>
              <a:ext uri="{FF2B5EF4-FFF2-40B4-BE49-F238E27FC236}">
                <a16:creationId xmlns:a16="http://schemas.microsoft.com/office/drawing/2014/main" id="{1382A32C-5B0C-4B1C-A074-76C6DBCC9F87}"/>
              </a:ext>
            </a:extLst>
          </p:cNvPr>
          <p:cNvSpPr>
            <a:spLocks noGrp="1"/>
          </p:cNvSpPr>
          <p:nvPr/>
        </p:nvSpPr>
        <p:spPr>
          <a:xfrm flipH="1">
            <a:off x="5957331" y="2188548"/>
            <a:ext cx="5041025"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80" name="content-5">
            <a:extLst>
              <a:ext uri="{FF2B5EF4-FFF2-40B4-BE49-F238E27FC236}">
                <a16:creationId xmlns:a16="http://schemas.microsoft.com/office/drawing/2014/main" id="{32415D46-8853-4C13-8829-261BAAD396C4}"/>
              </a:ext>
            </a:extLst>
          </p:cNvPr>
          <p:cNvSpPr>
            <a:spLocks noGrp="1"/>
          </p:cNvSpPr>
          <p:nvPr/>
        </p:nvSpPr>
        <p:spPr>
          <a:xfrm>
            <a:off x="5953125" y="971550"/>
            <a:ext cx="5143500" cy="1047750"/>
          </a:xfrm>
          <a:prstGeom prst="rect">
            <a:avLst/>
          </a:prstGeom>
          <a:noFill/>
          <a:ln w="0">
            <a:noFill/>
          </a:ln>
        </p:spPr>
        <p:txBody>
          <a:bodyPr lIns="0" tIns="0" rIns="0" bIns="0" anchor="t"/>
          <a:lstStyle>
            <a:defPPr>
              <a:defRPr sz="3300" b="0">
                <a:solidFill>
                  <a:srgbClr val="000000"/>
                </a:solidFill>
                <a:latin typeface="Aptos Display"/>
                <a:ea typeface="Aptos Display"/>
                <a:cs typeface="Aptos Display"/>
              </a:defRPr>
            </a:defPPr>
          </a:lstStyle>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AWS SageMaker -</a:t>
            </a:r>
          </a:p>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Training and tuning</a:t>
            </a:r>
          </a:p>
        </p:txBody>
      </p:sp>
      <p:graphicFrame>
        <p:nvGraphicFramePr>
          <p:cNvPr id="81" name="Table 80">
            <a:extLst>
              <a:ext uri="{FF2B5EF4-FFF2-40B4-BE49-F238E27FC236}">
                <a16:creationId xmlns:a16="http://schemas.microsoft.com/office/drawing/2014/main" id="{AE83EE9A-BF79-40FE-95F7-DBE33611E774}"/>
              </a:ext>
            </a:extLst>
          </p:cNvPr>
          <p:cNvGraphicFramePr/>
          <p:nvPr/>
        </p:nvGraphicFramePr>
        <p:xfrm>
          <a:off x="1028700" y="1809750"/>
          <a:ext cx="4286250" cy="2667000"/>
        </p:xfrm>
        <a:graphic>
          <a:graphicData uri="http://schemas.openxmlformats.org/drawingml/2006/table">
            <a:tbl>
              <a:tblPr/>
              <a:tblGrid>
                <a:gridCol w="266700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tblGrid>
              <a:tr h="666750">
                <a:tc>
                  <a:txBody>
                    <a:bodyPr/>
                    <a:lstStyle/>
                    <a:p>
                      <a:r>
                        <a:rPr sz="1875" b="1">
                          <a:solidFill>
                            <a:srgbClr val="FFFFFF"/>
                          </a:solidFill>
                          <a:latin typeface="Aptos"/>
                          <a:ea typeface="Aptos"/>
                          <a:cs typeface="Aptos"/>
                        </a:rPr>
                        <a:t>Checked AWS artifact</a:t>
                      </a:r>
                    </a:p>
                  </a:txBody>
                  <a:tcPr>
                    <a:lnL w="5715">
                      <a:solidFill>
                        <a:srgbClr val="D1DDE2"/>
                      </a:solidFill>
                      <a:prstDash val="soli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tc>
                  <a:txBody>
                    <a:bodyPr/>
                    <a:lstStyle/>
                    <a:p>
                      <a:r>
                        <a:rPr sz="1875" b="1">
                          <a:solidFill>
                            <a:srgbClr val="FFFFFF"/>
                          </a:solidFill>
                          <a:latin typeface="Aptos"/>
                          <a:ea typeface="Aptos"/>
                          <a:cs typeface="Aptos"/>
                        </a:rPr>
                        <a:t>Result</a:t>
                      </a:r>
                    </a:p>
                  </a:txBody>
                  <a:tcPr>
                    <a:lnL w="5715" cap="flat" cmpd="sng" algn="ctr">
                      <a:solidFill>
                        <a:srgbClr val="D1DDE2"/>
                      </a:solidFill>
                      <a:prstDash val="solid"/>
                      <a:round/>
                      <a:headEnd type="none" w="med" len="med"/>
                      <a:tailEnd type="none" w="med" len="med"/>
                    </a:lnL>
                    <a:lnR w="5715">
                      <a:solidFill>
                        <a:srgbClr val="D1DDE2"/>
                      </a:solidFill>
                      <a:prstDash val="solid"/>
                    </a:lnR>
                    <a:lnT w="5715">
                      <a:solidFill>
                        <a:srgbClr val="D1DDE2"/>
                      </a:solidFill>
                      <a:prstDash val="solid"/>
                    </a:lnT>
                    <a:lnB w="5715">
                      <a:solidFill>
                        <a:srgbClr val="D1DDE2"/>
                      </a:solidFill>
                      <a:prstDash val="solid"/>
                    </a:lnB>
                    <a:solidFill>
                      <a:srgbClr val="0F9ED5"/>
                    </a:solidFill>
                  </a:tcPr>
                </a:tc>
                <a:extLst>
                  <a:ext uri="{0D108BD9-81ED-4DB2-BD59-A6C34878D82A}">
                    <a16:rowId xmlns:a16="http://schemas.microsoft.com/office/drawing/2014/main" val="10000"/>
                  </a:ext>
                </a:extLst>
              </a:tr>
              <a:tr h="666750">
                <a:tc>
                  <a:txBody>
                    <a:bodyPr/>
                    <a:lstStyle/>
                    <a:p>
                      <a:r>
                        <a:rPr sz="1875" b="0">
                          <a:solidFill>
                            <a:srgbClr val="000000"/>
                          </a:solidFill>
                          <a:latin typeface="Aptos"/>
                          <a:ea typeface="Aptos"/>
                          <a:cs typeface="Aptos"/>
                        </a:rPr>
                        <a:t>Accuracy</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875" b="0">
                          <a:solidFill>
                            <a:srgbClr val="000000"/>
                          </a:solidFill>
                          <a:latin typeface="Aptos"/>
                          <a:ea typeface="Aptos"/>
                          <a:cs typeface="Aptos"/>
                        </a:rPr>
                        <a:t>80.11%</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extLst>
                  <a:ext uri="{0D108BD9-81ED-4DB2-BD59-A6C34878D82A}">
                    <a16:rowId xmlns:a16="http://schemas.microsoft.com/office/drawing/2014/main" val="10001"/>
                  </a:ext>
                </a:extLst>
              </a:tr>
              <a:tr h="666750">
                <a:tc>
                  <a:txBody>
                    <a:bodyPr/>
                    <a:lstStyle/>
                    <a:p>
                      <a:r>
                        <a:rPr sz="1875" b="0">
                          <a:solidFill>
                            <a:srgbClr val="000000"/>
                          </a:solidFill>
                          <a:latin typeface="Aptos"/>
                          <a:ea typeface="Aptos"/>
                          <a:cs typeface="Aptos"/>
                        </a:rPr>
                        <a:t>Poisonous recall</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tc>
                  <a:txBody>
                    <a:bodyPr/>
                    <a:lstStyle/>
                    <a:p>
                      <a:r>
                        <a:rPr sz="1875" b="0">
                          <a:solidFill>
                            <a:srgbClr val="000000"/>
                          </a:solidFill>
                          <a:latin typeface="Aptos"/>
                          <a:ea typeface="Aptos"/>
                          <a:cs typeface="Aptos"/>
                        </a:rPr>
                        <a:t>58.94%</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1F7FA"/>
                    </a:solidFill>
                  </a:tcPr>
                </a:tc>
                <a:extLst>
                  <a:ext uri="{0D108BD9-81ED-4DB2-BD59-A6C34878D82A}">
                    <a16:rowId xmlns:a16="http://schemas.microsoft.com/office/drawing/2014/main" val="10002"/>
                  </a:ext>
                </a:extLst>
              </a:tr>
              <a:tr h="666750">
                <a:tc>
                  <a:txBody>
                    <a:bodyPr/>
                    <a:lstStyle/>
                    <a:p>
                      <a:r>
                        <a:rPr sz="1875" b="0">
                          <a:solidFill>
                            <a:srgbClr val="000000"/>
                          </a:solidFill>
                          <a:latin typeface="Aptos"/>
                          <a:ea typeface="Aptos"/>
                          <a:cs typeface="Aptos"/>
                        </a:rPr>
                        <a:t>CV macro F1</a:t>
                      </a:r>
                    </a:p>
                  </a:txBody>
                  <a:tcPr>
                    <a:lnL w="5715">
                      <a:solidFill>
                        <a:srgbClr val="D1DDE2"/>
                      </a:solidFill>
                      <a:prstDash val="soli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tc>
                  <a:txBody>
                    <a:bodyPr/>
                    <a:lstStyle/>
                    <a:p>
                      <a:r>
                        <a:rPr sz="1875" b="0">
                          <a:solidFill>
                            <a:srgbClr val="000000"/>
                          </a:solidFill>
                          <a:latin typeface="Aptos"/>
                          <a:ea typeface="Aptos"/>
                          <a:cs typeface="Aptos"/>
                        </a:rPr>
                        <a:t>0.753</a:t>
                      </a:r>
                    </a:p>
                  </a:txBody>
                  <a:tcPr>
                    <a:lnL w="5715" cap="flat" cmpd="sng" algn="ctr">
                      <a:solidFill>
                        <a:srgbClr val="D1DDE2"/>
                      </a:solidFill>
                      <a:prstDash val="solid"/>
                      <a:round/>
                      <a:headEnd type="none" w="med" len="med"/>
                      <a:tailEnd type="none" w="med" len="med"/>
                    </a:lnL>
                    <a:lnR w="5715">
                      <a:solidFill>
                        <a:srgbClr val="D1DDE2"/>
                      </a:solidFill>
                      <a:prstDash val="solid"/>
                    </a:lnR>
                    <a:lnT w="5715" cap="flat" cmpd="sng" algn="ctr">
                      <a:solidFill>
                        <a:srgbClr val="D1DDE2"/>
                      </a:solidFill>
                      <a:prstDash val="solid"/>
                      <a:round/>
                      <a:headEnd type="none" w="med" len="med"/>
                      <a:tailEnd type="none" w="med" len="med"/>
                    </a:lnT>
                    <a:lnB w="5715">
                      <a:solidFill>
                        <a:srgbClr val="D1DDE2"/>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82" name="content-6">
            <a:extLst>
              <a:ext uri="{FF2B5EF4-FFF2-40B4-BE49-F238E27FC236}">
                <a16:creationId xmlns:a16="http://schemas.microsoft.com/office/drawing/2014/main" id="{B11AE8A5-B08D-4D1E-8FF4-9A8D6ED5E320}"/>
              </a:ext>
            </a:extLst>
          </p:cNvPr>
          <p:cNvSpPr>
            <a:spLocks noGrp="1"/>
          </p:cNvSpPr>
          <p:nvPr/>
        </p:nvSpPr>
        <p:spPr>
          <a:xfrm>
            <a:off x="1047750" y="4857750"/>
            <a:ext cx="4238625" cy="857250"/>
          </a:xfrm>
          <a:prstGeom prst="rect">
            <a:avLst/>
          </a:prstGeom>
          <a:noFill/>
          <a:ln w="0">
            <a:noFill/>
          </a:ln>
        </p:spPr>
        <p:txBody>
          <a:bodyPr lIns="0" tIns="0" rIns="0" bIns="0" anchor="t"/>
          <a:lstStyle>
            <a:defPPr>
              <a:defRPr sz="1875" b="0">
                <a:solidFill>
                  <a:srgbClr val="555555"/>
                </a:solidFill>
                <a:latin typeface="Aptos"/>
                <a:ea typeface="Aptos"/>
                <a:cs typeface="Aptos"/>
              </a:defRPr>
            </a:defPPr>
          </a:lstStyle>
          <a:p>
            <a:pPr>
              <a:buNone/>
              <a:defRPr sz="1875" b="0">
                <a:solidFill>
                  <a:srgbClr val="555555"/>
                </a:solidFill>
                <a:latin typeface="Aptos"/>
                <a:ea typeface="Aptos"/>
                <a:cs typeface="Aptos"/>
              </a:defRPr>
            </a:pPr>
            <a:r>
              <a:rPr sz="1875" b="0">
                <a:solidFill>
                  <a:srgbClr val="555555"/>
                </a:solidFill>
                <a:latin typeface="Aptos"/>
                <a:ea typeface="Aptos"/>
                <a:cs typeface="Aptos"/>
              </a:rPr>
              <a:t>Notebook + trained pipeline saved in GitHub</a:t>
            </a:r>
          </a:p>
        </p:txBody>
      </p:sp>
      <p:sp>
        <p:nvSpPr>
          <p:cNvPr id="83" name="content-7">
            <a:extLst>
              <a:ext uri="{FF2B5EF4-FFF2-40B4-BE49-F238E27FC236}">
                <a16:creationId xmlns:a16="http://schemas.microsoft.com/office/drawing/2014/main" id="{E8A408F6-EC66-4BBE-98AC-FC44BAB0253E}"/>
              </a:ext>
            </a:extLst>
          </p:cNvPr>
          <p:cNvSpPr>
            <a:spLocks noGrp="1"/>
          </p:cNvSpPr>
          <p:nvPr/>
        </p:nvSpPr>
        <p:spPr>
          <a:xfrm>
            <a:off x="5953125" y="2762250"/>
            <a:ext cx="5143500" cy="6477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Same 5,000 course records</a:t>
            </a:r>
          </a:p>
        </p:txBody>
      </p:sp>
      <p:sp>
        <p:nvSpPr>
          <p:cNvPr id="84" name="content-8">
            <a:extLst>
              <a:ext uri="{FF2B5EF4-FFF2-40B4-BE49-F238E27FC236}">
                <a16:creationId xmlns:a16="http://schemas.microsoft.com/office/drawing/2014/main" id="{9892F39C-FAAE-4AF8-B99C-4F258199EF29}"/>
              </a:ext>
            </a:extLst>
          </p:cNvPr>
          <p:cNvSpPr>
            <a:spLocks noGrp="1"/>
          </p:cNvSpPr>
          <p:nvPr/>
        </p:nvSpPr>
        <p:spPr>
          <a:xfrm>
            <a:off x="5953125" y="3486150"/>
            <a:ext cx="5143500" cy="6477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Four candidate configurations</a:t>
            </a:r>
          </a:p>
        </p:txBody>
      </p:sp>
      <p:sp>
        <p:nvSpPr>
          <p:cNvPr id="85" name="content-9">
            <a:extLst>
              <a:ext uri="{FF2B5EF4-FFF2-40B4-BE49-F238E27FC236}">
                <a16:creationId xmlns:a16="http://schemas.microsoft.com/office/drawing/2014/main" id="{0CA2FD67-BB0F-4DB4-A1E7-415963C44C3C}"/>
              </a:ext>
            </a:extLst>
          </p:cNvPr>
          <p:cNvSpPr>
            <a:spLocks noGrp="1"/>
          </p:cNvSpPr>
          <p:nvPr/>
        </p:nvSpPr>
        <p:spPr>
          <a:xfrm>
            <a:off x="5953125" y="4210050"/>
            <a:ext cx="5143500" cy="6477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Downloaded artifact verified</a:t>
            </a:r>
          </a:p>
        </p:txBody>
      </p:sp>
      <p:sp>
        <p:nvSpPr>
          <p:cNvPr id="86" name="content-10">
            <a:extLst>
              <a:ext uri="{FF2B5EF4-FFF2-40B4-BE49-F238E27FC236}">
                <a16:creationId xmlns:a16="http://schemas.microsoft.com/office/drawing/2014/main" id="{9774FFB4-3969-4623-8FCB-E434A6529C0E}"/>
              </a:ext>
            </a:extLst>
          </p:cNvPr>
          <p:cNvSpPr>
            <a:spLocks noGrp="1"/>
          </p:cNvSpPr>
          <p:nvPr/>
        </p:nvSpPr>
        <p:spPr>
          <a:xfrm>
            <a:off x="5953125" y="4933950"/>
            <a:ext cx="5143500" cy="6477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RF300 remains the final choice</a:t>
            </a:r>
          </a:p>
        </p:txBody>
      </p:sp>
    </p:spTree>
    <p:extLst>
      <p:ext uri="{BB962C8B-B14F-4D97-AF65-F5344CB8AC3E}">
        <p14:creationId xmlns:p14="http://schemas.microsoft.com/office/powerpoint/2010/main" val="30760030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1F79191-3C66-4006-A706-F3CAEF133E8B}"/>
              </a:ext>
            </a:extLst>
          </p:cNvPr>
          <p:cNvSpPr>
            <a:spLocks noGrp="1"/>
          </p:cNvSpPr>
          <p:nvPr/>
        </p:nvSpPr>
        <p:spPr>
          <a:xfrm>
            <a:off x="685800" y="590550"/>
            <a:ext cx="9525000" cy="457200"/>
          </a:xfrm>
          <a:prstGeom prst="rect">
            <a:avLst/>
          </a:prstGeom>
          <a:noFill/>
          <a:ln w="0">
            <a:noFill/>
          </a:ln>
        </p:spPr>
        <p:txBody>
          <a:bodyPr lIns="0" tIns="0" rIns="0" bIns="0" anchor="t"/>
          <a:lstStyle>
            <a:defPPr>
              <a:defRPr sz="2250" b="1">
                <a:solidFill>
                  <a:srgbClr val="000000"/>
                </a:solidFill>
                <a:latin typeface="Aptos"/>
                <a:ea typeface="Aptos"/>
                <a:cs typeface="Aptos"/>
              </a:defRPr>
            </a:defPPr>
          </a:lstStyle>
          <a:p>
            <a:pPr>
              <a:buNone/>
              <a:defRPr sz="2250" b="1">
                <a:solidFill>
                  <a:srgbClr val="000000"/>
                </a:solidFill>
                <a:latin typeface="Aptos"/>
                <a:ea typeface="Aptos"/>
                <a:cs typeface="Aptos"/>
              </a:defRPr>
            </a:pPr>
            <a:r>
              <a:rPr sz="2250" b="1">
                <a:solidFill>
                  <a:srgbClr val="000000"/>
                </a:solidFill>
                <a:latin typeface="Aptos"/>
                <a:ea typeface="Aptos"/>
                <a:cs typeface="Aptos"/>
              </a:rPr>
              <a:t>MESSI10</a:t>
            </a:r>
          </a:p>
        </p:txBody>
      </p:sp>
      <p:sp>
        <p:nvSpPr>
          <p:cNvPr id="2" name="Rectangle 1">
            <a:extLst>
              <a:ext uri="{FF2B5EF4-FFF2-40B4-BE49-F238E27FC236}">
                <a16:creationId xmlns:a16="http://schemas.microsoft.com/office/drawing/2014/main" id="{56D82844-20EA-4B05-B61B-A2F6A852EFC1}"/>
              </a:ext>
            </a:extLst>
          </p:cNvPr>
          <p:cNvSpPr>
            <a:spLocks noGrp="1"/>
          </p:cNvSpPr>
          <p:nvPr/>
        </p:nvSpPr>
        <p:spPr>
          <a:xfrm>
            <a:off x="685800" y="1524000"/>
            <a:ext cx="10287000" cy="2000250"/>
          </a:xfrm>
          <a:prstGeom prst="rect">
            <a:avLst/>
          </a:prstGeom>
          <a:noFill/>
          <a:ln w="0">
            <a:noFill/>
          </a:ln>
        </p:spPr>
        <p:txBody>
          <a:bodyPr lIns="0" tIns="0" rIns="0" bIns="0" anchor="t"/>
          <a:lstStyle>
            <a:defPPr>
              <a:defRPr sz="6000" b="1">
                <a:solidFill>
                  <a:srgbClr val="000000"/>
                </a:solidFill>
                <a:latin typeface="Aptos"/>
                <a:ea typeface="Aptos"/>
                <a:cs typeface="Aptos"/>
              </a:defRPr>
            </a:defPPr>
          </a:lstStyle>
          <a:p>
            <a:pPr>
              <a:buNone/>
              <a:defRPr sz="6000" b="1">
                <a:solidFill>
                  <a:srgbClr val="000000"/>
                </a:solidFill>
                <a:latin typeface="Aptos"/>
                <a:ea typeface="Aptos"/>
                <a:cs typeface="Aptos"/>
              </a:defRPr>
            </a:pPr>
            <a:r>
              <a:rPr sz="6000" b="1">
                <a:solidFill>
                  <a:srgbClr val="000000"/>
                </a:solidFill>
                <a:latin typeface="Aptos"/>
                <a:ea typeface="Aptos"/>
                <a:cs typeface="Aptos"/>
              </a:rPr>
              <a:t>Citi Bike</a:t>
            </a:r>
            <a:br>
              <a:rPr sz="6000" b="1">
                <a:solidFill>
                  <a:srgbClr val="000000"/>
                </a:solidFill>
                <a:latin typeface="Aptos"/>
                <a:ea typeface="Aptos"/>
                <a:cs typeface="Aptos"/>
              </a:rPr>
            </a:br>
            <a:r>
              <a:rPr sz="6000" b="1">
                <a:solidFill>
                  <a:srgbClr val="000000"/>
                </a:solidFill>
                <a:latin typeface="Aptos"/>
                <a:ea typeface="Aptos"/>
                <a:cs typeface="Aptos"/>
              </a:rPr>
              <a:t>mijn deel</a:t>
            </a:r>
          </a:p>
        </p:txBody>
      </p:sp>
      <p:sp>
        <p:nvSpPr>
          <p:cNvPr id="3" name="Rectangle 2">
            <a:extLst>
              <a:ext uri="{FF2B5EF4-FFF2-40B4-BE49-F238E27FC236}">
                <a16:creationId xmlns:a16="http://schemas.microsoft.com/office/drawing/2014/main" id="{A670E45B-280A-4EA1-B752-6CBD4EE78CCE}"/>
              </a:ext>
            </a:extLst>
          </p:cNvPr>
          <p:cNvSpPr>
            <a:spLocks noGrp="1"/>
          </p:cNvSpPr>
          <p:nvPr/>
        </p:nvSpPr>
        <p:spPr>
          <a:xfrm>
            <a:off x="723900" y="4057650"/>
            <a:ext cx="10287000" cy="514350"/>
          </a:xfrm>
          <a:prstGeom prst="rect">
            <a:avLst/>
          </a:prstGeom>
          <a:noFill/>
          <a:ln w="0">
            <a:noFill/>
          </a:ln>
        </p:spPr>
        <p:txBody>
          <a:bodyPr lIns="0" tIns="0" rIns="0" bIns="0" anchor="t"/>
          <a:lstStyle>
            <a:defPPr>
              <a:defRPr sz="2850" b="1">
                <a:solidFill>
                  <a:srgbClr val="000000"/>
                </a:solidFill>
                <a:latin typeface="Aptos"/>
                <a:ea typeface="Aptos"/>
                <a:cs typeface="Aptos"/>
              </a:defRPr>
            </a:defPPr>
          </a:lstStyle>
          <a:p>
            <a:pPr>
              <a:buNone/>
              <a:defRPr sz="2850" b="1">
                <a:solidFill>
                  <a:srgbClr val="000000"/>
                </a:solidFill>
                <a:latin typeface="Aptos"/>
                <a:ea typeface="Aptos"/>
                <a:cs typeface="Aptos"/>
              </a:defRPr>
            </a:pPr>
            <a:r>
              <a:rPr sz="2850" b="1">
                <a:solidFill>
                  <a:srgbClr val="000000"/>
                </a:solidFill>
                <a:latin typeface="Aptos"/>
                <a:ea typeface="Aptos"/>
                <a:cs typeface="Aptos"/>
              </a:rPr>
              <a:t>Raoul Buffels</a:t>
            </a:r>
          </a:p>
        </p:txBody>
      </p:sp>
      <p:sp>
        <p:nvSpPr>
          <p:cNvPr id="4" name="Rectangle 3">
            <a:extLst>
              <a:ext uri="{FF2B5EF4-FFF2-40B4-BE49-F238E27FC236}">
                <a16:creationId xmlns:a16="http://schemas.microsoft.com/office/drawing/2014/main" id="{17A47801-55EF-4CE5-BBD9-628C623DAF47}"/>
              </a:ext>
            </a:extLst>
          </p:cNvPr>
          <p:cNvSpPr>
            <a:spLocks noGrp="1"/>
          </p:cNvSpPr>
          <p:nvPr/>
        </p:nvSpPr>
        <p:spPr>
          <a:xfrm>
            <a:off x="723900" y="4657725"/>
            <a:ext cx="10382250" cy="438150"/>
          </a:xfrm>
          <a:prstGeom prst="rect">
            <a:avLst/>
          </a:prstGeom>
          <a:noFill/>
          <a:ln w="0">
            <a:noFill/>
          </a:ln>
        </p:spPr>
        <p:txBody>
          <a:bodyPr lIns="0" tIns="0" rIns="0" bIns="0" anchor="t"/>
          <a:lstStyle>
            <a:defPPr>
              <a:defRPr sz="2100" b="0">
                <a:solidFill>
                  <a:srgbClr val="000000"/>
                </a:solidFill>
                <a:latin typeface="Aptos"/>
                <a:ea typeface="Aptos"/>
                <a:cs typeface="Aptos"/>
              </a:defRPr>
            </a:defPPr>
          </a:lstStyle>
          <a:p>
            <a:pPr>
              <a:buNone/>
              <a:defRPr sz="2100" b="0">
                <a:solidFill>
                  <a:srgbClr val="000000"/>
                </a:solidFill>
                <a:latin typeface="Aptos"/>
                <a:ea typeface="Aptos"/>
                <a:cs typeface="Aptos"/>
              </a:defRPr>
            </a:pPr>
            <a:r>
              <a:rPr sz="2100" b="0">
                <a:solidFill>
                  <a:srgbClr val="000000"/>
                </a:solidFill>
                <a:latin typeface="Aptos"/>
                <a:ea typeface="Aptos"/>
                <a:cs typeface="Aptos"/>
              </a:rPr>
              <a:t>Dataonderzoek, modellen en de Citi Bike-applicatie</a:t>
            </a:r>
          </a:p>
        </p:txBody>
      </p:sp>
      <p:sp>
        <p:nvSpPr>
          <p:cNvPr id="5" name="Rectangle 4">
            <a:extLst>
              <a:ext uri="{FF2B5EF4-FFF2-40B4-BE49-F238E27FC236}">
                <a16:creationId xmlns:a16="http://schemas.microsoft.com/office/drawing/2014/main" id="{43A7B75E-1295-4F70-BF21-A7436AEF43CD}"/>
              </a:ext>
            </a:extLst>
          </p:cNvPr>
          <p:cNvSpPr>
            <a:spLocks noGrp="1"/>
          </p:cNvSpPr>
          <p:nvPr/>
        </p:nvSpPr>
        <p:spPr>
          <a:xfrm>
            <a:off x="723900" y="5648325"/>
            <a:ext cx="10382250" cy="704850"/>
          </a:xfrm>
          <a:prstGeom prst="rect">
            <a:avLst/>
          </a:prstGeom>
          <a:noFill/>
          <a:ln w="0">
            <a:noFill/>
          </a:ln>
        </p:spPr>
        <p:txBody>
          <a:bodyPr lIns="0" tIns="0" rIns="0" bIns="0" anchor="t"/>
          <a:lstStyle>
            <a:defPPr>
              <a:defRPr sz="1800" b="0">
                <a:solidFill>
                  <a:srgbClr val="000000"/>
                </a:solidFill>
                <a:latin typeface="Aptos"/>
                <a:ea typeface="Aptos"/>
                <a:cs typeface="Aptos"/>
              </a:defRPr>
            </a:defPPr>
          </a:lstStyle>
          <a:p>
            <a:pPr>
              <a:buNone/>
              <a:defRPr sz="1800" b="0">
                <a:solidFill>
                  <a:srgbClr val="000000"/>
                </a:solidFill>
                <a:latin typeface="Aptos"/>
                <a:ea typeface="Aptos"/>
                <a:cs typeface="Aptos"/>
              </a:defRPr>
            </a:pPr>
            <a:r>
              <a:rPr sz="1800" b="0">
                <a:solidFill>
                  <a:srgbClr val="000000"/>
                </a:solidFill>
                <a:latin typeface="Aptos"/>
                <a:ea typeface="Aptos"/>
                <a:cs typeface="Aptos"/>
              </a:rPr>
              <a:t>Team: Jorre Van Dyck, Milan Wouters,</a:t>
            </a:r>
            <a:br>
              <a:rPr sz="1800" b="0">
                <a:solidFill>
                  <a:srgbClr val="000000"/>
                </a:solidFill>
                <a:latin typeface="Aptos"/>
                <a:ea typeface="Aptos"/>
                <a:cs typeface="Aptos"/>
              </a:rPr>
            </a:br>
            <a:r>
              <a:rPr sz="1800" b="0">
                <a:solidFill>
                  <a:srgbClr val="000000"/>
                </a:solidFill>
                <a:latin typeface="Aptos"/>
                <a:ea typeface="Aptos"/>
                <a:cs typeface="Aptos"/>
              </a:rPr>
              <a:t>Andrew Noeyens en Raoul Buffels</a:t>
            </a:r>
          </a:p>
        </p:txBody>
      </p:sp>
    </p:spTree>
    <p:extLst>
      <p:ext uri="{BB962C8B-B14F-4D97-AF65-F5344CB8AC3E}">
        <p14:creationId xmlns:p14="http://schemas.microsoft.com/office/powerpoint/2010/main" val="1760778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A38C404-7E17-4E5F-9191-C610AFD236BB}"/>
              </a:ext>
            </a:extLst>
          </p:cNvPr>
          <p:cNvSpPr>
            <a:spLocks noGrp="1"/>
          </p:cNvSpPr>
          <p:nvPr/>
        </p:nvSpPr>
        <p:spPr>
          <a:xfrm>
            <a:off x="685800" y="323850"/>
            <a:ext cx="10001250" cy="285750"/>
          </a:xfrm>
          <a:prstGeom prst="rect">
            <a:avLst/>
          </a:prstGeom>
          <a:noFill/>
          <a:ln w="0">
            <a:noFill/>
          </a:ln>
        </p:spPr>
        <p:txBody>
          <a:bodyPr lIns="0" tIns="0" rIns="0" bIns="0" anchor="t"/>
          <a:lstStyle>
            <a:defPPr>
              <a:defRPr sz="1425" b="1">
                <a:solidFill>
                  <a:srgbClr val="0F9ED5"/>
                </a:solidFill>
                <a:latin typeface="Aptos"/>
                <a:ea typeface="Aptos"/>
                <a:cs typeface="Aptos"/>
              </a:defRPr>
            </a:defPPr>
          </a:lstStyle>
          <a:p>
            <a:pPr>
              <a:buNone/>
              <a:defRPr sz="1425" b="1">
                <a:solidFill>
                  <a:srgbClr val="0F9ED5"/>
                </a:solidFill>
                <a:latin typeface="Aptos"/>
                <a:ea typeface="Aptos"/>
                <a:cs typeface="Aptos"/>
              </a:defRPr>
            </a:pPr>
            <a:r>
              <a:rPr sz="1425" b="1">
                <a:solidFill>
                  <a:srgbClr val="0F9ED5"/>
                </a:solidFill>
                <a:latin typeface="Aptos"/>
                <a:ea typeface="Aptos"/>
                <a:cs typeface="Aptos"/>
              </a:rPr>
              <a:t>EDA</a:t>
            </a:r>
          </a:p>
        </p:txBody>
      </p:sp>
      <p:sp>
        <p:nvSpPr>
          <p:cNvPr id="2" name="Rectangle 1">
            <a:extLst>
              <a:ext uri="{FF2B5EF4-FFF2-40B4-BE49-F238E27FC236}">
                <a16:creationId xmlns:a16="http://schemas.microsoft.com/office/drawing/2014/main" id="{026535E0-93FA-498B-A816-C8CB390263D6}"/>
              </a:ext>
            </a:extLst>
          </p:cNvPr>
          <p:cNvSpPr>
            <a:spLocks noGrp="1"/>
          </p:cNvSpPr>
          <p:nvPr/>
        </p:nvSpPr>
        <p:spPr>
          <a:xfrm>
            <a:off x="685800" y="781050"/>
            <a:ext cx="10820400" cy="628650"/>
          </a:xfrm>
          <a:prstGeom prst="rect">
            <a:avLst/>
          </a:prstGeom>
          <a:noFill/>
          <a:ln w="0">
            <a:noFill/>
          </a:ln>
        </p:spPr>
        <p:txBody>
          <a:bodyPr lIns="0" tIns="0" rIns="0" bIns="0" anchor="t"/>
          <a:lstStyle>
            <a:defPPr>
              <a:defRPr sz="3300" b="1">
                <a:solidFill>
                  <a:srgbClr val="000000"/>
                </a:solidFill>
                <a:latin typeface="Aptos"/>
                <a:ea typeface="Aptos"/>
                <a:cs typeface="Aptos"/>
              </a:defRPr>
            </a:defPPr>
          </a:lstStyle>
          <a:p>
            <a:pPr>
              <a:buNone/>
              <a:defRPr sz="3300" b="1">
                <a:solidFill>
                  <a:srgbClr val="000000"/>
                </a:solidFill>
                <a:latin typeface="Aptos"/>
                <a:ea typeface="Aptos"/>
                <a:cs typeface="Aptos"/>
              </a:defRPr>
            </a:pPr>
            <a:r>
              <a:rPr sz="3300" b="1">
                <a:solidFill>
                  <a:srgbClr val="000000"/>
                </a:solidFill>
                <a:latin typeface="Aptos"/>
                <a:ea typeface="Aptos"/>
                <a:cs typeface="Aptos"/>
              </a:rPr>
              <a:t>Wat ik in de brondata tegenkwam</a:t>
            </a:r>
          </a:p>
        </p:txBody>
      </p:sp>
      <p:sp>
        <p:nvSpPr>
          <p:cNvPr id="3" name="Rectangle 2">
            <a:extLst>
              <a:ext uri="{FF2B5EF4-FFF2-40B4-BE49-F238E27FC236}">
                <a16:creationId xmlns:a16="http://schemas.microsoft.com/office/drawing/2014/main" id="{559A915E-F801-4B38-8211-EB5E8178E3F8}"/>
              </a:ext>
            </a:extLst>
          </p:cNvPr>
          <p:cNvSpPr>
            <a:spLocks noGrp="1"/>
          </p:cNvSpPr>
          <p:nvPr/>
        </p:nvSpPr>
        <p:spPr>
          <a:xfrm>
            <a:off x="11239500" y="6419850"/>
            <a:ext cx="381000" cy="238125"/>
          </a:xfrm>
          <a:prstGeom prst="rect">
            <a:avLst/>
          </a:prstGeom>
          <a:noFill/>
          <a:ln w="0">
            <a:noFill/>
          </a:ln>
        </p:spPr>
        <p:txBody>
          <a:bodyPr lIns="0" tIns="0" rIns="0" bIns="0" anchor="t"/>
          <a:lstStyle>
            <a:defPPr>
              <a:defRPr sz="1350" b="0">
                <a:solidFill>
                  <a:srgbClr val="62766E"/>
                </a:solidFill>
                <a:latin typeface="Aptos"/>
                <a:ea typeface="Aptos"/>
                <a:cs typeface="Aptos"/>
              </a:defRPr>
            </a:defPPr>
          </a:lstStyle>
          <a:p>
            <a:pPr>
              <a:buNone/>
              <a:defRPr sz="1350" b="0">
                <a:solidFill>
                  <a:srgbClr val="62766E"/>
                </a:solidFill>
                <a:latin typeface="Aptos"/>
                <a:ea typeface="Aptos"/>
                <a:cs typeface="Aptos"/>
              </a:defRPr>
            </a:pPr>
            <a:r>
              <a:rPr sz="1350" b="0">
                <a:solidFill>
                  <a:srgbClr val="62766E"/>
                </a:solidFill>
                <a:latin typeface="Aptos"/>
                <a:ea typeface="Aptos"/>
                <a:cs typeface="Aptos"/>
              </a:rPr>
              <a:t>2</a:t>
            </a:r>
          </a:p>
        </p:txBody>
      </p:sp>
      <p:sp>
        <p:nvSpPr>
          <p:cNvPr id="4" name="Rectangle 3">
            <a:extLst>
              <a:ext uri="{FF2B5EF4-FFF2-40B4-BE49-F238E27FC236}">
                <a16:creationId xmlns:a16="http://schemas.microsoft.com/office/drawing/2014/main" id="{2568CBD3-0AC0-4782-A7A0-AF92575AF456}"/>
              </a:ext>
            </a:extLst>
          </p:cNvPr>
          <p:cNvSpPr>
            <a:spLocks noGrp="1"/>
          </p:cNvSpPr>
          <p:nvPr/>
        </p:nvSpPr>
        <p:spPr>
          <a:xfrm>
            <a:off x="685800" y="1695450"/>
            <a:ext cx="5048250" cy="552450"/>
          </a:xfrm>
          <a:prstGeom prst="rect">
            <a:avLst/>
          </a:prstGeom>
          <a:noFill/>
          <a:ln w="0">
            <a:noFill/>
          </a:ln>
        </p:spPr>
        <p:txBody>
          <a:bodyPr lIns="0" tIns="0" rIns="0" bIns="0" anchor="t"/>
          <a:lstStyle>
            <a:defPPr>
              <a:defRPr sz="3225" b="1">
                <a:solidFill>
                  <a:srgbClr val="0F9ED5"/>
                </a:solidFill>
                <a:latin typeface="Aptos"/>
                <a:ea typeface="Aptos"/>
                <a:cs typeface="Aptos"/>
              </a:defRPr>
            </a:defPPr>
          </a:lstStyle>
          <a:p>
            <a:pPr>
              <a:buNone/>
              <a:defRPr sz="3225" b="1">
                <a:solidFill>
                  <a:srgbClr val="0F9ED5"/>
                </a:solidFill>
                <a:latin typeface="Aptos"/>
                <a:ea typeface="Aptos"/>
                <a:cs typeface="Aptos"/>
              </a:defRPr>
            </a:pPr>
            <a:r>
              <a:rPr sz="3225" b="1">
                <a:solidFill>
                  <a:srgbClr val="0F9ED5"/>
                </a:solidFill>
                <a:latin typeface="Aptos"/>
                <a:ea typeface="Aptos"/>
                <a:cs typeface="Aptos"/>
              </a:rPr>
              <a:t>175 ZIP-bronnen</a:t>
            </a:r>
          </a:p>
        </p:txBody>
      </p:sp>
      <p:sp>
        <p:nvSpPr>
          <p:cNvPr id="5" name="Rectangle 4">
            <a:extLst>
              <a:ext uri="{FF2B5EF4-FFF2-40B4-BE49-F238E27FC236}">
                <a16:creationId xmlns:a16="http://schemas.microsoft.com/office/drawing/2014/main" id="{802702A5-9354-4645-990E-5D90C67EE728}"/>
              </a:ext>
            </a:extLst>
          </p:cNvPr>
          <p:cNvSpPr>
            <a:spLocks noGrp="1"/>
          </p:cNvSpPr>
          <p:nvPr/>
        </p:nvSpPr>
        <p:spPr>
          <a:xfrm>
            <a:off x="685800" y="2352675"/>
            <a:ext cx="5143500" cy="685800"/>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NYC en Jersey City, apart verwerkt</a:t>
            </a:r>
          </a:p>
        </p:txBody>
      </p:sp>
      <p:sp>
        <p:nvSpPr>
          <p:cNvPr id="6" name="Rectangle 5">
            <a:extLst>
              <a:ext uri="{FF2B5EF4-FFF2-40B4-BE49-F238E27FC236}">
                <a16:creationId xmlns:a16="http://schemas.microsoft.com/office/drawing/2014/main" id="{33F32547-2AE8-4593-A702-00894887FF72}"/>
              </a:ext>
            </a:extLst>
          </p:cNvPr>
          <p:cNvSpPr>
            <a:spLocks noGrp="1"/>
          </p:cNvSpPr>
          <p:nvPr/>
        </p:nvSpPr>
        <p:spPr>
          <a:xfrm>
            <a:off x="685800" y="3409950"/>
            <a:ext cx="5524500" cy="533400"/>
          </a:xfrm>
          <a:prstGeom prst="rect">
            <a:avLst/>
          </a:prstGeom>
          <a:noFill/>
          <a:ln w="0">
            <a:noFill/>
          </a:ln>
        </p:spPr>
        <p:txBody>
          <a:bodyPr lIns="0" tIns="0" rIns="0" bIns="0" anchor="t"/>
          <a:lstStyle>
            <a:defPPr>
              <a:defRPr sz="2850" b="1">
                <a:solidFill>
                  <a:srgbClr val="000000"/>
                </a:solidFill>
                <a:latin typeface="Aptos"/>
                <a:ea typeface="Aptos"/>
                <a:cs typeface="Aptos"/>
              </a:defRPr>
            </a:defPPr>
          </a:lstStyle>
          <a:p>
            <a:pPr>
              <a:buNone/>
              <a:defRPr sz="2850" b="1">
                <a:solidFill>
                  <a:srgbClr val="000000"/>
                </a:solidFill>
                <a:latin typeface="Aptos"/>
                <a:ea typeface="Aptos"/>
                <a:cs typeface="Aptos"/>
              </a:defRPr>
            </a:pPr>
            <a:r>
              <a:rPr sz="2850" b="1">
                <a:solidFill>
                  <a:srgbClr val="000000"/>
                </a:solidFill>
                <a:latin typeface="Aptos"/>
                <a:ea typeface="Aptos"/>
                <a:cs typeface="Aptos"/>
              </a:rPr>
              <a:t>323,8 miljoen NYC-records</a:t>
            </a:r>
          </a:p>
        </p:txBody>
      </p:sp>
      <p:sp>
        <p:nvSpPr>
          <p:cNvPr id="7" name="Rectangle 6">
            <a:extLst>
              <a:ext uri="{FF2B5EF4-FFF2-40B4-BE49-F238E27FC236}">
                <a16:creationId xmlns:a16="http://schemas.microsoft.com/office/drawing/2014/main" id="{599C1990-96DC-49C0-A44B-E429C95CF247}"/>
              </a:ext>
            </a:extLst>
          </p:cNvPr>
          <p:cNvSpPr>
            <a:spLocks noGrp="1"/>
          </p:cNvSpPr>
          <p:nvPr/>
        </p:nvSpPr>
        <p:spPr>
          <a:xfrm>
            <a:off x="685800" y="4095750"/>
            <a:ext cx="5334000" cy="800100"/>
          </a:xfrm>
          <a:prstGeom prst="rect">
            <a:avLst/>
          </a:prstGeom>
          <a:noFill/>
          <a:ln w="0">
            <a:noFill/>
          </a:ln>
        </p:spPr>
        <p:txBody>
          <a:bodyPr lIns="0" tIns="0" rIns="0" bIns="0" anchor="t"/>
          <a:lstStyle>
            <a:defPPr>
              <a:defRPr sz="1875" b="0">
                <a:solidFill>
                  <a:srgbClr val="62766E"/>
                </a:solidFill>
                <a:latin typeface="Aptos"/>
                <a:ea typeface="Aptos"/>
                <a:cs typeface="Aptos"/>
              </a:defRPr>
            </a:defPPr>
          </a:lstStyle>
          <a:p>
            <a:pPr>
              <a:buNone/>
              <a:defRPr sz="1875" b="0">
                <a:solidFill>
                  <a:srgbClr val="62766E"/>
                </a:solidFill>
                <a:latin typeface="Aptos"/>
                <a:ea typeface="Aptos"/>
                <a:cs typeface="Aptos"/>
              </a:defRPr>
            </a:pPr>
            <a:r>
              <a:rPr sz="1875" b="0">
                <a:solidFill>
                  <a:srgbClr val="62766E"/>
                </a:solidFill>
                <a:latin typeface="Aptos"/>
                <a:ea typeface="Aptos"/>
                <a:cs typeface="Aptos"/>
              </a:rPr>
              <a:t>Technische dekking: juni 2013–augustus 2026</a:t>
            </a:r>
            <a:br>
              <a:rPr sz="1875" b="0">
                <a:solidFill>
                  <a:srgbClr val="62766E"/>
                </a:solidFill>
                <a:latin typeface="Aptos"/>
                <a:ea typeface="Aptos"/>
                <a:cs typeface="Aptos"/>
              </a:rPr>
            </a:br>
            <a:r>
              <a:rPr sz="1875" b="0">
                <a:solidFill>
                  <a:srgbClr val="62766E"/>
                </a:solidFill>
                <a:latin typeface="Aptos"/>
                <a:ea typeface="Aptos"/>
                <a:cs typeface="Aptos"/>
              </a:rPr>
              <a:t>EDA: uitsluitend vóór mei 2026</a:t>
            </a:r>
          </a:p>
        </p:txBody>
      </p:sp>
      <p:sp>
        <p:nvSpPr>
          <p:cNvPr id="8" name="Rectangle 7">
            <a:extLst>
              <a:ext uri="{FF2B5EF4-FFF2-40B4-BE49-F238E27FC236}">
                <a16:creationId xmlns:a16="http://schemas.microsoft.com/office/drawing/2014/main" id="{011E33A8-8C7C-4E58-BB76-4659F58A52F1}"/>
              </a:ext>
            </a:extLst>
          </p:cNvPr>
          <p:cNvSpPr>
            <a:spLocks noGrp="1"/>
          </p:cNvSpPr>
          <p:nvPr/>
        </p:nvSpPr>
        <p:spPr>
          <a:xfrm>
            <a:off x="6858000" y="1714500"/>
            <a:ext cx="4572000" cy="438150"/>
          </a:xfrm>
          <a:prstGeom prst="rect">
            <a:avLst/>
          </a:prstGeom>
          <a:noFill/>
          <a:ln w="0">
            <a:noFill/>
          </a:ln>
        </p:spPr>
        <p:txBody>
          <a:bodyPr lIns="0" tIns="0" rIns="0" bIns="0" anchor="t"/>
          <a:lstStyle>
            <a:defPPr>
              <a:defRPr sz="2400" b="1">
                <a:solidFill>
                  <a:srgbClr val="000000"/>
                </a:solidFill>
                <a:latin typeface="Aptos"/>
                <a:ea typeface="Aptos"/>
                <a:cs typeface="Aptos"/>
              </a:defRPr>
            </a:defPPr>
          </a:lstStyle>
          <a:p>
            <a:pPr>
              <a:buNone/>
              <a:defRPr sz="2400" b="1">
                <a:solidFill>
                  <a:srgbClr val="000000"/>
                </a:solidFill>
                <a:latin typeface="Aptos"/>
                <a:ea typeface="Aptos"/>
                <a:cs typeface="Aptos"/>
              </a:defRPr>
            </a:pPr>
            <a:r>
              <a:rPr sz="2400" b="1">
                <a:solidFill>
                  <a:srgbClr val="000000"/>
                </a:solidFill>
                <a:latin typeface="Aptos"/>
                <a:ea typeface="Aptos"/>
                <a:cs typeface="Aptos"/>
              </a:rPr>
              <a:t>Wat mij opviel</a:t>
            </a:r>
          </a:p>
        </p:txBody>
      </p:sp>
      <p:sp>
        <p:nvSpPr>
          <p:cNvPr id="9" name="Rectangle 8">
            <a:extLst>
              <a:ext uri="{FF2B5EF4-FFF2-40B4-BE49-F238E27FC236}">
                <a16:creationId xmlns:a16="http://schemas.microsoft.com/office/drawing/2014/main" id="{10D4739A-4992-41B8-A273-15B1B4F52DD5}"/>
              </a:ext>
            </a:extLst>
          </p:cNvPr>
          <p:cNvSpPr>
            <a:spLocks noGrp="1"/>
          </p:cNvSpPr>
          <p:nvPr/>
        </p:nvSpPr>
        <p:spPr>
          <a:xfrm>
            <a:off x="6858000" y="2352675"/>
            <a:ext cx="4524375" cy="314325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Bronarchieven overlappen</a:t>
            </a:r>
            <a:br>
              <a:rPr sz="2025" b="0">
                <a:solidFill>
                  <a:srgbClr val="000000"/>
                </a:solidFill>
                <a:latin typeface="Aptos"/>
                <a:ea typeface="Aptos"/>
                <a:cs typeface="Aptos"/>
              </a:rPr>
            </a:br>
            <a:br>
              <a:rPr sz="2025" b="0">
                <a:solidFill>
                  <a:srgbClr val="000000"/>
                </a:solidFill>
                <a:latin typeface="Aptos"/>
                <a:ea typeface="Aptos"/>
                <a:cs typeface="Aptos"/>
              </a:rPr>
            </a:br>
            <a:r>
              <a:rPr sz="2025" b="0">
                <a:solidFill>
                  <a:srgbClr val="000000"/>
                </a:solidFill>
                <a:latin typeface="Aptos"/>
                <a:ea typeface="Aptos"/>
                <a:cs typeface="Aptos"/>
              </a:rPr>
              <a:t>Schema’s veranderen door de jaren</a:t>
            </a:r>
            <a:br>
              <a:rPr sz="2025" b="0">
                <a:solidFill>
                  <a:srgbClr val="000000"/>
                </a:solidFill>
                <a:latin typeface="Aptos"/>
                <a:ea typeface="Aptos"/>
                <a:cs typeface="Aptos"/>
              </a:rPr>
            </a:br>
            <a:br>
              <a:rPr sz="2025" b="0">
                <a:solidFill>
                  <a:srgbClr val="000000"/>
                </a:solidFill>
                <a:latin typeface="Aptos"/>
                <a:ea typeface="Aptos"/>
                <a:cs typeface="Aptos"/>
              </a:rPr>
            </a:br>
            <a:r>
              <a:rPr sz="2025" b="0">
                <a:solidFill>
                  <a:srgbClr val="000000"/>
                </a:solidFill>
                <a:latin typeface="Aptos"/>
                <a:ea typeface="Aptos"/>
                <a:cs typeface="Aptos"/>
              </a:rPr>
              <a:t>Lange geregistreerde duur vraagt uitleg</a:t>
            </a:r>
            <a:br>
              <a:rPr sz="2025" b="0">
                <a:solidFill>
                  <a:srgbClr val="000000"/>
                </a:solidFill>
                <a:latin typeface="Aptos"/>
                <a:ea typeface="Aptos"/>
                <a:cs typeface="Aptos"/>
              </a:rPr>
            </a:br>
            <a:br>
              <a:rPr sz="2025" b="0">
                <a:solidFill>
                  <a:srgbClr val="000000"/>
                </a:solidFill>
                <a:latin typeface="Aptos"/>
                <a:ea typeface="Aptos"/>
                <a:cs typeface="Aptos"/>
              </a:rPr>
            </a:br>
            <a:r>
              <a:rPr sz="2025" b="0">
                <a:solidFill>
                  <a:srgbClr val="000000"/>
                </a:solidFill>
                <a:latin typeface="Aptos"/>
                <a:ea typeface="Aptos"/>
                <a:cs typeface="Aptos"/>
              </a:rPr>
              <a:t>Een missing eindstation wist de start niet</a:t>
            </a:r>
          </a:p>
        </p:txBody>
      </p:sp>
    </p:spTree>
    <p:extLst>
      <p:ext uri="{BB962C8B-B14F-4D97-AF65-F5344CB8AC3E}">
        <p14:creationId xmlns:p14="http://schemas.microsoft.com/office/powerpoint/2010/main" val="591375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3BBDB37-5A6D-4CEB-8DFA-42EEE576904A}"/>
              </a:ext>
            </a:extLst>
          </p:cNvPr>
          <p:cNvSpPr>
            <a:spLocks noGrp="1"/>
          </p:cNvSpPr>
          <p:nvPr/>
        </p:nvSpPr>
        <p:spPr>
          <a:xfrm>
            <a:off x="685800" y="323850"/>
            <a:ext cx="10001250" cy="285750"/>
          </a:xfrm>
          <a:prstGeom prst="rect">
            <a:avLst/>
          </a:prstGeom>
          <a:noFill/>
          <a:ln w="0">
            <a:noFill/>
          </a:ln>
        </p:spPr>
        <p:txBody>
          <a:bodyPr lIns="0" tIns="0" rIns="0" bIns="0" anchor="t"/>
          <a:lstStyle>
            <a:defPPr>
              <a:defRPr sz="1425" b="1">
                <a:solidFill>
                  <a:srgbClr val="0F9ED5"/>
                </a:solidFill>
                <a:latin typeface="Aptos"/>
                <a:ea typeface="Aptos"/>
                <a:cs typeface="Aptos"/>
              </a:defRPr>
            </a:defPPr>
          </a:lstStyle>
          <a:p>
            <a:pPr>
              <a:buNone/>
              <a:defRPr sz="1425" b="1">
                <a:solidFill>
                  <a:srgbClr val="0F9ED5"/>
                </a:solidFill>
                <a:latin typeface="Aptos"/>
                <a:ea typeface="Aptos"/>
                <a:cs typeface="Aptos"/>
              </a:defRPr>
            </a:pPr>
            <a:r>
              <a:rPr sz="1425" b="1">
                <a:solidFill>
                  <a:srgbClr val="0F9ED5"/>
                </a:solidFill>
                <a:latin typeface="Aptos"/>
                <a:ea typeface="Aptos"/>
                <a:cs typeface="Aptos"/>
              </a:rPr>
              <a:t>EDA</a:t>
            </a:r>
          </a:p>
        </p:txBody>
      </p:sp>
      <p:sp>
        <p:nvSpPr>
          <p:cNvPr id="2" name="Rectangle 1">
            <a:extLst>
              <a:ext uri="{FF2B5EF4-FFF2-40B4-BE49-F238E27FC236}">
                <a16:creationId xmlns:a16="http://schemas.microsoft.com/office/drawing/2014/main" id="{C07314A5-E0B7-4388-8C05-03423A24807F}"/>
              </a:ext>
            </a:extLst>
          </p:cNvPr>
          <p:cNvSpPr>
            <a:spLocks noGrp="1"/>
          </p:cNvSpPr>
          <p:nvPr/>
        </p:nvSpPr>
        <p:spPr>
          <a:xfrm>
            <a:off x="685800" y="781050"/>
            <a:ext cx="10820400" cy="628650"/>
          </a:xfrm>
          <a:prstGeom prst="rect">
            <a:avLst/>
          </a:prstGeom>
          <a:noFill/>
          <a:ln w="0">
            <a:noFill/>
          </a:ln>
        </p:spPr>
        <p:txBody>
          <a:bodyPr lIns="0" tIns="0" rIns="0" bIns="0" anchor="t"/>
          <a:lstStyle>
            <a:defPPr>
              <a:defRPr sz="3300" b="1">
                <a:solidFill>
                  <a:srgbClr val="000000"/>
                </a:solidFill>
                <a:latin typeface="Aptos"/>
                <a:ea typeface="Aptos"/>
                <a:cs typeface="Aptos"/>
              </a:defRPr>
            </a:defPPr>
          </a:lstStyle>
          <a:p>
            <a:pPr>
              <a:buNone/>
              <a:defRPr sz="3300" b="1">
                <a:solidFill>
                  <a:srgbClr val="000000"/>
                </a:solidFill>
                <a:latin typeface="Aptos"/>
                <a:ea typeface="Aptos"/>
                <a:cs typeface="Aptos"/>
              </a:defRPr>
            </a:pPr>
            <a:r>
              <a:rPr sz="3300" b="1">
                <a:solidFill>
                  <a:srgbClr val="000000"/>
                </a:solidFill>
                <a:latin typeface="Aptos"/>
                <a:ea typeface="Aptos"/>
                <a:cs typeface="Aptos"/>
              </a:rPr>
              <a:t>Gebruik volgt het uur en de weekdag</a:t>
            </a:r>
          </a:p>
        </p:txBody>
      </p:sp>
      <p:sp>
        <p:nvSpPr>
          <p:cNvPr id="3" name="Rectangle 2">
            <a:extLst>
              <a:ext uri="{FF2B5EF4-FFF2-40B4-BE49-F238E27FC236}">
                <a16:creationId xmlns:a16="http://schemas.microsoft.com/office/drawing/2014/main" id="{934EB1EA-13C9-466C-9078-58E724E07055}"/>
              </a:ext>
            </a:extLst>
          </p:cNvPr>
          <p:cNvSpPr>
            <a:spLocks noGrp="1"/>
          </p:cNvSpPr>
          <p:nvPr/>
        </p:nvSpPr>
        <p:spPr>
          <a:xfrm>
            <a:off x="11239500" y="6419850"/>
            <a:ext cx="381000" cy="238125"/>
          </a:xfrm>
          <a:prstGeom prst="rect">
            <a:avLst/>
          </a:prstGeom>
          <a:noFill/>
          <a:ln w="0">
            <a:noFill/>
          </a:ln>
        </p:spPr>
        <p:txBody>
          <a:bodyPr lIns="0" tIns="0" rIns="0" bIns="0" anchor="t"/>
          <a:lstStyle>
            <a:defPPr>
              <a:defRPr sz="1350" b="0">
                <a:solidFill>
                  <a:srgbClr val="62766E"/>
                </a:solidFill>
                <a:latin typeface="Aptos"/>
                <a:ea typeface="Aptos"/>
                <a:cs typeface="Aptos"/>
              </a:defRPr>
            </a:defPPr>
          </a:lstStyle>
          <a:p>
            <a:pPr>
              <a:buNone/>
              <a:defRPr sz="1350" b="0">
                <a:solidFill>
                  <a:srgbClr val="62766E"/>
                </a:solidFill>
                <a:latin typeface="Aptos"/>
                <a:ea typeface="Aptos"/>
                <a:cs typeface="Aptos"/>
              </a:defRPr>
            </a:pPr>
            <a:r>
              <a:rPr sz="1350" b="0">
                <a:solidFill>
                  <a:srgbClr val="62766E"/>
                </a:solidFill>
                <a:latin typeface="Aptos"/>
                <a:ea typeface="Aptos"/>
                <a:cs typeface="Aptos"/>
              </a:rPr>
              <a:t>3</a:t>
            </a:r>
          </a:p>
        </p:txBody>
      </p:sp>
      <p:graphicFrame>
        <p:nvGraphicFramePr>
          <p:cNvPr id="4" name="Chart">
            <a:extLst>
              <a:ext uri="{FF2B5EF4-FFF2-40B4-BE49-F238E27FC236}">
                <a16:creationId xmlns:a16="http://schemas.microsoft.com/office/drawing/2014/main" id="{DF0712EA-09D3-48DA-AF1E-C74AC751F0A6}"/>
              </a:ext>
            </a:extLst>
          </p:cNvPr>
          <p:cNvGraphicFramePr/>
          <p:nvPr/>
        </p:nvGraphicFramePr>
        <p:xfrm>
          <a:off x="723900" y="1619250"/>
          <a:ext cx="10668000" cy="3905250"/>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a:extLst>
              <a:ext uri="{FF2B5EF4-FFF2-40B4-BE49-F238E27FC236}">
                <a16:creationId xmlns:a16="http://schemas.microsoft.com/office/drawing/2014/main" id="{924CC9D0-46D8-4557-A48C-1A59765C91E6}"/>
              </a:ext>
            </a:extLst>
          </p:cNvPr>
          <p:cNvSpPr>
            <a:spLocks noGrp="1"/>
          </p:cNvSpPr>
          <p:nvPr/>
        </p:nvSpPr>
        <p:spPr>
          <a:xfrm>
            <a:off x="762000" y="5876925"/>
            <a:ext cx="10572750" cy="361950"/>
          </a:xfrm>
          <a:prstGeom prst="rect">
            <a:avLst/>
          </a:prstGeom>
          <a:noFill/>
          <a:ln w="0">
            <a:noFill/>
          </a:ln>
        </p:spPr>
        <p:txBody>
          <a:bodyPr lIns="0" tIns="0" rIns="0" bIns="0" anchor="t"/>
          <a:lstStyle>
            <a:defPPr>
              <a:defRPr sz="1800" b="0">
                <a:solidFill>
                  <a:srgbClr val="62766E"/>
                </a:solidFill>
                <a:latin typeface="Aptos"/>
                <a:ea typeface="Aptos"/>
                <a:cs typeface="Aptos"/>
              </a:defRPr>
            </a:defPPr>
          </a:lstStyle>
          <a:p>
            <a:pPr>
              <a:buNone/>
              <a:defRPr sz="1800" b="0">
                <a:solidFill>
                  <a:srgbClr val="62766E"/>
                </a:solidFill>
                <a:latin typeface="Aptos"/>
                <a:ea typeface="Aptos"/>
                <a:cs typeface="Aptos"/>
              </a:defRPr>
            </a:pPr>
            <a:r>
              <a:rPr sz="1800" b="0">
                <a:solidFill>
                  <a:srgbClr val="62766E"/>
                </a:solidFill>
                <a:latin typeface="Aptos"/>
                <a:ea typeface="Aptos"/>
                <a:cs typeface="Aptos"/>
              </a:rPr>
              <a:t>Ontwikkeling vanaf 2023 tot april 2026. De lijnen tonen geregistreerde ritstarts.</a:t>
            </a:r>
          </a:p>
        </p:txBody>
      </p:sp>
    </p:spTree>
    <p:extLst>
      <p:ext uri="{BB962C8B-B14F-4D97-AF65-F5344CB8AC3E}">
        <p14:creationId xmlns:p14="http://schemas.microsoft.com/office/powerpoint/2010/main" val="9020204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C6E5C6C-6C03-491A-9172-24012CACC10A}"/>
              </a:ext>
            </a:extLst>
          </p:cNvPr>
          <p:cNvSpPr>
            <a:spLocks noGrp="1"/>
          </p:cNvSpPr>
          <p:nvPr/>
        </p:nvSpPr>
        <p:spPr>
          <a:xfrm>
            <a:off x="685800" y="323850"/>
            <a:ext cx="10001250" cy="285750"/>
          </a:xfrm>
          <a:prstGeom prst="rect">
            <a:avLst/>
          </a:prstGeom>
          <a:noFill/>
          <a:ln w="0">
            <a:noFill/>
          </a:ln>
        </p:spPr>
        <p:txBody>
          <a:bodyPr lIns="0" tIns="0" rIns="0" bIns="0" anchor="t"/>
          <a:lstStyle>
            <a:defPPr>
              <a:defRPr sz="1425" b="1">
                <a:solidFill>
                  <a:srgbClr val="0F9ED5"/>
                </a:solidFill>
                <a:latin typeface="Aptos"/>
                <a:ea typeface="Aptos"/>
                <a:cs typeface="Aptos"/>
              </a:defRPr>
            </a:defPPr>
          </a:lstStyle>
          <a:p>
            <a:pPr>
              <a:buNone/>
              <a:defRPr sz="1425" b="1">
                <a:solidFill>
                  <a:srgbClr val="0F9ED5"/>
                </a:solidFill>
                <a:latin typeface="Aptos"/>
                <a:ea typeface="Aptos"/>
                <a:cs typeface="Aptos"/>
              </a:defRPr>
            </a:pPr>
            <a:r>
              <a:rPr sz="1425" b="1">
                <a:solidFill>
                  <a:srgbClr val="0F9ED5"/>
                </a:solidFill>
                <a:latin typeface="Aptos"/>
                <a:ea typeface="Aptos"/>
                <a:cs typeface="Aptos"/>
              </a:rPr>
              <a:t>EDA</a:t>
            </a:r>
          </a:p>
        </p:txBody>
      </p:sp>
      <p:sp>
        <p:nvSpPr>
          <p:cNvPr id="2" name="Rectangle 1">
            <a:extLst>
              <a:ext uri="{FF2B5EF4-FFF2-40B4-BE49-F238E27FC236}">
                <a16:creationId xmlns:a16="http://schemas.microsoft.com/office/drawing/2014/main" id="{BFEE0D09-F670-478A-A03D-C089C64D3558}"/>
              </a:ext>
            </a:extLst>
          </p:cNvPr>
          <p:cNvSpPr>
            <a:spLocks noGrp="1"/>
          </p:cNvSpPr>
          <p:nvPr/>
        </p:nvSpPr>
        <p:spPr>
          <a:xfrm>
            <a:off x="685800" y="781050"/>
            <a:ext cx="10820400" cy="628650"/>
          </a:xfrm>
          <a:prstGeom prst="rect">
            <a:avLst/>
          </a:prstGeom>
          <a:noFill/>
          <a:ln w="0">
            <a:noFill/>
          </a:ln>
        </p:spPr>
        <p:txBody>
          <a:bodyPr lIns="0" tIns="0" rIns="0" bIns="0" anchor="t"/>
          <a:lstStyle>
            <a:defPPr>
              <a:defRPr sz="3300" b="1">
                <a:solidFill>
                  <a:srgbClr val="000000"/>
                </a:solidFill>
                <a:latin typeface="Aptos"/>
                <a:ea typeface="Aptos"/>
                <a:cs typeface="Aptos"/>
              </a:defRPr>
            </a:defPPr>
          </a:lstStyle>
          <a:p>
            <a:pPr>
              <a:buNone/>
              <a:defRPr sz="3300" b="1">
                <a:solidFill>
                  <a:srgbClr val="000000"/>
                </a:solidFill>
                <a:latin typeface="Aptos"/>
                <a:ea typeface="Aptos"/>
                <a:cs typeface="Aptos"/>
              </a:defRPr>
            </a:pPr>
            <a:r>
              <a:rPr sz="3300" b="1">
                <a:solidFill>
                  <a:srgbClr val="000000"/>
                </a:solidFill>
                <a:latin typeface="Aptos"/>
                <a:ea typeface="Aptos"/>
                <a:cs typeface="Aptos"/>
              </a:rPr>
              <a:t>Weekherhaling ondersteunt het uurdoel</a:t>
            </a:r>
          </a:p>
        </p:txBody>
      </p:sp>
      <p:sp>
        <p:nvSpPr>
          <p:cNvPr id="3" name="Rectangle 2">
            <a:extLst>
              <a:ext uri="{FF2B5EF4-FFF2-40B4-BE49-F238E27FC236}">
                <a16:creationId xmlns:a16="http://schemas.microsoft.com/office/drawing/2014/main" id="{D947766C-C692-4434-90B9-CA34A99B97C9}"/>
              </a:ext>
            </a:extLst>
          </p:cNvPr>
          <p:cNvSpPr>
            <a:spLocks noGrp="1"/>
          </p:cNvSpPr>
          <p:nvPr/>
        </p:nvSpPr>
        <p:spPr>
          <a:xfrm>
            <a:off x="11239500" y="6419850"/>
            <a:ext cx="381000" cy="238125"/>
          </a:xfrm>
          <a:prstGeom prst="rect">
            <a:avLst/>
          </a:prstGeom>
          <a:noFill/>
          <a:ln w="0">
            <a:noFill/>
          </a:ln>
        </p:spPr>
        <p:txBody>
          <a:bodyPr lIns="0" tIns="0" rIns="0" bIns="0" anchor="t"/>
          <a:lstStyle>
            <a:defPPr>
              <a:defRPr sz="1350" b="0">
                <a:solidFill>
                  <a:srgbClr val="62766E"/>
                </a:solidFill>
                <a:latin typeface="Aptos"/>
                <a:ea typeface="Aptos"/>
                <a:cs typeface="Aptos"/>
              </a:defRPr>
            </a:defPPr>
          </a:lstStyle>
          <a:p>
            <a:pPr>
              <a:buNone/>
              <a:defRPr sz="1350" b="0">
                <a:solidFill>
                  <a:srgbClr val="62766E"/>
                </a:solidFill>
                <a:latin typeface="Aptos"/>
                <a:ea typeface="Aptos"/>
                <a:cs typeface="Aptos"/>
              </a:defRPr>
            </a:pPr>
            <a:r>
              <a:rPr sz="1350" b="0">
                <a:solidFill>
                  <a:srgbClr val="62766E"/>
                </a:solidFill>
                <a:latin typeface="Aptos"/>
                <a:ea typeface="Aptos"/>
                <a:cs typeface="Aptos"/>
              </a:rPr>
              <a:t>4</a:t>
            </a:r>
          </a:p>
        </p:txBody>
      </p:sp>
      <p:sp>
        <p:nvSpPr>
          <p:cNvPr id="4" name="Rectangle 3">
            <a:extLst>
              <a:ext uri="{FF2B5EF4-FFF2-40B4-BE49-F238E27FC236}">
                <a16:creationId xmlns:a16="http://schemas.microsoft.com/office/drawing/2014/main" id="{DC9F3CFD-365E-46F0-935C-82DD82AB9836}"/>
              </a:ext>
            </a:extLst>
          </p:cNvPr>
          <p:cNvSpPr>
            <a:spLocks noGrp="1"/>
          </p:cNvSpPr>
          <p:nvPr/>
        </p:nvSpPr>
        <p:spPr>
          <a:xfrm>
            <a:off x="685800" y="1752600"/>
            <a:ext cx="4000500" cy="1095375"/>
          </a:xfrm>
          <a:prstGeom prst="rect">
            <a:avLst/>
          </a:prstGeom>
          <a:noFill/>
          <a:ln w="0">
            <a:noFill/>
          </a:ln>
        </p:spPr>
        <p:txBody>
          <a:bodyPr lIns="0" tIns="0" rIns="0" bIns="0" anchor="t"/>
          <a:lstStyle>
            <a:defPPr>
              <a:defRPr sz="6750" b="1">
                <a:solidFill>
                  <a:srgbClr val="0F9ED5"/>
                </a:solidFill>
                <a:latin typeface="Aptos"/>
                <a:ea typeface="Aptos"/>
                <a:cs typeface="Aptos"/>
              </a:defRPr>
            </a:defPPr>
          </a:lstStyle>
          <a:p>
            <a:pPr>
              <a:buNone/>
              <a:defRPr sz="6750" b="1">
                <a:solidFill>
                  <a:srgbClr val="0F9ED5"/>
                </a:solidFill>
                <a:latin typeface="Aptos"/>
                <a:ea typeface="Aptos"/>
                <a:cs typeface="Aptos"/>
              </a:defRPr>
            </a:pPr>
            <a:r>
              <a:rPr sz="6750" b="1">
                <a:solidFill>
                  <a:srgbClr val="0F9ED5"/>
                </a:solidFill>
                <a:latin typeface="Aptos"/>
                <a:ea typeface="Aptos"/>
                <a:cs typeface="Aptos"/>
              </a:rPr>
              <a:t>0,856</a:t>
            </a:r>
          </a:p>
        </p:txBody>
      </p:sp>
      <p:sp>
        <p:nvSpPr>
          <p:cNvPr id="5" name="Rectangle 4">
            <a:extLst>
              <a:ext uri="{FF2B5EF4-FFF2-40B4-BE49-F238E27FC236}">
                <a16:creationId xmlns:a16="http://schemas.microsoft.com/office/drawing/2014/main" id="{FB3D93CD-DE52-4787-AE97-0E1A9C35A996}"/>
              </a:ext>
            </a:extLst>
          </p:cNvPr>
          <p:cNvSpPr>
            <a:spLocks noGrp="1"/>
          </p:cNvSpPr>
          <p:nvPr/>
        </p:nvSpPr>
        <p:spPr>
          <a:xfrm>
            <a:off x="742950" y="2924175"/>
            <a:ext cx="4286250" cy="4191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gemiddelde weekcorrelatie</a:t>
            </a:r>
          </a:p>
        </p:txBody>
      </p:sp>
      <p:sp>
        <p:nvSpPr>
          <p:cNvPr id="6" name="Rectangle 5">
            <a:extLst>
              <a:ext uri="{FF2B5EF4-FFF2-40B4-BE49-F238E27FC236}">
                <a16:creationId xmlns:a16="http://schemas.microsoft.com/office/drawing/2014/main" id="{036446B6-F767-4823-BCD5-232B82D1BD1A}"/>
              </a:ext>
            </a:extLst>
          </p:cNvPr>
          <p:cNvSpPr>
            <a:spLocks noGrp="1"/>
          </p:cNvSpPr>
          <p:nvPr/>
        </p:nvSpPr>
        <p:spPr>
          <a:xfrm>
            <a:off x="742950" y="3629025"/>
            <a:ext cx="4857750" cy="876300"/>
          </a:xfrm>
          <a:prstGeom prst="rect">
            <a:avLst/>
          </a:prstGeom>
          <a:noFill/>
          <a:ln w="0">
            <a:noFill/>
          </a:ln>
        </p:spPr>
        <p:txBody>
          <a:bodyPr lIns="0" tIns="0" rIns="0" bIns="0" anchor="t"/>
          <a:lstStyle>
            <a:defPPr>
              <a:defRPr sz="2025" b="0">
                <a:solidFill>
                  <a:srgbClr val="62766E"/>
                </a:solidFill>
                <a:latin typeface="Aptos"/>
                <a:ea typeface="Aptos"/>
                <a:cs typeface="Aptos"/>
              </a:defRPr>
            </a:defPPr>
          </a:lstStyle>
          <a:p>
            <a:pPr>
              <a:buNone/>
              <a:defRPr sz="2025" b="0">
                <a:solidFill>
                  <a:srgbClr val="62766E"/>
                </a:solidFill>
                <a:latin typeface="Aptos"/>
                <a:ea typeface="Aptos"/>
                <a:cs typeface="Aptos"/>
              </a:defRPr>
            </a:pPr>
            <a:r>
              <a:rPr sz="2025" b="0">
                <a:solidFill>
                  <a:srgbClr val="62766E"/>
                </a:solidFill>
                <a:latin typeface="Aptos"/>
                <a:ea typeface="Aptos"/>
                <a:cs typeface="Aptos"/>
              </a:rPr>
              <a:t>95%-interval: 0,837–0,876</a:t>
            </a:r>
            <a:br>
              <a:rPr sz="2025" b="0">
                <a:solidFill>
                  <a:srgbClr val="62766E"/>
                </a:solidFill>
                <a:latin typeface="Aptos"/>
                <a:ea typeface="Aptos"/>
                <a:cs typeface="Aptos"/>
              </a:rPr>
            </a:br>
            <a:r>
              <a:rPr sz="2025" b="0">
                <a:solidFill>
                  <a:srgbClr val="62766E"/>
                </a:solidFill>
                <a:latin typeface="Aptos"/>
                <a:ea typeface="Aptos"/>
                <a:cs typeface="Aptos"/>
              </a:rPr>
              <a:t>Holm-p ≈ 0,00015</a:t>
            </a:r>
          </a:p>
        </p:txBody>
      </p:sp>
      <p:sp>
        <p:nvSpPr>
          <p:cNvPr id="7" name="Rectangle 6">
            <a:extLst>
              <a:ext uri="{FF2B5EF4-FFF2-40B4-BE49-F238E27FC236}">
                <a16:creationId xmlns:a16="http://schemas.microsoft.com/office/drawing/2014/main" id="{4967A960-82C8-4492-BB03-DFCFE249BDB9}"/>
              </a:ext>
            </a:extLst>
          </p:cNvPr>
          <p:cNvSpPr>
            <a:spLocks noGrp="1"/>
          </p:cNvSpPr>
          <p:nvPr/>
        </p:nvSpPr>
        <p:spPr>
          <a:xfrm>
            <a:off x="6334125" y="1752600"/>
            <a:ext cx="5048250" cy="438150"/>
          </a:xfrm>
          <a:prstGeom prst="rect">
            <a:avLst/>
          </a:prstGeom>
          <a:noFill/>
          <a:ln w="0">
            <a:noFill/>
          </a:ln>
        </p:spPr>
        <p:txBody>
          <a:bodyPr lIns="0" tIns="0" rIns="0" bIns="0" anchor="t"/>
          <a:lstStyle>
            <a:defPPr>
              <a:defRPr sz="2400" b="1">
                <a:solidFill>
                  <a:srgbClr val="000000"/>
                </a:solidFill>
                <a:latin typeface="Aptos"/>
                <a:ea typeface="Aptos"/>
                <a:cs typeface="Aptos"/>
              </a:defRPr>
            </a:defPPr>
          </a:lstStyle>
          <a:p>
            <a:pPr>
              <a:buNone/>
              <a:defRPr sz="2400" b="1">
                <a:solidFill>
                  <a:srgbClr val="000000"/>
                </a:solidFill>
                <a:latin typeface="Aptos"/>
                <a:ea typeface="Aptos"/>
                <a:cs typeface="Aptos"/>
              </a:defRPr>
            </a:pPr>
            <a:r>
              <a:rPr sz="2400" b="1">
                <a:solidFill>
                  <a:srgbClr val="000000"/>
                </a:solidFill>
                <a:latin typeface="Aptos"/>
                <a:ea typeface="Aptos"/>
                <a:cs typeface="Aptos"/>
              </a:rPr>
              <a:t>De toets</a:t>
            </a:r>
          </a:p>
        </p:txBody>
      </p:sp>
      <p:sp>
        <p:nvSpPr>
          <p:cNvPr id="8" name="Rectangle 7">
            <a:extLst>
              <a:ext uri="{FF2B5EF4-FFF2-40B4-BE49-F238E27FC236}">
                <a16:creationId xmlns:a16="http://schemas.microsoft.com/office/drawing/2014/main" id="{A865E3EA-08B0-4B00-9EDE-537582AD416A}"/>
              </a:ext>
            </a:extLst>
          </p:cNvPr>
          <p:cNvSpPr>
            <a:spLocks noGrp="1"/>
          </p:cNvSpPr>
          <p:nvPr/>
        </p:nvSpPr>
        <p:spPr>
          <a:xfrm>
            <a:off x="6334125" y="2381250"/>
            <a:ext cx="5095875" cy="2095500"/>
          </a:xfrm>
          <a:prstGeom prst="rect">
            <a:avLst/>
          </a:prstGeom>
          <a:noFill/>
          <a:ln w="0">
            <a:noFill/>
          </a:ln>
        </p:spPr>
        <p:txBody>
          <a:bodyPr lIns="0" tIns="0" rIns="0" bIns="0" anchor="t"/>
          <a:lstStyle>
            <a:defPPr>
              <a:defRPr sz="2100" b="0">
                <a:solidFill>
                  <a:srgbClr val="000000"/>
                </a:solidFill>
                <a:latin typeface="Aptos"/>
                <a:ea typeface="Aptos"/>
                <a:cs typeface="Aptos"/>
              </a:defRPr>
            </a:defPPr>
          </a:lstStyle>
          <a:p>
            <a:pPr>
              <a:buNone/>
              <a:defRPr sz="2100" b="0">
                <a:solidFill>
                  <a:srgbClr val="000000"/>
                </a:solidFill>
                <a:latin typeface="Aptos"/>
                <a:ea typeface="Aptos"/>
                <a:cs typeface="Aptos"/>
              </a:defRPr>
            </a:pPr>
            <a:r>
              <a:rPr sz="2100" b="0">
                <a:solidFill>
                  <a:srgbClr val="000000"/>
                </a:solidFill>
                <a:latin typeface="Aptos"/>
                <a:ea typeface="Aptos"/>
                <a:cs typeface="Aptos"/>
              </a:rPr>
              <a:t>H0: gemiddelde correlatie = 0</a:t>
            </a:r>
            <a:br>
              <a:rPr sz="2100" b="0">
                <a:solidFill>
                  <a:srgbClr val="000000"/>
                </a:solidFill>
                <a:latin typeface="Aptos"/>
                <a:ea typeface="Aptos"/>
                <a:cs typeface="Aptos"/>
              </a:rPr>
            </a:br>
            <a:r>
              <a:rPr sz="2100" b="0">
                <a:solidFill>
                  <a:srgbClr val="000000"/>
                </a:solidFill>
                <a:latin typeface="Aptos"/>
                <a:ea typeface="Aptos"/>
                <a:cs typeface="Aptos"/>
              </a:rPr>
              <a:t>H1: gemiddelde correlatie ≠ 0</a:t>
            </a:r>
            <a:br>
              <a:rPr sz="2100" b="0">
                <a:solidFill>
                  <a:srgbClr val="000000"/>
                </a:solidFill>
                <a:latin typeface="Aptos"/>
                <a:ea typeface="Aptos"/>
                <a:cs typeface="Aptos"/>
              </a:rPr>
            </a:br>
            <a:br>
              <a:rPr sz="2100" b="0">
                <a:solidFill>
                  <a:srgbClr val="000000"/>
                </a:solidFill>
                <a:latin typeface="Aptos"/>
                <a:ea typeface="Aptos"/>
                <a:cs typeface="Aptos"/>
              </a:rPr>
            </a:br>
            <a:r>
              <a:rPr sz="2100" b="0">
                <a:solidFill>
                  <a:srgbClr val="000000"/>
                </a:solidFill>
                <a:latin typeface="Aptos"/>
                <a:ea typeface="Aptos"/>
                <a:cs typeface="Aptos"/>
              </a:rPr>
              <a:t>43 blokken van vier weken</a:t>
            </a:r>
            <a:br>
              <a:rPr sz="2100" b="0">
                <a:solidFill>
                  <a:srgbClr val="000000"/>
                </a:solidFill>
                <a:latin typeface="Aptos"/>
                <a:ea typeface="Aptos"/>
                <a:cs typeface="Aptos"/>
              </a:rPr>
            </a:br>
            <a:r>
              <a:rPr sz="2100" b="0">
                <a:solidFill>
                  <a:srgbClr val="000000"/>
                </a:solidFill>
                <a:latin typeface="Aptos"/>
                <a:ea typeface="Aptos"/>
                <a:cs typeface="Aptos"/>
              </a:rPr>
              <a:t>Alpha = 0,05</a:t>
            </a:r>
          </a:p>
        </p:txBody>
      </p:sp>
      <p:sp>
        <p:nvSpPr>
          <p:cNvPr id="9" name="Rectangle 8">
            <a:extLst>
              <a:ext uri="{FF2B5EF4-FFF2-40B4-BE49-F238E27FC236}">
                <a16:creationId xmlns:a16="http://schemas.microsoft.com/office/drawing/2014/main" id="{EDC5B1B0-BFFA-4905-BEE7-F987ACB08928}"/>
              </a:ext>
            </a:extLst>
          </p:cNvPr>
          <p:cNvSpPr>
            <a:spLocks noGrp="1"/>
          </p:cNvSpPr>
          <p:nvPr/>
        </p:nvSpPr>
        <p:spPr>
          <a:xfrm>
            <a:off x="742950" y="5305425"/>
            <a:ext cx="10572750" cy="762000"/>
          </a:xfrm>
          <a:prstGeom prst="rect">
            <a:avLst/>
          </a:prstGeom>
          <a:noFill/>
          <a:ln w="0">
            <a:noFill/>
          </a:ln>
        </p:spPr>
        <p:txBody>
          <a:bodyPr lIns="0" tIns="0" rIns="0" bIns="0" anchor="t"/>
          <a:lstStyle>
            <a:defPPr>
              <a:defRPr sz="2400" b="1">
                <a:solidFill>
                  <a:srgbClr val="000000"/>
                </a:solidFill>
                <a:latin typeface="Aptos"/>
                <a:ea typeface="Aptos"/>
                <a:cs typeface="Aptos"/>
              </a:defRPr>
            </a:defPPr>
          </a:lstStyle>
          <a:p>
            <a:pPr>
              <a:buNone/>
              <a:defRPr sz="2400" b="1">
                <a:solidFill>
                  <a:srgbClr val="000000"/>
                </a:solidFill>
                <a:latin typeface="Aptos"/>
                <a:ea typeface="Aptos"/>
                <a:cs typeface="Aptos"/>
              </a:defRPr>
            </a:pPr>
            <a:r>
              <a:rPr sz="2400" b="1">
                <a:solidFill>
                  <a:srgbClr val="000000"/>
                </a:solidFill>
                <a:latin typeface="Aptos"/>
                <a:ea typeface="Aptos"/>
                <a:cs typeface="Aptos"/>
              </a:rPr>
              <a:t>Doel: de 24 uurvakken van morgen</a:t>
            </a:r>
            <a:br>
              <a:rPr sz="2400" b="1">
                <a:solidFill>
                  <a:srgbClr val="000000"/>
                </a:solidFill>
                <a:latin typeface="Aptos"/>
                <a:ea typeface="Aptos"/>
                <a:cs typeface="Aptos"/>
              </a:rPr>
            </a:br>
            <a:r>
              <a:rPr sz="2400" b="1">
                <a:solidFill>
                  <a:srgbClr val="000000"/>
                </a:solidFill>
                <a:latin typeface="Aptos"/>
                <a:ea typeface="Aptos"/>
                <a:cs typeface="Aptos"/>
              </a:rPr>
              <a:t>voorspellen om 00:00 New York-tijd</a:t>
            </a:r>
          </a:p>
        </p:txBody>
      </p:sp>
    </p:spTree>
    <p:extLst>
      <p:ext uri="{BB962C8B-B14F-4D97-AF65-F5344CB8AC3E}">
        <p14:creationId xmlns:p14="http://schemas.microsoft.com/office/powerpoint/2010/main" val="18226193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B2542DA-5EB7-4AB3-824F-7E2BC2BA614A}"/>
              </a:ext>
            </a:extLst>
          </p:cNvPr>
          <p:cNvSpPr>
            <a:spLocks noGrp="1"/>
          </p:cNvSpPr>
          <p:nvPr/>
        </p:nvSpPr>
        <p:spPr>
          <a:xfrm>
            <a:off x="685800" y="323850"/>
            <a:ext cx="10001250" cy="285750"/>
          </a:xfrm>
          <a:prstGeom prst="rect">
            <a:avLst/>
          </a:prstGeom>
          <a:noFill/>
          <a:ln w="0">
            <a:noFill/>
          </a:ln>
        </p:spPr>
        <p:txBody>
          <a:bodyPr lIns="0" tIns="0" rIns="0" bIns="0" anchor="t"/>
          <a:lstStyle>
            <a:defPPr>
              <a:defRPr sz="1425" b="1">
                <a:solidFill>
                  <a:srgbClr val="0F9ED5"/>
                </a:solidFill>
                <a:latin typeface="Aptos"/>
                <a:ea typeface="Aptos"/>
                <a:cs typeface="Aptos"/>
              </a:defRPr>
            </a:defPPr>
          </a:lstStyle>
          <a:p>
            <a:pPr>
              <a:buNone/>
              <a:defRPr sz="1425" b="1">
                <a:solidFill>
                  <a:srgbClr val="0F9ED5"/>
                </a:solidFill>
                <a:latin typeface="Aptos"/>
                <a:ea typeface="Aptos"/>
                <a:cs typeface="Aptos"/>
              </a:defRPr>
            </a:pPr>
            <a:r>
              <a:rPr sz="1425" b="1">
                <a:solidFill>
                  <a:srgbClr val="0F9ED5"/>
                </a:solidFill>
                <a:latin typeface="Aptos"/>
                <a:ea typeface="Aptos"/>
                <a:cs typeface="Aptos"/>
              </a:rPr>
              <a:t>MODELLEN</a:t>
            </a:r>
          </a:p>
        </p:txBody>
      </p:sp>
      <p:sp>
        <p:nvSpPr>
          <p:cNvPr id="2" name="Rectangle 1">
            <a:extLst>
              <a:ext uri="{FF2B5EF4-FFF2-40B4-BE49-F238E27FC236}">
                <a16:creationId xmlns:a16="http://schemas.microsoft.com/office/drawing/2014/main" id="{CCBFC141-0126-49E5-A584-8BF665CC3382}"/>
              </a:ext>
            </a:extLst>
          </p:cNvPr>
          <p:cNvSpPr>
            <a:spLocks noGrp="1"/>
          </p:cNvSpPr>
          <p:nvPr/>
        </p:nvSpPr>
        <p:spPr>
          <a:xfrm>
            <a:off x="685800" y="781050"/>
            <a:ext cx="10820400" cy="628650"/>
          </a:xfrm>
          <a:prstGeom prst="rect">
            <a:avLst/>
          </a:prstGeom>
          <a:noFill/>
          <a:ln w="0">
            <a:noFill/>
          </a:ln>
        </p:spPr>
        <p:txBody>
          <a:bodyPr lIns="0" tIns="0" rIns="0" bIns="0" anchor="t"/>
          <a:lstStyle>
            <a:defPPr>
              <a:defRPr sz="3300" b="1">
                <a:solidFill>
                  <a:srgbClr val="000000"/>
                </a:solidFill>
                <a:latin typeface="Aptos"/>
                <a:ea typeface="Aptos"/>
                <a:cs typeface="Aptos"/>
              </a:defRPr>
            </a:defPPr>
          </a:lstStyle>
          <a:p>
            <a:pPr>
              <a:buNone/>
              <a:defRPr sz="3300" b="1">
                <a:solidFill>
                  <a:srgbClr val="000000"/>
                </a:solidFill>
                <a:latin typeface="Aptos"/>
                <a:ea typeface="Aptos"/>
                <a:cs typeface="Aptos"/>
              </a:defRPr>
            </a:pPr>
            <a:r>
              <a:rPr sz="3300" b="1">
                <a:solidFill>
                  <a:srgbClr val="000000"/>
                </a:solidFill>
                <a:latin typeface="Aptos"/>
                <a:ea typeface="Aptos"/>
                <a:cs typeface="Aptos"/>
              </a:rPr>
              <a:t>Alle modellen krijgen dezelfde modeldata</a:t>
            </a:r>
          </a:p>
        </p:txBody>
      </p:sp>
      <p:sp>
        <p:nvSpPr>
          <p:cNvPr id="3" name="Rectangle 2">
            <a:extLst>
              <a:ext uri="{FF2B5EF4-FFF2-40B4-BE49-F238E27FC236}">
                <a16:creationId xmlns:a16="http://schemas.microsoft.com/office/drawing/2014/main" id="{04F0B5DA-83EB-4792-A8B9-6BE041F35127}"/>
              </a:ext>
            </a:extLst>
          </p:cNvPr>
          <p:cNvSpPr>
            <a:spLocks noGrp="1"/>
          </p:cNvSpPr>
          <p:nvPr/>
        </p:nvSpPr>
        <p:spPr>
          <a:xfrm>
            <a:off x="11239500" y="6419850"/>
            <a:ext cx="381000" cy="238125"/>
          </a:xfrm>
          <a:prstGeom prst="rect">
            <a:avLst/>
          </a:prstGeom>
          <a:noFill/>
          <a:ln w="0">
            <a:noFill/>
          </a:ln>
        </p:spPr>
        <p:txBody>
          <a:bodyPr lIns="0" tIns="0" rIns="0" bIns="0" anchor="t"/>
          <a:lstStyle>
            <a:defPPr>
              <a:defRPr sz="1350" b="0">
                <a:solidFill>
                  <a:srgbClr val="62766E"/>
                </a:solidFill>
                <a:latin typeface="Aptos"/>
                <a:ea typeface="Aptos"/>
                <a:cs typeface="Aptos"/>
              </a:defRPr>
            </a:defPPr>
          </a:lstStyle>
          <a:p>
            <a:pPr>
              <a:buNone/>
              <a:defRPr sz="1350" b="0">
                <a:solidFill>
                  <a:srgbClr val="62766E"/>
                </a:solidFill>
                <a:latin typeface="Aptos"/>
                <a:ea typeface="Aptos"/>
                <a:cs typeface="Aptos"/>
              </a:defRPr>
            </a:pPr>
            <a:r>
              <a:rPr sz="1350" b="0">
                <a:solidFill>
                  <a:srgbClr val="62766E"/>
                </a:solidFill>
                <a:latin typeface="Aptos"/>
                <a:ea typeface="Aptos"/>
                <a:cs typeface="Aptos"/>
              </a:rPr>
              <a:t>5</a:t>
            </a:r>
          </a:p>
        </p:txBody>
      </p:sp>
      <p:sp>
        <p:nvSpPr>
          <p:cNvPr id="4" name="Rectangle 3">
            <a:extLst>
              <a:ext uri="{FF2B5EF4-FFF2-40B4-BE49-F238E27FC236}">
                <a16:creationId xmlns:a16="http://schemas.microsoft.com/office/drawing/2014/main" id="{688CF11E-52CC-4128-8ABE-45E3BA1C8367}"/>
              </a:ext>
            </a:extLst>
          </p:cNvPr>
          <p:cNvSpPr>
            <a:spLocks noGrp="1"/>
          </p:cNvSpPr>
          <p:nvPr/>
        </p:nvSpPr>
        <p:spPr>
          <a:xfrm>
            <a:off x="685800" y="1657350"/>
            <a:ext cx="10858500" cy="495300"/>
          </a:xfrm>
          <a:prstGeom prst="rect">
            <a:avLst/>
          </a:prstGeom>
          <a:noFill/>
          <a:ln w="0">
            <a:noFill/>
          </a:ln>
        </p:spPr>
        <p:txBody>
          <a:bodyPr lIns="0" tIns="0" rIns="0" bIns="0" anchor="t"/>
          <a:lstStyle>
            <a:defPPr>
              <a:defRPr sz="2325" b="1">
                <a:solidFill>
                  <a:srgbClr val="0F9ED5"/>
                </a:solidFill>
                <a:latin typeface="Aptos"/>
                <a:ea typeface="Aptos"/>
                <a:cs typeface="Aptos"/>
              </a:defRPr>
            </a:defPPr>
          </a:lstStyle>
          <a:p>
            <a:pPr>
              <a:buNone/>
              <a:defRPr sz="2325" b="1">
                <a:solidFill>
                  <a:srgbClr val="0F9ED5"/>
                </a:solidFill>
                <a:latin typeface="Aptos"/>
                <a:ea typeface="Aptos"/>
                <a:cs typeface="Aptos"/>
              </a:defRPr>
            </a:pPr>
            <a:r>
              <a:rPr sz="2325" b="1">
                <a:solidFill>
                  <a:srgbClr val="0F9ED5"/>
                </a:solidFill>
                <a:latin typeface="Aptos"/>
                <a:ea typeface="Aptos"/>
                <a:cs typeface="Aptos"/>
              </a:rPr>
              <a:t>14 features: kalender en afgesloten historie</a:t>
            </a:r>
          </a:p>
        </p:txBody>
      </p:sp>
      <p:sp>
        <p:nvSpPr>
          <p:cNvPr id="5" name="Rectangle 4">
            <a:extLst>
              <a:ext uri="{FF2B5EF4-FFF2-40B4-BE49-F238E27FC236}">
                <a16:creationId xmlns:a16="http://schemas.microsoft.com/office/drawing/2014/main" id="{148A0C38-DAEA-4516-9F94-48E223A4A628}"/>
              </a:ext>
            </a:extLst>
          </p:cNvPr>
          <p:cNvSpPr>
            <a:spLocks noGrp="1"/>
          </p:cNvSpPr>
          <p:nvPr/>
        </p:nvSpPr>
        <p:spPr>
          <a:xfrm>
            <a:off x="685800" y="2238375"/>
            <a:ext cx="10858500" cy="66675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Daglags en rolling kennen alleen volledige dagen vóór de voorspeldag</a:t>
            </a:r>
          </a:p>
        </p:txBody>
      </p:sp>
      <p:graphicFrame>
        <p:nvGraphicFramePr>
          <p:cNvPr id="6" name="Table 5">
            <a:extLst>
              <a:ext uri="{FF2B5EF4-FFF2-40B4-BE49-F238E27FC236}">
                <a16:creationId xmlns:a16="http://schemas.microsoft.com/office/drawing/2014/main" id="{40F74A84-B60F-42A8-AB70-389157EC3729}"/>
              </a:ext>
            </a:extLst>
          </p:cNvPr>
          <p:cNvGraphicFramePr/>
          <p:nvPr/>
        </p:nvGraphicFramePr>
        <p:xfrm>
          <a:off x="685800" y="3181350"/>
          <a:ext cx="10820400" cy="2514600"/>
        </p:xfrm>
        <a:graphic>
          <a:graphicData uri="http://schemas.openxmlformats.org/drawingml/2006/table">
            <a:tbl>
              <a:tblPr firstRow="1"/>
              <a:tblGrid>
                <a:gridCol w="2428875">
                  <a:extLst>
                    <a:ext uri="{9D8B030D-6E8A-4147-A177-3AD203B41FA5}">
                      <a16:colId xmlns:a16="http://schemas.microsoft.com/office/drawing/2014/main" val="20000"/>
                    </a:ext>
                  </a:extLst>
                </a:gridCol>
                <a:gridCol w="3143250">
                  <a:extLst>
                    <a:ext uri="{9D8B030D-6E8A-4147-A177-3AD203B41FA5}">
                      <a16:colId xmlns:a16="http://schemas.microsoft.com/office/drawing/2014/main" val="20001"/>
                    </a:ext>
                  </a:extLst>
                </a:gridCol>
                <a:gridCol w="5248275">
                  <a:extLst>
                    <a:ext uri="{9D8B030D-6E8A-4147-A177-3AD203B41FA5}">
                      <a16:colId xmlns:a16="http://schemas.microsoft.com/office/drawing/2014/main" val="20002"/>
                    </a:ext>
                  </a:extLst>
                </a:gridCol>
              </a:tblGrid>
              <a:tr h="628650">
                <a:tc>
                  <a:txBody>
                    <a:bodyPr/>
                    <a:lstStyle/>
                    <a:p>
                      <a:r>
                        <a:rPr sz="1800" b="1">
                          <a:solidFill>
                            <a:srgbClr val="FFFFFF"/>
                          </a:solidFill>
                          <a:latin typeface="Aptos"/>
                          <a:ea typeface="Aptos"/>
                          <a:cs typeface="Aptos"/>
                        </a:rPr>
                        <a:t>Deel</a:t>
                      </a:r>
                    </a:p>
                  </a:txBody>
                  <a:tcPr>
                    <a:lnL w="7620">
                      <a:solidFill>
                        <a:srgbClr val="D8E1DB"/>
                      </a:solidFill>
                      <a:prstDash val="solid"/>
                    </a:lnL>
                    <a:lnR w="7620">
                      <a:solidFill>
                        <a:srgbClr val="D8E1DB"/>
                      </a:solidFill>
                      <a:prstDash val="solid"/>
                    </a:lnR>
                    <a:lnT w="7620">
                      <a:solidFill>
                        <a:srgbClr val="D8E1DB"/>
                      </a:solidFill>
                      <a:prstDash val="solid"/>
                    </a:lnT>
                    <a:lnB w="7620">
                      <a:solidFill>
                        <a:srgbClr val="D8E1DB"/>
                      </a:solidFill>
                      <a:prstDash val="solid"/>
                    </a:lnB>
                    <a:solidFill>
                      <a:srgbClr val="0F9ED5"/>
                    </a:solidFill>
                  </a:tcPr>
                </a:tc>
                <a:tc>
                  <a:txBody>
                    <a:bodyPr/>
                    <a:lstStyle/>
                    <a:p>
                      <a:r>
                        <a:rPr sz="1800" b="1">
                          <a:solidFill>
                            <a:srgbClr val="FFFFFF"/>
                          </a:solidFill>
                          <a:latin typeface="Aptos"/>
                          <a:ea typeface="Aptos"/>
                          <a:cs typeface="Aptos"/>
                        </a:rPr>
                        <a:t>Periode</a:t>
                      </a:r>
                    </a:p>
                  </a:txBody>
                  <a:tcPr>
                    <a:lnL w="7620" cap="flat" cmpd="sng" algn="ctr">
                      <a:solidFill>
                        <a:srgbClr val="D8E1DB"/>
                      </a:solidFill>
                      <a:prstDash val="solid"/>
                      <a:round/>
                      <a:headEnd type="none" w="med" len="med"/>
                      <a:tailEnd type="none" w="med" len="med"/>
                    </a:lnL>
                    <a:lnR w="7620">
                      <a:solidFill>
                        <a:srgbClr val="D8E1DB"/>
                      </a:solidFill>
                      <a:prstDash val="solid"/>
                    </a:lnR>
                    <a:lnT w="7620">
                      <a:solidFill>
                        <a:srgbClr val="D8E1DB"/>
                      </a:solidFill>
                      <a:prstDash val="solid"/>
                    </a:lnT>
                    <a:lnB w="7620">
                      <a:solidFill>
                        <a:srgbClr val="D8E1DB"/>
                      </a:solidFill>
                      <a:prstDash val="solid"/>
                    </a:lnB>
                    <a:solidFill>
                      <a:srgbClr val="0F9ED5"/>
                    </a:solidFill>
                  </a:tcPr>
                </a:tc>
                <a:tc>
                  <a:txBody>
                    <a:bodyPr/>
                    <a:lstStyle/>
                    <a:p>
                      <a:r>
                        <a:rPr sz="1800" b="1">
                          <a:solidFill>
                            <a:srgbClr val="FFFFFF"/>
                          </a:solidFill>
                          <a:latin typeface="Aptos"/>
                          <a:ea typeface="Aptos"/>
                          <a:cs typeface="Aptos"/>
                        </a:rPr>
                        <a:t>Gebruik</a:t>
                      </a:r>
                    </a:p>
                  </a:txBody>
                  <a:tcPr>
                    <a:lnL w="7620" cap="flat" cmpd="sng" algn="ctr">
                      <a:solidFill>
                        <a:srgbClr val="D8E1DB"/>
                      </a:solidFill>
                      <a:prstDash val="solid"/>
                      <a:round/>
                      <a:headEnd type="none" w="med" len="med"/>
                      <a:tailEnd type="none" w="med" len="med"/>
                    </a:lnL>
                    <a:lnR w="7620">
                      <a:solidFill>
                        <a:srgbClr val="D8E1DB"/>
                      </a:solidFill>
                      <a:prstDash val="solid"/>
                    </a:lnR>
                    <a:lnT w="7620">
                      <a:solidFill>
                        <a:srgbClr val="D8E1DB"/>
                      </a:solidFill>
                      <a:prstDash val="solid"/>
                    </a:lnT>
                    <a:lnB w="7620">
                      <a:solidFill>
                        <a:srgbClr val="D8E1DB"/>
                      </a:solidFill>
                      <a:prstDash val="solid"/>
                    </a:lnB>
                    <a:solidFill>
                      <a:srgbClr val="0F9ED5"/>
                    </a:solidFill>
                  </a:tcPr>
                </a:tc>
                <a:extLst>
                  <a:ext uri="{0D108BD9-81ED-4DB2-BD59-A6C34878D82A}">
                    <a16:rowId xmlns:a16="http://schemas.microsoft.com/office/drawing/2014/main" val="10000"/>
                  </a:ext>
                </a:extLst>
              </a:tr>
              <a:tr h="628650">
                <a:tc>
                  <a:txBody>
                    <a:bodyPr/>
                    <a:lstStyle/>
                    <a:p>
                      <a:r>
                        <a:rPr sz="1800" b="0">
                          <a:solidFill>
                            <a:srgbClr val="000000"/>
                          </a:solidFill>
                          <a:latin typeface="Aptos"/>
                          <a:ea typeface="Aptos"/>
                          <a:cs typeface="Aptos"/>
                        </a:rPr>
                        <a:t>Training</a:t>
                      </a:r>
                    </a:p>
                  </a:txBody>
                  <a:tcPr>
                    <a:lnL w="7620">
                      <a:solidFill>
                        <a:srgbClr val="D8E1DB"/>
                      </a:solidFill>
                      <a:prstDash val="soli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Vóór mei 2026</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Fit en chronologische CV</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extLst>
                  <a:ext uri="{0D108BD9-81ED-4DB2-BD59-A6C34878D82A}">
                    <a16:rowId xmlns:a16="http://schemas.microsoft.com/office/drawing/2014/main" val="10001"/>
                  </a:ext>
                </a:extLst>
              </a:tr>
              <a:tr h="628650">
                <a:tc>
                  <a:txBody>
                    <a:bodyPr/>
                    <a:lstStyle/>
                    <a:p>
                      <a:r>
                        <a:rPr sz="1800" b="0">
                          <a:solidFill>
                            <a:srgbClr val="000000"/>
                          </a:solidFill>
                          <a:latin typeface="Aptos"/>
                          <a:ea typeface="Aptos"/>
                          <a:cs typeface="Aptos"/>
                        </a:rPr>
                        <a:t>Validatie</a:t>
                      </a:r>
                    </a:p>
                  </a:txBody>
                  <a:tcPr>
                    <a:lnL w="7620">
                      <a:solidFill>
                        <a:srgbClr val="D8E1DB"/>
                      </a:solidFill>
                      <a:prstDash val="soli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Mei–juni 2026</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Vergelijking en modelkeuze</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extLst>
                  <a:ext uri="{0D108BD9-81ED-4DB2-BD59-A6C34878D82A}">
                    <a16:rowId xmlns:a16="http://schemas.microsoft.com/office/drawing/2014/main" val="10002"/>
                  </a:ext>
                </a:extLst>
              </a:tr>
              <a:tr h="628650">
                <a:tc>
                  <a:txBody>
                    <a:bodyPr/>
                    <a:lstStyle/>
                    <a:p>
                      <a:r>
                        <a:rPr sz="1800" b="0">
                          <a:solidFill>
                            <a:srgbClr val="000000"/>
                          </a:solidFill>
                          <a:latin typeface="Aptos"/>
                          <a:ea typeface="Aptos"/>
                          <a:cs typeface="Aptos"/>
                        </a:rPr>
                        <a:t>Eindtest</a:t>
                      </a:r>
                    </a:p>
                  </a:txBody>
                  <a:tcPr>
                    <a:lnL w="7620">
                      <a:solidFill>
                        <a:srgbClr val="D8E1DB"/>
                      </a:solidFill>
                      <a:prstDash val="soli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Juli–augustus 2026</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Bestaande eindbeoordeling</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7" name="Rectangle 6">
            <a:extLst>
              <a:ext uri="{FF2B5EF4-FFF2-40B4-BE49-F238E27FC236}">
                <a16:creationId xmlns:a16="http://schemas.microsoft.com/office/drawing/2014/main" id="{4F878FDD-BC7D-4C23-A49A-6031224C67C3}"/>
              </a:ext>
            </a:extLst>
          </p:cNvPr>
          <p:cNvSpPr>
            <a:spLocks noGrp="1"/>
          </p:cNvSpPr>
          <p:nvPr/>
        </p:nvSpPr>
        <p:spPr>
          <a:xfrm>
            <a:off x="704850" y="5924550"/>
            <a:ext cx="10668000" cy="333375"/>
          </a:xfrm>
          <a:prstGeom prst="rect">
            <a:avLst/>
          </a:prstGeom>
          <a:noFill/>
          <a:ln w="0">
            <a:noFill/>
          </a:ln>
        </p:spPr>
        <p:txBody>
          <a:bodyPr lIns="0" tIns="0" rIns="0" bIns="0" anchor="t"/>
          <a:lstStyle>
            <a:defPPr>
              <a:defRPr sz="1725" b="0">
                <a:solidFill>
                  <a:srgbClr val="62766E"/>
                </a:solidFill>
                <a:latin typeface="Aptos"/>
                <a:ea typeface="Aptos"/>
                <a:cs typeface="Aptos"/>
              </a:defRPr>
            </a:defPPr>
          </a:lstStyle>
          <a:p>
            <a:pPr>
              <a:buNone/>
              <a:defRPr sz="1725" b="0">
                <a:solidFill>
                  <a:srgbClr val="62766E"/>
                </a:solidFill>
                <a:latin typeface="Aptos"/>
                <a:ea typeface="Aptos"/>
                <a:cs typeface="Aptos"/>
              </a:defRPr>
            </a:pPr>
            <a:r>
              <a:rPr sz="1725" b="0">
                <a:solidFill>
                  <a:srgbClr val="62766E"/>
                </a:solidFill>
                <a:latin typeface="Aptos"/>
                <a:ea typeface="Aptos"/>
                <a:cs typeface="Aptos"/>
              </a:rPr>
              <a:t>112.872 trainingsrijen en 1.464 validatierijen. Vijf folds van 28 dagen.</a:t>
            </a:r>
          </a:p>
        </p:txBody>
      </p:sp>
    </p:spTree>
    <p:extLst>
      <p:ext uri="{BB962C8B-B14F-4D97-AF65-F5344CB8AC3E}">
        <p14:creationId xmlns:p14="http://schemas.microsoft.com/office/powerpoint/2010/main" val="14522012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76C33D5-AC24-4A23-A9B9-ED2B09570AEB}"/>
              </a:ext>
            </a:extLst>
          </p:cNvPr>
          <p:cNvSpPr>
            <a:spLocks noGrp="1"/>
          </p:cNvSpPr>
          <p:nvPr/>
        </p:nvSpPr>
        <p:spPr>
          <a:xfrm>
            <a:off x="685800" y="323850"/>
            <a:ext cx="10001250" cy="285750"/>
          </a:xfrm>
          <a:prstGeom prst="rect">
            <a:avLst/>
          </a:prstGeom>
          <a:noFill/>
          <a:ln w="0">
            <a:noFill/>
          </a:ln>
        </p:spPr>
        <p:txBody>
          <a:bodyPr lIns="0" tIns="0" rIns="0" bIns="0" anchor="t"/>
          <a:lstStyle>
            <a:defPPr>
              <a:defRPr sz="1425" b="1">
                <a:solidFill>
                  <a:srgbClr val="0F9ED5"/>
                </a:solidFill>
                <a:latin typeface="Aptos"/>
                <a:ea typeface="Aptos"/>
                <a:cs typeface="Aptos"/>
              </a:defRPr>
            </a:defPPr>
          </a:lstStyle>
          <a:p>
            <a:pPr>
              <a:buNone/>
              <a:defRPr sz="1425" b="1">
                <a:solidFill>
                  <a:srgbClr val="0F9ED5"/>
                </a:solidFill>
                <a:latin typeface="Aptos"/>
                <a:ea typeface="Aptos"/>
                <a:cs typeface="Aptos"/>
              </a:defRPr>
            </a:pPr>
            <a:r>
              <a:rPr sz="1425" b="1">
                <a:solidFill>
                  <a:srgbClr val="0F9ED5"/>
                </a:solidFill>
                <a:latin typeface="Aptos"/>
                <a:ea typeface="Aptos"/>
                <a:cs typeface="Aptos"/>
              </a:rPr>
              <a:t>MODELLEN</a:t>
            </a:r>
          </a:p>
        </p:txBody>
      </p:sp>
      <p:sp>
        <p:nvSpPr>
          <p:cNvPr id="2" name="Rectangle 1">
            <a:extLst>
              <a:ext uri="{FF2B5EF4-FFF2-40B4-BE49-F238E27FC236}">
                <a16:creationId xmlns:a16="http://schemas.microsoft.com/office/drawing/2014/main" id="{185BFCA7-273E-47DF-9DCB-49748338023F}"/>
              </a:ext>
            </a:extLst>
          </p:cNvPr>
          <p:cNvSpPr>
            <a:spLocks noGrp="1"/>
          </p:cNvSpPr>
          <p:nvPr/>
        </p:nvSpPr>
        <p:spPr>
          <a:xfrm>
            <a:off x="685800" y="781050"/>
            <a:ext cx="10820400" cy="628650"/>
          </a:xfrm>
          <a:prstGeom prst="rect">
            <a:avLst/>
          </a:prstGeom>
          <a:noFill/>
          <a:ln w="0">
            <a:noFill/>
          </a:ln>
        </p:spPr>
        <p:txBody>
          <a:bodyPr lIns="0" tIns="0" rIns="0" bIns="0" anchor="t"/>
          <a:lstStyle>
            <a:defPPr>
              <a:defRPr sz="3300" b="1">
                <a:solidFill>
                  <a:srgbClr val="000000"/>
                </a:solidFill>
                <a:latin typeface="Aptos"/>
                <a:ea typeface="Aptos"/>
                <a:cs typeface="Aptos"/>
              </a:defRPr>
            </a:defPPr>
          </a:lstStyle>
          <a:p>
            <a:pPr>
              <a:buNone/>
              <a:defRPr sz="3300" b="1">
                <a:solidFill>
                  <a:srgbClr val="000000"/>
                </a:solidFill>
                <a:latin typeface="Aptos"/>
                <a:ea typeface="Aptos"/>
                <a:cs typeface="Aptos"/>
              </a:defRPr>
            </a:pPr>
            <a:r>
              <a:rPr sz="3300" b="1">
                <a:solidFill>
                  <a:srgbClr val="000000"/>
                </a:solidFill>
                <a:latin typeface="Aptos"/>
                <a:ea typeface="Aptos"/>
                <a:cs typeface="Aptos"/>
              </a:rPr>
              <a:t>Random Forest valideert het beste</a:t>
            </a:r>
          </a:p>
        </p:txBody>
      </p:sp>
      <p:sp>
        <p:nvSpPr>
          <p:cNvPr id="3" name="Rectangle 2">
            <a:extLst>
              <a:ext uri="{FF2B5EF4-FFF2-40B4-BE49-F238E27FC236}">
                <a16:creationId xmlns:a16="http://schemas.microsoft.com/office/drawing/2014/main" id="{05ABAB37-7240-499D-BCEB-3676384A2E2B}"/>
              </a:ext>
            </a:extLst>
          </p:cNvPr>
          <p:cNvSpPr>
            <a:spLocks noGrp="1"/>
          </p:cNvSpPr>
          <p:nvPr/>
        </p:nvSpPr>
        <p:spPr>
          <a:xfrm>
            <a:off x="11239500" y="6419850"/>
            <a:ext cx="381000" cy="238125"/>
          </a:xfrm>
          <a:prstGeom prst="rect">
            <a:avLst/>
          </a:prstGeom>
          <a:noFill/>
          <a:ln w="0">
            <a:noFill/>
          </a:ln>
        </p:spPr>
        <p:txBody>
          <a:bodyPr lIns="0" tIns="0" rIns="0" bIns="0" anchor="t"/>
          <a:lstStyle>
            <a:defPPr>
              <a:defRPr sz="1350" b="0">
                <a:solidFill>
                  <a:srgbClr val="62766E"/>
                </a:solidFill>
                <a:latin typeface="Aptos"/>
                <a:ea typeface="Aptos"/>
                <a:cs typeface="Aptos"/>
              </a:defRPr>
            </a:defPPr>
          </a:lstStyle>
          <a:p>
            <a:pPr>
              <a:buNone/>
              <a:defRPr sz="1350" b="0">
                <a:solidFill>
                  <a:srgbClr val="62766E"/>
                </a:solidFill>
                <a:latin typeface="Aptos"/>
                <a:ea typeface="Aptos"/>
                <a:cs typeface="Aptos"/>
              </a:defRPr>
            </a:pPr>
            <a:r>
              <a:rPr sz="1350" b="0">
                <a:solidFill>
                  <a:srgbClr val="62766E"/>
                </a:solidFill>
                <a:latin typeface="Aptos"/>
                <a:ea typeface="Aptos"/>
                <a:cs typeface="Aptos"/>
              </a:rPr>
              <a:t>6</a:t>
            </a:r>
          </a:p>
        </p:txBody>
      </p:sp>
      <p:graphicFrame>
        <p:nvGraphicFramePr>
          <p:cNvPr id="4" name="Chart">
            <a:extLst>
              <a:ext uri="{FF2B5EF4-FFF2-40B4-BE49-F238E27FC236}">
                <a16:creationId xmlns:a16="http://schemas.microsoft.com/office/drawing/2014/main" id="{9D8D5053-B66B-4FC9-BFD1-14B868BA85C7}"/>
              </a:ext>
            </a:extLst>
          </p:cNvPr>
          <p:cNvGraphicFramePr/>
          <p:nvPr/>
        </p:nvGraphicFramePr>
        <p:xfrm>
          <a:off x="666750" y="1676400"/>
          <a:ext cx="10572750" cy="3752850"/>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a:extLst>
              <a:ext uri="{FF2B5EF4-FFF2-40B4-BE49-F238E27FC236}">
                <a16:creationId xmlns:a16="http://schemas.microsoft.com/office/drawing/2014/main" id="{38F4606B-F6FB-4955-9B33-DD9BE35D27CF}"/>
              </a:ext>
            </a:extLst>
          </p:cNvPr>
          <p:cNvSpPr>
            <a:spLocks noGrp="1"/>
          </p:cNvSpPr>
          <p:nvPr/>
        </p:nvSpPr>
        <p:spPr>
          <a:xfrm>
            <a:off x="762000" y="5715000"/>
            <a:ext cx="10668000" cy="400050"/>
          </a:xfrm>
          <a:prstGeom prst="rect">
            <a:avLst/>
          </a:prstGeom>
          <a:noFill/>
          <a:ln w="0">
            <a:noFill/>
          </a:ln>
        </p:spPr>
        <p:txBody>
          <a:bodyPr lIns="0" tIns="0" rIns="0" bIns="0" anchor="t"/>
          <a:lstStyle>
            <a:defPPr>
              <a:defRPr sz="1950" b="1">
                <a:solidFill>
                  <a:srgbClr val="0F9ED5"/>
                </a:solidFill>
                <a:latin typeface="Aptos"/>
                <a:ea typeface="Aptos"/>
                <a:cs typeface="Aptos"/>
              </a:defRPr>
            </a:defPPr>
          </a:lstStyle>
          <a:p>
            <a:pPr>
              <a:buNone/>
              <a:defRPr sz="1950" b="1">
                <a:solidFill>
                  <a:srgbClr val="0F9ED5"/>
                </a:solidFill>
                <a:latin typeface="Aptos"/>
                <a:ea typeface="Aptos"/>
                <a:cs typeface="Aptos"/>
              </a:defRPr>
            </a:pPr>
            <a:r>
              <a:rPr sz="1950" b="1">
                <a:solidFill>
                  <a:srgbClr val="0F9ED5"/>
                </a:solidFill>
                <a:latin typeface="Aptos"/>
                <a:ea typeface="Aptos"/>
                <a:cs typeface="Aptos"/>
              </a:rPr>
              <a:t>RF getuned: 1.940,49 ritten/uurvak. 31,34% lagere RMSE dan de weekbaseline.</a:t>
            </a:r>
          </a:p>
        </p:txBody>
      </p:sp>
      <p:sp>
        <p:nvSpPr>
          <p:cNvPr id="6" name="Rectangle 5">
            <a:extLst>
              <a:ext uri="{FF2B5EF4-FFF2-40B4-BE49-F238E27FC236}">
                <a16:creationId xmlns:a16="http://schemas.microsoft.com/office/drawing/2014/main" id="{732661AA-8B3A-49D0-9918-E06BF4C0BAF1}"/>
              </a:ext>
            </a:extLst>
          </p:cNvPr>
          <p:cNvSpPr>
            <a:spLocks noGrp="1"/>
          </p:cNvSpPr>
          <p:nvPr/>
        </p:nvSpPr>
        <p:spPr>
          <a:xfrm>
            <a:off x="762000" y="6172200"/>
            <a:ext cx="10477500" cy="285750"/>
          </a:xfrm>
          <a:prstGeom prst="rect">
            <a:avLst/>
          </a:prstGeom>
          <a:noFill/>
          <a:ln w="0">
            <a:noFill/>
          </a:ln>
        </p:spPr>
        <p:txBody>
          <a:bodyPr lIns="0" tIns="0" rIns="0" bIns="0" anchor="t"/>
          <a:lstStyle>
            <a:defPPr>
              <a:defRPr sz="1575" b="0">
                <a:solidFill>
                  <a:srgbClr val="62766E"/>
                </a:solidFill>
                <a:latin typeface="Aptos"/>
                <a:ea typeface="Aptos"/>
                <a:cs typeface="Aptos"/>
              </a:defRPr>
            </a:defPPr>
          </a:lstStyle>
          <a:p>
            <a:pPr>
              <a:buNone/>
              <a:defRPr sz="1575" b="0">
                <a:solidFill>
                  <a:srgbClr val="62766E"/>
                </a:solidFill>
                <a:latin typeface="Aptos"/>
                <a:ea typeface="Aptos"/>
                <a:cs typeface="Aptos"/>
              </a:defRPr>
            </a:pPr>
            <a:r>
              <a:rPr sz="1575" b="0">
                <a:solidFill>
                  <a:srgbClr val="62766E"/>
                </a:solidFill>
                <a:latin typeface="Aptos"/>
                <a:ea typeface="Aptos"/>
                <a:cs typeface="Aptos"/>
              </a:rPr>
              <a:t>PyCaret vergelijkt dezelfde basismodellen. Deze rangschikking gebruikt validatie.</a:t>
            </a:r>
          </a:p>
        </p:txBody>
      </p:sp>
    </p:spTree>
    <p:extLst>
      <p:ext uri="{BB962C8B-B14F-4D97-AF65-F5344CB8AC3E}">
        <p14:creationId xmlns:p14="http://schemas.microsoft.com/office/powerpoint/2010/main" val="10410027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07665AD-72BE-45D9-AC17-84C9782AA92C}"/>
              </a:ext>
            </a:extLst>
          </p:cNvPr>
          <p:cNvSpPr>
            <a:spLocks noGrp="1"/>
          </p:cNvSpPr>
          <p:nvPr/>
        </p:nvSpPr>
        <p:spPr>
          <a:xfrm>
            <a:off x="685800" y="323850"/>
            <a:ext cx="10001250" cy="285750"/>
          </a:xfrm>
          <a:prstGeom prst="rect">
            <a:avLst/>
          </a:prstGeom>
          <a:noFill/>
          <a:ln w="0">
            <a:noFill/>
          </a:ln>
        </p:spPr>
        <p:txBody>
          <a:bodyPr lIns="0" tIns="0" rIns="0" bIns="0" anchor="t"/>
          <a:lstStyle>
            <a:defPPr>
              <a:defRPr sz="1425" b="1">
                <a:solidFill>
                  <a:srgbClr val="0F9ED5"/>
                </a:solidFill>
                <a:latin typeface="Aptos"/>
                <a:ea typeface="Aptos"/>
                <a:cs typeface="Aptos"/>
              </a:defRPr>
            </a:defPPr>
          </a:lstStyle>
          <a:p>
            <a:pPr>
              <a:buNone/>
              <a:defRPr sz="1425" b="1">
                <a:solidFill>
                  <a:srgbClr val="0F9ED5"/>
                </a:solidFill>
                <a:latin typeface="Aptos"/>
                <a:ea typeface="Aptos"/>
                <a:cs typeface="Aptos"/>
              </a:defRPr>
            </a:pPr>
            <a:r>
              <a:rPr sz="1425" b="1">
                <a:solidFill>
                  <a:srgbClr val="0F9ED5"/>
                </a:solidFill>
                <a:latin typeface="Aptos"/>
                <a:ea typeface="Aptos"/>
                <a:cs typeface="Aptos"/>
              </a:rPr>
              <a:t>MODELLEN</a:t>
            </a:r>
          </a:p>
        </p:txBody>
      </p:sp>
      <p:sp>
        <p:nvSpPr>
          <p:cNvPr id="2" name="Rectangle 1">
            <a:extLst>
              <a:ext uri="{FF2B5EF4-FFF2-40B4-BE49-F238E27FC236}">
                <a16:creationId xmlns:a16="http://schemas.microsoft.com/office/drawing/2014/main" id="{950CEEB3-B69A-4AE9-85AB-D1840FB87A43}"/>
              </a:ext>
            </a:extLst>
          </p:cNvPr>
          <p:cNvSpPr>
            <a:spLocks noGrp="1"/>
          </p:cNvSpPr>
          <p:nvPr/>
        </p:nvSpPr>
        <p:spPr>
          <a:xfrm>
            <a:off x="685800" y="781050"/>
            <a:ext cx="10820400" cy="628650"/>
          </a:xfrm>
          <a:prstGeom prst="rect">
            <a:avLst/>
          </a:prstGeom>
          <a:noFill/>
          <a:ln w="0">
            <a:noFill/>
          </a:ln>
        </p:spPr>
        <p:txBody>
          <a:bodyPr lIns="0" tIns="0" rIns="0" bIns="0" anchor="t"/>
          <a:lstStyle>
            <a:defPPr>
              <a:defRPr sz="3300" b="1">
                <a:solidFill>
                  <a:srgbClr val="000000"/>
                </a:solidFill>
                <a:latin typeface="Aptos"/>
                <a:ea typeface="Aptos"/>
                <a:cs typeface="Aptos"/>
              </a:defRPr>
            </a:defPPr>
          </a:lstStyle>
          <a:p>
            <a:pPr>
              <a:buNone/>
              <a:defRPr sz="3300" b="1">
                <a:solidFill>
                  <a:srgbClr val="000000"/>
                </a:solidFill>
                <a:latin typeface="Aptos"/>
                <a:ea typeface="Aptos"/>
                <a:cs typeface="Aptos"/>
              </a:defRPr>
            </a:pPr>
            <a:r>
              <a:rPr sz="3300" b="1">
                <a:solidFill>
                  <a:srgbClr val="000000"/>
                </a:solidFill>
                <a:latin typeface="Aptos"/>
                <a:ea typeface="Aptos"/>
                <a:cs typeface="Aptos"/>
              </a:rPr>
              <a:t>Snelle training en generalisatie verschillen</a:t>
            </a:r>
          </a:p>
        </p:txBody>
      </p:sp>
      <p:sp>
        <p:nvSpPr>
          <p:cNvPr id="3" name="Rectangle 2">
            <a:extLst>
              <a:ext uri="{FF2B5EF4-FFF2-40B4-BE49-F238E27FC236}">
                <a16:creationId xmlns:a16="http://schemas.microsoft.com/office/drawing/2014/main" id="{091EB777-ACCC-4F5F-BC37-E96CA600AE69}"/>
              </a:ext>
            </a:extLst>
          </p:cNvPr>
          <p:cNvSpPr>
            <a:spLocks noGrp="1"/>
          </p:cNvSpPr>
          <p:nvPr/>
        </p:nvSpPr>
        <p:spPr>
          <a:xfrm>
            <a:off x="11239500" y="6419850"/>
            <a:ext cx="381000" cy="238125"/>
          </a:xfrm>
          <a:prstGeom prst="rect">
            <a:avLst/>
          </a:prstGeom>
          <a:noFill/>
          <a:ln w="0">
            <a:noFill/>
          </a:ln>
        </p:spPr>
        <p:txBody>
          <a:bodyPr lIns="0" tIns="0" rIns="0" bIns="0" anchor="t"/>
          <a:lstStyle>
            <a:defPPr>
              <a:defRPr sz="1350" b="0">
                <a:solidFill>
                  <a:srgbClr val="62766E"/>
                </a:solidFill>
                <a:latin typeface="Aptos"/>
                <a:ea typeface="Aptos"/>
                <a:cs typeface="Aptos"/>
              </a:defRPr>
            </a:defPPr>
          </a:lstStyle>
          <a:p>
            <a:pPr>
              <a:buNone/>
              <a:defRPr sz="1350" b="0">
                <a:solidFill>
                  <a:srgbClr val="62766E"/>
                </a:solidFill>
                <a:latin typeface="Aptos"/>
                <a:ea typeface="Aptos"/>
                <a:cs typeface="Aptos"/>
              </a:defRPr>
            </a:pPr>
            <a:r>
              <a:rPr sz="1350" b="0">
                <a:solidFill>
                  <a:srgbClr val="62766E"/>
                </a:solidFill>
                <a:latin typeface="Aptos"/>
                <a:ea typeface="Aptos"/>
                <a:cs typeface="Aptos"/>
              </a:rPr>
              <a:t>7</a:t>
            </a:r>
          </a:p>
        </p:txBody>
      </p:sp>
      <p:graphicFrame>
        <p:nvGraphicFramePr>
          <p:cNvPr id="4" name="Table 3">
            <a:extLst>
              <a:ext uri="{FF2B5EF4-FFF2-40B4-BE49-F238E27FC236}">
                <a16:creationId xmlns:a16="http://schemas.microsoft.com/office/drawing/2014/main" id="{D4FC0206-2312-41AF-83EE-81C64B99BF52}"/>
              </a:ext>
            </a:extLst>
          </p:cNvPr>
          <p:cNvGraphicFramePr/>
          <p:nvPr/>
        </p:nvGraphicFramePr>
        <p:xfrm>
          <a:off x="685800" y="1743075"/>
          <a:ext cx="10820400" cy="3286125"/>
        </p:xfrm>
        <a:graphic>
          <a:graphicData uri="http://schemas.openxmlformats.org/drawingml/2006/table">
            <a:tbl>
              <a:tblPr firstRow="1"/>
              <a:tblGrid>
                <a:gridCol w="3333750">
                  <a:extLst>
                    <a:ext uri="{9D8B030D-6E8A-4147-A177-3AD203B41FA5}">
                      <a16:colId xmlns:a16="http://schemas.microsoft.com/office/drawing/2014/main" val="20000"/>
                    </a:ext>
                  </a:extLst>
                </a:gridCol>
                <a:gridCol w="2238375">
                  <a:extLst>
                    <a:ext uri="{9D8B030D-6E8A-4147-A177-3AD203B41FA5}">
                      <a16:colId xmlns:a16="http://schemas.microsoft.com/office/drawing/2014/main" val="20001"/>
                    </a:ext>
                  </a:extLst>
                </a:gridCol>
                <a:gridCol w="2809875">
                  <a:extLst>
                    <a:ext uri="{9D8B030D-6E8A-4147-A177-3AD203B41FA5}">
                      <a16:colId xmlns:a16="http://schemas.microsoft.com/office/drawing/2014/main" val="20002"/>
                    </a:ext>
                  </a:extLst>
                </a:gridCol>
                <a:gridCol w="2438400">
                  <a:extLst>
                    <a:ext uri="{9D8B030D-6E8A-4147-A177-3AD203B41FA5}">
                      <a16:colId xmlns:a16="http://schemas.microsoft.com/office/drawing/2014/main" val="20003"/>
                    </a:ext>
                  </a:extLst>
                </a:gridCol>
              </a:tblGrid>
              <a:tr h="657225">
                <a:tc>
                  <a:txBody>
                    <a:bodyPr/>
                    <a:lstStyle/>
                    <a:p>
                      <a:r>
                        <a:rPr sz="1800" b="1">
                          <a:solidFill>
                            <a:srgbClr val="FFFFFF"/>
                          </a:solidFill>
                          <a:latin typeface="Aptos"/>
                          <a:ea typeface="Aptos"/>
                          <a:cs typeface="Aptos"/>
                        </a:rPr>
                        <a:t>Model</a:t>
                      </a:r>
                    </a:p>
                  </a:txBody>
                  <a:tcPr>
                    <a:lnL w="7620">
                      <a:solidFill>
                        <a:srgbClr val="D8E1DB"/>
                      </a:solidFill>
                      <a:prstDash val="solid"/>
                    </a:lnL>
                    <a:lnR w="7620">
                      <a:solidFill>
                        <a:srgbClr val="D8E1DB"/>
                      </a:solidFill>
                      <a:prstDash val="solid"/>
                    </a:lnR>
                    <a:lnT w="7620">
                      <a:solidFill>
                        <a:srgbClr val="D8E1DB"/>
                      </a:solidFill>
                      <a:prstDash val="solid"/>
                    </a:lnT>
                    <a:lnB w="7620">
                      <a:solidFill>
                        <a:srgbClr val="D8E1DB"/>
                      </a:solidFill>
                      <a:prstDash val="solid"/>
                    </a:lnB>
                    <a:solidFill>
                      <a:srgbClr val="0F9ED5"/>
                    </a:solidFill>
                  </a:tcPr>
                </a:tc>
                <a:tc>
                  <a:txBody>
                    <a:bodyPr/>
                    <a:lstStyle/>
                    <a:p>
                      <a:r>
                        <a:rPr sz="1800" b="1">
                          <a:solidFill>
                            <a:srgbClr val="FFFFFF"/>
                          </a:solidFill>
                          <a:latin typeface="Aptos"/>
                          <a:ea typeface="Aptos"/>
                          <a:cs typeface="Aptos"/>
                        </a:rPr>
                        <a:t>Train-RMSE</a:t>
                      </a:r>
                    </a:p>
                  </a:txBody>
                  <a:tcPr>
                    <a:lnL w="7620" cap="flat" cmpd="sng" algn="ctr">
                      <a:solidFill>
                        <a:srgbClr val="D8E1DB"/>
                      </a:solidFill>
                      <a:prstDash val="solid"/>
                      <a:round/>
                      <a:headEnd type="none" w="med" len="med"/>
                      <a:tailEnd type="none" w="med" len="med"/>
                    </a:lnL>
                    <a:lnR w="7620">
                      <a:solidFill>
                        <a:srgbClr val="D8E1DB"/>
                      </a:solidFill>
                      <a:prstDash val="solid"/>
                    </a:lnR>
                    <a:lnT w="7620">
                      <a:solidFill>
                        <a:srgbClr val="D8E1DB"/>
                      </a:solidFill>
                      <a:prstDash val="solid"/>
                    </a:lnT>
                    <a:lnB w="7620">
                      <a:solidFill>
                        <a:srgbClr val="D8E1DB"/>
                      </a:solidFill>
                      <a:prstDash val="solid"/>
                    </a:lnB>
                    <a:solidFill>
                      <a:srgbClr val="0F9ED5"/>
                    </a:solidFill>
                  </a:tcPr>
                </a:tc>
                <a:tc>
                  <a:txBody>
                    <a:bodyPr/>
                    <a:lstStyle/>
                    <a:p>
                      <a:r>
                        <a:rPr sz="1800" b="1">
                          <a:solidFill>
                            <a:srgbClr val="FFFFFF"/>
                          </a:solidFill>
                          <a:latin typeface="Aptos"/>
                          <a:ea typeface="Aptos"/>
                          <a:cs typeface="Aptos"/>
                        </a:rPr>
                        <a:t>Validatie-RMSE</a:t>
                      </a:r>
                    </a:p>
                  </a:txBody>
                  <a:tcPr>
                    <a:lnL w="7620" cap="flat" cmpd="sng" algn="ctr">
                      <a:solidFill>
                        <a:srgbClr val="D8E1DB"/>
                      </a:solidFill>
                      <a:prstDash val="solid"/>
                      <a:round/>
                      <a:headEnd type="none" w="med" len="med"/>
                      <a:tailEnd type="none" w="med" len="med"/>
                    </a:lnL>
                    <a:lnR w="7620">
                      <a:solidFill>
                        <a:srgbClr val="D8E1DB"/>
                      </a:solidFill>
                      <a:prstDash val="solid"/>
                    </a:lnR>
                    <a:lnT w="7620">
                      <a:solidFill>
                        <a:srgbClr val="D8E1DB"/>
                      </a:solidFill>
                      <a:prstDash val="solid"/>
                    </a:lnT>
                    <a:lnB w="7620">
                      <a:solidFill>
                        <a:srgbClr val="D8E1DB"/>
                      </a:solidFill>
                      <a:prstDash val="solid"/>
                    </a:lnB>
                    <a:solidFill>
                      <a:srgbClr val="0F9ED5"/>
                    </a:solidFill>
                  </a:tcPr>
                </a:tc>
                <a:tc>
                  <a:txBody>
                    <a:bodyPr/>
                    <a:lstStyle/>
                    <a:p>
                      <a:r>
                        <a:rPr sz="1800" b="1">
                          <a:solidFill>
                            <a:srgbClr val="FFFFFF"/>
                          </a:solidFill>
                          <a:latin typeface="Aptos"/>
                          <a:ea typeface="Aptos"/>
                          <a:cs typeface="Aptos"/>
                        </a:rPr>
                        <a:t>Fit op deze pc</a:t>
                      </a:r>
                    </a:p>
                  </a:txBody>
                  <a:tcPr>
                    <a:lnL w="7620" cap="flat" cmpd="sng" algn="ctr">
                      <a:solidFill>
                        <a:srgbClr val="D8E1DB"/>
                      </a:solidFill>
                      <a:prstDash val="solid"/>
                      <a:round/>
                      <a:headEnd type="none" w="med" len="med"/>
                      <a:tailEnd type="none" w="med" len="med"/>
                    </a:lnL>
                    <a:lnR w="7620">
                      <a:solidFill>
                        <a:srgbClr val="D8E1DB"/>
                      </a:solidFill>
                      <a:prstDash val="solid"/>
                    </a:lnR>
                    <a:lnT w="7620">
                      <a:solidFill>
                        <a:srgbClr val="D8E1DB"/>
                      </a:solidFill>
                      <a:prstDash val="solid"/>
                    </a:lnT>
                    <a:lnB w="7620">
                      <a:solidFill>
                        <a:srgbClr val="D8E1DB"/>
                      </a:solidFill>
                      <a:prstDash val="solid"/>
                    </a:lnB>
                    <a:solidFill>
                      <a:srgbClr val="0F9ED5"/>
                    </a:solidFill>
                  </a:tcPr>
                </a:tc>
                <a:extLst>
                  <a:ext uri="{0D108BD9-81ED-4DB2-BD59-A6C34878D82A}">
                    <a16:rowId xmlns:a16="http://schemas.microsoft.com/office/drawing/2014/main" val="10000"/>
                  </a:ext>
                </a:extLst>
              </a:tr>
              <a:tr h="657225">
                <a:tc>
                  <a:txBody>
                    <a:bodyPr/>
                    <a:lstStyle/>
                    <a:p>
                      <a:r>
                        <a:rPr sz="1800" b="0">
                          <a:solidFill>
                            <a:srgbClr val="000000"/>
                          </a:solidFill>
                          <a:latin typeface="Aptos"/>
                          <a:ea typeface="Aptos"/>
                          <a:cs typeface="Aptos"/>
                        </a:rPr>
                        <a:t>Ridge</a:t>
                      </a:r>
                    </a:p>
                  </a:txBody>
                  <a:tcPr>
                    <a:lnL w="7620">
                      <a:solidFill>
                        <a:srgbClr val="D8E1DB"/>
                      </a:solidFill>
                      <a:prstDash val="soli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1.022</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1.982</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0,05 s</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extLst>
                  <a:ext uri="{0D108BD9-81ED-4DB2-BD59-A6C34878D82A}">
                    <a16:rowId xmlns:a16="http://schemas.microsoft.com/office/drawing/2014/main" val="10001"/>
                  </a:ext>
                </a:extLst>
              </a:tr>
              <a:tr h="657225">
                <a:tc>
                  <a:txBody>
                    <a:bodyPr/>
                    <a:lstStyle/>
                    <a:p>
                      <a:r>
                        <a:rPr sz="1800" b="0">
                          <a:solidFill>
                            <a:srgbClr val="000000"/>
                          </a:solidFill>
                          <a:latin typeface="Aptos"/>
                          <a:ea typeface="Aptos"/>
                          <a:cs typeface="Aptos"/>
                        </a:rPr>
                        <a:t>LightGBM</a:t>
                      </a:r>
                    </a:p>
                  </a:txBody>
                  <a:tcPr>
                    <a:lnL w="7620">
                      <a:solidFill>
                        <a:srgbClr val="D8E1DB"/>
                      </a:solidFill>
                      <a:prstDash val="soli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778</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1.952</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0,72 s</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extLst>
                  <a:ext uri="{0D108BD9-81ED-4DB2-BD59-A6C34878D82A}">
                    <a16:rowId xmlns:a16="http://schemas.microsoft.com/office/drawing/2014/main" val="10002"/>
                  </a:ext>
                </a:extLst>
              </a:tr>
              <a:tr h="657225">
                <a:tc>
                  <a:txBody>
                    <a:bodyPr/>
                    <a:lstStyle/>
                    <a:p>
                      <a:r>
                        <a:rPr sz="1800" b="0">
                          <a:solidFill>
                            <a:srgbClr val="000000"/>
                          </a:solidFill>
                          <a:latin typeface="Aptos"/>
                          <a:ea typeface="Aptos"/>
                          <a:cs typeface="Aptos"/>
                        </a:rPr>
                        <a:t>Random Forest</a:t>
                      </a:r>
                    </a:p>
                  </a:txBody>
                  <a:tcPr>
                    <a:lnL w="7620">
                      <a:solidFill>
                        <a:srgbClr val="D8E1DB"/>
                      </a:solidFill>
                      <a:prstDash val="soli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684</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1.946</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37,92 s</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extLst>
                  <a:ext uri="{0D108BD9-81ED-4DB2-BD59-A6C34878D82A}">
                    <a16:rowId xmlns:a16="http://schemas.microsoft.com/office/drawing/2014/main" val="10003"/>
                  </a:ext>
                </a:extLst>
              </a:tr>
              <a:tr h="657225">
                <a:tc>
                  <a:txBody>
                    <a:bodyPr/>
                    <a:lstStyle/>
                    <a:p>
                      <a:r>
                        <a:rPr sz="1800" b="0">
                          <a:solidFill>
                            <a:srgbClr val="000000"/>
                          </a:solidFill>
                          <a:latin typeface="Aptos"/>
                          <a:ea typeface="Aptos"/>
                          <a:cs typeface="Aptos"/>
                        </a:rPr>
                        <a:t>RF getuned</a:t>
                      </a:r>
                    </a:p>
                  </a:txBody>
                  <a:tcPr>
                    <a:lnL w="7620">
                      <a:solidFill>
                        <a:srgbClr val="D8E1DB"/>
                      </a:solidFill>
                      <a:prstDash val="soli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536</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1.940</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tc>
                  <a:txBody>
                    <a:bodyPr/>
                    <a:lstStyle/>
                    <a:p>
                      <a:r>
                        <a:rPr sz="1800" b="0">
                          <a:solidFill>
                            <a:srgbClr val="000000"/>
                          </a:solidFill>
                          <a:latin typeface="Aptos"/>
                          <a:ea typeface="Aptos"/>
                          <a:cs typeface="Aptos"/>
                        </a:rPr>
                        <a:t>71,24 s</a:t>
                      </a:r>
                    </a:p>
                  </a:txBody>
                  <a:tcPr>
                    <a:lnL w="7620" cap="flat" cmpd="sng" algn="ctr">
                      <a:solidFill>
                        <a:srgbClr val="D8E1DB"/>
                      </a:solidFill>
                      <a:prstDash val="solid"/>
                      <a:round/>
                      <a:headEnd type="none" w="med" len="med"/>
                      <a:tailEnd type="none" w="med" len="med"/>
                    </a:lnL>
                    <a:lnR w="7620">
                      <a:solidFill>
                        <a:srgbClr val="D8E1DB"/>
                      </a:solidFill>
                      <a:prstDash val="solid"/>
                    </a:lnR>
                    <a:lnT w="7620" cap="flat" cmpd="sng" algn="ctr">
                      <a:solidFill>
                        <a:srgbClr val="D8E1DB"/>
                      </a:solidFill>
                      <a:prstDash val="solid"/>
                      <a:round/>
                      <a:headEnd type="none" w="med" len="med"/>
                      <a:tailEnd type="none" w="med" len="med"/>
                    </a:lnT>
                    <a:lnB w="7620">
                      <a:solidFill>
                        <a:srgbClr val="D8E1DB"/>
                      </a:solidFill>
                      <a:prstDash val="solid"/>
                    </a:lnB>
                    <a:solidFill>
                      <a:srgbClr val="FFFFFF"/>
                    </a:solidFill>
                  </a:tcPr>
                </a:tc>
                <a:extLst>
                  <a:ext uri="{0D108BD9-81ED-4DB2-BD59-A6C34878D82A}">
                    <a16:rowId xmlns:a16="http://schemas.microsoft.com/office/drawing/2014/main" val="10004"/>
                  </a:ext>
                </a:extLst>
              </a:tr>
            </a:tbl>
          </a:graphicData>
        </a:graphic>
      </p:graphicFrame>
      <p:sp>
        <p:nvSpPr>
          <p:cNvPr id="5" name="Rectangle 4">
            <a:extLst>
              <a:ext uri="{FF2B5EF4-FFF2-40B4-BE49-F238E27FC236}">
                <a16:creationId xmlns:a16="http://schemas.microsoft.com/office/drawing/2014/main" id="{9DDAA187-83E4-42CE-A8A8-FB95F9266ADF}"/>
              </a:ext>
            </a:extLst>
          </p:cNvPr>
          <p:cNvSpPr>
            <a:spLocks noGrp="1"/>
          </p:cNvSpPr>
          <p:nvPr/>
        </p:nvSpPr>
        <p:spPr>
          <a:xfrm>
            <a:off x="723900" y="5391150"/>
            <a:ext cx="10668000" cy="428625"/>
          </a:xfrm>
          <a:prstGeom prst="rect">
            <a:avLst/>
          </a:prstGeom>
          <a:noFill/>
          <a:ln w="0">
            <a:noFill/>
          </a:ln>
        </p:spPr>
        <p:txBody>
          <a:bodyPr lIns="0" tIns="0" rIns="0" bIns="0" anchor="t"/>
          <a:lstStyle>
            <a:defPPr>
              <a:defRPr sz="2325" b="1">
                <a:solidFill>
                  <a:srgbClr val="0F9ED5"/>
                </a:solidFill>
                <a:latin typeface="Aptos"/>
                <a:ea typeface="Aptos"/>
                <a:cs typeface="Aptos"/>
              </a:defRPr>
            </a:defPPr>
          </a:lstStyle>
          <a:p>
            <a:pPr>
              <a:buNone/>
              <a:defRPr sz="2325" b="1">
                <a:solidFill>
                  <a:srgbClr val="0F9ED5"/>
                </a:solidFill>
                <a:latin typeface="Aptos"/>
                <a:ea typeface="Aptos"/>
                <a:cs typeface="Aptos"/>
              </a:defRPr>
            </a:pPr>
            <a:r>
              <a:rPr sz="2325" b="1">
                <a:solidFill>
                  <a:srgbClr val="0F9ED5"/>
                </a:solidFill>
                <a:latin typeface="Aptos"/>
                <a:ea typeface="Aptos"/>
                <a:cs typeface="Aptos"/>
              </a:rPr>
              <a:t>RF-tuning: slechts 0,27% extra validatiewinst</a:t>
            </a:r>
          </a:p>
        </p:txBody>
      </p:sp>
      <p:sp>
        <p:nvSpPr>
          <p:cNvPr id="6" name="Rectangle 5">
            <a:extLst>
              <a:ext uri="{FF2B5EF4-FFF2-40B4-BE49-F238E27FC236}">
                <a16:creationId xmlns:a16="http://schemas.microsoft.com/office/drawing/2014/main" id="{AE7CDAC8-34D5-4C77-8881-19F7D524D5DC}"/>
              </a:ext>
            </a:extLst>
          </p:cNvPr>
          <p:cNvSpPr>
            <a:spLocks noGrp="1"/>
          </p:cNvSpPr>
          <p:nvPr/>
        </p:nvSpPr>
        <p:spPr>
          <a:xfrm>
            <a:off x="723900" y="5915025"/>
            <a:ext cx="10668000" cy="361950"/>
          </a:xfrm>
          <a:prstGeom prst="rect">
            <a:avLst/>
          </a:prstGeom>
          <a:noFill/>
          <a:ln w="0">
            <a:noFill/>
          </a:ln>
        </p:spPr>
        <p:txBody>
          <a:bodyPr lIns="0" tIns="0" rIns="0" bIns="0" anchor="t"/>
          <a:lstStyle>
            <a:defPPr>
              <a:defRPr sz="1875" b="0">
                <a:solidFill>
                  <a:srgbClr val="62766E"/>
                </a:solidFill>
                <a:latin typeface="Aptos"/>
                <a:ea typeface="Aptos"/>
                <a:cs typeface="Aptos"/>
              </a:defRPr>
            </a:defPPr>
          </a:lstStyle>
          <a:p>
            <a:pPr>
              <a:buNone/>
              <a:defRPr sz="1875" b="0">
                <a:solidFill>
                  <a:srgbClr val="62766E"/>
                </a:solidFill>
                <a:latin typeface="Aptos"/>
                <a:ea typeface="Aptos"/>
                <a:cs typeface="Aptos"/>
              </a:defRPr>
            </a:pPr>
            <a:r>
              <a:rPr sz="1875" b="0">
                <a:solidFill>
                  <a:srgbClr val="62766E"/>
                </a:solidFill>
                <a:latin typeface="Aptos"/>
                <a:ea typeface="Aptos"/>
                <a:cs typeface="Aptos"/>
              </a:rPr>
              <a:t>Circa 647 MiB voor het finale oorspronkelijke artefact</a:t>
            </a:r>
          </a:p>
        </p:txBody>
      </p:sp>
    </p:spTree>
    <p:extLst>
      <p:ext uri="{BB962C8B-B14F-4D97-AF65-F5344CB8AC3E}">
        <p14:creationId xmlns:p14="http://schemas.microsoft.com/office/powerpoint/2010/main" val="3060177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5AB7923-734A-4C70-9BEA-562B0913AA46}"/>
              </a:ext>
            </a:extLst>
          </p:cNvPr>
          <p:cNvSpPr>
            <a:spLocks noGrp="1"/>
          </p:cNvSpPr>
          <p:nvPr/>
        </p:nvSpPr>
        <p:spPr>
          <a:xfrm>
            <a:off x="685800" y="323850"/>
            <a:ext cx="10001250" cy="285750"/>
          </a:xfrm>
          <a:prstGeom prst="rect">
            <a:avLst/>
          </a:prstGeom>
          <a:noFill/>
          <a:ln w="0">
            <a:noFill/>
          </a:ln>
        </p:spPr>
        <p:txBody>
          <a:bodyPr lIns="0" tIns="0" rIns="0" bIns="0" anchor="t"/>
          <a:lstStyle>
            <a:defPPr>
              <a:defRPr sz="1425" b="1">
                <a:solidFill>
                  <a:srgbClr val="0F9ED5"/>
                </a:solidFill>
                <a:latin typeface="Aptos"/>
                <a:ea typeface="Aptos"/>
                <a:cs typeface="Aptos"/>
              </a:defRPr>
            </a:defPPr>
          </a:lstStyle>
          <a:p>
            <a:pPr>
              <a:buNone/>
              <a:defRPr sz="1425" b="1">
                <a:solidFill>
                  <a:srgbClr val="0F9ED5"/>
                </a:solidFill>
                <a:latin typeface="Aptos"/>
                <a:ea typeface="Aptos"/>
                <a:cs typeface="Aptos"/>
              </a:defRPr>
            </a:pPr>
            <a:r>
              <a:rPr sz="1425" b="1">
                <a:solidFill>
                  <a:srgbClr val="0F9ED5"/>
                </a:solidFill>
                <a:latin typeface="Aptos"/>
                <a:ea typeface="Aptos"/>
                <a:cs typeface="Aptos"/>
              </a:rPr>
              <a:t>CONCLUSIE</a:t>
            </a:r>
          </a:p>
        </p:txBody>
      </p:sp>
      <p:sp>
        <p:nvSpPr>
          <p:cNvPr id="2" name="Rectangle 1">
            <a:extLst>
              <a:ext uri="{FF2B5EF4-FFF2-40B4-BE49-F238E27FC236}">
                <a16:creationId xmlns:a16="http://schemas.microsoft.com/office/drawing/2014/main" id="{31D82681-0076-43F2-A33A-3E8ECA3A2E7F}"/>
              </a:ext>
            </a:extLst>
          </p:cNvPr>
          <p:cNvSpPr>
            <a:spLocks noGrp="1"/>
          </p:cNvSpPr>
          <p:nvPr/>
        </p:nvSpPr>
        <p:spPr>
          <a:xfrm>
            <a:off x="685800" y="781050"/>
            <a:ext cx="10820400" cy="628650"/>
          </a:xfrm>
          <a:prstGeom prst="rect">
            <a:avLst/>
          </a:prstGeom>
          <a:noFill/>
          <a:ln w="0">
            <a:noFill/>
          </a:ln>
        </p:spPr>
        <p:txBody>
          <a:bodyPr lIns="0" tIns="0" rIns="0" bIns="0" anchor="t"/>
          <a:lstStyle>
            <a:defPPr>
              <a:defRPr sz="3300" b="1">
                <a:solidFill>
                  <a:srgbClr val="000000"/>
                </a:solidFill>
                <a:latin typeface="Aptos"/>
                <a:ea typeface="Aptos"/>
                <a:cs typeface="Aptos"/>
              </a:defRPr>
            </a:defPPr>
          </a:lstStyle>
          <a:p>
            <a:pPr>
              <a:buNone/>
              <a:defRPr sz="3300" b="1">
                <a:solidFill>
                  <a:srgbClr val="000000"/>
                </a:solidFill>
                <a:latin typeface="Aptos"/>
                <a:ea typeface="Aptos"/>
                <a:cs typeface="Aptos"/>
              </a:defRPr>
            </a:pPr>
            <a:r>
              <a:rPr sz="3300" b="1">
                <a:solidFill>
                  <a:srgbClr val="000000"/>
                </a:solidFill>
                <a:latin typeface="Aptos"/>
                <a:ea typeface="Aptos"/>
                <a:cs typeface="Aptos"/>
              </a:rPr>
              <a:t>De bestaande eindtest bevestigt winst</a:t>
            </a:r>
          </a:p>
        </p:txBody>
      </p:sp>
      <p:sp>
        <p:nvSpPr>
          <p:cNvPr id="3" name="Rectangle 2">
            <a:extLst>
              <a:ext uri="{FF2B5EF4-FFF2-40B4-BE49-F238E27FC236}">
                <a16:creationId xmlns:a16="http://schemas.microsoft.com/office/drawing/2014/main" id="{067D5910-6F5C-48E6-9D3E-C4BB2B890918}"/>
              </a:ext>
            </a:extLst>
          </p:cNvPr>
          <p:cNvSpPr>
            <a:spLocks noGrp="1"/>
          </p:cNvSpPr>
          <p:nvPr/>
        </p:nvSpPr>
        <p:spPr>
          <a:xfrm>
            <a:off x="11239500" y="6419850"/>
            <a:ext cx="381000" cy="238125"/>
          </a:xfrm>
          <a:prstGeom prst="rect">
            <a:avLst/>
          </a:prstGeom>
          <a:noFill/>
          <a:ln w="0">
            <a:noFill/>
          </a:ln>
        </p:spPr>
        <p:txBody>
          <a:bodyPr lIns="0" tIns="0" rIns="0" bIns="0" anchor="t"/>
          <a:lstStyle>
            <a:defPPr>
              <a:defRPr sz="1350" b="0">
                <a:solidFill>
                  <a:srgbClr val="62766E"/>
                </a:solidFill>
                <a:latin typeface="Aptos"/>
                <a:ea typeface="Aptos"/>
                <a:cs typeface="Aptos"/>
              </a:defRPr>
            </a:defPPr>
          </a:lstStyle>
          <a:p>
            <a:pPr>
              <a:buNone/>
              <a:defRPr sz="1350" b="0">
                <a:solidFill>
                  <a:srgbClr val="62766E"/>
                </a:solidFill>
                <a:latin typeface="Aptos"/>
                <a:ea typeface="Aptos"/>
                <a:cs typeface="Aptos"/>
              </a:defRPr>
            </a:pPr>
            <a:r>
              <a:rPr sz="1350" b="0">
                <a:solidFill>
                  <a:srgbClr val="62766E"/>
                </a:solidFill>
                <a:latin typeface="Aptos"/>
                <a:ea typeface="Aptos"/>
                <a:cs typeface="Aptos"/>
              </a:rPr>
              <a:t>8</a:t>
            </a:r>
          </a:p>
        </p:txBody>
      </p:sp>
      <p:graphicFrame>
        <p:nvGraphicFramePr>
          <p:cNvPr id="4" name="Chart">
            <a:extLst>
              <a:ext uri="{FF2B5EF4-FFF2-40B4-BE49-F238E27FC236}">
                <a16:creationId xmlns:a16="http://schemas.microsoft.com/office/drawing/2014/main" id="{5C79FCE7-4457-4CA4-84F2-FF6E48A0659B}"/>
              </a:ext>
            </a:extLst>
          </p:cNvPr>
          <p:cNvGraphicFramePr/>
          <p:nvPr/>
        </p:nvGraphicFramePr>
        <p:xfrm>
          <a:off x="685800" y="1828800"/>
          <a:ext cx="6810375" cy="3124200"/>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a:extLst>
              <a:ext uri="{FF2B5EF4-FFF2-40B4-BE49-F238E27FC236}">
                <a16:creationId xmlns:a16="http://schemas.microsoft.com/office/drawing/2014/main" id="{DEA9EBCA-44EB-45B0-A1BD-C323B54CD67E}"/>
              </a:ext>
            </a:extLst>
          </p:cNvPr>
          <p:cNvSpPr>
            <a:spLocks noGrp="1"/>
          </p:cNvSpPr>
          <p:nvPr/>
        </p:nvSpPr>
        <p:spPr>
          <a:xfrm>
            <a:off x="8191500" y="1790700"/>
            <a:ext cx="3381375" cy="904875"/>
          </a:xfrm>
          <a:prstGeom prst="rect">
            <a:avLst/>
          </a:prstGeom>
          <a:noFill/>
          <a:ln w="0">
            <a:noFill/>
          </a:ln>
        </p:spPr>
        <p:txBody>
          <a:bodyPr lIns="0" tIns="0" rIns="0" bIns="0" anchor="t"/>
          <a:lstStyle>
            <a:defPPr>
              <a:defRPr sz="4800" b="1">
                <a:solidFill>
                  <a:srgbClr val="0F9ED5"/>
                </a:solidFill>
                <a:latin typeface="Aptos"/>
                <a:ea typeface="Aptos"/>
                <a:cs typeface="Aptos"/>
              </a:defRPr>
            </a:defPPr>
          </a:lstStyle>
          <a:p>
            <a:pPr>
              <a:buNone/>
              <a:defRPr sz="4800" b="1">
                <a:solidFill>
                  <a:srgbClr val="0F9ED5"/>
                </a:solidFill>
                <a:latin typeface="Aptos"/>
                <a:ea typeface="Aptos"/>
                <a:cs typeface="Aptos"/>
              </a:defRPr>
            </a:pPr>
            <a:r>
              <a:rPr sz="4800" b="1">
                <a:solidFill>
                  <a:srgbClr val="0F9ED5"/>
                </a:solidFill>
                <a:latin typeface="Aptos"/>
                <a:ea typeface="Aptos"/>
                <a:cs typeface="Aptos"/>
              </a:rPr>
              <a:t>24,12%</a:t>
            </a:r>
          </a:p>
        </p:txBody>
      </p:sp>
      <p:sp>
        <p:nvSpPr>
          <p:cNvPr id="6" name="Rectangle 5">
            <a:extLst>
              <a:ext uri="{FF2B5EF4-FFF2-40B4-BE49-F238E27FC236}">
                <a16:creationId xmlns:a16="http://schemas.microsoft.com/office/drawing/2014/main" id="{CAB6B751-EFA3-4A0F-A494-EE9B95F4606A}"/>
              </a:ext>
            </a:extLst>
          </p:cNvPr>
          <p:cNvSpPr>
            <a:spLocks noGrp="1"/>
          </p:cNvSpPr>
          <p:nvPr/>
        </p:nvSpPr>
        <p:spPr>
          <a:xfrm>
            <a:off x="8210550" y="2743200"/>
            <a:ext cx="3238500" cy="7620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lagere RMSE dan de baseline</a:t>
            </a:r>
          </a:p>
        </p:txBody>
      </p:sp>
      <p:sp>
        <p:nvSpPr>
          <p:cNvPr id="7" name="Rectangle 6">
            <a:extLst>
              <a:ext uri="{FF2B5EF4-FFF2-40B4-BE49-F238E27FC236}">
                <a16:creationId xmlns:a16="http://schemas.microsoft.com/office/drawing/2014/main" id="{24E0CC60-E2C4-463E-8188-59AEFEF15E01}"/>
              </a:ext>
            </a:extLst>
          </p:cNvPr>
          <p:cNvSpPr>
            <a:spLocks noGrp="1"/>
          </p:cNvSpPr>
          <p:nvPr/>
        </p:nvSpPr>
        <p:spPr>
          <a:xfrm>
            <a:off x="8210550" y="3876675"/>
            <a:ext cx="3333750" cy="952500"/>
          </a:xfrm>
          <a:prstGeom prst="rect">
            <a:avLst/>
          </a:prstGeom>
          <a:noFill/>
          <a:ln w="0">
            <a:noFill/>
          </a:ln>
        </p:spPr>
        <p:txBody>
          <a:bodyPr lIns="0" tIns="0" rIns="0" bIns="0" anchor="t"/>
          <a:lstStyle>
            <a:defPPr>
              <a:defRPr sz="2250" b="1">
                <a:solidFill>
                  <a:srgbClr val="000000"/>
                </a:solidFill>
                <a:latin typeface="Aptos"/>
                <a:ea typeface="Aptos"/>
                <a:cs typeface="Aptos"/>
              </a:defRPr>
            </a:defPPr>
          </a:lstStyle>
          <a:p>
            <a:pPr>
              <a:buNone/>
              <a:defRPr sz="2250" b="1">
                <a:solidFill>
                  <a:srgbClr val="000000"/>
                </a:solidFill>
                <a:latin typeface="Aptos"/>
                <a:ea typeface="Aptos"/>
                <a:cs typeface="Aptos"/>
              </a:defRPr>
            </a:pPr>
            <a:r>
              <a:rPr sz="2250" b="1">
                <a:solidFill>
                  <a:srgbClr val="000000"/>
                </a:solidFill>
                <a:latin typeface="Aptos"/>
                <a:ea typeface="Aptos"/>
                <a:cs typeface="Aptos"/>
              </a:rPr>
              <a:t>MAE: 1.076,23</a:t>
            </a:r>
            <a:br>
              <a:rPr sz="2250" b="1">
                <a:solidFill>
                  <a:srgbClr val="000000"/>
                </a:solidFill>
                <a:latin typeface="Aptos"/>
                <a:ea typeface="Aptos"/>
                <a:cs typeface="Aptos"/>
              </a:rPr>
            </a:br>
            <a:r>
              <a:rPr sz="2250" b="1">
                <a:solidFill>
                  <a:srgbClr val="000000"/>
                </a:solidFill>
                <a:latin typeface="Aptos"/>
                <a:ea typeface="Aptos"/>
                <a:cs typeface="Aptos"/>
              </a:rPr>
              <a:t>R²: 0,828</a:t>
            </a:r>
          </a:p>
        </p:txBody>
      </p:sp>
      <p:sp>
        <p:nvSpPr>
          <p:cNvPr id="8" name="Rectangle 7">
            <a:extLst>
              <a:ext uri="{FF2B5EF4-FFF2-40B4-BE49-F238E27FC236}">
                <a16:creationId xmlns:a16="http://schemas.microsoft.com/office/drawing/2014/main" id="{430D3F3F-D42B-4112-A1C7-87B6697A3331}"/>
              </a:ext>
            </a:extLst>
          </p:cNvPr>
          <p:cNvSpPr>
            <a:spLocks noGrp="1"/>
          </p:cNvSpPr>
          <p:nvPr/>
        </p:nvSpPr>
        <p:spPr>
          <a:xfrm>
            <a:off x="723900" y="5553075"/>
            <a:ext cx="10572750" cy="400050"/>
          </a:xfrm>
          <a:prstGeom prst="rect">
            <a:avLst/>
          </a:prstGeom>
          <a:noFill/>
          <a:ln w="0">
            <a:noFill/>
          </a:ln>
        </p:spPr>
        <p:txBody>
          <a:bodyPr lIns="0" tIns="0" rIns="0" bIns="0" anchor="t"/>
          <a:lstStyle>
            <a:defPPr>
              <a:defRPr sz="1875" b="0">
                <a:solidFill>
                  <a:srgbClr val="62766E"/>
                </a:solidFill>
                <a:latin typeface="Aptos"/>
                <a:ea typeface="Aptos"/>
                <a:cs typeface="Aptos"/>
              </a:defRPr>
            </a:defPPr>
          </a:lstStyle>
          <a:p>
            <a:pPr>
              <a:buNone/>
              <a:defRPr sz="1875" b="0">
                <a:solidFill>
                  <a:srgbClr val="62766E"/>
                </a:solidFill>
                <a:latin typeface="Aptos"/>
                <a:ea typeface="Aptos"/>
                <a:cs typeface="Aptos"/>
              </a:defRPr>
            </a:pPr>
            <a:r>
              <a:rPr sz="1875" b="0">
                <a:solidFill>
                  <a:srgbClr val="62766E"/>
                </a:solidFill>
                <a:latin typeface="Aptos"/>
                <a:ea typeface="Aptos"/>
                <a:cs typeface="Aptos"/>
              </a:rPr>
              <a:t>Juli–augustus 2026. Alleen de vooraf gekozen winnaar en baseline.</a:t>
            </a:r>
          </a:p>
        </p:txBody>
      </p:sp>
      <p:sp>
        <p:nvSpPr>
          <p:cNvPr id="9" name="Rectangle 8">
            <a:extLst>
              <a:ext uri="{FF2B5EF4-FFF2-40B4-BE49-F238E27FC236}">
                <a16:creationId xmlns:a16="http://schemas.microsoft.com/office/drawing/2014/main" id="{3648A9AD-BF5B-469A-BE8B-6577D8DECE5D}"/>
              </a:ext>
            </a:extLst>
          </p:cNvPr>
          <p:cNvSpPr>
            <a:spLocks noGrp="1"/>
          </p:cNvSpPr>
          <p:nvPr/>
        </p:nvSpPr>
        <p:spPr>
          <a:xfrm>
            <a:off x="723900" y="6038850"/>
            <a:ext cx="10715625" cy="400050"/>
          </a:xfrm>
          <a:prstGeom prst="rect">
            <a:avLst/>
          </a:prstGeom>
          <a:noFill/>
          <a:ln w="0">
            <a:noFill/>
          </a:ln>
        </p:spPr>
        <p:txBody>
          <a:bodyPr lIns="0" tIns="0" rIns="0" bIns="0" anchor="t"/>
          <a:lstStyle>
            <a:defPPr>
              <a:defRPr sz="1725" b="0">
                <a:solidFill>
                  <a:srgbClr val="000000"/>
                </a:solidFill>
                <a:latin typeface="Aptos"/>
                <a:ea typeface="Aptos"/>
                <a:cs typeface="Aptos"/>
              </a:defRPr>
            </a:defPPr>
          </a:lstStyle>
          <a:p>
            <a:pPr>
              <a:buNone/>
              <a:defRPr sz="1725" b="0">
                <a:solidFill>
                  <a:srgbClr val="000000"/>
                </a:solidFill>
                <a:latin typeface="Aptos"/>
                <a:ea typeface="Aptos"/>
                <a:cs typeface="Aptos"/>
              </a:defRPr>
            </a:pPr>
            <a:r>
              <a:rPr sz="1725" b="0">
                <a:solidFill>
                  <a:srgbClr val="000000"/>
                </a:solidFill>
                <a:latin typeface="Aptos"/>
                <a:ea typeface="Aptos"/>
                <a:cs typeface="Aptos"/>
              </a:rPr>
              <a:t>De test blijft een eindrapport. Twee zomermaanden beperken de generalisatieclaim.</a:t>
            </a:r>
          </a:p>
        </p:txBody>
      </p:sp>
    </p:spTree>
    <p:extLst>
      <p:ext uri="{BB962C8B-B14F-4D97-AF65-F5344CB8AC3E}">
        <p14:creationId xmlns:p14="http://schemas.microsoft.com/office/powerpoint/2010/main" val="5739924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C0F10A4-FDBD-48E0-B451-31323102B50C}"/>
              </a:ext>
            </a:extLst>
          </p:cNvPr>
          <p:cNvSpPr>
            <a:spLocks noGrp="1"/>
          </p:cNvSpPr>
          <p:nvPr/>
        </p:nvSpPr>
        <p:spPr>
          <a:xfrm>
            <a:off x="685800" y="323850"/>
            <a:ext cx="10001250" cy="285750"/>
          </a:xfrm>
          <a:prstGeom prst="rect">
            <a:avLst/>
          </a:prstGeom>
          <a:noFill/>
          <a:ln w="0">
            <a:noFill/>
          </a:ln>
        </p:spPr>
        <p:txBody>
          <a:bodyPr lIns="0" tIns="0" rIns="0" bIns="0" anchor="t"/>
          <a:lstStyle>
            <a:defPPr>
              <a:defRPr sz="1425" b="1">
                <a:solidFill>
                  <a:srgbClr val="0F9ED5"/>
                </a:solidFill>
                <a:latin typeface="Aptos"/>
                <a:ea typeface="Aptos"/>
                <a:cs typeface="Aptos"/>
              </a:defRPr>
            </a:defPPr>
          </a:lstStyle>
          <a:p>
            <a:pPr>
              <a:buNone/>
              <a:defRPr sz="1425" b="1">
                <a:solidFill>
                  <a:srgbClr val="0F9ED5"/>
                </a:solidFill>
                <a:latin typeface="Aptos"/>
                <a:ea typeface="Aptos"/>
                <a:cs typeface="Aptos"/>
              </a:defRPr>
            </a:pPr>
            <a:r>
              <a:rPr sz="1425" b="1">
                <a:solidFill>
                  <a:srgbClr val="0F9ED5"/>
                </a:solidFill>
                <a:latin typeface="Aptos"/>
                <a:ea typeface="Aptos"/>
                <a:cs typeface="Aptos"/>
              </a:rPr>
              <a:t>CONCLUSIE</a:t>
            </a:r>
          </a:p>
        </p:txBody>
      </p:sp>
      <p:sp>
        <p:nvSpPr>
          <p:cNvPr id="2" name="Rectangle 1">
            <a:extLst>
              <a:ext uri="{FF2B5EF4-FFF2-40B4-BE49-F238E27FC236}">
                <a16:creationId xmlns:a16="http://schemas.microsoft.com/office/drawing/2014/main" id="{251781FD-7A68-4C3B-A03B-08845D8DA93B}"/>
              </a:ext>
            </a:extLst>
          </p:cNvPr>
          <p:cNvSpPr>
            <a:spLocks noGrp="1"/>
          </p:cNvSpPr>
          <p:nvPr/>
        </p:nvSpPr>
        <p:spPr>
          <a:xfrm>
            <a:off x="685800" y="781050"/>
            <a:ext cx="10820400" cy="628650"/>
          </a:xfrm>
          <a:prstGeom prst="rect">
            <a:avLst/>
          </a:prstGeom>
          <a:noFill/>
          <a:ln w="0">
            <a:noFill/>
          </a:ln>
        </p:spPr>
        <p:txBody>
          <a:bodyPr lIns="0" tIns="0" rIns="0" bIns="0" anchor="t"/>
          <a:lstStyle>
            <a:defPPr>
              <a:defRPr sz="3300" b="1">
                <a:solidFill>
                  <a:srgbClr val="000000"/>
                </a:solidFill>
                <a:latin typeface="Aptos"/>
                <a:ea typeface="Aptos"/>
                <a:cs typeface="Aptos"/>
              </a:defRPr>
            </a:defPPr>
          </a:lstStyle>
          <a:p>
            <a:pPr>
              <a:buNone/>
              <a:defRPr sz="3300" b="1">
                <a:solidFill>
                  <a:srgbClr val="000000"/>
                </a:solidFill>
                <a:latin typeface="Aptos"/>
                <a:ea typeface="Aptos"/>
                <a:cs typeface="Aptos"/>
              </a:defRPr>
            </a:pPr>
            <a:r>
              <a:rPr sz="3300" b="1">
                <a:solidFill>
                  <a:srgbClr val="000000"/>
                </a:solidFill>
                <a:latin typeface="Aptos"/>
                <a:ea typeface="Aptos"/>
                <a:cs typeface="Aptos"/>
              </a:rPr>
              <a:t>Mijn resultaat en de volgende stap</a:t>
            </a:r>
          </a:p>
        </p:txBody>
      </p:sp>
      <p:sp>
        <p:nvSpPr>
          <p:cNvPr id="3" name="Rectangle 2">
            <a:extLst>
              <a:ext uri="{FF2B5EF4-FFF2-40B4-BE49-F238E27FC236}">
                <a16:creationId xmlns:a16="http://schemas.microsoft.com/office/drawing/2014/main" id="{5F25B884-6878-444D-A3A9-349B7DDCDBC8}"/>
              </a:ext>
            </a:extLst>
          </p:cNvPr>
          <p:cNvSpPr>
            <a:spLocks noGrp="1"/>
          </p:cNvSpPr>
          <p:nvPr/>
        </p:nvSpPr>
        <p:spPr>
          <a:xfrm>
            <a:off x="11239500" y="6419850"/>
            <a:ext cx="381000" cy="238125"/>
          </a:xfrm>
          <a:prstGeom prst="rect">
            <a:avLst/>
          </a:prstGeom>
          <a:noFill/>
          <a:ln w="0">
            <a:noFill/>
          </a:ln>
        </p:spPr>
        <p:txBody>
          <a:bodyPr lIns="0" tIns="0" rIns="0" bIns="0" anchor="t"/>
          <a:lstStyle>
            <a:defPPr>
              <a:defRPr sz="1350" b="0">
                <a:solidFill>
                  <a:srgbClr val="62766E"/>
                </a:solidFill>
                <a:latin typeface="Aptos"/>
                <a:ea typeface="Aptos"/>
                <a:cs typeface="Aptos"/>
              </a:defRPr>
            </a:defPPr>
          </a:lstStyle>
          <a:p>
            <a:pPr>
              <a:buNone/>
              <a:defRPr sz="1350" b="0">
                <a:solidFill>
                  <a:srgbClr val="62766E"/>
                </a:solidFill>
                <a:latin typeface="Aptos"/>
                <a:ea typeface="Aptos"/>
                <a:cs typeface="Aptos"/>
              </a:defRPr>
            </a:pPr>
            <a:r>
              <a:rPr sz="1350" b="0">
                <a:solidFill>
                  <a:srgbClr val="62766E"/>
                </a:solidFill>
                <a:latin typeface="Aptos"/>
                <a:ea typeface="Aptos"/>
                <a:cs typeface="Aptos"/>
              </a:rPr>
              <a:t>9</a:t>
            </a:r>
          </a:p>
        </p:txBody>
      </p:sp>
      <p:pic>
        <p:nvPicPr>
          <p:cNvPr id="4" name="Picture 3">
            <a:extLst>
              <a:ext uri="{FF2B5EF4-FFF2-40B4-BE49-F238E27FC236}">
                <a16:creationId xmlns:a16="http://schemas.microsoft.com/office/drawing/2014/main" id="{B9EB0C68-E8DA-430F-9C30-0072995DBF77}"/>
              </a:ext>
            </a:extLst>
          </p:cNvPr>
          <p:cNvPicPr>
            <a:picLocks noChangeAspect="1"/>
          </p:cNvPicPr>
          <p:nvPr/>
        </p:nvPicPr>
        <p:blipFill>
          <a:blip r:embed="rId3"/>
          <a:stretch/>
        </p:blipFill>
        <p:spPr>
          <a:xfrm>
            <a:off x="719349" y="1590675"/>
            <a:ext cx="3266651" cy="4572000"/>
          </a:xfrm>
          <a:prstGeom prst="rect">
            <a:avLst/>
          </a:prstGeom>
        </p:spPr>
      </p:pic>
      <p:sp>
        <p:nvSpPr>
          <p:cNvPr id="5" name="Rectangle 4">
            <a:extLst>
              <a:ext uri="{FF2B5EF4-FFF2-40B4-BE49-F238E27FC236}">
                <a16:creationId xmlns:a16="http://schemas.microsoft.com/office/drawing/2014/main" id="{FCE6EFB6-51EB-479D-8E40-83AC05233601}"/>
              </a:ext>
            </a:extLst>
          </p:cNvPr>
          <p:cNvSpPr>
            <a:spLocks noGrp="1"/>
          </p:cNvSpPr>
          <p:nvPr/>
        </p:nvSpPr>
        <p:spPr>
          <a:xfrm>
            <a:off x="4724400" y="1714500"/>
            <a:ext cx="6667500" cy="476250"/>
          </a:xfrm>
          <a:prstGeom prst="rect">
            <a:avLst/>
          </a:prstGeom>
          <a:noFill/>
          <a:ln w="0">
            <a:noFill/>
          </a:ln>
        </p:spPr>
        <p:txBody>
          <a:bodyPr lIns="0" tIns="0" rIns="0" bIns="0" anchor="t"/>
          <a:lstStyle>
            <a:defPPr>
              <a:defRPr sz="2475" b="1">
                <a:solidFill>
                  <a:srgbClr val="0F9ED5"/>
                </a:solidFill>
                <a:latin typeface="Aptos"/>
                <a:ea typeface="Aptos"/>
                <a:cs typeface="Aptos"/>
              </a:defRPr>
            </a:defPPr>
          </a:lstStyle>
          <a:p>
            <a:pPr>
              <a:buNone/>
              <a:defRPr sz="2475" b="1">
                <a:solidFill>
                  <a:srgbClr val="0F9ED5"/>
                </a:solidFill>
                <a:latin typeface="Aptos"/>
                <a:ea typeface="Aptos"/>
                <a:cs typeface="Aptos"/>
              </a:defRPr>
            </a:pPr>
            <a:r>
              <a:rPr sz="2475" b="1">
                <a:solidFill>
                  <a:srgbClr val="0F9ED5"/>
                </a:solidFill>
                <a:latin typeface="Aptos"/>
                <a:ea typeface="Aptos"/>
                <a:cs typeface="Aptos"/>
              </a:rPr>
              <a:t>Werkende frontend en API</a:t>
            </a:r>
          </a:p>
        </p:txBody>
      </p:sp>
      <p:sp>
        <p:nvSpPr>
          <p:cNvPr id="6" name="Rectangle 5">
            <a:extLst>
              <a:ext uri="{FF2B5EF4-FFF2-40B4-BE49-F238E27FC236}">
                <a16:creationId xmlns:a16="http://schemas.microsoft.com/office/drawing/2014/main" id="{331F9F9B-95A6-416E-BDD9-76BCC0F54FDE}"/>
              </a:ext>
            </a:extLst>
          </p:cNvPr>
          <p:cNvSpPr>
            <a:spLocks noGrp="1"/>
          </p:cNvSpPr>
          <p:nvPr/>
        </p:nvSpPr>
        <p:spPr>
          <a:xfrm>
            <a:off x="4724400" y="2457450"/>
            <a:ext cx="6667500" cy="1476375"/>
          </a:xfrm>
          <a:prstGeom prst="rect">
            <a:avLst/>
          </a:prstGeom>
          <a:noFill/>
          <a:ln w="0">
            <a:noFill/>
          </a:ln>
        </p:spPr>
        <p:txBody>
          <a:bodyPr lIns="0" tIns="0" rIns="0" bIns="0" anchor="t"/>
          <a:lstStyle>
            <a:defPPr>
              <a:defRPr sz="2100" b="0">
                <a:solidFill>
                  <a:srgbClr val="000000"/>
                </a:solidFill>
                <a:latin typeface="Aptos"/>
                <a:ea typeface="Aptos"/>
                <a:cs typeface="Aptos"/>
              </a:defRPr>
            </a:defPPr>
          </a:lstStyle>
          <a:p>
            <a:pPr>
              <a:buNone/>
              <a:defRPr sz="2100" b="0">
                <a:solidFill>
                  <a:srgbClr val="000000"/>
                </a:solidFill>
                <a:latin typeface="Aptos"/>
                <a:ea typeface="Aptos"/>
                <a:cs typeface="Aptos"/>
              </a:defRPr>
            </a:pPr>
            <a:r>
              <a:rPr sz="2100" b="0">
                <a:solidFill>
                  <a:srgbClr val="000000"/>
                </a:solidFill>
                <a:latin typeface="Aptos"/>
                <a:ea typeface="Aptos"/>
                <a:cs typeface="Aptos"/>
              </a:rPr>
              <a:t>Dezelfde voorspelfunctie als offline</a:t>
            </a:r>
            <a:br>
              <a:rPr sz="2100" b="0">
                <a:solidFill>
                  <a:srgbClr val="000000"/>
                </a:solidFill>
                <a:latin typeface="Aptos"/>
                <a:ea typeface="Aptos"/>
                <a:cs typeface="Aptos"/>
              </a:rPr>
            </a:br>
            <a:br>
              <a:rPr sz="2100" b="0">
                <a:solidFill>
                  <a:srgbClr val="000000"/>
                </a:solidFill>
                <a:latin typeface="Aptos"/>
                <a:ea typeface="Aptos"/>
                <a:cs typeface="Aptos"/>
              </a:rPr>
            </a:br>
            <a:r>
              <a:rPr sz="2100" b="0">
                <a:solidFill>
                  <a:srgbClr val="000000"/>
                </a:solidFill>
                <a:latin typeface="Aptos"/>
                <a:ea typeface="Aptos"/>
                <a:cs typeface="Aptos"/>
              </a:rPr>
              <a:t>Gecontroleerde lokale RF-hertraining</a:t>
            </a:r>
            <a:br>
              <a:rPr sz="2100" b="0">
                <a:solidFill>
                  <a:srgbClr val="000000"/>
                </a:solidFill>
                <a:latin typeface="Aptos"/>
                <a:ea typeface="Aptos"/>
                <a:cs typeface="Aptos"/>
              </a:rPr>
            </a:br>
            <a:r>
              <a:rPr sz="2100" b="0">
                <a:solidFill>
                  <a:srgbClr val="000000"/>
                </a:solidFill>
                <a:latin typeface="Aptos"/>
                <a:ea typeface="Aptos"/>
                <a:cs typeface="Aptos"/>
              </a:rPr>
              <a:t>met een apart modelartefact</a:t>
            </a:r>
          </a:p>
        </p:txBody>
      </p:sp>
      <p:sp>
        <p:nvSpPr>
          <p:cNvPr id="7" name="Rectangle 6">
            <a:extLst>
              <a:ext uri="{FF2B5EF4-FFF2-40B4-BE49-F238E27FC236}">
                <a16:creationId xmlns:a16="http://schemas.microsoft.com/office/drawing/2014/main" id="{5F6B7D22-A0B9-435C-BA19-01301DA5C1D8}"/>
              </a:ext>
            </a:extLst>
          </p:cNvPr>
          <p:cNvSpPr>
            <a:spLocks noGrp="1"/>
          </p:cNvSpPr>
          <p:nvPr/>
        </p:nvSpPr>
        <p:spPr>
          <a:xfrm>
            <a:off x="4724400" y="4248150"/>
            <a:ext cx="6667500" cy="438150"/>
          </a:xfrm>
          <a:prstGeom prst="rect">
            <a:avLst/>
          </a:prstGeom>
          <a:noFill/>
          <a:ln w="0">
            <a:noFill/>
          </a:ln>
        </p:spPr>
        <p:txBody>
          <a:bodyPr lIns="0" tIns="0" rIns="0" bIns="0" anchor="t"/>
          <a:lstStyle>
            <a:defPPr>
              <a:defRPr sz="2250" b="1">
                <a:solidFill>
                  <a:srgbClr val="000000"/>
                </a:solidFill>
                <a:latin typeface="Aptos"/>
                <a:ea typeface="Aptos"/>
                <a:cs typeface="Aptos"/>
              </a:defRPr>
            </a:defPPr>
          </a:lstStyle>
          <a:p>
            <a:pPr>
              <a:buNone/>
              <a:defRPr sz="2250" b="1">
                <a:solidFill>
                  <a:srgbClr val="000000"/>
                </a:solidFill>
                <a:latin typeface="Aptos"/>
                <a:ea typeface="Aptos"/>
                <a:cs typeface="Aptos"/>
              </a:defRPr>
            </a:pPr>
            <a:r>
              <a:rPr sz="2250" b="1">
                <a:solidFill>
                  <a:srgbClr val="000000"/>
                </a:solidFill>
                <a:latin typeface="Aptos"/>
                <a:ea typeface="Aptos"/>
                <a:cs typeface="Aptos"/>
              </a:rPr>
              <a:t>Groepsintegratie</a:t>
            </a:r>
          </a:p>
        </p:txBody>
      </p:sp>
      <p:sp>
        <p:nvSpPr>
          <p:cNvPr id="8" name="Rectangle 7">
            <a:extLst>
              <a:ext uri="{FF2B5EF4-FFF2-40B4-BE49-F238E27FC236}">
                <a16:creationId xmlns:a16="http://schemas.microsoft.com/office/drawing/2014/main" id="{92A48D01-10FC-40AB-8351-2F97F94DA0E0}"/>
              </a:ext>
            </a:extLst>
          </p:cNvPr>
          <p:cNvSpPr>
            <a:spLocks noGrp="1"/>
          </p:cNvSpPr>
          <p:nvPr/>
        </p:nvSpPr>
        <p:spPr>
          <a:xfrm>
            <a:off x="4724400" y="4829175"/>
            <a:ext cx="6667500" cy="1238250"/>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GitHub Actions: Mushroom getest</a:t>
            </a:r>
          </a:p>
          <a:p>
            <a:pPr>
              <a:buNone/>
              <a:defRPr sz="1950" b="0">
                <a:solidFill>
                  <a:srgbClr val="000000"/>
                </a:solidFill>
                <a:latin typeface="Aptos"/>
                <a:ea typeface="Aptos"/>
                <a:cs typeface="Aptos"/>
              </a:defRPr>
            </a:pPr>
            <a:r>
              <a:rPr sz="1950" b="0">
                <a:solidFill>
                  <a:srgbClr val="000000"/>
                </a:solidFill>
                <a:latin typeface="Aptos"/>
                <a:ea typeface="Aptos"/>
                <a:cs typeface="Aptos"/>
              </a:rPr>
              <a:t>Render + Netlify publiceren</a:t>
            </a:r>
          </a:p>
          <a:p>
            <a:pPr>
              <a:buNone/>
              <a:defRPr sz="1950" b="0">
                <a:solidFill>
                  <a:srgbClr val="000000"/>
                </a:solidFill>
                <a:latin typeface="Aptos"/>
                <a:ea typeface="Aptos"/>
                <a:cs typeface="Aptos"/>
              </a:defRPr>
            </a:pPr>
            <a:r>
              <a:rPr sz="1950" b="0">
                <a:solidFill>
                  <a:srgbClr val="000000"/>
                </a:solidFill>
                <a:latin typeface="Aptos"/>
                <a:ea typeface="Aptos"/>
                <a:cs typeface="Aptos"/>
              </a:rPr>
              <a:t>AWS: Mushroom-run gecontroleerd</a:t>
            </a:r>
          </a:p>
        </p:txBody>
      </p:sp>
    </p:spTree>
    <p:extLst>
      <p:ext uri="{BB962C8B-B14F-4D97-AF65-F5344CB8AC3E}">
        <p14:creationId xmlns:p14="http://schemas.microsoft.com/office/powerpoint/2010/main" val="807686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74B0B678-CD10-4371-96E5-2706F4579FAD}"/>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4" name="Rectangle 73">
            <a:extLst>
              <a:ext uri="{FF2B5EF4-FFF2-40B4-BE49-F238E27FC236}">
                <a16:creationId xmlns:a16="http://schemas.microsoft.com/office/drawing/2014/main" id="{8A3838D5-9565-4601-BAC3-D1B5BDB803ED}"/>
              </a:ext>
            </a:extLst>
          </p:cNvPr>
          <p:cNvSpPr>
            <a:spLocks noGrp="1"/>
          </p:cNvSpPr>
          <p:nvPr/>
        </p:nvSpPr>
        <p:spPr>
          <a:xfrm rot="5400000">
            <a:off x="3032052" y="2878474"/>
            <a:ext cx="816039" cy="10280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5" name="Rectangle 74">
            <a:extLst>
              <a:ext uri="{FF2B5EF4-FFF2-40B4-BE49-F238E27FC236}">
                <a16:creationId xmlns:a16="http://schemas.microsoft.com/office/drawing/2014/main" id="{3349A4B8-3246-4579-922E-FE1155C7F08C}"/>
              </a:ext>
            </a:extLst>
          </p:cNvPr>
          <p:cNvSpPr>
            <a:spLocks noGrp="1"/>
          </p:cNvSpPr>
          <p:nvPr/>
        </p:nvSpPr>
        <p:spPr>
          <a:xfrm flipH="1" flipV="1">
            <a:off x="-2340441" y="2666504"/>
            <a:ext cx="5608997" cy="52739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7" name="Rectangle 76">
            <a:extLst>
              <a:ext uri="{FF2B5EF4-FFF2-40B4-BE49-F238E27FC236}">
                <a16:creationId xmlns:a16="http://schemas.microsoft.com/office/drawing/2014/main" id="{CBC4F608-B4B8-48C3-9572-C0F061B1CD99}"/>
              </a:ext>
            </a:extLst>
          </p:cNvPr>
          <p:cNvSpPr>
            <a:spLocks noGrp="1"/>
          </p:cNvSpPr>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9" name="Rectangle 78">
            <a:extLst>
              <a:ext uri="{FF2B5EF4-FFF2-40B4-BE49-F238E27FC236}">
                <a16:creationId xmlns:a16="http://schemas.microsoft.com/office/drawing/2014/main" id="{1382A32C-5B0C-4B1C-A074-76C6DBCC9F87}"/>
              </a:ext>
            </a:extLst>
          </p:cNvPr>
          <p:cNvSpPr>
            <a:spLocks noGrp="1"/>
          </p:cNvSpPr>
          <p:nvPr/>
        </p:nvSpPr>
        <p:spPr>
          <a:xfrm flipH="1">
            <a:off x="5957331" y="2188548"/>
            <a:ext cx="5041025"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80" name="content-5">
            <a:extLst>
              <a:ext uri="{FF2B5EF4-FFF2-40B4-BE49-F238E27FC236}">
                <a16:creationId xmlns:a16="http://schemas.microsoft.com/office/drawing/2014/main" id="{C64DE780-9FE7-4F56-8489-7FDEF763A5A3}"/>
              </a:ext>
            </a:extLst>
          </p:cNvPr>
          <p:cNvSpPr>
            <a:spLocks noGrp="1"/>
          </p:cNvSpPr>
          <p:nvPr/>
        </p:nvSpPr>
        <p:spPr>
          <a:xfrm>
            <a:off x="5953125" y="971550"/>
            <a:ext cx="5143500" cy="1047750"/>
          </a:xfrm>
          <a:prstGeom prst="rect">
            <a:avLst/>
          </a:prstGeom>
          <a:noFill/>
          <a:ln w="0">
            <a:noFill/>
          </a:ln>
        </p:spPr>
        <p:txBody>
          <a:bodyPr lIns="0" tIns="0" rIns="0" bIns="0" anchor="t"/>
          <a:lstStyle>
            <a:defPPr>
              <a:defRPr sz="3300" b="0">
                <a:solidFill>
                  <a:srgbClr val="000000"/>
                </a:solidFill>
                <a:latin typeface="Aptos Display"/>
                <a:ea typeface="Aptos Display"/>
                <a:cs typeface="Aptos Display"/>
              </a:defRPr>
            </a:defPPr>
          </a:lstStyle>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Deployment -</a:t>
            </a:r>
          </a:p>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API and website</a:t>
            </a:r>
          </a:p>
        </p:txBody>
      </p:sp>
      <p:sp>
        <p:nvSpPr>
          <p:cNvPr id="81" name="content-6">
            <a:extLst>
              <a:ext uri="{FF2B5EF4-FFF2-40B4-BE49-F238E27FC236}">
                <a16:creationId xmlns:a16="http://schemas.microsoft.com/office/drawing/2014/main" id="{AA80BDE5-9735-4F6D-862A-D8EDBAF6F238}"/>
              </a:ext>
            </a:extLst>
          </p:cNvPr>
          <p:cNvSpPr>
            <a:spLocks noGrp="1"/>
          </p:cNvSpPr>
          <p:nvPr/>
        </p:nvSpPr>
        <p:spPr>
          <a:xfrm>
            <a:off x="1000125" y="1809750"/>
            <a:ext cx="4429125" cy="6858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Frontend: HTML / CSS / JavaScript</a:t>
            </a:r>
          </a:p>
        </p:txBody>
      </p:sp>
      <p:sp>
        <p:nvSpPr>
          <p:cNvPr id="82" name="content-7">
            <a:extLst>
              <a:ext uri="{FF2B5EF4-FFF2-40B4-BE49-F238E27FC236}">
                <a16:creationId xmlns:a16="http://schemas.microsoft.com/office/drawing/2014/main" id="{A5F54713-059F-4259-B981-CE4D67789B6C}"/>
              </a:ext>
            </a:extLst>
          </p:cNvPr>
          <p:cNvSpPr>
            <a:spLocks noGrp="1"/>
          </p:cNvSpPr>
          <p:nvPr/>
        </p:nvSpPr>
        <p:spPr>
          <a:xfrm>
            <a:off x="1000125" y="2571750"/>
            <a:ext cx="4429125" cy="6858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Backend: Python + FastAPI</a:t>
            </a:r>
          </a:p>
        </p:txBody>
      </p:sp>
      <p:sp>
        <p:nvSpPr>
          <p:cNvPr id="83" name="content-8">
            <a:extLst>
              <a:ext uri="{FF2B5EF4-FFF2-40B4-BE49-F238E27FC236}">
                <a16:creationId xmlns:a16="http://schemas.microsoft.com/office/drawing/2014/main" id="{1977A639-A95A-4C1E-9F57-65DCA17E3B64}"/>
              </a:ext>
            </a:extLst>
          </p:cNvPr>
          <p:cNvSpPr>
            <a:spLocks noGrp="1"/>
          </p:cNvSpPr>
          <p:nvPr/>
        </p:nvSpPr>
        <p:spPr>
          <a:xfrm>
            <a:off x="1000125" y="3333750"/>
            <a:ext cx="4429125" cy="6858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Hosting: Netlify + Render</a:t>
            </a:r>
          </a:p>
        </p:txBody>
      </p:sp>
      <p:sp>
        <p:nvSpPr>
          <p:cNvPr id="84" name="content-9">
            <a:extLst>
              <a:ext uri="{FF2B5EF4-FFF2-40B4-BE49-F238E27FC236}">
                <a16:creationId xmlns:a16="http://schemas.microsoft.com/office/drawing/2014/main" id="{87CD5D9E-CAA9-4381-99B4-D0638EFBD2A0}"/>
              </a:ext>
            </a:extLst>
          </p:cNvPr>
          <p:cNvSpPr>
            <a:spLocks noGrp="1"/>
          </p:cNvSpPr>
          <p:nvPr/>
        </p:nvSpPr>
        <p:spPr>
          <a:xfrm>
            <a:off x="1000125" y="4095750"/>
            <a:ext cx="4429125" cy="6858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Two models, one API</a:t>
            </a:r>
          </a:p>
        </p:txBody>
      </p:sp>
      <p:sp>
        <p:nvSpPr>
          <p:cNvPr id="85" name="content-10">
            <a:extLst>
              <a:ext uri="{FF2B5EF4-FFF2-40B4-BE49-F238E27FC236}">
                <a16:creationId xmlns:a16="http://schemas.microsoft.com/office/drawing/2014/main" id="{190BEE10-4DA4-414A-A0BD-2EB064A727AB}"/>
              </a:ext>
            </a:extLst>
          </p:cNvPr>
          <p:cNvSpPr>
            <a:spLocks noGrp="1"/>
          </p:cNvSpPr>
          <p:nvPr/>
        </p:nvSpPr>
        <p:spPr>
          <a:xfrm>
            <a:off x="5953125" y="2762250"/>
            <a:ext cx="5143500" cy="6477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User enters model features</a:t>
            </a:r>
          </a:p>
        </p:txBody>
      </p:sp>
      <p:sp>
        <p:nvSpPr>
          <p:cNvPr id="86" name="content-11">
            <a:extLst>
              <a:ext uri="{FF2B5EF4-FFF2-40B4-BE49-F238E27FC236}">
                <a16:creationId xmlns:a16="http://schemas.microsoft.com/office/drawing/2014/main" id="{38DF7102-4C23-471A-9A46-CC0E32D76335}"/>
              </a:ext>
            </a:extLst>
          </p:cNvPr>
          <p:cNvSpPr>
            <a:spLocks noGrp="1"/>
          </p:cNvSpPr>
          <p:nvPr/>
        </p:nvSpPr>
        <p:spPr>
          <a:xfrm>
            <a:off x="5953125" y="3486150"/>
            <a:ext cx="5143500" cy="6477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API validates the input</a:t>
            </a:r>
          </a:p>
        </p:txBody>
      </p:sp>
      <p:sp>
        <p:nvSpPr>
          <p:cNvPr id="87" name="content-12">
            <a:extLst>
              <a:ext uri="{FF2B5EF4-FFF2-40B4-BE49-F238E27FC236}">
                <a16:creationId xmlns:a16="http://schemas.microsoft.com/office/drawing/2014/main" id="{390223B4-AA68-4F55-B4CA-781A74763604}"/>
              </a:ext>
            </a:extLst>
          </p:cNvPr>
          <p:cNvSpPr>
            <a:spLocks noGrp="1"/>
          </p:cNvSpPr>
          <p:nvPr/>
        </p:nvSpPr>
        <p:spPr>
          <a:xfrm>
            <a:off x="5953125" y="4210050"/>
            <a:ext cx="5143500" cy="6477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Selected model predicts</a:t>
            </a:r>
          </a:p>
        </p:txBody>
      </p:sp>
      <p:sp>
        <p:nvSpPr>
          <p:cNvPr id="88" name="content-13">
            <a:extLst>
              <a:ext uri="{FF2B5EF4-FFF2-40B4-BE49-F238E27FC236}">
                <a16:creationId xmlns:a16="http://schemas.microsoft.com/office/drawing/2014/main" id="{1D8F9702-E77A-4DC0-950A-42EFF5DF5760}"/>
              </a:ext>
            </a:extLst>
          </p:cNvPr>
          <p:cNvSpPr>
            <a:spLocks noGrp="1"/>
          </p:cNvSpPr>
          <p:nvPr/>
        </p:nvSpPr>
        <p:spPr>
          <a:xfrm>
            <a:off x="5953125" y="4933950"/>
            <a:ext cx="5143500" cy="6477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Website displays the result</a:t>
            </a:r>
          </a:p>
        </p:txBody>
      </p:sp>
      <p:sp>
        <p:nvSpPr>
          <p:cNvPr id="89" name="content-14">
            <a:extLst>
              <a:ext uri="{FF2B5EF4-FFF2-40B4-BE49-F238E27FC236}">
                <a16:creationId xmlns:a16="http://schemas.microsoft.com/office/drawing/2014/main" id="{C2679223-9257-477F-879B-192644C524EB}"/>
              </a:ext>
            </a:extLst>
          </p:cNvPr>
          <p:cNvSpPr>
            <a:spLocks noGrp="1"/>
          </p:cNvSpPr>
          <p:nvPr/>
        </p:nvSpPr>
        <p:spPr>
          <a:xfrm>
            <a:off x="1028700" y="5381625"/>
            <a:ext cx="4476750" cy="476250"/>
          </a:xfrm>
          <a:prstGeom prst="rect">
            <a:avLst/>
          </a:prstGeom>
          <a:noFill/>
          <a:ln w="0">
            <a:noFill/>
          </a:ln>
        </p:spPr>
        <p:txBody>
          <a:bodyPr lIns="0" tIns="0" rIns="0" bIns="0" anchor="t"/>
          <a:lstStyle>
            <a:defPPr>
              <a:defRPr sz="2100" b="0">
                <a:solidFill>
                  <a:srgbClr val="0F9ED5"/>
                </a:solidFill>
                <a:latin typeface="Aptos"/>
                <a:ea typeface="Aptos"/>
                <a:cs typeface="Aptos"/>
              </a:defRPr>
            </a:defPPr>
          </a:lstStyle>
          <a:p>
            <a:pPr>
              <a:buNone/>
              <a:defRPr sz="2100" b="0">
                <a:solidFill>
                  <a:srgbClr val="0F9ED5"/>
                </a:solidFill>
                <a:latin typeface="Aptos"/>
                <a:ea typeface="Aptos"/>
                <a:cs typeface="Aptos"/>
              </a:defRPr>
            </a:pPr>
            <a:r>
              <a:rPr sz="2100" b="0">
                <a:solidFill>
                  <a:srgbClr val="0F9ED5"/>
                </a:solidFill>
                <a:latin typeface="Aptos"/>
                <a:ea typeface="Aptos"/>
                <a:cs typeface="Aptos"/>
              </a:rPr>
              <a:t>10messi10.netlify.app</a:t>
            </a:r>
          </a:p>
        </p:txBody>
      </p:sp>
    </p:spTree>
    <p:extLst>
      <p:ext uri="{BB962C8B-B14F-4D97-AF65-F5344CB8AC3E}">
        <p14:creationId xmlns:p14="http://schemas.microsoft.com/office/powerpoint/2010/main" val="30760030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74B0B678-CD10-4371-96E5-2706F4579FAD}"/>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4" name="Rectangle 73">
            <a:extLst>
              <a:ext uri="{FF2B5EF4-FFF2-40B4-BE49-F238E27FC236}">
                <a16:creationId xmlns:a16="http://schemas.microsoft.com/office/drawing/2014/main" id="{8A3838D5-9565-4601-BAC3-D1B5BDB803ED}"/>
              </a:ext>
            </a:extLst>
          </p:cNvPr>
          <p:cNvSpPr>
            <a:spLocks noGrp="1"/>
          </p:cNvSpPr>
          <p:nvPr/>
        </p:nvSpPr>
        <p:spPr>
          <a:xfrm rot="5400000">
            <a:off x="3032052" y="2878474"/>
            <a:ext cx="816039" cy="10280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5" name="Rectangle 74">
            <a:extLst>
              <a:ext uri="{FF2B5EF4-FFF2-40B4-BE49-F238E27FC236}">
                <a16:creationId xmlns:a16="http://schemas.microsoft.com/office/drawing/2014/main" id="{3349A4B8-3246-4579-922E-FE1155C7F08C}"/>
              </a:ext>
            </a:extLst>
          </p:cNvPr>
          <p:cNvSpPr>
            <a:spLocks noGrp="1"/>
          </p:cNvSpPr>
          <p:nvPr/>
        </p:nvSpPr>
        <p:spPr>
          <a:xfrm flipH="1" flipV="1">
            <a:off x="-2340441" y="2666504"/>
            <a:ext cx="5608997" cy="52739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7" name="Rectangle 76">
            <a:extLst>
              <a:ext uri="{FF2B5EF4-FFF2-40B4-BE49-F238E27FC236}">
                <a16:creationId xmlns:a16="http://schemas.microsoft.com/office/drawing/2014/main" id="{CBC4F608-B4B8-48C3-9572-C0F061B1CD99}"/>
              </a:ext>
            </a:extLst>
          </p:cNvPr>
          <p:cNvSpPr>
            <a:spLocks noGrp="1"/>
          </p:cNvSpPr>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9" name="Rectangle 78">
            <a:extLst>
              <a:ext uri="{FF2B5EF4-FFF2-40B4-BE49-F238E27FC236}">
                <a16:creationId xmlns:a16="http://schemas.microsoft.com/office/drawing/2014/main" id="{1382A32C-5B0C-4B1C-A074-76C6DBCC9F87}"/>
              </a:ext>
            </a:extLst>
          </p:cNvPr>
          <p:cNvSpPr>
            <a:spLocks noGrp="1"/>
          </p:cNvSpPr>
          <p:nvPr/>
        </p:nvSpPr>
        <p:spPr>
          <a:xfrm flipH="1">
            <a:off x="5957331" y="2188548"/>
            <a:ext cx="5041025"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80" name="content-5">
            <a:extLst>
              <a:ext uri="{FF2B5EF4-FFF2-40B4-BE49-F238E27FC236}">
                <a16:creationId xmlns:a16="http://schemas.microsoft.com/office/drawing/2014/main" id="{86E178A8-0F89-4BEE-8E88-1C0417067FB8}"/>
              </a:ext>
            </a:extLst>
          </p:cNvPr>
          <p:cNvSpPr>
            <a:spLocks noGrp="1"/>
          </p:cNvSpPr>
          <p:nvPr/>
        </p:nvSpPr>
        <p:spPr>
          <a:xfrm>
            <a:off x="5953125" y="971550"/>
            <a:ext cx="5143500" cy="1047750"/>
          </a:xfrm>
          <a:prstGeom prst="rect">
            <a:avLst/>
          </a:prstGeom>
          <a:noFill/>
          <a:ln w="0">
            <a:noFill/>
          </a:ln>
        </p:spPr>
        <p:txBody>
          <a:bodyPr lIns="0" tIns="0" rIns="0" bIns="0" anchor="t"/>
          <a:lstStyle>
            <a:defPPr>
              <a:defRPr sz="3300" b="0">
                <a:solidFill>
                  <a:srgbClr val="000000"/>
                </a:solidFill>
                <a:latin typeface="Aptos Display"/>
                <a:ea typeface="Aptos Display"/>
                <a:cs typeface="Aptos Display"/>
              </a:defRPr>
            </a:defPPr>
          </a:lstStyle>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GitHub -</a:t>
            </a:r>
          </a:p>
          <a:p>
            <a:pPr>
              <a:buNone/>
              <a:defRPr sz="3300" b="0">
                <a:solidFill>
                  <a:srgbClr val="000000"/>
                </a:solidFill>
                <a:latin typeface="Aptos Display"/>
                <a:ea typeface="Aptos Display"/>
                <a:cs typeface="Aptos Display"/>
              </a:defRPr>
            </a:pPr>
            <a:r>
              <a:rPr sz="3300" b="0">
                <a:solidFill>
                  <a:srgbClr val="000000"/>
                </a:solidFill>
                <a:latin typeface="Aptos Display"/>
                <a:ea typeface="Aptos Display"/>
                <a:cs typeface="Aptos Display"/>
              </a:rPr>
              <a:t>Automated publication</a:t>
            </a:r>
          </a:p>
        </p:txBody>
      </p:sp>
      <p:sp>
        <p:nvSpPr>
          <p:cNvPr id="81" name="content-6">
            <a:extLst>
              <a:ext uri="{FF2B5EF4-FFF2-40B4-BE49-F238E27FC236}">
                <a16:creationId xmlns:a16="http://schemas.microsoft.com/office/drawing/2014/main" id="{AAB9ED1D-640E-4EF1-999D-7CB259D0B134}"/>
              </a:ext>
            </a:extLst>
          </p:cNvPr>
          <p:cNvSpPr>
            <a:spLocks noGrp="1"/>
          </p:cNvSpPr>
          <p:nvPr/>
        </p:nvSpPr>
        <p:spPr>
          <a:xfrm>
            <a:off x="1000125" y="1809750"/>
            <a:ext cx="4476750" cy="6858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1. Push relevant code to GitHub</a:t>
            </a:r>
          </a:p>
        </p:txBody>
      </p:sp>
      <p:sp>
        <p:nvSpPr>
          <p:cNvPr id="82" name="content-7">
            <a:extLst>
              <a:ext uri="{FF2B5EF4-FFF2-40B4-BE49-F238E27FC236}">
                <a16:creationId xmlns:a16="http://schemas.microsoft.com/office/drawing/2014/main" id="{0DB34FB3-4F2C-40E1-AC6B-598D9A457394}"/>
              </a:ext>
            </a:extLst>
          </p:cNvPr>
          <p:cNvSpPr>
            <a:spLocks noGrp="1"/>
          </p:cNvSpPr>
          <p:nvPr/>
        </p:nvSpPr>
        <p:spPr>
          <a:xfrm>
            <a:off x="1000125" y="2571750"/>
            <a:ext cx="4476750" cy="6858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2. Train and validate RF300</a:t>
            </a:r>
          </a:p>
        </p:txBody>
      </p:sp>
      <p:sp>
        <p:nvSpPr>
          <p:cNvPr id="83" name="content-8">
            <a:extLst>
              <a:ext uri="{FF2B5EF4-FFF2-40B4-BE49-F238E27FC236}">
                <a16:creationId xmlns:a16="http://schemas.microsoft.com/office/drawing/2014/main" id="{728011DA-A843-49B1-AEFD-A63152EB4D60}"/>
              </a:ext>
            </a:extLst>
          </p:cNvPr>
          <p:cNvSpPr>
            <a:spLocks noGrp="1"/>
          </p:cNvSpPr>
          <p:nvPr/>
        </p:nvSpPr>
        <p:spPr>
          <a:xfrm>
            <a:off x="1000125" y="3333750"/>
            <a:ext cx="4476750" cy="6858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3. Test the serving export</a:t>
            </a:r>
          </a:p>
        </p:txBody>
      </p:sp>
      <p:sp>
        <p:nvSpPr>
          <p:cNvPr id="84" name="content-9">
            <a:extLst>
              <a:ext uri="{FF2B5EF4-FFF2-40B4-BE49-F238E27FC236}">
                <a16:creationId xmlns:a16="http://schemas.microsoft.com/office/drawing/2014/main" id="{AA89CABE-C328-413B-B173-E155364F77BC}"/>
              </a:ext>
            </a:extLst>
          </p:cNvPr>
          <p:cNvSpPr>
            <a:spLocks noGrp="1"/>
          </p:cNvSpPr>
          <p:nvPr/>
        </p:nvSpPr>
        <p:spPr>
          <a:xfrm>
            <a:off x="1000125" y="4095750"/>
            <a:ext cx="4476750" cy="685800"/>
          </a:xfrm>
          <a:prstGeom prst="rect">
            <a:avLst/>
          </a:prstGeom>
          <a:noFill/>
          <a:ln w="0">
            <a:noFill/>
          </a:ln>
        </p:spPr>
        <p:txBody>
          <a:bodyPr lIns="0" tIns="0" rIns="0" bIns="0" anchor="t"/>
          <a:lstStyle>
            <a:defPPr>
              <a:defRPr sz="2025" b="0">
                <a:solidFill>
                  <a:srgbClr val="000000"/>
                </a:solidFill>
                <a:latin typeface="Aptos"/>
                <a:ea typeface="Aptos"/>
                <a:cs typeface="Aptos"/>
              </a:defRPr>
            </a:defPPr>
          </a:lstStyle>
          <a:p>
            <a:pPr>
              <a:buNone/>
              <a:defRPr sz="2025" b="0">
                <a:solidFill>
                  <a:srgbClr val="000000"/>
                </a:solidFill>
                <a:latin typeface="Aptos"/>
                <a:ea typeface="Aptos"/>
                <a:cs typeface="Aptos"/>
              </a:defRPr>
            </a:pPr>
            <a:r>
              <a:rPr sz="2025" b="0">
                <a:solidFill>
                  <a:srgbClr val="000000"/>
                </a:solidFill>
                <a:latin typeface="Aptos"/>
                <a:ea typeface="Aptos"/>
                <a:cs typeface="Aptos"/>
              </a:rPr>
              <a:t>4. Publish; hosting updates</a:t>
            </a:r>
          </a:p>
        </p:txBody>
      </p:sp>
      <p:sp>
        <p:nvSpPr>
          <p:cNvPr id="85" name="content-10">
            <a:extLst>
              <a:ext uri="{FF2B5EF4-FFF2-40B4-BE49-F238E27FC236}">
                <a16:creationId xmlns:a16="http://schemas.microsoft.com/office/drawing/2014/main" id="{85F9D1AE-E55F-4206-AE27-32FB1E3465F1}"/>
              </a:ext>
            </a:extLst>
          </p:cNvPr>
          <p:cNvSpPr>
            <a:spLocks noGrp="1"/>
          </p:cNvSpPr>
          <p:nvPr/>
        </p:nvSpPr>
        <p:spPr>
          <a:xfrm>
            <a:off x="5953125" y="2762250"/>
            <a:ext cx="5143500" cy="647700"/>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Quality gates before publication</a:t>
            </a:r>
          </a:p>
        </p:txBody>
      </p:sp>
      <p:sp>
        <p:nvSpPr>
          <p:cNvPr id="86" name="content-11">
            <a:extLst>
              <a:ext uri="{FF2B5EF4-FFF2-40B4-BE49-F238E27FC236}">
                <a16:creationId xmlns:a16="http://schemas.microsoft.com/office/drawing/2014/main" id="{20026BE1-AFFA-4161-8196-DA07DEC94D5E}"/>
              </a:ext>
            </a:extLst>
          </p:cNvPr>
          <p:cNvSpPr>
            <a:spLocks noGrp="1"/>
          </p:cNvSpPr>
          <p:nvPr/>
        </p:nvSpPr>
        <p:spPr>
          <a:xfrm>
            <a:off x="5953125" y="3486150"/>
            <a:ext cx="5143500" cy="647700"/>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Model and frontend version check</a:t>
            </a:r>
          </a:p>
        </p:txBody>
      </p:sp>
      <p:sp>
        <p:nvSpPr>
          <p:cNvPr id="87" name="content-12">
            <a:extLst>
              <a:ext uri="{FF2B5EF4-FFF2-40B4-BE49-F238E27FC236}">
                <a16:creationId xmlns:a16="http://schemas.microsoft.com/office/drawing/2014/main" id="{A2205728-1ABA-41F2-A25B-A5119CB0EA62}"/>
              </a:ext>
            </a:extLst>
          </p:cNvPr>
          <p:cNvSpPr>
            <a:spLocks noGrp="1"/>
          </p:cNvSpPr>
          <p:nvPr/>
        </p:nvSpPr>
        <p:spPr>
          <a:xfrm>
            <a:off x="5953125" y="4210050"/>
            <a:ext cx="5143500" cy="647700"/>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Mushroom: automatic refitting</a:t>
            </a:r>
          </a:p>
        </p:txBody>
      </p:sp>
      <p:sp>
        <p:nvSpPr>
          <p:cNvPr id="88" name="content-13">
            <a:extLst>
              <a:ext uri="{FF2B5EF4-FFF2-40B4-BE49-F238E27FC236}">
                <a16:creationId xmlns:a16="http://schemas.microsoft.com/office/drawing/2014/main" id="{98D4C82B-27C1-4D2E-B090-5CFB6DDBC851}"/>
              </a:ext>
            </a:extLst>
          </p:cNvPr>
          <p:cNvSpPr>
            <a:spLocks noGrp="1"/>
          </p:cNvSpPr>
          <p:nvPr/>
        </p:nvSpPr>
        <p:spPr>
          <a:xfrm>
            <a:off x="5953125" y="4933950"/>
            <a:ext cx="5143500" cy="647700"/>
          </a:xfrm>
          <a:prstGeom prst="rect">
            <a:avLst/>
          </a:prstGeom>
          <a:noFill/>
          <a:ln w="0">
            <a:noFill/>
          </a:ln>
        </p:spPr>
        <p:txBody>
          <a:bodyPr lIns="0" tIns="0" rIns="0" bIns="0" anchor="t"/>
          <a:lstStyle>
            <a:defPPr>
              <a:defRPr sz="1950" b="0">
                <a:solidFill>
                  <a:srgbClr val="000000"/>
                </a:solidFill>
                <a:latin typeface="Aptos"/>
                <a:ea typeface="Aptos"/>
                <a:cs typeface="Aptos"/>
              </a:defRPr>
            </a:defPPr>
          </a:lstStyle>
          <a:p>
            <a:pPr>
              <a:buNone/>
              <a:defRPr sz="1950" b="0">
                <a:solidFill>
                  <a:srgbClr val="000000"/>
                </a:solidFill>
                <a:latin typeface="Aptos"/>
                <a:ea typeface="Aptos"/>
                <a:cs typeface="Aptos"/>
              </a:defRPr>
            </a:pPr>
            <a:r>
              <a:rPr sz="1950" b="0">
                <a:solidFill>
                  <a:srgbClr val="000000"/>
                </a:solidFill>
                <a:latin typeface="Aptos"/>
                <a:ea typeface="Aptos"/>
                <a:cs typeface="Aptos"/>
              </a:rPr>
              <a:t>Citi Bike: pinned model release</a:t>
            </a:r>
          </a:p>
        </p:txBody>
      </p:sp>
    </p:spTree>
    <p:extLst>
      <p:ext uri="{BB962C8B-B14F-4D97-AF65-F5344CB8AC3E}">
        <p14:creationId xmlns:p14="http://schemas.microsoft.com/office/powerpoint/2010/main" val="30760030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B60E8C-7224-44A4-87A0-46A1711DD2ED}"/>
              </a:ext>
            </a:extLst>
          </p:cNvPr>
          <p:cNvSpPr>
            <a:spLocks noGrp="1"/>
          </p:cNvSpPr>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5DA32751-37A2-45C0-BE94-63D375E27003}"/>
              </a:ext>
            </a:extLst>
          </p:cNvPr>
          <p:cNvSpPr>
            <a:spLocks noGrp="1"/>
          </p:cNvSpPr>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E659831F-0D9A-4C63-9EBB-8435B85A440F}"/>
              </a:ext>
            </a:extLst>
          </p:cNvPr>
          <p:cNvSpPr>
            <a:spLocks noGrp="1"/>
          </p:cNvSpPr>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6" name="Rectangle 15">
            <a:extLst>
              <a:ext uri="{FF2B5EF4-FFF2-40B4-BE49-F238E27FC236}">
                <a16:creationId xmlns:a16="http://schemas.microsoft.com/office/drawing/2014/main" id="{5A55FBCD-CD42-40F5-8A1B-3203F9CAEEAA}"/>
              </a:ext>
            </a:extLst>
          </p:cNvPr>
          <p:cNvSpPr>
            <a:spLocks noGrp="1"/>
          </p:cNvSpPr>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7" name="content-4">
            <a:extLst>
              <a:ext uri="{FF2B5EF4-FFF2-40B4-BE49-F238E27FC236}">
                <a16:creationId xmlns:a16="http://schemas.microsoft.com/office/drawing/2014/main" id="{BE115F1D-882A-4E2C-B263-5B3A96A938C6}"/>
              </a:ext>
            </a:extLst>
          </p:cNvPr>
          <p:cNvSpPr>
            <a:spLocks noGrp="1"/>
          </p:cNvSpPr>
          <p:nvPr/>
        </p:nvSpPr>
        <p:spPr>
          <a:xfrm>
            <a:off x="809625" y="666750"/>
            <a:ext cx="10287000" cy="1000125"/>
          </a:xfrm>
          <a:prstGeom prst="rect">
            <a:avLst/>
          </a:prstGeom>
          <a:noFill/>
          <a:ln w="0">
            <a:noFill/>
          </a:ln>
        </p:spPr>
        <p:txBody>
          <a:bodyPr lIns="0" tIns="0" rIns="0" bIns="0" anchor="t"/>
          <a:lstStyle>
            <a:defPPr>
              <a:defRPr sz="3600" b="0">
                <a:solidFill>
                  <a:srgbClr val="000000"/>
                </a:solidFill>
                <a:latin typeface="Aptos Display"/>
                <a:ea typeface="Aptos Display"/>
                <a:cs typeface="Aptos Display"/>
              </a:defRPr>
            </a:defPPr>
          </a:lstStyle>
          <a:p>
            <a:pPr>
              <a:buNone/>
              <a:defRPr sz="3600" b="0">
                <a:solidFill>
                  <a:srgbClr val="000000"/>
                </a:solidFill>
                <a:latin typeface="Aptos Display"/>
                <a:ea typeface="Aptos Display"/>
                <a:cs typeface="Aptos Display"/>
              </a:defRPr>
            </a:pPr>
            <a:r>
              <a:rPr sz="3600" b="0">
                <a:solidFill>
                  <a:srgbClr val="000000"/>
                </a:solidFill>
                <a:latin typeface="Aptos Display"/>
                <a:ea typeface="Aptos Display"/>
                <a:cs typeface="Aptos Display"/>
              </a:rPr>
              <a:t>Conclusion and live demo</a:t>
            </a:r>
          </a:p>
        </p:txBody>
      </p:sp>
      <p:sp>
        <p:nvSpPr>
          <p:cNvPr id="18" name="content-5">
            <a:extLst>
              <a:ext uri="{FF2B5EF4-FFF2-40B4-BE49-F238E27FC236}">
                <a16:creationId xmlns:a16="http://schemas.microsoft.com/office/drawing/2014/main" id="{9F7E22C0-45E4-461A-B7FA-EAB0BB38D43C}"/>
              </a:ext>
            </a:extLst>
          </p:cNvPr>
          <p:cNvSpPr>
            <a:spLocks noGrp="1"/>
          </p:cNvSpPr>
          <p:nvPr/>
        </p:nvSpPr>
        <p:spPr>
          <a:xfrm>
            <a:off x="809625" y="2667000"/>
            <a:ext cx="10096500" cy="666750"/>
          </a:xfrm>
          <a:prstGeom prst="rect">
            <a:avLst/>
          </a:prstGeom>
          <a:noFill/>
          <a:ln w="0">
            <a:noFill/>
          </a:ln>
        </p:spPr>
        <p:txBody>
          <a:bodyPr lIns="0" tIns="0" rIns="0" bIns="0" anchor="t"/>
          <a:lstStyle>
            <a:defPPr>
              <a:defRPr sz="2175" b="0">
                <a:solidFill>
                  <a:srgbClr val="000000"/>
                </a:solidFill>
                <a:latin typeface="Aptos"/>
                <a:ea typeface="Aptos"/>
                <a:cs typeface="Aptos"/>
              </a:defRPr>
            </a:defPPr>
          </a:lstStyle>
          <a:p>
            <a:pPr>
              <a:buNone/>
              <a:defRPr sz="2175" b="0">
                <a:solidFill>
                  <a:srgbClr val="000000"/>
                </a:solidFill>
                <a:latin typeface="Aptos"/>
                <a:ea typeface="Aptos"/>
                <a:cs typeface="Aptos"/>
              </a:defRPr>
            </a:pPr>
            <a:r>
              <a:rPr sz="2175" b="0">
                <a:solidFill>
                  <a:srgbClr val="000000"/>
                </a:solidFill>
                <a:latin typeface="Aptos"/>
                <a:ea typeface="Aptos"/>
                <a:cs typeface="Aptos"/>
              </a:rPr>
              <a:t>Mushroom: RF300 wins CV, but still misses poisonous cases</a:t>
            </a:r>
          </a:p>
        </p:txBody>
      </p:sp>
      <p:sp>
        <p:nvSpPr>
          <p:cNvPr id="19" name="content-6">
            <a:extLst>
              <a:ext uri="{FF2B5EF4-FFF2-40B4-BE49-F238E27FC236}">
                <a16:creationId xmlns:a16="http://schemas.microsoft.com/office/drawing/2014/main" id="{DE6F8844-039C-4270-9420-219C021E700A}"/>
              </a:ext>
            </a:extLst>
          </p:cNvPr>
          <p:cNvSpPr>
            <a:spLocks noGrp="1"/>
          </p:cNvSpPr>
          <p:nvPr/>
        </p:nvSpPr>
        <p:spPr>
          <a:xfrm>
            <a:off x="809625" y="3409950"/>
            <a:ext cx="10096500" cy="666750"/>
          </a:xfrm>
          <a:prstGeom prst="rect">
            <a:avLst/>
          </a:prstGeom>
          <a:noFill/>
          <a:ln w="0">
            <a:noFill/>
          </a:ln>
        </p:spPr>
        <p:txBody>
          <a:bodyPr lIns="0" tIns="0" rIns="0" bIns="0" anchor="t"/>
          <a:lstStyle>
            <a:defPPr>
              <a:defRPr sz="2175" b="0">
                <a:solidFill>
                  <a:srgbClr val="000000"/>
                </a:solidFill>
                <a:latin typeface="Aptos"/>
                <a:ea typeface="Aptos"/>
                <a:cs typeface="Aptos"/>
              </a:defRPr>
            </a:defPPr>
          </a:lstStyle>
          <a:p>
            <a:pPr>
              <a:buNone/>
              <a:defRPr sz="2175" b="0">
                <a:solidFill>
                  <a:srgbClr val="000000"/>
                </a:solidFill>
                <a:latin typeface="Aptos"/>
                <a:ea typeface="Aptos"/>
                <a:cs typeface="Aptos"/>
              </a:defRPr>
            </a:pPr>
            <a:r>
              <a:rPr sz="2175" b="0">
                <a:solidFill>
                  <a:srgbClr val="000000"/>
                </a:solidFill>
                <a:latin typeface="Aptos"/>
                <a:ea typeface="Aptos"/>
                <a:cs typeface="Aptos"/>
              </a:rPr>
              <a:t>Website: “giftig” or “onzeker / mogelijk giftig”</a:t>
            </a:r>
          </a:p>
        </p:txBody>
      </p:sp>
      <p:sp>
        <p:nvSpPr>
          <p:cNvPr id="20" name="content-7">
            <a:extLst>
              <a:ext uri="{FF2B5EF4-FFF2-40B4-BE49-F238E27FC236}">
                <a16:creationId xmlns:a16="http://schemas.microsoft.com/office/drawing/2014/main" id="{EFFD7671-810E-4C6A-A05A-FEE09D31F3AB}"/>
              </a:ext>
            </a:extLst>
          </p:cNvPr>
          <p:cNvSpPr>
            <a:spLocks noGrp="1"/>
          </p:cNvSpPr>
          <p:nvPr/>
        </p:nvSpPr>
        <p:spPr>
          <a:xfrm>
            <a:off x="809625" y="4152900"/>
            <a:ext cx="10096500" cy="666750"/>
          </a:xfrm>
          <a:prstGeom prst="rect">
            <a:avLst/>
          </a:prstGeom>
          <a:noFill/>
          <a:ln w="0">
            <a:noFill/>
          </a:ln>
        </p:spPr>
        <p:txBody>
          <a:bodyPr lIns="0" tIns="0" rIns="0" bIns="0" anchor="t"/>
          <a:lstStyle>
            <a:defPPr>
              <a:defRPr sz="2175" b="0">
                <a:solidFill>
                  <a:srgbClr val="000000"/>
                </a:solidFill>
                <a:latin typeface="Aptos"/>
                <a:ea typeface="Aptos"/>
                <a:cs typeface="Aptos"/>
              </a:defRPr>
            </a:defPPr>
          </a:lstStyle>
          <a:p>
            <a:pPr>
              <a:buNone/>
              <a:defRPr sz="2175" b="0">
                <a:solidFill>
                  <a:srgbClr val="000000"/>
                </a:solidFill>
                <a:latin typeface="Aptos"/>
                <a:ea typeface="Aptos"/>
                <a:cs typeface="Aptos"/>
              </a:defRPr>
            </a:pPr>
            <a:r>
              <a:rPr sz="2175" b="0">
                <a:solidFill>
                  <a:srgbClr val="000000"/>
                </a:solidFill>
                <a:latin typeface="Aptos"/>
                <a:ea typeface="Aptos"/>
                <a:cs typeface="Aptos"/>
              </a:rPr>
              <a:t>Citi Bike: RF320 lowers test RMSE by 24.12%</a:t>
            </a:r>
          </a:p>
        </p:txBody>
      </p:sp>
      <p:sp>
        <p:nvSpPr>
          <p:cNvPr id="21" name="content-8">
            <a:extLst>
              <a:ext uri="{FF2B5EF4-FFF2-40B4-BE49-F238E27FC236}">
                <a16:creationId xmlns:a16="http://schemas.microsoft.com/office/drawing/2014/main" id="{27B491C8-3207-4626-9A82-F158D8EF3613}"/>
              </a:ext>
            </a:extLst>
          </p:cNvPr>
          <p:cNvSpPr>
            <a:spLocks noGrp="1"/>
          </p:cNvSpPr>
          <p:nvPr/>
        </p:nvSpPr>
        <p:spPr>
          <a:xfrm>
            <a:off x="809625" y="4895850"/>
            <a:ext cx="10096500" cy="666750"/>
          </a:xfrm>
          <a:prstGeom prst="rect">
            <a:avLst/>
          </a:prstGeom>
          <a:noFill/>
          <a:ln w="0">
            <a:noFill/>
          </a:ln>
        </p:spPr>
        <p:txBody>
          <a:bodyPr lIns="0" tIns="0" rIns="0" bIns="0" anchor="t"/>
          <a:lstStyle>
            <a:defPPr>
              <a:defRPr sz="2175" b="0">
                <a:solidFill>
                  <a:srgbClr val="000000"/>
                </a:solidFill>
                <a:latin typeface="Aptos"/>
                <a:ea typeface="Aptos"/>
                <a:cs typeface="Aptos"/>
              </a:defRPr>
            </a:defPPr>
          </a:lstStyle>
          <a:p>
            <a:pPr>
              <a:buNone/>
              <a:defRPr sz="2175" b="0">
                <a:solidFill>
                  <a:srgbClr val="000000"/>
                </a:solidFill>
                <a:latin typeface="Aptos"/>
                <a:ea typeface="Aptos"/>
                <a:cs typeface="Aptos"/>
              </a:defRPr>
            </a:pPr>
            <a:r>
              <a:rPr sz="2175" b="0">
                <a:solidFill>
                  <a:srgbClr val="000000"/>
                </a:solidFill>
                <a:latin typeface="Aptos"/>
                <a:ea typeface="Aptos"/>
                <a:cs typeface="Aptos"/>
              </a:rPr>
              <a:t>Live demo: Mushroom prediction + Citi Bike next 24 hours</a:t>
            </a:r>
          </a:p>
        </p:txBody>
      </p:sp>
      <p:sp>
        <p:nvSpPr>
          <p:cNvPr id="22" name="content-9">
            <a:extLst>
              <a:ext uri="{FF2B5EF4-FFF2-40B4-BE49-F238E27FC236}">
                <a16:creationId xmlns:a16="http://schemas.microsoft.com/office/drawing/2014/main" id="{0D75048D-6A37-4A04-859E-522F6C37EC4A}"/>
              </a:ext>
            </a:extLst>
          </p:cNvPr>
          <p:cNvSpPr>
            <a:spLocks noGrp="1"/>
          </p:cNvSpPr>
          <p:nvPr/>
        </p:nvSpPr>
        <p:spPr>
          <a:xfrm>
            <a:off x="809625" y="5905500"/>
            <a:ext cx="9715500" cy="381000"/>
          </a:xfrm>
          <a:prstGeom prst="rect">
            <a:avLst/>
          </a:prstGeom>
          <a:noFill/>
          <a:ln w="0">
            <a:noFill/>
          </a:ln>
        </p:spPr>
        <p:txBody>
          <a:bodyPr lIns="0" tIns="0" rIns="0" bIns="0" anchor="t"/>
          <a:lstStyle>
            <a:defPPr>
              <a:defRPr sz="1950" b="0">
                <a:solidFill>
                  <a:srgbClr val="0F9ED5"/>
                </a:solidFill>
                <a:latin typeface="Aptos"/>
                <a:ea typeface="Aptos"/>
                <a:cs typeface="Aptos"/>
              </a:defRPr>
            </a:defPPr>
          </a:lstStyle>
          <a:p>
            <a:pPr>
              <a:buNone/>
              <a:defRPr sz="1950" b="0">
                <a:solidFill>
                  <a:srgbClr val="0F9ED5"/>
                </a:solidFill>
                <a:latin typeface="Aptos"/>
                <a:ea typeface="Aptos"/>
                <a:cs typeface="Aptos"/>
              </a:defRPr>
            </a:pPr>
            <a:r>
              <a:rPr sz="1950" b="0">
                <a:solidFill>
                  <a:srgbClr val="0F9ED5"/>
                </a:solidFill>
                <a:latin typeface="Aptos"/>
                <a:ea typeface="Aptos"/>
                <a:cs typeface="Aptos"/>
              </a:rPr>
              <a:t>10messi10.netlify.app</a:t>
            </a:r>
          </a:p>
        </p:txBody>
      </p:sp>
    </p:spTree>
    <p:extLst>
      <p:ext uri="{BB962C8B-B14F-4D97-AF65-F5344CB8AC3E}">
        <p14:creationId xmlns:p14="http://schemas.microsoft.com/office/powerpoint/2010/main" val="26035415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C560F37-8EDD-48A9-883C-B631F9800E56}"/>
              </a:ext>
            </a:extLst>
          </p:cNvPr>
          <p:cNvSpPr>
            <a:spLocks noGrp="1"/>
          </p:cNvSpPr>
          <p:nvPr/>
        </p:nvSpPr>
        <p:spPr>
          <a:xfrm>
            <a:off x="685800" y="323850"/>
            <a:ext cx="10001250" cy="285750"/>
          </a:xfrm>
          <a:prstGeom prst="rect">
            <a:avLst/>
          </a:prstGeom>
          <a:noFill/>
          <a:ln w="0">
            <a:noFill/>
          </a:ln>
        </p:spPr>
        <p:txBody>
          <a:bodyPr lIns="0" tIns="0" rIns="0" bIns="0" anchor="t"/>
          <a:lstStyle>
            <a:defPPr>
              <a:defRPr sz="1425" b="1">
                <a:solidFill>
                  <a:srgbClr val="0F9ED5"/>
                </a:solidFill>
                <a:latin typeface="Aptos"/>
                <a:ea typeface="Aptos"/>
                <a:cs typeface="Aptos"/>
              </a:defRPr>
            </a:defPPr>
          </a:lstStyle>
          <a:p>
            <a:pPr>
              <a:buNone/>
              <a:defRPr sz="1425" b="1">
                <a:solidFill>
                  <a:srgbClr val="0F9ED5"/>
                </a:solidFill>
                <a:latin typeface="Aptos"/>
                <a:ea typeface="Aptos"/>
                <a:cs typeface="Aptos"/>
              </a:defRPr>
            </a:pPr>
            <a:r>
              <a:rPr sz="1425" b="1">
                <a:solidFill>
                  <a:srgbClr val="0F9ED5"/>
                </a:solidFill>
                <a:latin typeface="Aptos"/>
                <a:ea typeface="Aptos"/>
                <a:cs typeface="Aptos"/>
              </a:rPr>
              <a:t>RESERVE: VRAGEN</a:t>
            </a:r>
          </a:p>
        </p:txBody>
      </p:sp>
      <p:sp>
        <p:nvSpPr>
          <p:cNvPr id="2" name="Rectangle 1">
            <a:extLst>
              <a:ext uri="{FF2B5EF4-FFF2-40B4-BE49-F238E27FC236}">
                <a16:creationId xmlns:a16="http://schemas.microsoft.com/office/drawing/2014/main" id="{82D99350-513E-4DA1-9D60-E15AF495A73E}"/>
              </a:ext>
            </a:extLst>
          </p:cNvPr>
          <p:cNvSpPr>
            <a:spLocks noGrp="1"/>
          </p:cNvSpPr>
          <p:nvPr/>
        </p:nvSpPr>
        <p:spPr>
          <a:xfrm>
            <a:off x="685800" y="781050"/>
            <a:ext cx="10820400" cy="628650"/>
          </a:xfrm>
          <a:prstGeom prst="rect">
            <a:avLst/>
          </a:prstGeom>
          <a:noFill/>
          <a:ln w="0">
            <a:noFill/>
          </a:ln>
        </p:spPr>
        <p:txBody>
          <a:bodyPr lIns="0" tIns="0" rIns="0" bIns="0" anchor="t"/>
          <a:lstStyle>
            <a:defPPr>
              <a:defRPr sz="3300" b="1">
                <a:solidFill>
                  <a:srgbClr val="000000"/>
                </a:solidFill>
                <a:latin typeface="Aptos"/>
                <a:ea typeface="Aptos"/>
                <a:cs typeface="Aptos"/>
              </a:defRPr>
            </a:defPPr>
          </a:lstStyle>
          <a:p>
            <a:pPr>
              <a:buNone/>
              <a:defRPr sz="3300" b="1">
                <a:solidFill>
                  <a:srgbClr val="000000"/>
                </a:solidFill>
                <a:latin typeface="Aptos"/>
                <a:ea typeface="Aptos"/>
                <a:cs typeface="Aptos"/>
              </a:defRPr>
            </a:pPr>
            <a:r>
              <a:rPr sz="3300" b="1">
                <a:solidFill>
                  <a:srgbClr val="000000"/>
                </a:solidFill>
                <a:latin typeface="Aptos"/>
                <a:ea typeface="Aptos"/>
                <a:cs typeface="Aptos"/>
              </a:rPr>
              <a:t>Grootste fouten blijven rond drukke uren</a:t>
            </a:r>
          </a:p>
        </p:txBody>
      </p:sp>
      <p:sp>
        <p:nvSpPr>
          <p:cNvPr id="3" name="Rectangle 2">
            <a:extLst>
              <a:ext uri="{FF2B5EF4-FFF2-40B4-BE49-F238E27FC236}">
                <a16:creationId xmlns:a16="http://schemas.microsoft.com/office/drawing/2014/main" id="{68485D0B-DEA2-4BFC-A2E9-AB771F8F513A}"/>
              </a:ext>
            </a:extLst>
          </p:cNvPr>
          <p:cNvSpPr>
            <a:spLocks noGrp="1"/>
          </p:cNvSpPr>
          <p:nvPr/>
        </p:nvSpPr>
        <p:spPr>
          <a:xfrm>
            <a:off x="11239500" y="6419850"/>
            <a:ext cx="381000" cy="238125"/>
          </a:xfrm>
          <a:prstGeom prst="rect">
            <a:avLst/>
          </a:prstGeom>
          <a:noFill/>
          <a:ln w="0">
            <a:noFill/>
          </a:ln>
        </p:spPr>
        <p:txBody>
          <a:bodyPr lIns="0" tIns="0" rIns="0" bIns="0" anchor="t"/>
          <a:lstStyle>
            <a:defPPr>
              <a:defRPr sz="1350" b="0">
                <a:solidFill>
                  <a:srgbClr val="62766E"/>
                </a:solidFill>
                <a:latin typeface="Aptos"/>
                <a:ea typeface="Aptos"/>
                <a:cs typeface="Aptos"/>
              </a:defRPr>
            </a:defPPr>
          </a:lstStyle>
          <a:p>
            <a:pPr>
              <a:buNone/>
              <a:defRPr sz="1350" b="0">
                <a:solidFill>
                  <a:srgbClr val="62766E"/>
                </a:solidFill>
                <a:latin typeface="Aptos"/>
                <a:ea typeface="Aptos"/>
                <a:cs typeface="Aptos"/>
              </a:defRPr>
            </a:pPr>
            <a:r>
              <a:rPr sz="1350" b="0">
                <a:solidFill>
                  <a:srgbClr val="62766E"/>
                </a:solidFill>
                <a:latin typeface="Aptos"/>
                <a:ea typeface="Aptos"/>
                <a:cs typeface="Aptos"/>
              </a:rPr>
              <a:t>10</a:t>
            </a:r>
          </a:p>
        </p:txBody>
      </p:sp>
      <p:graphicFrame>
        <p:nvGraphicFramePr>
          <p:cNvPr id="4" name="Chart">
            <a:extLst>
              <a:ext uri="{FF2B5EF4-FFF2-40B4-BE49-F238E27FC236}">
                <a16:creationId xmlns:a16="http://schemas.microsoft.com/office/drawing/2014/main" id="{1A465D45-B294-429C-ADE7-BFA54D9C3E2E}"/>
              </a:ext>
            </a:extLst>
          </p:cNvPr>
          <p:cNvGraphicFramePr/>
          <p:nvPr/>
        </p:nvGraphicFramePr>
        <p:xfrm>
          <a:off x="723900" y="1752600"/>
          <a:ext cx="10668000" cy="3771900"/>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a:extLst>
              <a:ext uri="{FF2B5EF4-FFF2-40B4-BE49-F238E27FC236}">
                <a16:creationId xmlns:a16="http://schemas.microsoft.com/office/drawing/2014/main" id="{7623CA94-CE71-41B5-8033-8FCEA7E5AFED}"/>
              </a:ext>
            </a:extLst>
          </p:cNvPr>
          <p:cNvSpPr>
            <a:spLocks noGrp="1"/>
          </p:cNvSpPr>
          <p:nvPr/>
        </p:nvSpPr>
        <p:spPr>
          <a:xfrm>
            <a:off x="762000" y="5905500"/>
            <a:ext cx="10572750" cy="342900"/>
          </a:xfrm>
          <a:prstGeom prst="rect">
            <a:avLst/>
          </a:prstGeom>
          <a:noFill/>
          <a:ln w="0">
            <a:noFill/>
          </a:ln>
        </p:spPr>
        <p:txBody>
          <a:bodyPr lIns="0" tIns="0" rIns="0" bIns="0" anchor="t"/>
          <a:lstStyle>
            <a:defPPr>
              <a:defRPr sz="1800" b="0">
                <a:solidFill>
                  <a:srgbClr val="62766E"/>
                </a:solidFill>
                <a:latin typeface="Aptos"/>
                <a:ea typeface="Aptos"/>
                <a:cs typeface="Aptos"/>
              </a:defRPr>
            </a:defPPr>
          </a:lstStyle>
          <a:p>
            <a:pPr>
              <a:buNone/>
              <a:defRPr sz="1800" b="0">
                <a:solidFill>
                  <a:srgbClr val="62766E"/>
                </a:solidFill>
                <a:latin typeface="Aptos"/>
                <a:ea typeface="Aptos"/>
                <a:cs typeface="Aptos"/>
              </a:defRPr>
            </a:pPr>
            <a:r>
              <a:rPr sz="1800" b="0">
                <a:solidFill>
                  <a:srgbClr val="62766E"/>
                </a:solidFill>
                <a:latin typeface="Aptos"/>
                <a:ea typeface="Aptos"/>
                <a:cs typeface="Aptos"/>
              </a:rPr>
              <a:t>Residual = actual − prediction. De foutenanalyse gebruikt mei–juni-validatie.</a:t>
            </a:r>
          </a:p>
        </p:txBody>
      </p:sp>
    </p:spTree>
    <p:extLst>
      <p:ext uri="{BB962C8B-B14F-4D97-AF65-F5344CB8AC3E}">
        <p14:creationId xmlns:p14="http://schemas.microsoft.com/office/powerpoint/2010/main" val="1923436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4EFABAB0-A536-4108-A6B5-B366693B99E8}"/>
              </a:ext>
            </a:extLst>
          </p:cNvPr>
          <p:cNvSpPr>
            <a:spLocks noGrp="1"/>
          </p:cNvSpPr>
          <p:nvPr/>
        </p:nvSpPr>
        <p:spPr>
          <a:xfrm>
            <a:off x="685800" y="323850"/>
            <a:ext cx="10001250" cy="285750"/>
          </a:xfrm>
          <a:prstGeom prst="rect">
            <a:avLst/>
          </a:prstGeom>
          <a:noFill/>
          <a:ln w="0">
            <a:noFill/>
          </a:ln>
        </p:spPr>
        <p:txBody>
          <a:bodyPr lIns="0" tIns="0" rIns="0" bIns="0" anchor="t"/>
          <a:lstStyle>
            <a:defPPr>
              <a:defRPr sz="1425" b="1">
                <a:solidFill>
                  <a:srgbClr val="0F9ED5"/>
                </a:solidFill>
                <a:latin typeface="Aptos"/>
                <a:ea typeface="Aptos"/>
                <a:cs typeface="Aptos"/>
              </a:defRPr>
            </a:defPPr>
          </a:lstStyle>
          <a:p>
            <a:pPr>
              <a:buNone/>
              <a:defRPr sz="1425" b="1">
                <a:solidFill>
                  <a:srgbClr val="0F9ED5"/>
                </a:solidFill>
                <a:latin typeface="Aptos"/>
                <a:ea typeface="Aptos"/>
                <a:cs typeface="Aptos"/>
              </a:defRPr>
            </a:pPr>
            <a:r>
              <a:rPr sz="1425" b="1">
                <a:solidFill>
                  <a:srgbClr val="0F9ED5"/>
                </a:solidFill>
                <a:latin typeface="Aptos"/>
                <a:ea typeface="Aptos"/>
                <a:cs typeface="Aptos"/>
              </a:rPr>
              <a:t>RESERVE: VRAGEN</a:t>
            </a:r>
          </a:p>
        </p:txBody>
      </p:sp>
      <p:sp>
        <p:nvSpPr>
          <p:cNvPr id="2" name="Rectangle 1">
            <a:extLst>
              <a:ext uri="{FF2B5EF4-FFF2-40B4-BE49-F238E27FC236}">
                <a16:creationId xmlns:a16="http://schemas.microsoft.com/office/drawing/2014/main" id="{BA5B4D0D-3003-44F1-A51B-0F2598AB25EB}"/>
              </a:ext>
            </a:extLst>
          </p:cNvPr>
          <p:cNvSpPr>
            <a:spLocks noGrp="1"/>
          </p:cNvSpPr>
          <p:nvPr/>
        </p:nvSpPr>
        <p:spPr>
          <a:xfrm>
            <a:off x="685800" y="781050"/>
            <a:ext cx="10820400" cy="628650"/>
          </a:xfrm>
          <a:prstGeom prst="rect">
            <a:avLst/>
          </a:prstGeom>
          <a:noFill/>
          <a:ln w="0">
            <a:noFill/>
          </a:ln>
        </p:spPr>
        <p:txBody>
          <a:bodyPr lIns="0" tIns="0" rIns="0" bIns="0" anchor="t"/>
          <a:lstStyle>
            <a:defPPr>
              <a:defRPr sz="3300" b="1">
                <a:solidFill>
                  <a:srgbClr val="000000"/>
                </a:solidFill>
                <a:latin typeface="Aptos"/>
                <a:ea typeface="Aptos"/>
                <a:cs typeface="Aptos"/>
              </a:defRPr>
            </a:defPPr>
          </a:lstStyle>
          <a:p>
            <a:pPr>
              <a:buNone/>
              <a:defRPr sz="3300" b="1">
                <a:solidFill>
                  <a:srgbClr val="000000"/>
                </a:solidFill>
                <a:latin typeface="Aptos"/>
                <a:ea typeface="Aptos"/>
                <a:cs typeface="Aptos"/>
              </a:defRPr>
            </a:pPr>
            <a:r>
              <a:rPr sz="3300" b="1">
                <a:solidFill>
                  <a:srgbClr val="000000"/>
                </a:solidFill>
                <a:latin typeface="Aptos"/>
                <a:ea typeface="Aptos"/>
                <a:cs typeface="Aptos"/>
              </a:rPr>
              <a:t>Keuzes die ik mondeling kan uitleggen</a:t>
            </a:r>
          </a:p>
        </p:txBody>
      </p:sp>
      <p:sp>
        <p:nvSpPr>
          <p:cNvPr id="3" name="Rectangle 2">
            <a:extLst>
              <a:ext uri="{FF2B5EF4-FFF2-40B4-BE49-F238E27FC236}">
                <a16:creationId xmlns:a16="http://schemas.microsoft.com/office/drawing/2014/main" id="{C68DBFB3-17B9-4FBF-9856-329FAE05A522}"/>
              </a:ext>
            </a:extLst>
          </p:cNvPr>
          <p:cNvSpPr>
            <a:spLocks noGrp="1"/>
          </p:cNvSpPr>
          <p:nvPr/>
        </p:nvSpPr>
        <p:spPr>
          <a:xfrm>
            <a:off x="11239500" y="6419850"/>
            <a:ext cx="381000" cy="238125"/>
          </a:xfrm>
          <a:prstGeom prst="rect">
            <a:avLst/>
          </a:prstGeom>
          <a:noFill/>
          <a:ln w="0">
            <a:noFill/>
          </a:ln>
        </p:spPr>
        <p:txBody>
          <a:bodyPr lIns="0" tIns="0" rIns="0" bIns="0" anchor="t"/>
          <a:lstStyle>
            <a:defPPr>
              <a:defRPr sz="1350" b="0">
                <a:solidFill>
                  <a:srgbClr val="62766E"/>
                </a:solidFill>
                <a:latin typeface="Aptos"/>
                <a:ea typeface="Aptos"/>
                <a:cs typeface="Aptos"/>
              </a:defRPr>
            </a:defPPr>
          </a:lstStyle>
          <a:p>
            <a:pPr>
              <a:buNone/>
              <a:defRPr sz="1350" b="0">
                <a:solidFill>
                  <a:srgbClr val="62766E"/>
                </a:solidFill>
                <a:latin typeface="Aptos"/>
                <a:ea typeface="Aptos"/>
                <a:cs typeface="Aptos"/>
              </a:defRPr>
            </a:pPr>
            <a:r>
              <a:rPr sz="1350" b="0">
                <a:solidFill>
                  <a:srgbClr val="62766E"/>
                </a:solidFill>
                <a:latin typeface="Aptos"/>
                <a:ea typeface="Aptos"/>
                <a:cs typeface="Aptos"/>
              </a:rPr>
              <a:t>11</a:t>
            </a:r>
          </a:p>
        </p:txBody>
      </p:sp>
      <p:sp>
        <p:nvSpPr>
          <p:cNvPr id="4" name="Rectangle 3">
            <a:extLst>
              <a:ext uri="{FF2B5EF4-FFF2-40B4-BE49-F238E27FC236}">
                <a16:creationId xmlns:a16="http://schemas.microsoft.com/office/drawing/2014/main" id="{B32E2892-5940-487E-84D1-1037F04572AE}"/>
              </a:ext>
            </a:extLst>
          </p:cNvPr>
          <p:cNvSpPr>
            <a:spLocks noGrp="1"/>
          </p:cNvSpPr>
          <p:nvPr/>
        </p:nvSpPr>
        <p:spPr>
          <a:xfrm>
            <a:off x="723900" y="1819275"/>
            <a:ext cx="4857750" cy="457200"/>
          </a:xfrm>
          <a:prstGeom prst="rect">
            <a:avLst/>
          </a:prstGeom>
          <a:noFill/>
          <a:ln w="0">
            <a:noFill/>
          </a:ln>
        </p:spPr>
        <p:txBody>
          <a:bodyPr lIns="0" tIns="0" rIns="0" bIns="0" anchor="t"/>
          <a:lstStyle>
            <a:defPPr>
              <a:defRPr sz="2325" b="1">
                <a:solidFill>
                  <a:srgbClr val="0F9ED5"/>
                </a:solidFill>
                <a:latin typeface="Aptos"/>
                <a:ea typeface="Aptos"/>
                <a:cs typeface="Aptos"/>
              </a:defRPr>
            </a:defPPr>
          </a:lstStyle>
          <a:p>
            <a:pPr>
              <a:buNone/>
              <a:defRPr sz="2325" b="1">
                <a:solidFill>
                  <a:srgbClr val="0F9ED5"/>
                </a:solidFill>
                <a:latin typeface="Aptos"/>
                <a:ea typeface="Aptos"/>
                <a:cs typeface="Aptos"/>
              </a:defRPr>
            </a:pPr>
            <a:r>
              <a:rPr sz="2325" b="1">
                <a:solidFill>
                  <a:srgbClr val="0F9ED5"/>
                </a:solidFill>
                <a:latin typeface="Aptos"/>
                <a:ea typeface="Aptos"/>
                <a:cs typeface="Aptos"/>
              </a:rPr>
              <a:t>Waarom chronologisch?</a:t>
            </a:r>
          </a:p>
        </p:txBody>
      </p:sp>
      <p:sp>
        <p:nvSpPr>
          <p:cNvPr id="5" name="Rectangle 4">
            <a:extLst>
              <a:ext uri="{FF2B5EF4-FFF2-40B4-BE49-F238E27FC236}">
                <a16:creationId xmlns:a16="http://schemas.microsoft.com/office/drawing/2014/main" id="{9F1A37E5-1B77-4D5F-8486-69C650BF9DF9}"/>
              </a:ext>
            </a:extLst>
          </p:cNvPr>
          <p:cNvSpPr>
            <a:spLocks noGrp="1"/>
          </p:cNvSpPr>
          <p:nvPr/>
        </p:nvSpPr>
        <p:spPr>
          <a:xfrm>
            <a:off x="723900" y="2457450"/>
            <a:ext cx="4857750" cy="1000125"/>
          </a:xfrm>
          <a:prstGeom prst="rect">
            <a:avLst/>
          </a:prstGeom>
          <a:noFill/>
          <a:ln w="0">
            <a:noFill/>
          </a:ln>
        </p:spPr>
        <p:txBody>
          <a:bodyPr lIns="0" tIns="0" rIns="0" bIns="0" anchor="t"/>
          <a:lstStyle>
            <a:defPPr>
              <a:defRPr sz="2175" b="0">
                <a:solidFill>
                  <a:srgbClr val="000000"/>
                </a:solidFill>
                <a:latin typeface="Aptos"/>
                <a:ea typeface="Aptos"/>
                <a:cs typeface="Aptos"/>
              </a:defRPr>
            </a:defPPr>
          </a:lstStyle>
          <a:p>
            <a:pPr>
              <a:buNone/>
              <a:defRPr sz="2175" b="0">
                <a:solidFill>
                  <a:srgbClr val="000000"/>
                </a:solidFill>
                <a:latin typeface="Aptos"/>
                <a:ea typeface="Aptos"/>
                <a:cs typeface="Aptos"/>
              </a:defRPr>
            </a:pPr>
            <a:r>
              <a:rPr sz="2175" b="0">
                <a:solidFill>
                  <a:srgbClr val="000000"/>
                </a:solidFill>
                <a:latin typeface="Aptos"/>
                <a:ea typeface="Aptos"/>
                <a:cs typeface="Aptos"/>
              </a:rPr>
              <a:t>De toekomst mag het verleden niet beïnvloeden</a:t>
            </a:r>
          </a:p>
        </p:txBody>
      </p:sp>
      <p:sp>
        <p:nvSpPr>
          <p:cNvPr id="6" name="Rectangle 5">
            <a:extLst>
              <a:ext uri="{FF2B5EF4-FFF2-40B4-BE49-F238E27FC236}">
                <a16:creationId xmlns:a16="http://schemas.microsoft.com/office/drawing/2014/main" id="{85B29B84-5FE6-467E-B527-CD182A3BCE36}"/>
              </a:ext>
            </a:extLst>
          </p:cNvPr>
          <p:cNvSpPr>
            <a:spLocks noGrp="1"/>
          </p:cNvSpPr>
          <p:nvPr/>
        </p:nvSpPr>
        <p:spPr>
          <a:xfrm>
            <a:off x="723900" y="4086225"/>
            <a:ext cx="4857750" cy="457200"/>
          </a:xfrm>
          <a:prstGeom prst="rect">
            <a:avLst/>
          </a:prstGeom>
          <a:noFill/>
          <a:ln w="0">
            <a:noFill/>
          </a:ln>
        </p:spPr>
        <p:txBody>
          <a:bodyPr lIns="0" tIns="0" rIns="0" bIns="0" anchor="t"/>
          <a:lstStyle>
            <a:defPPr>
              <a:defRPr sz="2325" b="1">
                <a:solidFill>
                  <a:srgbClr val="0F9ED5"/>
                </a:solidFill>
                <a:latin typeface="Aptos"/>
                <a:ea typeface="Aptos"/>
                <a:cs typeface="Aptos"/>
              </a:defRPr>
            </a:defPPr>
          </a:lstStyle>
          <a:p>
            <a:pPr>
              <a:buNone/>
              <a:defRPr sz="2325" b="1">
                <a:solidFill>
                  <a:srgbClr val="0F9ED5"/>
                </a:solidFill>
                <a:latin typeface="Aptos"/>
                <a:ea typeface="Aptos"/>
                <a:cs typeface="Aptos"/>
              </a:defRPr>
            </a:pPr>
            <a:r>
              <a:rPr sz="2325" b="1">
                <a:solidFill>
                  <a:srgbClr val="0F9ED5"/>
                </a:solidFill>
                <a:latin typeface="Aptos"/>
                <a:ea typeface="Aptos"/>
                <a:cs typeface="Aptos"/>
              </a:rPr>
              <a:t>Waarom tijdsblokken?</a:t>
            </a:r>
          </a:p>
        </p:txBody>
      </p:sp>
      <p:sp>
        <p:nvSpPr>
          <p:cNvPr id="7" name="Rectangle 6">
            <a:extLst>
              <a:ext uri="{FF2B5EF4-FFF2-40B4-BE49-F238E27FC236}">
                <a16:creationId xmlns:a16="http://schemas.microsoft.com/office/drawing/2014/main" id="{1C4D4637-6505-4ACB-BE1B-0D1B03AE0A10}"/>
              </a:ext>
            </a:extLst>
          </p:cNvPr>
          <p:cNvSpPr>
            <a:spLocks noGrp="1"/>
          </p:cNvSpPr>
          <p:nvPr/>
        </p:nvSpPr>
        <p:spPr>
          <a:xfrm>
            <a:off x="723900" y="4743450"/>
            <a:ext cx="4857750" cy="1095375"/>
          </a:xfrm>
          <a:prstGeom prst="rect">
            <a:avLst/>
          </a:prstGeom>
          <a:noFill/>
          <a:ln w="0">
            <a:noFill/>
          </a:ln>
        </p:spPr>
        <p:txBody>
          <a:bodyPr lIns="0" tIns="0" rIns="0" bIns="0" anchor="t"/>
          <a:lstStyle>
            <a:defPPr>
              <a:defRPr sz="2175" b="0">
                <a:solidFill>
                  <a:srgbClr val="000000"/>
                </a:solidFill>
                <a:latin typeface="Aptos"/>
                <a:ea typeface="Aptos"/>
                <a:cs typeface="Aptos"/>
              </a:defRPr>
            </a:defPPr>
          </a:lstStyle>
          <a:p>
            <a:pPr>
              <a:buNone/>
              <a:defRPr sz="2175" b="0">
                <a:solidFill>
                  <a:srgbClr val="000000"/>
                </a:solidFill>
                <a:latin typeface="Aptos"/>
                <a:ea typeface="Aptos"/>
                <a:cs typeface="Aptos"/>
              </a:defRPr>
            </a:pPr>
            <a:r>
              <a:rPr sz="2175" b="0">
                <a:solidFill>
                  <a:srgbClr val="000000"/>
                </a:solidFill>
                <a:latin typeface="Aptos"/>
                <a:ea typeface="Aptos"/>
                <a:cs typeface="Aptos"/>
              </a:rPr>
              <a:t>Ritten en naburige uren zijn afhankelijk</a:t>
            </a:r>
          </a:p>
        </p:txBody>
      </p:sp>
      <p:sp>
        <p:nvSpPr>
          <p:cNvPr id="8" name="Rectangle 7">
            <a:extLst>
              <a:ext uri="{FF2B5EF4-FFF2-40B4-BE49-F238E27FC236}">
                <a16:creationId xmlns:a16="http://schemas.microsoft.com/office/drawing/2014/main" id="{81F0FF50-76FF-4C7C-91A6-F912F2A04F81}"/>
              </a:ext>
            </a:extLst>
          </p:cNvPr>
          <p:cNvSpPr>
            <a:spLocks noGrp="1"/>
          </p:cNvSpPr>
          <p:nvPr/>
        </p:nvSpPr>
        <p:spPr>
          <a:xfrm>
            <a:off x="6553200" y="1819275"/>
            <a:ext cx="4857750" cy="457200"/>
          </a:xfrm>
          <a:prstGeom prst="rect">
            <a:avLst/>
          </a:prstGeom>
          <a:noFill/>
          <a:ln w="0">
            <a:noFill/>
          </a:ln>
        </p:spPr>
        <p:txBody>
          <a:bodyPr lIns="0" tIns="0" rIns="0" bIns="0" anchor="t"/>
          <a:lstStyle>
            <a:defPPr>
              <a:defRPr sz="2325" b="1">
                <a:solidFill>
                  <a:srgbClr val="0F9ED5"/>
                </a:solidFill>
                <a:latin typeface="Aptos"/>
                <a:ea typeface="Aptos"/>
                <a:cs typeface="Aptos"/>
              </a:defRPr>
            </a:defPPr>
          </a:lstStyle>
          <a:p>
            <a:pPr>
              <a:buNone/>
              <a:defRPr sz="2325" b="1">
                <a:solidFill>
                  <a:srgbClr val="0F9ED5"/>
                </a:solidFill>
                <a:latin typeface="Aptos"/>
                <a:ea typeface="Aptos"/>
                <a:cs typeface="Aptos"/>
              </a:defRPr>
            </a:pPr>
            <a:r>
              <a:rPr sz="2325" b="1">
                <a:solidFill>
                  <a:srgbClr val="0F9ED5"/>
                </a:solidFill>
                <a:latin typeface="Aptos"/>
                <a:ea typeface="Aptos"/>
                <a:cs typeface="Aptos"/>
              </a:rPr>
              <a:t>Waarom deze RF?</a:t>
            </a:r>
          </a:p>
        </p:txBody>
      </p:sp>
      <p:sp>
        <p:nvSpPr>
          <p:cNvPr id="9" name="Rectangle 8">
            <a:extLst>
              <a:ext uri="{FF2B5EF4-FFF2-40B4-BE49-F238E27FC236}">
                <a16:creationId xmlns:a16="http://schemas.microsoft.com/office/drawing/2014/main" id="{7192CEEF-EB7F-4838-B75C-655A612C0886}"/>
              </a:ext>
            </a:extLst>
          </p:cNvPr>
          <p:cNvSpPr>
            <a:spLocks noGrp="1"/>
          </p:cNvSpPr>
          <p:nvPr/>
        </p:nvSpPr>
        <p:spPr>
          <a:xfrm>
            <a:off x="6553200" y="2457450"/>
            <a:ext cx="4857750" cy="1047750"/>
          </a:xfrm>
          <a:prstGeom prst="rect">
            <a:avLst/>
          </a:prstGeom>
          <a:noFill/>
          <a:ln w="0">
            <a:noFill/>
          </a:ln>
        </p:spPr>
        <p:txBody>
          <a:bodyPr lIns="0" tIns="0" rIns="0" bIns="0" anchor="t"/>
          <a:lstStyle>
            <a:defPPr>
              <a:defRPr sz="2175" b="0">
                <a:solidFill>
                  <a:srgbClr val="000000"/>
                </a:solidFill>
                <a:latin typeface="Aptos"/>
                <a:ea typeface="Aptos"/>
                <a:cs typeface="Aptos"/>
              </a:defRPr>
            </a:defPPr>
          </a:lstStyle>
          <a:p>
            <a:pPr>
              <a:buNone/>
              <a:defRPr sz="2175" b="0">
                <a:solidFill>
                  <a:srgbClr val="000000"/>
                </a:solidFill>
                <a:latin typeface="Aptos"/>
                <a:ea typeface="Aptos"/>
                <a:cs typeface="Aptos"/>
              </a:defRPr>
            </a:pPr>
            <a:r>
              <a:rPr sz="2175" b="0">
                <a:solidFill>
                  <a:srgbClr val="000000"/>
                </a:solidFill>
                <a:latin typeface="Aptos"/>
                <a:ea typeface="Aptos"/>
                <a:cs typeface="Aptos"/>
              </a:rPr>
              <a:t>De vooraf vastgelegde 1%-regel</a:t>
            </a:r>
            <a:br>
              <a:rPr sz="2175" b="0">
                <a:solidFill>
                  <a:srgbClr val="000000"/>
                </a:solidFill>
                <a:latin typeface="Aptos"/>
                <a:ea typeface="Aptos"/>
                <a:cs typeface="Aptos"/>
              </a:rPr>
            </a:br>
            <a:r>
              <a:rPr sz="2175" b="0">
                <a:solidFill>
                  <a:srgbClr val="000000"/>
                </a:solidFill>
                <a:latin typeface="Aptos"/>
                <a:ea typeface="Aptos"/>
                <a:cs typeface="Aptos"/>
              </a:rPr>
              <a:t>vergelijkt modeltypen</a:t>
            </a:r>
          </a:p>
        </p:txBody>
      </p:sp>
      <p:sp>
        <p:nvSpPr>
          <p:cNvPr id="10" name="Rectangle 9">
            <a:extLst>
              <a:ext uri="{FF2B5EF4-FFF2-40B4-BE49-F238E27FC236}">
                <a16:creationId xmlns:a16="http://schemas.microsoft.com/office/drawing/2014/main" id="{3B90F1DC-FF59-4849-B9E6-C8FF12825E92}"/>
              </a:ext>
            </a:extLst>
          </p:cNvPr>
          <p:cNvSpPr>
            <a:spLocks noGrp="1"/>
          </p:cNvSpPr>
          <p:nvPr/>
        </p:nvSpPr>
        <p:spPr>
          <a:xfrm>
            <a:off x="6553200" y="4086225"/>
            <a:ext cx="4857750" cy="457200"/>
          </a:xfrm>
          <a:prstGeom prst="rect">
            <a:avLst/>
          </a:prstGeom>
          <a:noFill/>
          <a:ln w="0">
            <a:noFill/>
          </a:ln>
        </p:spPr>
        <p:txBody>
          <a:bodyPr lIns="0" tIns="0" rIns="0" bIns="0" anchor="t"/>
          <a:lstStyle>
            <a:defPPr>
              <a:defRPr sz="2325" b="1">
                <a:solidFill>
                  <a:srgbClr val="0F9ED5"/>
                </a:solidFill>
                <a:latin typeface="Aptos"/>
                <a:ea typeface="Aptos"/>
                <a:cs typeface="Aptos"/>
              </a:defRPr>
            </a:defPPr>
          </a:lstStyle>
          <a:p>
            <a:pPr>
              <a:buNone/>
              <a:defRPr sz="2325" b="1">
                <a:solidFill>
                  <a:srgbClr val="0F9ED5"/>
                </a:solidFill>
                <a:latin typeface="Aptos"/>
                <a:ea typeface="Aptos"/>
                <a:cs typeface="Aptos"/>
              </a:defRPr>
            </a:pPr>
            <a:r>
              <a:rPr sz="2325" b="1">
                <a:solidFill>
                  <a:srgbClr val="0F9ED5"/>
                </a:solidFill>
                <a:latin typeface="Aptos"/>
                <a:ea typeface="Aptos"/>
                <a:cs typeface="Aptos"/>
              </a:rPr>
              <a:t>Waarom geen nieuwe tuning?</a:t>
            </a:r>
          </a:p>
        </p:txBody>
      </p:sp>
      <p:sp>
        <p:nvSpPr>
          <p:cNvPr id="11" name="Rectangle 10">
            <a:extLst>
              <a:ext uri="{FF2B5EF4-FFF2-40B4-BE49-F238E27FC236}">
                <a16:creationId xmlns:a16="http://schemas.microsoft.com/office/drawing/2014/main" id="{5F32C86A-CDA6-44CC-A1A7-021893AF6503}"/>
              </a:ext>
            </a:extLst>
          </p:cNvPr>
          <p:cNvSpPr>
            <a:spLocks noGrp="1"/>
          </p:cNvSpPr>
          <p:nvPr/>
        </p:nvSpPr>
        <p:spPr>
          <a:xfrm>
            <a:off x="6553200" y="4743450"/>
            <a:ext cx="4857750" cy="1143000"/>
          </a:xfrm>
          <a:prstGeom prst="rect">
            <a:avLst/>
          </a:prstGeom>
          <a:noFill/>
          <a:ln w="0">
            <a:noFill/>
          </a:ln>
        </p:spPr>
        <p:txBody>
          <a:bodyPr lIns="0" tIns="0" rIns="0" bIns="0" anchor="t"/>
          <a:lstStyle>
            <a:defPPr>
              <a:defRPr sz="2175" b="0">
                <a:solidFill>
                  <a:srgbClr val="000000"/>
                </a:solidFill>
                <a:latin typeface="Aptos"/>
                <a:ea typeface="Aptos"/>
                <a:cs typeface="Aptos"/>
              </a:defRPr>
            </a:defPPr>
          </a:lstStyle>
          <a:p>
            <a:pPr>
              <a:buNone/>
              <a:defRPr sz="2175" b="0">
                <a:solidFill>
                  <a:srgbClr val="000000"/>
                </a:solidFill>
                <a:latin typeface="Aptos"/>
                <a:ea typeface="Aptos"/>
                <a:cs typeface="Aptos"/>
              </a:defRPr>
            </a:pPr>
            <a:r>
              <a:rPr sz="2175" b="0">
                <a:solidFill>
                  <a:srgbClr val="000000"/>
                </a:solidFill>
                <a:latin typeface="Aptos"/>
                <a:ea typeface="Aptos"/>
                <a:cs typeface="Aptos"/>
              </a:rPr>
              <a:t>Een nieuwe keuze vraagt een</a:t>
            </a:r>
            <a:br>
              <a:rPr sz="2175" b="0">
                <a:solidFill>
                  <a:srgbClr val="000000"/>
                </a:solidFill>
                <a:latin typeface="Aptos"/>
                <a:ea typeface="Aptos"/>
                <a:cs typeface="Aptos"/>
              </a:rPr>
            </a:br>
            <a:r>
              <a:rPr sz="2175" b="0">
                <a:solidFill>
                  <a:srgbClr val="000000"/>
                </a:solidFill>
                <a:latin typeface="Aptos"/>
                <a:ea typeface="Aptos"/>
                <a:cs typeface="Aptos"/>
              </a:rPr>
              <a:t>nieuwe onafhankelijke eindtest</a:t>
            </a:r>
          </a:p>
        </p:txBody>
      </p:sp>
    </p:spTree>
    <p:extLst>
      <p:ext uri="{BB962C8B-B14F-4D97-AF65-F5344CB8AC3E}">
        <p14:creationId xmlns:p14="http://schemas.microsoft.com/office/powerpoint/2010/main" val="302690875"/>
      </p:ext>
    </p:extLst>
  </p:cSld>
  <p:clrMapOvr>
    <a:masterClrMapping/>
  </p:clrMapOvr>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4902</Words>
  <Application>Microsoft Office PowerPoint</Application>
  <DocSecurity>0</DocSecurity>
  <PresentationFormat>Breedbeeld</PresentationFormat>
  <Paragraphs>445</Paragraphs>
  <Slides>27</Slides>
  <Notes>27</Notes>
  <HiddenSlides>2</HiddenSlides>
  <MMClips>0</MMClips>
  <ScaleCrop>false</ScaleCrop>
  <HeadingPairs>
    <vt:vector size="4" baseType="variant">
      <vt:variant>
        <vt:lpstr>Thema</vt:lpstr>
      </vt:variant>
      <vt:variant>
        <vt:i4>2</vt:i4>
      </vt:variant>
      <vt:variant>
        <vt:lpstr>Diatitels</vt:lpstr>
      </vt:variant>
      <vt:variant>
        <vt:i4>27</vt:i4>
      </vt:variant>
    </vt:vector>
  </HeadingPairs>
  <TitlesOfParts>
    <vt:vector size="29" baseType="lpstr">
      <vt:lpstr>Kantoorthema</vt:lpstr>
      <vt:lpstr>ChatGPT</vt:lpstr>
      <vt:lpstr>PowerPoint-presentatie</vt:lpstr>
      <vt:lpstr>PowerPoint-presentatie</vt:lpstr>
      <vt:lpstr>Team 10</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Jorre Van Dyck</cp:lastModifiedBy>
  <cp:revision>2</cp:revision>
  <dcterms:created xsi:type="dcterms:W3CDTF">2026-10-15T07:14:15Z</dcterms:created>
  <dcterms:modified xsi:type="dcterms:W3CDTF">2026-10-15T09:43:16Z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337be75-dfbb-4261-9834-ac247c7dde13_Enabled">
    <vt:lpwstr>true</vt:lpwstr>
  </property>
  <property fmtid="{D5CDD505-2E9C-101B-9397-08002B2CF9AE}" pid="3" name="MSIP_Label_c337be75-dfbb-4261-9834-ac247c7dde13_SetDate">
    <vt:lpwstr>2026-10-15T07:33:42Z</vt:lpwstr>
  </property>
  <property fmtid="{D5CDD505-2E9C-101B-9397-08002B2CF9AE}" pid="4" name="MSIP_Label_c337be75-dfbb-4261-9834-ac247c7dde13_Method">
    <vt:lpwstr>Standard</vt:lpwstr>
  </property>
  <property fmtid="{D5CDD505-2E9C-101B-9397-08002B2CF9AE}" pid="5" name="MSIP_Label_c337be75-dfbb-4261-9834-ac247c7dde13_Name">
    <vt:lpwstr>Algemeen</vt:lpwstr>
  </property>
  <property fmtid="{D5CDD505-2E9C-101B-9397-08002B2CF9AE}" pid="6" name="MSIP_Label_c337be75-dfbb-4261-9834-ac247c7dde13_SiteId">
    <vt:lpwstr>77d33cc5-c9b4-4766-95c7-ed5b515e1cce</vt:lpwstr>
  </property>
  <property fmtid="{D5CDD505-2E9C-101B-9397-08002B2CF9AE}" pid="7" name="MSIP_Label_c337be75-dfbb-4261-9834-ac247c7dde13_ActionId">
    <vt:lpwstr>975d4b07-221e-4962-a521-09040f0cb08e</vt:lpwstr>
  </property>
  <property fmtid="{D5CDD505-2E9C-101B-9397-08002B2CF9AE}" pid="8" name="MSIP_Label_c337be75-dfbb-4261-9834-ac247c7dde13_ContentBits">
    <vt:lpwstr>0</vt:lpwstr>
  </property>
  <property fmtid="{D5CDD505-2E9C-101B-9397-08002B2CF9AE}" pid="9" name="MSIP_Label_c337be75-dfbb-4261-9834-ac247c7dde13_Tag">
    <vt:lpwstr>10, 3, 0, 1</vt:lpwstr>
  </property>
</Properties>
</file>