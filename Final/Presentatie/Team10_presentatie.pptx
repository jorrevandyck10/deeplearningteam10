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4878eba2c23453f" /><Relationship Type="http://schemas.openxmlformats.org/officeDocument/2006/relationships/extended-properties" Target="/docProps/app.xml" Id="Rd00198fa1db9456d" /><Relationship Type="http://schemas.openxmlformats.org/officeDocument/2006/relationships/officeDocument" Target="/ppt/presentation.xml" Id="R9102fad0387048a5" /></Relationships>
</file>

<file path=ppt/presentation.xml><?xml version="1.0" encoding="utf-8"?>
<p:presentation xmlns:p="http://schemas.openxmlformats.org/presentationml/2006/main">
  <p:sldMasterIdLst>
    <p:sldMasterId xmlns:r="http://schemas.openxmlformats.org/officeDocument/2006/relationships" id="2147483648" r:id="Rebf45c61131d4a67"/>
  </p:sldMasterIdLst>
  <p:notesMasterIdLst>
    <p:notesMasterId xmlns:r="http://schemas.openxmlformats.org/officeDocument/2006/relationships" r:id="R446960ef0c0649d7"/>
  </p:notesMasterIdLst>
  <p:sldIdLst>
    <p:sldId xmlns:r="http://schemas.openxmlformats.org/officeDocument/2006/relationships" id="256" r:id="Ra96a46a2ecd246e1"/>
    <p:sldId xmlns:r="http://schemas.openxmlformats.org/officeDocument/2006/relationships" id="257" r:id="Rbc9b6b494f6545ad"/>
    <p:sldId xmlns:r="http://schemas.openxmlformats.org/officeDocument/2006/relationships" id="258" r:id="Rc95724d8feb349af"/>
    <p:sldId xmlns:r="http://schemas.openxmlformats.org/officeDocument/2006/relationships" id="259" r:id="R20e6a11689fa4aaf"/>
    <p:sldId xmlns:r="http://schemas.openxmlformats.org/officeDocument/2006/relationships" id="260" r:id="Rbfbf5b7276fd4921"/>
    <p:sldId xmlns:r="http://schemas.openxmlformats.org/officeDocument/2006/relationships" id="261" r:id="R3e45a494c5374d7b"/>
    <p:sldId xmlns:r="http://schemas.openxmlformats.org/officeDocument/2006/relationships" id="262" r:id="Rb59a30c0fd394c64"/>
    <p:sldId xmlns:r="http://schemas.openxmlformats.org/officeDocument/2006/relationships" id="263" r:id="R737c35566aef4a02"/>
    <p:sldId xmlns:r="http://schemas.openxmlformats.org/officeDocument/2006/relationships" id="264" r:id="Rd9c1ca885bc44193"/>
    <p:sldId xmlns:r="http://schemas.openxmlformats.org/officeDocument/2006/relationships" id="265" r:id="Rd98e66b55200499a"/>
    <p:sldId xmlns:r="http://schemas.openxmlformats.org/officeDocument/2006/relationships" id="266" r:id="Rb321a2a9b0be4bf1"/>
    <p:sldId xmlns:r="http://schemas.openxmlformats.org/officeDocument/2006/relationships" id="267" r:id="Rd8cc51254a414c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0c62df2b644def" /><Relationship Type="http://schemas.openxmlformats.org/officeDocument/2006/relationships/slideMaster" Target="/ppt/slideMasters/slideMaster1.xml" Id="Rebf45c61131d4a67" /><Relationship Type="http://schemas.openxmlformats.org/officeDocument/2006/relationships/notesMaster" Target="/ppt/notesMasters/notesMaster1.xml" Id="R446960ef0c0649d7" /><Relationship Type="http://schemas.openxmlformats.org/officeDocument/2006/relationships/presProps" Target="/ppt/presProps.xml" Id="Re2e24b1fc9ad4e92" /><Relationship Type="http://schemas.openxmlformats.org/officeDocument/2006/relationships/tableStyles" Target="/ppt/tableStyles.xml" Id="R53c0efd92c1d47dd" /><Relationship Type="http://schemas.openxmlformats.org/officeDocument/2006/relationships/slide" Target="/ppt/slides/slide1.xml" Id="Ra96a46a2ecd246e1" /><Relationship Type="http://schemas.openxmlformats.org/officeDocument/2006/relationships/slide" Target="/ppt/slides/slide2.xml" Id="Rbc9b6b494f6545ad" /><Relationship Type="http://schemas.openxmlformats.org/officeDocument/2006/relationships/slide" Target="/ppt/slides/slide3.xml" Id="Rc95724d8feb349af" /><Relationship Type="http://schemas.openxmlformats.org/officeDocument/2006/relationships/slide" Target="/ppt/slides/slide4.xml" Id="R20e6a11689fa4aaf" /><Relationship Type="http://schemas.openxmlformats.org/officeDocument/2006/relationships/slide" Target="/ppt/slides/slide5.xml" Id="Rbfbf5b7276fd4921" /><Relationship Type="http://schemas.openxmlformats.org/officeDocument/2006/relationships/slide" Target="/ppt/slides/slide6.xml" Id="R3e45a494c5374d7b" /><Relationship Type="http://schemas.openxmlformats.org/officeDocument/2006/relationships/slide" Target="/ppt/slides/slide7.xml" Id="Rb59a30c0fd394c64" /><Relationship Type="http://schemas.openxmlformats.org/officeDocument/2006/relationships/slide" Target="/ppt/slides/slide8.xml" Id="R737c35566aef4a02" /><Relationship Type="http://schemas.openxmlformats.org/officeDocument/2006/relationships/slide" Target="/ppt/slides/slide9.xml" Id="Rd9c1ca885bc44193" /><Relationship Type="http://schemas.openxmlformats.org/officeDocument/2006/relationships/slide" Target="/ppt/slides/slide10.xml" Id="Rd98e66b55200499a" /><Relationship Type="http://schemas.openxmlformats.org/officeDocument/2006/relationships/slide" Target="/ppt/slides/slide11.xml" Id="Rb321a2a9b0be4bf1" /><Relationship Type="http://schemas.openxmlformats.org/officeDocument/2006/relationships/slide" Target="/ppt/slides/slide12.xml" Id="Rd8cc51254a414c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97c575f54547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4e3e67ae184724" /><Relationship Type="http://schemas.openxmlformats.org/officeDocument/2006/relationships/notesMaster" Target="/ppt/notesMasters/notesMaster1.xml" Id="Ra65c6eb9208940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9c3696376e4ec9" /><Relationship Type="http://schemas.openxmlformats.org/officeDocument/2006/relationships/notesMaster" Target="/ppt/notesMasters/notesMaster1.xml" Id="R0d757d5330084f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54f05b882e47f6" /><Relationship Type="http://schemas.openxmlformats.org/officeDocument/2006/relationships/notesMaster" Target="/ppt/notesMasters/notesMaster1.xml" Id="R5d8bd76d784744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1f3abbf40341ac" /><Relationship Type="http://schemas.openxmlformats.org/officeDocument/2006/relationships/notesMaster" Target="/ppt/notesMasters/notesMaster1.xml" Id="R968dd499b11448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f6d47c1ccd847ac" /><Relationship Type="http://schemas.openxmlformats.org/officeDocument/2006/relationships/notesMaster" Target="/ppt/notesMasters/notesMaster1.xml" Id="R3a0bab77143840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644cae0112433c" /><Relationship Type="http://schemas.openxmlformats.org/officeDocument/2006/relationships/notesMaster" Target="/ppt/notesMasters/notesMaster1.xml" Id="R418a5ee7b9b84e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f7a5da1f71447af" /><Relationship Type="http://schemas.openxmlformats.org/officeDocument/2006/relationships/notesMaster" Target="/ppt/notesMasters/notesMaster1.xml" Id="Rf1bd7a67e48140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fbc93583e14fd1" /><Relationship Type="http://schemas.openxmlformats.org/officeDocument/2006/relationships/notesMaster" Target="/ppt/notesMasters/notesMaster1.xml" Id="Re85dd91b40544fc7" /></Relationships>
</file>

<file path=ppt/notesSlides/_rels/notesSlide9.xml.rels>&#65279;<?xml version="1.0" encoding="utf-8"?><Relationships xmlns="http://schemas.openxmlformats.org/package/2006/relationships"><Relationship Type="http://schemas.openxmlformats.org/officeDocument/2006/relationships/slide" Target="/ppt/slides/slide9.xml" Id="R72e752e7e462425d" /><Relationship Type="http://schemas.openxmlformats.org/officeDocument/2006/relationships/notesMaster" Target="/ppt/notesMasters/notesMaster1.xml" Id="Rba2a09a514954ef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9b2e4c5a8641b4" /><Relationship Type="http://schemas.openxmlformats.org/officeDocument/2006/relationships/notesMaster" Target="/ppt/notesMasters/notesMaster1.xml" Id="Rf376f96f77994d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38ad30f79df4e76" /><Relationship Type="http://schemas.openxmlformats.org/officeDocument/2006/relationships/notesMaster" Target="/ppt/notesMasters/notesMaster1.xml" Id="R9e548076f86e47f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0b75af442de4a2e" /><Relationship Type="http://schemas.openxmlformats.org/officeDocument/2006/relationships/notesMaster" Target="/ppt/notesMasters/notesMaster1.xml" Id="R83bb5c515e7f4a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 — Stel het team voor zonder een niet-bevestigde taakverdeling te verzinnen. De daadwerkelijke menselijke bijdragen worden door Jorre nog gecontroleerd (stap 5). Onderwerp: een classificatieprobleem met Mushroom en een tijdreeksprobleem met Citi Bike. Coverillustratie is AI-gegenereerd, decoratief en geen datasetfoto.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 Mushroom gebruikt de afgesproken 5.000 cursusrijen. Het oorspronkelijke UCI-bestand is niet de definitieve vergelijkingsbron. Citi Bike start van ritregistraties, maar het model voorspelt geaggregeerde NYC-uurvraag. Houd NYC en Jersey City gescheiden. Citeer bronmanifesten voor omvang, niet alleen een bestandsnaam.</a:t>
            </a:r>
          </a:p>
          <a:p xmlns:a="http://schemas.openxmlformats.org/drawingml/2006/main">
            <a:r>
              <a:t/>
            </a:r>
          </a:p>
          <a:p xmlns:a="http://schemas.openxmlformats.org/drawingml/2006/main">
            <a:r>
              <a:t>Bronnen:</a:t>
            </a:r>
          </a:p>
          <a:p xmlns:a="http://schemas.openxmlformats.org/drawingml/2006/main">
            <a:r>
              <a:t>https://github.com/JorreVanDyck10/DeepLearningTeam10/blob/main/Final/tools/data.py</a:t>
            </a:r>
          </a:p>
          <a:p xmlns:a="http://schemas.openxmlformats.org/drawingml/2006/main">
            <a:r>
              <a:t>https://github.com/JorreVanDyck10/DeepLearningTeam10/blob/main/SolutionRaoul/Citybike/reports/data_manifest.json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 Benoem de dominante ontbrekende kenmerken. We gaan ze niet willekeurig invullen op basis van alle data. De uiteindelijke pipeline leert medianen en modi binnen elke trainingsfold. Nulmetingen blijven bij RF300 echte nulmetingen. Het ruisveld jumbled_noise_0 is verwijderd, jumbled_noise_1 blijft.</a:t>
            </a:r>
          </a:p>
          <a:p xmlns:a="http://schemas.openxmlformats.org/drawingml/2006/main">
            <a:r>
              <a:t/>
            </a:r>
          </a:p>
          <a:p xmlns:a="http://schemas.openxmlformats.org/drawingml/2006/main">
            <a:r>
              <a:t>Bronnen:</a:t>
            </a:r>
          </a:p>
          <a:p xmlns:a="http://schemas.openxmlformats.org/drawingml/2006/main">
            <a:r>
              <a:t>https://github.com/JorreVanDyck10/DeepLearningTeam10/blob/main/Final/Mushroom/01_EDA.ipynb</a:t>
            </a:r>
          </a:p>
          <a:p xmlns:a="http://schemas.openxmlformats.org/drawingml/2006/main">
            <a:r>
              <a:t>https://github.com/JorreVanDyck10/DeepLearningTeam10/blob/main/Final/Mushroom/02_voorbereiding.ipynb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 Laat zien waarom preprocessing vóór cross-validatie leakage kan geven. De oorspronkelijke proximity-imputatie was vóór CV geleerd; de gecorrigeerde vergelijking fit de volledige pipeline binnen elke fold. De 900 testrecords zijn eerder bekeken en mogen dus niet als onaangeraakte eindtest worden verkocht.</a:t>
            </a:r>
          </a:p>
          <a:p xmlns:a="http://schemas.openxmlformats.org/drawingml/2006/main">
            <a:r>
              <a:t/>
            </a:r>
          </a:p>
          <a:p xmlns:a="http://schemas.openxmlformats.org/drawingml/2006/main">
            <a:r>
              <a:t>Bronnen:</a:t>
            </a:r>
          </a:p>
          <a:p xmlns:a="http://schemas.openxmlformats.org/drawingml/2006/main">
            <a:r>
              <a:t>https://github.com/JorreVanDyck10/DeepLearningTeam10/blob/main/MushroomFinal/final_model_support.py</a:t>
            </a:r>
          </a:p>
          <a:p xmlns:a="http://schemas.openxmlformats.org/drawingml/2006/main">
            <a:r>
              <a:t>https://github.com/JorreVanDyck10/DeepLearningTeam10/blob/main/MushroomFinal/comparison_correct/protocol.json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 — De primaire rangschikking is gemiddelde CV macro F1. RF300 is de voorlopige keuze, met een kleine voorsprong op AWS en RF500. Dit is geen bewijs dat ieder verschil statistisch significant is. De AWS-rij komt uit de afzonderlijk gecontroleerde echte SageMaker-run.</a:t>
            </a:r>
          </a:p>
          <a:p xmlns:a="http://schemas.openxmlformats.org/drawingml/2006/main">
            <a:r>
              <a:t/>
            </a:r>
          </a:p>
          <a:p xmlns:a="http://schemas.openxmlformats.org/drawingml/2006/main">
            <a:r>
              <a:t>Bronnen:</a:t>
            </a:r>
          </a:p>
          <a:p xmlns:a="http://schemas.openxmlformats.org/drawingml/2006/main">
            <a:r>
              <a:t>https://github.com/JorreVanDyck10/DeepLearningTeam10/blob/main/MushroomFinal/comparison_correct/model_comparison.csv</a:t>
            </a:r>
          </a:p>
          <a:p xmlns:a="http://schemas.openxmlformats.org/drawingml/2006/main">
            <a:r>
              <a:t>https://github.com/JorreVanDyck10/DeepLearningTeam10/blob/main/MushroomFinal/comparison_correct/aws_artifact_audit.json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 Accuracy verbergt dat er 121 giftige voorbeelden worden gemist. De positief-klasse-recall is 220/341 = 64,52%. Ook &gt;=95% eetbare scores zijn niet veilig geïnterpreteerd: 7 van 55 trainingsvalidatiegevallen zijn giftig. Daarom bevestigt de UI geen eetbaarheid; onder 50% giftigheidsscore onthoudt zij zich met onzeker/mogelijk giftig. Dat maakt de classifier niet nauwkeuriger.</a:t>
            </a:r>
          </a:p>
          <a:p xmlns:a="http://schemas.openxmlformats.org/drawingml/2006/main">
            <a:r>
              <a:t/>
            </a:r>
          </a:p>
          <a:p xmlns:a="http://schemas.openxmlformats.org/drawingml/2006/main">
            <a:r>
              <a:t>Bronnen:</a:t>
            </a:r>
          </a:p>
          <a:p xmlns:a="http://schemas.openxmlformats.org/drawingml/2006/main">
            <a:r>
              <a:t>https://github.com/JorreVanDyck10/DeepLearningTeam10/blob/main/MushroomFinal/comparison_correct/model_comparison.csv</a:t>
            </a:r>
          </a:p>
          <a:p xmlns:a="http://schemas.openxmlformats.org/drawingml/2006/main">
            <a:r>
              <a:t>https://github.com/JorreVanDyck10/DeepLearningTeam10/blob/main/docs/mushroom_decisions.md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 Jorre voerde training en vier kandidaatinstellingen uit op het juiste cursusbestand. Het gedownloade notebook en de pipeline staan in Git. De artifactaudit herberekent de voorspellingen en vergelijkt ze met de lokale baseline. Het AWS-model hoeft niet automatisch het beste model te zijn.</a:t>
            </a:r>
          </a:p>
          <a:p xmlns:a="http://schemas.openxmlformats.org/drawingml/2006/main">
            <a:r>
              <a:t/>
            </a:r>
          </a:p>
          <a:p xmlns:a="http://schemas.openxmlformats.org/drawingml/2006/main">
            <a:r>
              <a:t>Bronnen:</a:t>
            </a:r>
          </a:p>
          <a:p xmlns:a="http://schemas.openxmlformats.org/drawingml/2006/main">
            <a:r>
              <a:t>https://github.com/JorreVanDyck10/DeepLearningTeam10/blob/main/SolutionJorre/MushroomDataset/correct_dataset/04_aws_correct_dataset.ipynb</a:t>
            </a:r>
          </a:p>
          <a:p xmlns:a="http://schemas.openxmlformats.org/drawingml/2006/main">
            <a:r>
              <a:t>https://github.com/JorreVanDyck10/DeepLearningTeam10/blob/main/MushroomFinal/comparison_correct/aws_artifact_audit.json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 De hypothese is vóór de berekening vastgelegd. Ochtendrit-aandeel ligt op werkdagen gemiddeld 9,55 procentpunt hoger dan in het weekend. Holm-gecorrigeerde p is ongeveer 0,00015; vierweekblokken houden rekening met tijdsafhankelijkheid. Dit is associatie, geen causaliteit. Lagkenmerken vereisen tijdig beschikbare voorafgaande tellingen.</a:t>
            </a:r>
          </a:p>
          <a:p xmlns:a="http://schemas.openxmlformats.org/drawingml/2006/main">
            <a:r>
              <a:t/>
            </a:r>
          </a:p>
          <a:p xmlns:a="http://schemas.openxmlformats.org/drawingml/2006/main">
            <a:r>
              <a:t>Bronnen:</a:t>
            </a:r>
          </a:p>
          <a:p xmlns:a="http://schemas.openxmlformats.org/drawingml/2006/main">
            <a:r>
              <a:t>https://github.com/JorreVanDyck10/DeepLearningTeam10/blob/main/SolutionRaoul/Citybike/reports/hypotheses.json</a:t>
            </a:r>
          </a:p>
          <a:p xmlns:a="http://schemas.openxmlformats.org/drawingml/2006/main">
            <a:r>
              <a:t>https://github.com/JorreVanDyck10/DeepLearningTeam10/blob/main/SolutionRaoul/Citybike/reports/hypothesis_protocol.json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 Dit zijn validatiescores van mei–juni, geen eindtestscore. Lagere RMSE is beter. RF320 is de vastgelegde keuze. De RF-tuning leverde slechts een kleine extra verbetering; modelcomplexiteit en looptijd worden mee afgewogen. De eindtest bleef beschermd tot na de selectie.</a:t>
            </a:r>
          </a:p>
          <a:p xmlns:a="http://schemas.openxmlformats.org/drawingml/2006/main">
            <a:r>
              <a:t/>
            </a:r>
          </a:p>
          <a:p xmlns:a="http://schemas.openxmlformats.org/drawingml/2006/main">
            <a:r>
              <a:t>Bronnen:</a:t>
            </a:r>
          </a:p>
          <a:p xmlns:a="http://schemas.openxmlformats.org/drawingml/2006/main">
            <a:r>
              <a:t>https://github.com/JorreVanDyck10/DeepLearningTeam10/blob/main/SolutionRaoul/Citybike/reports/model_comparison.csv</a:t>
            </a:r>
          </a:p>
          <a:p xmlns:a="http://schemas.openxmlformats.org/drawingml/2006/main">
            <a:r>
              <a:t>https://github.com/JorreVanDyck10/DeepLearningTeam10/blob/main/SolutionRaoul/Citybike/reports/model_selection.json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 Eindtest juli–augustus: RF RMSE 1.979,51 tegenover weekbaseline 2.608,78; relatieve reductie 24,12%. MAE 1.076,23 en R² 0,8280 over 1.488 uurvakken. Geen verdere tuning op deze eindtest. Onzekerheidsinterval is indicatief door ongeveer negen weekblokken.</a:t>
            </a:r>
          </a:p>
          <a:p xmlns:a="http://schemas.openxmlformats.org/drawingml/2006/main">
            <a:r>
              <a:t/>
            </a:r>
          </a:p>
          <a:p xmlns:a="http://schemas.openxmlformats.org/drawingml/2006/main">
            <a:r>
              <a:t>Bronnen:</a:t>
            </a:r>
          </a:p>
          <a:p xmlns:a="http://schemas.openxmlformats.org/drawingml/2006/main">
            <a:r>
              <a:t>https://github.com/JorreVanDyck10/DeepLearningTeam10/blob/main/SolutionRaoul/Citybike/reports/final_evaluation.json</a:t>
            </a:r>
          </a:p>
          <a:p xmlns:a="http://schemas.openxmlformats.org/drawingml/2006/main">
            <a:r>
              <a:t>https://github.com/JorreVanDyck10/DeepLearningTeam10/blob/main/SolutionRaoul/Citybike/reports/evaluation_lock.json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 — Leg de datastroom uit. Een codepush triggert echte Mushroom-training op Python 3.11. Een afzonderlijke Python 3.13-job verifieert de lossless export en beide API-modellen. Publicatie gebeurt pas na kwaliteitsgates en tests; een stale broncommit wordt geweigerd. Render en Netlify volgen de gevalideerde commit. Citi Bike wordt uit een gepinde release geladen; deze workflow claimt geen nieuwe Citi Bike-training.</a:t>
            </a:r>
          </a:p>
          <a:p xmlns:a="http://schemas.openxmlformats.org/drawingml/2006/main">
            <a:r>
              <a:t/>
            </a:r>
          </a:p>
          <a:p xmlns:a="http://schemas.openxmlformats.org/drawingml/2006/main">
            <a:r>
              <a:t>Bronnen:</a:t>
            </a:r>
          </a:p>
          <a:p xmlns:a="http://schemas.openxmlformats.org/drawingml/2006/main">
            <a:r>
              <a:t>https://github.com/JorreVanDyck10/DeepLearningTeam10/blob/main/Final/AUTOMATISERING.md</a:t>
            </a:r>
          </a:p>
          <a:p xmlns:a="http://schemas.openxmlformats.org/drawingml/2006/main">
            <a:r>
              <a:t>https://github.com/JorreVanDyck10/DeepLearningTeam10/blob/main/.github/workflows/model-training.yml</a:t>
            </a:r>
          </a:p>
          <a:p xmlns:a="http://schemas.openxmlformats.org/drawingml/2006/main">
            <a:r>
              <a:t>https://github.com/JorreVanDyck10/DeepLearningTeam10/blob/main/backend/main.py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 live demo indien tijd. Toon eerst Voorbeeld invullen/Voorspellen voor Mushroom, daarna de historische Citi Bike-demo. De gitnotebooks zijn de fallback. Rond af met: reproduceerbare vergelijking, bewezen koppeling naar echte inference, maar geen eetadvies en geen gegarandeerde toekomstige City Bike-kwaliteit. Laat circa 7 minuten voor vragen. De definitieve bijdragen en GenAI-policy worden door Jorre in stap 5 gecontroleerd; dit spreekplan verzint geen taakverdeling.</a:t>
            </a:r>
          </a:p>
          <a:p xmlns:a="http://schemas.openxmlformats.org/drawingml/2006/main">
            <a:r>
              <a:t/>
            </a:r>
          </a:p>
          <a:p xmlns:a="http://schemas.openxmlformats.org/drawingml/2006/main">
            <a:r>
              <a:t>Bronnen:</a:t>
            </a:r>
          </a:p>
          <a:p xmlns:a="http://schemas.openxmlformats.org/drawingml/2006/main">
            <a:r>
              <a:t>https://github.com/JorreVanDyck10/DeepLearningTeam10/blob/main/Final/README.md</a:t>
            </a:r>
          </a:p>
          <a:p xmlns:a="http://schemas.openxmlformats.org/drawingml/2006/main">
            <a:r>
              <a:t>https://github.com/JorreVanDyck10/DeepLearningTeam10/blob/main/Final/INLEVERCHECK.md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d38b312b015431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2b9759c82c9436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7e0c6a25cf44f8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09573c06ce742c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8a52742ca43489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f58fabdc17443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A2AFDC-F05E-45FA-A6D4-F078CA9D3E8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35534C8-0C05-4DF7-9744-9BDE9418069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32D58CA-3227-4A5D-882A-6C3145C4A65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7D0EA8-03F4-4250-AE7E-50DDD320CE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09E8A08-A74A-4D91-9DA6-AD51F724B35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0A1F460-FDD0-45B6-8C0E-F5D5EE2C35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BB37BC-D0E2-4840-A7DE-208FFE9A64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43C8AAB-B4BB-40E2-8125-B2149A1E1F2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F6F4FF-3F13-4E52-A06C-915342B388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BF2A2E-7BF9-4DE9-9B51-1DAA0DC24F9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f3a0e744844ac6" /><Relationship Type="http://schemas.openxmlformats.org/officeDocument/2006/relationships/slideLayout" Target="/ppt/slideLayouts/slideLayout1.xml" Id="R5a809c0cac5d456f" /><Relationship Type="http://schemas.openxmlformats.org/officeDocument/2006/relationships/slideLayout" Target="/ppt/slideLayouts/slideLayout2.xml" Id="R58f55586beac4ebb" /><Relationship Type="http://schemas.openxmlformats.org/officeDocument/2006/relationships/slideLayout" Target="/ppt/slideLayouts/slideLayout3.xml" Id="R02840af94e2840be" /><Relationship Type="http://schemas.openxmlformats.org/officeDocument/2006/relationships/slideLayout" Target="/ppt/slideLayouts/slideLayout4.xml" Id="Rd07b0857ecbb4a2b" /><Relationship Type="http://schemas.openxmlformats.org/officeDocument/2006/relationships/slideLayout" Target="/ppt/slideLayouts/slideLayout5.xml" Id="R7a12d234c09f4cde" /><Relationship Type="http://schemas.openxmlformats.org/officeDocument/2006/relationships/slideLayout" Target="/ppt/slideLayouts/slideLayout6.xml" Id="Rc0f306fe1679463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809c0cac5d456f"/>
    <p:sldLayoutId xmlns:r="http://schemas.openxmlformats.org/officeDocument/2006/relationships" id="2147483650" r:id="R58f55586beac4ebb"/>
    <p:sldLayoutId xmlns:r="http://schemas.openxmlformats.org/officeDocument/2006/relationships" id="2147483651" r:id="R02840af94e2840be"/>
    <p:sldLayoutId xmlns:r="http://schemas.openxmlformats.org/officeDocument/2006/relationships" id="2147483652" r:id="Rd07b0857ecbb4a2b"/>
    <p:sldLayoutId xmlns:r="http://schemas.openxmlformats.org/officeDocument/2006/relationships" id="2147483653" r:id="R7a12d234c09f4cde"/>
    <p:sldLayoutId xmlns:r="http://schemas.openxmlformats.org/officeDocument/2006/relationships" id="2147483654" r:id="Rc0f306fe167946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9971ea22fcf47d0" /><Relationship Type="http://schemas.openxmlformats.org/officeDocument/2006/relationships/image" Target="/ppt/media/image.png" Id="Rec26b379b38644bd" /><Relationship Type="http://schemas.openxmlformats.org/officeDocument/2006/relationships/notesSlide" Target="/ppt/notesSlides/notesSlide1.xml" Id="Rd4a7e013a93048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8afa9e286084bb7" /><Relationship Type="http://schemas.openxmlformats.org/officeDocument/2006/relationships/notesSlide" Target="/ppt/notesSlides/notesSlide2.xml" Id="R93455b001b5349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4bcb62092b04b86" /><Relationship Type="http://schemas.openxmlformats.org/officeDocument/2006/relationships/chart" Target="/ppt/slides/charts/chart1.xml" Id="R42540d19fa544bc5" /><Relationship Type="http://schemas.openxmlformats.org/officeDocument/2006/relationships/notesSlide" Target="/ppt/notesSlides/notesSlide3.xml" Id="R6c8fafe4d8fd4e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dfad7804f1f4a41" /><Relationship Type="http://schemas.openxmlformats.org/officeDocument/2006/relationships/notesSlide" Target="/ppt/notesSlides/notesSlide4.xml" Id="R89d99146e32b40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929b770ab894370" /><Relationship Type="http://schemas.openxmlformats.org/officeDocument/2006/relationships/chart" Target="/ppt/slides/charts/chart2.xml" Id="Rdb8eb35307524900" /><Relationship Type="http://schemas.openxmlformats.org/officeDocument/2006/relationships/notesSlide" Target="/ppt/notesSlides/notesSlide5.xml" Id="R25b67ed1d1f74e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9e806814b3a4cf9" /><Relationship Type="http://schemas.openxmlformats.org/officeDocument/2006/relationships/notesSlide" Target="/ppt/notesSlides/notesSlide6.xml" Id="R35c66f9d04fb49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089026e4cf74087" /><Relationship Type="http://schemas.openxmlformats.org/officeDocument/2006/relationships/notesSlide" Target="/ppt/notesSlides/notesSlide7.xml" Id="R61f8a4c617144e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15b3ee13efb4371" /><Relationship Type="http://schemas.openxmlformats.org/officeDocument/2006/relationships/notesSlide" Target="/ppt/notesSlides/notesSlide8.xml" Id="R77b9ec1d7b45411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bf313e017204d9b" /><Relationship Type="http://schemas.openxmlformats.org/officeDocument/2006/relationships/chart" Target="/ppt/slides/charts/chart3.xml" Id="R575255e1b33341a6" /><Relationship Type="http://schemas.openxmlformats.org/officeDocument/2006/relationships/notesSlide" Target="/ppt/notesSlides/notesSlide9.xml" Id="Rc203f26ec09b4c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8b68871fdf94c6f" /><Relationship Type="http://schemas.openxmlformats.org/officeDocument/2006/relationships/chart" Target="/ppt/slides/charts/chart4.xml" Id="Rb410c9d1d6564351" /><Relationship Type="http://schemas.openxmlformats.org/officeDocument/2006/relationships/notesSlide" Target="/ppt/notesSlides/notesSlide10.xml" Id="R3ca5dc49dd15415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4bb06c7c8944be6" /><Relationship Type="http://schemas.openxmlformats.org/officeDocument/2006/relationships/image" Target="/ppt/media/image2.png" Id="R98dc227b3b654649" /><Relationship Type="http://schemas.openxmlformats.org/officeDocument/2006/relationships/notesSlide" Target="/ppt/notesSlides/notesSlide11.xml" Id="Rdf4b72d7fd364d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c8a53c7b8e44036" /><Relationship Type="http://schemas.openxmlformats.org/officeDocument/2006/relationships/notesSlide" Target="/ppt/notesSlides/notesSlide12.xml" Id="R56a9d24f22b8419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Ontbrekende waarden</c:v>
          </c:tx>
          <c:spPr>
            <a:solidFill xmlns:a="http://schemas.openxmlformats.org/drawingml/2006/main">
              <a:srgbClr val="2D7352"/>
            </a:solidFill>
          </c:spPr>
          <c:invertIfNegative val="0"/>
          <c:cat>
            <c:strRef>
              <c:f>'Chart Data'!$A$2:$A$7</c:f>
              <c:strCache>
                <c:ptCount val="6"/>
                <c:pt idx="0">
                  <c:v>Sporenafdruk</c:v>
                </c:pt>
                <c:pt idx="1">
                  <c:v>Steeloppervlak</c:v>
                </c:pt>
                <c:pt idx="2">
                  <c:v>Hoeddiameter</c:v>
                </c:pt>
                <c:pt idx="3">
                  <c:v>Steelhoogte</c:v>
                </c:pt>
                <c:pt idx="4">
                  <c:v>habitat</c:v>
                </c:pt>
                <c:pt idx="5">
                  <c:v>Lamelkleur</c:v>
                </c:pt>
              </c:strCache>
            </c:strRef>
          </c:cat>
          <c:val>
            <c:numRef>
              <c:f>'Chart Data'!$B$2:$B$7</c:f>
              <c:numCache>
                <c:formatCode>General</c:formatCode>
                <c:ptCount val="6"/>
                <c:pt idx="0">
                  <c:v>4740</c:v>
                </c:pt>
                <c:pt idx="1">
                  <c:v>3359</c:v>
                </c:pt>
                <c:pt idx="2">
                  <c:v>2032</c:v>
                </c:pt>
                <c:pt idx="3">
                  <c:v>1013</c:v>
                </c:pt>
                <c:pt idx="4">
                  <c:v>1004</c:v>
                </c:pt>
                <c:pt idx="5">
                  <c:v>989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b"/>
        <c:majorGridlines>
          <c:spPr>
            <a:ln xmlns:a="http://schemas.openxmlformats.org/drawingml/2006/main" w="9525">
              <a:solidFill>
                <a:srgbClr val="CFDBD3"/>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CV macro F1</c:v>
          </c:tx>
          <c:spPr>
            <a:solidFill xmlns:a="http://schemas.openxmlformats.org/drawingml/2006/main">
              <a:srgbClr val="2D7352"/>
            </a:solidFill>
          </c:spPr>
          <c:invertIfNegative val="0"/>
          <c:cat>
            <c:strRef>
              <c:f>'Chart Data'!$A$2:$A$5</c:f>
              <c:strCache>
                <c:ptCount val="4"/>
                <c:pt idx="0">
                  <c:v>RF300</c:v>
                </c:pt>
                <c:pt idx="1">
                  <c:v>AWS Random Forest</c:v>
                </c:pt>
                <c:pt idx="2">
                  <c:v>Gradient Boosting</c:v>
                </c:pt>
                <c:pt idx="3">
                  <c:v>Logistic Regression</c:v>
                </c:pt>
              </c:strCache>
            </c:strRef>
          </c:cat>
          <c:val>
            <c:numRef>
              <c:f>'Chart Data'!$B$2:$B$5</c:f>
              <c:numCache>
                <c:formatCode>0.000</c:formatCode>
                <c:ptCount val="4"/>
                <c:pt idx="0">
                  <c:v>0.761876</c:v>
                </c:pt>
                <c:pt idx="1">
                  <c:v>0.753124</c:v>
                </c:pt>
                <c:pt idx="2">
                  <c:v>0.719175</c:v>
                </c:pt>
                <c:pt idx="3">
                  <c:v>0.625668</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CFDBD3"/>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Validatie-RMSE</c:v>
          </c:tx>
          <c:spPr>
            <a:solidFill xmlns:a="http://schemas.openxmlformats.org/drawingml/2006/main">
              <a:srgbClr val="2D7352"/>
            </a:solidFill>
          </c:spPr>
          <c:invertIfNegative val="0"/>
          <c:cat>
            <c:strRef>
              <c:f>'Chart Data'!$A$2:$A$5</c:f>
              <c:strCache>
                <c:ptCount val="4"/>
                <c:pt idx="0">
                  <c:v>Weekbaseline</c:v>
                </c:pt>
                <c:pt idx="1">
                  <c:v>Ridge</c:v>
                </c:pt>
                <c:pt idx="2">
                  <c:v>Getunede LightGBM</c:v>
                </c:pt>
                <c:pt idx="3">
                  <c:v>RF320</c:v>
                </c:pt>
              </c:strCache>
            </c:strRef>
          </c:cat>
          <c:val>
            <c:numRef>
              <c:f>'Chart Data'!$B$2:$B$5</c:f>
              <c:numCache>
                <c:formatCode>0</c:formatCode>
                <c:ptCount val="4"/>
                <c:pt idx="0">
                  <c:v>2826.16492</c:v>
                </c:pt>
                <c:pt idx="1">
                  <c:v>1982.440036</c:v>
                </c:pt>
                <c:pt idx="2">
                  <c:v>1972.512094</c:v>
                </c:pt>
                <c:pt idx="3">
                  <c:v>1940.49288</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CFDBD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Eindtest-RMSE</c:v>
          </c:tx>
          <c:spPr>
            <a:solidFill xmlns:a="http://schemas.openxmlformats.org/drawingml/2006/main">
              <a:srgbClr val="2D7352"/>
            </a:solidFill>
          </c:spPr>
          <c:invertIfNegative val="0"/>
          <c:cat>
            <c:strRef>
              <c:f>'Chart Data'!$A$2:$A$3</c:f>
              <c:strCache>
                <c:ptCount val="2"/>
                <c:pt idx="0">
                  <c:v>Weekbaseline</c:v>
                </c:pt>
                <c:pt idx="1">
                  <c:v>RF320</c:v>
                </c:pt>
              </c:strCache>
            </c:strRef>
          </c:cat>
          <c:val>
            <c:numRef>
              <c:f>'Chart Data'!$B$2:$B$3</c:f>
              <c:numCache>
                <c:formatCode>0</c:formatCode>
                <c:ptCount val="2"/>
                <c:pt idx="0">
                  <c:v>2608.777506</c:v>
                </c:pt>
                <c:pt idx="1">
                  <c:v>1979.50716</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CFDBD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A261D"/>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034207AE-DB32-48ED-BA0B-A9C650239495}"/>
              </a:ext>
            </a:extLst>
          </p:cNvPr>
          <p:cNvPicPr>
            <a:picLocks xmlns:a="http://schemas.openxmlformats.org/drawingml/2006/main" noChangeAspect="1"/>
          </p:cNvPicPr>
          <p:nvPr/>
        </p:nvPicPr>
        <p:blipFill>
          <a:blip xmlns:r="http://schemas.openxmlformats.org/officeDocument/2006/relationships" xmlns:a="http://schemas.openxmlformats.org/drawingml/2006/main" r:embed="Rec26b379b38644bd"/>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cover-title">
            <a:extLst xmlns:a="http://schemas.openxmlformats.org/drawingml/2006/main">
              <a:ext uri="{FF2B5EF4-FFF2-40B4-BE49-F238E27FC236}">
                <a16:creationId xmlns:a16="http://schemas.microsoft.com/office/drawing/2014/main" id="{C65186F5-0183-4B8E-9962-5BD47B7A077C}"/>
              </a:ext>
            </a:extLst>
          </p:cNvPr>
          <p:cNvSpPr>
            <a:spLocks xmlns:a="http://schemas.openxmlformats.org/drawingml/2006/main" noGrp="1"/>
          </p:cNvSpPr>
          <p:nvPr/>
        </p:nvSpPr>
        <p:spPr>
          <a:xfrm xmlns:a="http://schemas.openxmlformats.org/drawingml/2006/main">
            <a:off x="647700" y="1257300"/>
            <a:ext cx="6477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FFFFFF"/>
                </a:solidFill>
                <a:latin typeface="Arial"/>
                <a:ea typeface="Arial"/>
                <a:cs typeface="Arial"/>
              </a:defRPr>
            </a:defPPr>
          </a:lstStyle>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Paddenstoelen</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en fietsverkeer</a:t>
            </a:r>
          </a:p>
        </p:txBody>
      </p:sp>
      <p:sp>
        <p:nvSpPr>
          <p:cNvPr id="3" name="cover-subtitle">
            <a:extLst xmlns:a="http://schemas.openxmlformats.org/drawingml/2006/main">
              <a:ext uri="{FF2B5EF4-FFF2-40B4-BE49-F238E27FC236}">
                <a16:creationId xmlns:a16="http://schemas.microsoft.com/office/drawing/2014/main" id="{B3A15D40-267B-4AF9-8AB6-594107C2EF1F}"/>
              </a:ext>
            </a:extLst>
          </p:cNvPr>
          <p:cNvSpPr>
            <a:spLocks xmlns:a="http://schemas.openxmlformats.org/drawingml/2006/main" noGrp="1"/>
          </p:cNvSpPr>
          <p:nvPr/>
        </p:nvSpPr>
        <p:spPr>
          <a:xfrm xmlns:a="http://schemas.openxmlformats.org/drawingml/2006/main">
            <a:off x="685800" y="3295650"/>
            <a:ext cx="628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D7E9DB"/>
                </a:solidFill>
                <a:latin typeface="Arial"/>
                <a:ea typeface="Arial"/>
                <a:cs typeface="Arial"/>
              </a:defRPr>
            </a:defPPr>
          </a:lstStyle>
          <a:p xmlns:a="http://schemas.openxmlformats.org/drawingml/2006/main">
            <a:pPr>
              <a:defRPr sz="2175" b="0">
                <a:solidFill>
                  <a:srgbClr val="D7E9DB"/>
                </a:solidFill>
                <a:latin typeface="Arial"/>
                <a:ea typeface="Arial"/>
                <a:cs typeface="Arial"/>
              </a:defRPr>
            </a:pPr>
            <a:r>
              <a:rPr sz="2175" b="0">
                <a:solidFill>
                  <a:srgbClr val="D7E9DB"/>
                </a:solidFill>
                <a:latin typeface="Arial"/>
                <a:ea typeface="Arial"/>
                <a:cs typeface="Arial"/>
              </a:rPr>
              <a:t>Machine Learning / Cloud AI</a:t>
            </a:r>
          </a:p>
        </p:txBody>
      </p:sp>
      <p:sp>
        <p:nvSpPr>
          <p:cNvPr id="4" name="cover-team">
            <a:extLst xmlns:a="http://schemas.openxmlformats.org/drawingml/2006/main">
              <a:ext uri="{FF2B5EF4-FFF2-40B4-BE49-F238E27FC236}">
                <a16:creationId xmlns:a16="http://schemas.microsoft.com/office/drawing/2014/main" id="{1AACD1F8-056D-4690-AA68-26CA0B6C38CC}"/>
              </a:ext>
            </a:extLst>
          </p:cNvPr>
          <p:cNvSpPr>
            <a:spLocks xmlns:a="http://schemas.openxmlformats.org/drawingml/2006/main" noGrp="1"/>
          </p:cNvSpPr>
          <p:nvPr/>
        </p:nvSpPr>
        <p:spPr>
          <a:xfrm xmlns:a="http://schemas.openxmlformats.org/drawingml/2006/main">
            <a:off x="685800" y="43529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FFFFFF"/>
                </a:solidFill>
                <a:latin typeface="Arial"/>
                <a:ea typeface="Arial"/>
                <a:cs typeface="Arial"/>
              </a:defRPr>
            </a:defPPr>
          </a:lstStyle>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DeepLearningTeam10</a:t>
            </a:r>
          </a:p>
        </p:txBody>
      </p:sp>
      <p:sp>
        <p:nvSpPr>
          <p:cNvPr id="5" name="cover-names">
            <a:extLst xmlns:a="http://schemas.openxmlformats.org/drawingml/2006/main">
              <a:ext uri="{FF2B5EF4-FFF2-40B4-BE49-F238E27FC236}">
                <a16:creationId xmlns:a16="http://schemas.microsoft.com/office/drawing/2014/main" id="{0E83E747-43CF-4C58-B9F2-57ADFA88357E}"/>
              </a:ext>
            </a:extLst>
          </p:cNvPr>
          <p:cNvSpPr>
            <a:spLocks xmlns:a="http://schemas.openxmlformats.org/drawingml/2006/main" noGrp="1"/>
          </p:cNvSpPr>
          <p:nvPr/>
        </p:nvSpPr>
        <p:spPr>
          <a:xfrm xmlns:a="http://schemas.openxmlformats.org/drawingml/2006/main">
            <a:off x="685800" y="4953000"/>
            <a:ext cx="628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D7E9DB"/>
                </a:solidFill>
                <a:latin typeface="Arial"/>
                <a:ea typeface="Arial"/>
                <a:cs typeface="Arial"/>
              </a:defRPr>
            </a:defPPr>
          </a:lstStyle>
          <a:p xmlns:a="http://schemas.openxmlformats.org/drawingml/2006/main">
            <a:pPr>
              <a:defRPr sz="1875" b="0">
                <a:solidFill>
                  <a:srgbClr val="D7E9DB"/>
                </a:solidFill>
                <a:latin typeface="Arial"/>
                <a:ea typeface="Arial"/>
                <a:cs typeface="Arial"/>
              </a:defRPr>
            </a:pPr>
            <a:r>
              <a:rPr sz="1875" b="0">
                <a:solidFill>
                  <a:srgbClr val="D7E9DB"/>
                </a:solidFill>
                <a:latin typeface="Arial"/>
                <a:ea typeface="Arial"/>
                <a:cs typeface="Arial"/>
              </a:rPr>
              <a:t>Jorre Van Dyck · Milan Wouters</a:t>
            </a:r>
          </a:p>
          <a:p xmlns:a="http://schemas.openxmlformats.org/drawingml/2006/main">
            <a:pPr>
              <a:defRPr sz="1875" b="0">
                <a:solidFill>
                  <a:srgbClr val="D7E9DB"/>
                </a:solidFill>
                <a:latin typeface="Arial"/>
                <a:ea typeface="Arial"/>
                <a:cs typeface="Arial"/>
              </a:defRPr>
            </a:pPr>
            <a:r>
              <a:rPr sz="1875" b="0">
                <a:solidFill>
                  <a:srgbClr val="D7E9DB"/>
                </a:solidFill>
                <a:latin typeface="Arial"/>
                <a:ea typeface="Arial"/>
                <a:cs typeface="Arial"/>
              </a:rPr>
              <a:t>Raoul Buffels · Andrew Noeyens</a:t>
            </a:r>
          </a:p>
        </p:txBody>
      </p:sp>
    </p:spTree>
    <p:extLst>
      <p:ext uri="{BB962C8B-B14F-4D97-AF65-F5344CB8AC3E}">
        <p14:creationId xmlns:p14="http://schemas.microsoft.com/office/powerpoint/2010/main" val="510505392"/>
      </p:ext>
    </p:extLst>
  </p:cSld>
</p:sld>
</file>

<file path=ppt/slides/slide2.xml><?xml version="1.0" encoding="utf-8"?>
<p:sld xmlns:p="http://schemas.openxmlformats.org/presentationml/2006/main">
  <p:cSld>
    <p:bg>
      <p:bgPr>
        <a:solidFill xmlns:a="http://schemas.openxmlformats.org/drawingml/2006/main">
          <a:srgbClr val="F2F6F2"/>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D37E8942-5DA0-4796-AB85-4A9932A2F5A3}"/>
              </a:ext>
            </a:extLst>
          </p:cNvPr>
          <p:cNvSpPr>
            <a:spLocks xmlns:a="http://schemas.openxmlformats.org/drawingml/2006/main" noGrp="1"/>
          </p:cNvSpPr>
          <p:nvPr/>
        </p:nvSpPr>
        <p:spPr>
          <a:xfrm xmlns:a="http://schemas.openxmlformats.org/drawingml/2006/main">
            <a:off x="666750" y="43815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E30"/>
                </a:solidFill>
                <a:latin typeface="Arial"/>
                <a:ea typeface="Arial"/>
                <a:cs typeface="Arial"/>
              </a:defRPr>
            </a:defPPr>
          </a:lstStyle>
          <a:p xmlns:a="http://schemas.openxmlformats.org/drawingml/2006/main">
            <a:pPr>
              <a:defRPr sz="3300" b="1">
                <a:solidFill>
                  <a:srgbClr val="153E30"/>
                </a:solidFill>
                <a:latin typeface="Arial"/>
                <a:ea typeface="Arial"/>
                <a:cs typeface="Arial"/>
              </a:defRPr>
            </a:pPr>
            <a:r>
              <a:rPr sz="3300" b="1">
                <a:solidFill>
                  <a:srgbClr val="153E30"/>
                </a:solidFill>
                <a:latin typeface="Arial"/>
                <a:ea typeface="Arial"/>
                <a:cs typeface="Arial"/>
              </a:rPr>
              <a:t>Data en voorspeltaken</a:t>
            </a:r>
          </a:p>
        </p:txBody>
      </p:sp>
      <p:sp>
        <p:nvSpPr>
          <p:cNvPr id="2" name="number">
            <a:extLst xmlns:a="http://schemas.openxmlformats.org/drawingml/2006/main">
              <a:ext uri="{FF2B5EF4-FFF2-40B4-BE49-F238E27FC236}">
                <a16:creationId xmlns:a16="http://schemas.microsoft.com/office/drawing/2014/main" id="{57C964E5-7A9B-41F0-B827-1AC9C6F3AA66}"/>
              </a:ext>
            </a:extLst>
          </p:cNvPr>
          <p:cNvSpPr>
            <a:spLocks xmlns:a="http://schemas.openxmlformats.org/drawingml/2006/main" noGrp="1"/>
          </p:cNvSpPr>
          <p:nvPr/>
        </p:nvSpPr>
        <p:spPr>
          <a:xfrm xmlns:a="http://schemas.openxmlformats.org/drawingml/2006/main">
            <a:off x="1123950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F655D"/>
                </a:solidFill>
                <a:latin typeface="Arial"/>
                <a:ea typeface="Arial"/>
                <a:cs typeface="Arial"/>
              </a:defRPr>
            </a:defPPr>
          </a:lstStyle>
          <a:p xmlns:a="http://schemas.openxmlformats.org/drawingml/2006/main">
            <a:pPr>
              <a:defRPr sz="1275" b="0">
                <a:solidFill>
                  <a:srgbClr val="4F655D"/>
                </a:solidFill>
                <a:latin typeface="Arial"/>
                <a:ea typeface="Arial"/>
                <a:cs typeface="Arial"/>
              </a:defRPr>
            </a:pPr>
            <a:r>
              <a:rPr sz="1275" b="0">
                <a:solidFill>
                  <a:srgbClr val="4F655D"/>
                </a:solidFill>
                <a:latin typeface="Arial"/>
                <a:ea typeface="Arial"/>
                <a:cs typeface="Arial"/>
              </a:rPr>
              <a:t>02</a:t>
            </a:r>
          </a:p>
        </p:txBody>
      </p:sp>
      <p:sp>
        <p:nvSpPr>
          <p:cNvPr id="3" name="mushroom-heading">
            <a:extLst xmlns:a="http://schemas.openxmlformats.org/drawingml/2006/main">
              <a:ext uri="{FF2B5EF4-FFF2-40B4-BE49-F238E27FC236}">
                <a16:creationId xmlns:a16="http://schemas.microsoft.com/office/drawing/2014/main" id="{FA70F7BD-0899-4231-AA2D-257B7D7CDB42}"/>
              </a:ext>
            </a:extLst>
          </p:cNvPr>
          <p:cNvSpPr>
            <a:spLocks xmlns:a="http://schemas.openxmlformats.org/drawingml/2006/main" noGrp="1"/>
          </p:cNvSpPr>
          <p:nvPr/>
        </p:nvSpPr>
        <p:spPr>
          <a:xfrm xmlns:a="http://schemas.openxmlformats.org/drawingml/2006/main">
            <a:off x="723900" y="163830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53E30"/>
                </a:solidFill>
                <a:latin typeface="Arial"/>
                <a:ea typeface="Arial"/>
                <a:cs typeface="Arial"/>
              </a:defRPr>
            </a:defPPr>
          </a:lstStyle>
          <a:p xmlns:a="http://schemas.openxmlformats.org/drawingml/2006/main">
            <a:pPr>
              <a:defRPr sz="2700" b="1">
                <a:solidFill>
                  <a:srgbClr val="153E30"/>
                </a:solidFill>
                <a:latin typeface="Arial"/>
                <a:ea typeface="Arial"/>
                <a:cs typeface="Arial"/>
              </a:defRPr>
            </a:pPr>
            <a:r>
              <a:rPr sz="2700" b="1">
                <a:solidFill>
                  <a:srgbClr val="153E30"/>
                </a:solidFill>
                <a:latin typeface="Arial"/>
                <a:ea typeface="Arial"/>
                <a:cs typeface="Arial"/>
              </a:rPr>
              <a:t>Mushroom</a:t>
            </a:r>
          </a:p>
        </p:txBody>
      </p:sp>
      <p:sp>
        <p:nvSpPr>
          <p:cNvPr id="4" name="paragraph-248-76">
            <a:extLst xmlns:a="http://schemas.openxmlformats.org/drawingml/2006/main">
              <a:ext uri="{FF2B5EF4-FFF2-40B4-BE49-F238E27FC236}">
                <a16:creationId xmlns:a16="http://schemas.microsoft.com/office/drawing/2014/main" id="{A4685DE0-2A5D-4C2A-B8CB-92D35F082B1F}"/>
              </a:ext>
            </a:extLst>
          </p:cNvPr>
          <p:cNvSpPr>
            <a:spLocks xmlns:a="http://schemas.openxmlformats.org/drawingml/2006/main" noGrp="1"/>
          </p:cNvSpPr>
          <p:nvPr/>
        </p:nvSpPr>
        <p:spPr>
          <a:xfrm xmlns:a="http://schemas.openxmlformats.org/drawingml/2006/main">
            <a:off x="723900" y="2362200"/>
            <a:ext cx="4857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53E30"/>
                </a:solidFill>
                <a:latin typeface="Arial"/>
                <a:ea typeface="Arial"/>
                <a:cs typeface="Arial"/>
              </a:defRPr>
            </a:defPPr>
          </a:lstStyle>
          <a:p xmlns:a="http://schemas.openxmlformats.org/drawingml/2006/main">
            <a:pPr>
              <a:defRPr sz="2250" b="0">
                <a:solidFill>
                  <a:srgbClr val="153E30"/>
                </a:solidFill>
                <a:latin typeface="Arial"/>
                <a:ea typeface="Arial"/>
                <a:cs typeface="Arial"/>
              </a:defRPr>
            </a:pPr>
            <a:r>
              <a:rPr sz="2250" b="0">
                <a:solidFill>
                  <a:srgbClr val="153E30"/>
                </a:solidFill>
                <a:latin typeface="Arial"/>
                <a:ea typeface="Arial"/>
                <a:cs typeface="Arial"/>
              </a:rPr>
              <a:t>5.000 cursusrecords</a:t>
            </a:r>
          </a:p>
          <a:p xmlns:a="http://schemas.openxmlformats.org/drawingml/2006/main">
            <a:pPr>
              <a:defRPr sz="2250" b="0">
                <a:solidFill>
                  <a:srgbClr val="153E30"/>
                </a:solidFill>
                <a:latin typeface="Arial"/>
                <a:ea typeface="Arial"/>
                <a:cs typeface="Arial"/>
              </a:defRPr>
            </a:pPr>
            <a:r>
              <a:rPr sz="2250" b="0">
                <a:solidFill>
                  <a:srgbClr val="153E30"/>
                </a:solidFill>
                <a:latin typeface="Arial"/>
                <a:ea typeface="Arial"/>
                <a:cs typeface="Arial"/>
              </a:rPr>
              <a:t>11 kenmerken → klasse e of p</a:t>
            </a:r>
          </a:p>
        </p:txBody>
      </p:sp>
      <p:sp>
        <p:nvSpPr>
          <p:cNvPr id="5" name="paragraph-424-76">
            <a:extLst xmlns:a="http://schemas.openxmlformats.org/drawingml/2006/main">
              <a:ext uri="{FF2B5EF4-FFF2-40B4-BE49-F238E27FC236}">
                <a16:creationId xmlns:a16="http://schemas.microsoft.com/office/drawing/2014/main" id="{C3640771-437F-4272-B2EA-C36C9E098CE3}"/>
              </a:ext>
            </a:extLst>
          </p:cNvPr>
          <p:cNvSpPr>
            <a:spLocks xmlns:a="http://schemas.openxmlformats.org/drawingml/2006/main" noGrp="1"/>
          </p:cNvSpPr>
          <p:nvPr/>
        </p:nvSpPr>
        <p:spPr>
          <a:xfrm xmlns:a="http://schemas.openxmlformats.org/drawingml/2006/main">
            <a:off x="723900" y="4038600"/>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F655D"/>
                </a:solidFill>
                <a:latin typeface="Arial"/>
                <a:ea typeface="Arial"/>
                <a:cs typeface="Arial"/>
              </a:defRPr>
            </a:defPPr>
          </a:lstStyle>
          <a:p xmlns:a="http://schemas.openxmlformats.org/drawingml/2006/main">
            <a:pPr>
              <a:defRPr sz="2025" b="0">
                <a:solidFill>
                  <a:srgbClr val="4F655D"/>
                </a:solidFill>
                <a:latin typeface="Arial"/>
                <a:ea typeface="Arial"/>
                <a:cs typeface="Arial"/>
              </a:defRPr>
            </a:pPr>
            <a:r>
              <a:rPr sz="2025" b="0">
                <a:solidFill>
                  <a:srgbClr val="4F655D"/>
                </a:solidFill>
                <a:latin typeface="Arial"/>
                <a:ea typeface="Arial"/>
                <a:cs typeface="Arial"/>
              </a:rPr>
              <a:t>4.100 train / 900 ontwikkeltest</a:t>
            </a:r>
          </a:p>
          <a:p xmlns:a="http://schemas.openxmlformats.org/drawingml/2006/main">
            <a:pPr>
              <a:defRPr sz="2025" b="0">
                <a:solidFill>
                  <a:srgbClr val="4F655D"/>
                </a:solidFill>
                <a:latin typeface="Arial"/>
                <a:ea typeface="Arial"/>
                <a:cs typeface="Arial"/>
              </a:defRPr>
            </a:pPr>
            <a:r>
              <a:rPr sz="2025" b="0">
                <a:solidFill>
                  <a:srgbClr val="4F655D"/>
                </a:solidFill>
                <a:latin typeface="Arial"/>
                <a:ea typeface="Arial"/>
                <a:cs typeface="Arial"/>
              </a:rPr>
              <a:t>Vijf stratified trainingsfolds</a:t>
            </a:r>
          </a:p>
        </p:txBody>
      </p:sp>
      <p:sp>
        <p:nvSpPr>
          <p:cNvPr id="6" name="city-heading">
            <a:extLst xmlns:a="http://schemas.openxmlformats.org/drawingml/2006/main">
              <a:ext uri="{FF2B5EF4-FFF2-40B4-BE49-F238E27FC236}">
                <a16:creationId xmlns:a16="http://schemas.microsoft.com/office/drawing/2014/main" id="{33AC9708-75F5-4911-A46E-38F1C59CEA3B}"/>
              </a:ext>
            </a:extLst>
          </p:cNvPr>
          <p:cNvSpPr>
            <a:spLocks xmlns:a="http://schemas.openxmlformats.org/drawingml/2006/main" noGrp="1"/>
          </p:cNvSpPr>
          <p:nvPr/>
        </p:nvSpPr>
        <p:spPr>
          <a:xfrm xmlns:a="http://schemas.openxmlformats.org/drawingml/2006/main">
            <a:off x="6667500" y="163830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53E30"/>
                </a:solidFill>
                <a:latin typeface="Arial"/>
                <a:ea typeface="Arial"/>
                <a:cs typeface="Arial"/>
              </a:defRPr>
            </a:defPPr>
          </a:lstStyle>
          <a:p xmlns:a="http://schemas.openxmlformats.org/drawingml/2006/main">
            <a:pPr>
              <a:defRPr sz="2700" b="1">
                <a:solidFill>
                  <a:srgbClr val="153E30"/>
                </a:solidFill>
                <a:latin typeface="Arial"/>
                <a:ea typeface="Arial"/>
                <a:cs typeface="Arial"/>
              </a:defRPr>
            </a:pPr>
            <a:r>
              <a:rPr sz="2700" b="1">
                <a:solidFill>
                  <a:srgbClr val="153E30"/>
                </a:solidFill>
                <a:latin typeface="Arial"/>
                <a:ea typeface="Arial"/>
                <a:cs typeface="Arial"/>
              </a:rPr>
              <a:t>Citi Bike</a:t>
            </a:r>
          </a:p>
        </p:txBody>
      </p:sp>
      <p:sp>
        <p:nvSpPr>
          <p:cNvPr id="7" name="paragraph-248-700">
            <a:extLst xmlns:a="http://schemas.openxmlformats.org/drawingml/2006/main">
              <a:ext uri="{FF2B5EF4-FFF2-40B4-BE49-F238E27FC236}">
                <a16:creationId xmlns:a16="http://schemas.microsoft.com/office/drawing/2014/main" id="{127FBF22-EB41-481E-B494-9BB0136D3C70}"/>
              </a:ext>
            </a:extLst>
          </p:cNvPr>
          <p:cNvSpPr>
            <a:spLocks xmlns:a="http://schemas.openxmlformats.org/drawingml/2006/main" noGrp="1"/>
          </p:cNvSpPr>
          <p:nvPr/>
        </p:nvSpPr>
        <p:spPr>
          <a:xfrm xmlns:a="http://schemas.openxmlformats.org/drawingml/2006/main">
            <a:off x="6667500" y="2362200"/>
            <a:ext cx="4810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53E30"/>
                </a:solidFill>
                <a:latin typeface="Arial"/>
                <a:ea typeface="Arial"/>
                <a:cs typeface="Arial"/>
              </a:defRPr>
            </a:defPPr>
          </a:lstStyle>
          <a:p xmlns:a="http://schemas.openxmlformats.org/drawingml/2006/main">
            <a:pPr>
              <a:defRPr sz="2250" b="0">
                <a:solidFill>
                  <a:srgbClr val="153E30"/>
                </a:solidFill>
                <a:latin typeface="Arial"/>
                <a:ea typeface="Arial"/>
                <a:cs typeface="Arial"/>
              </a:defRPr>
            </a:pPr>
            <a:r>
              <a:rPr sz="2250" b="0">
                <a:solidFill>
                  <a:srgbClr val="153E30"/>
                </a:solidFill>
                <a:latin typeface="Arial"/>
                <a:ea typeface="Arial"/>
                <a:cs typeface="Arial"/>
              </a:rPr>
              <a:t>Ritregistraties → NYC-uurtellingen</a:t>
            </a:r>
          </a:p>
          <a:p xmlns:a="http://schemas.openxmlformats.org/drawingml/2006/main">
            <a:pPr>
              <a:defRPr sz="2250" b="0">
                <a:solidFill>
                  <a:srgbClr val="153E30"/>
                </a:solidFill>
                <a:latin typeface="Arial"/>
                <a:ea typeface="Arial"/>
                <a:cs typeface="Arial"/>
              </a:defRPr>
            </a:pPr>
            <a:r>
              <a:rPr sz="2250" b="0">
                <a:solidFill>
                  <a:srgbClr val="153E30"/>
                </a:solidFill>
                <a:latin typeface="Arial"/>
                <a:ea typeface="Arial"/>
                <a:cs typeface="Arial"/>
              </a:rPr>
              <a:t>14 dagen historie → volgende dag</a:t>
            </a:r>
          </a:p>
        </p:txBody>
      </p:sp>
      <p:sp>
        <p:nvSpPr>
          <p:cNvPr id="8" name="paragraph-424-700">
            <a:extLst xmlns:a="http://schemas.openxmlformats.org/drawingml/2006/main">
              <a:ext uri="{FF2B5EF4-FFF2-40B4-BE49-F238E27FC236}">
                <a16:creationId xmlns:a16="http://schemas.microsoft.com/office/drawing/2014/main" id="{D476473A-3EE3-4C1F-8FA8-DB1665BB3258}"/>
              </a:ext>
            </a:extLst>
          </p:cNvPr>
          <p:cNvSpPr>
            <a:spLocks xmlns:a="http://schemas.openxmlformats.org/drawingml/2006/main" noGrp="1"/>
          </p:cNvSpPr>
          <p:nvPr/>
        </p:nvSpPr>
        <p:spPr>
          <a:xfrm xmlns:a="http://schemas.openxmlformats.org/drawingml/2006/main">
            <a:off x="6667500" y="4038600"/>
            <a:ext cx="4810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F655D"/>
                </a:solidFill>
                <a:latin typeface="Arial"/>
                <a:ea typeface="Arial"/>
                <a:cs typeface="Arial"/>
              </a:defRPr>
            </a:defPPr>
          </a:lstStyle>
          <a:p xmlns:a="http://schemas.openxmlformats.org/drawingml/2006/main">
            <a:pPr>
              <a:defRPr sz="2025" b="0">
                <a:solidFill>
                  <a:srgbClr val="4F655D"/>
                </a:solidFill>
                <a:latin typeface="Arial"/>
                <a:ea typeface="Arial"/>
                <a:cs typeface="Arial"/>
              </a:defRPr>
            </a:pPr>
            <a:r>
              <a:rPr sz="2025" b="0">
                <a:solidFill>
                  <a:srgbClr val="4F655D"/>
                </a:solidFill>
                <a:latin typeface="Arial"/>
                <a:ea typeface="Arial"/>
                <a:cs typeface="Arial"/>
              </a:rPr>
              <a:t>Chronologisch valideren</a:t>
            </a:r>
          </a:p>
          <a:p xmlns:a="http://schemas.openxmlformats.org/drawingml/2006/main">
            <a:pPr>
              <a:defRPr sz="2025" b="0">
                <a:solidFill>
                  <a:srgbClr val="4F655D"/>
                </a:solidFill>
                <a:latin typeface="Arial"/>
                <a:ea typeface="Arial"/>
                <a:cs typeface="Arial"/>
              </a:defRPr>
            </a:pPr>
            <a:r>
              <a:rPr sz="2025" b="0">
                <a:solidFill>
                  <a:srgbClr val="4F655D"/>
                </a:solidFill>
                <a:latin typeface="Arial"/>
                <a:ea typeface="Arial"/>
                <a:cs typeface="Arial"/>
              </a:rPr>
              <a:t>Eindtest: juli–augustus 2026</a:t>
            </a:r>
          </a:p>
        </p:txBody>
      </p:sp>
    </p:spTree>
    <p:extLst>
      <p:ext uri="{BB962C8B-B14F-4D97-AF65-F5344CB8AC3E}">
        <p14:creationId xmlns:p14="http://schemas.microsoft.com/office/powerpoint/2010/main" val="663404160"/>
      </p:ext>
    </p:extLst>
  </p:cSld>
</p:sld>
</file>

<file path=ppt/slides/slide3.xml><?xml version="1.0" encoding="utf-8"?>
<p:sld xmlns:p="http://schemas.openxmlformats.org/presentationml/2006/main">
  <p:cSld>
    <p:bg>
      <p:bgPr>
        <a:solidFill xmlns:a="http://schemas.openxmlformats.org/drawingml/2006/main">
          <a:srgbClr val="F2F6F2"/>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B2C5363-90DE-4067-AAE2-F051D3BBF617}"/>
              </a:ext>
            </a:extLst>
          </p:cNvPr>
          <p:cNvSpPr>
            <a:spLocks xmlns:a="http://schemas.openxmlformats.org/drawingml/2006/main" noGrp="1"/>
          </p:cNvSpPr>
          <p:nvPr/>
        </p:nvSpPr>
        <p:spPr>
          <a:xfrm xmlns:a="http://schemas.openxmlformats.org/drawingml/2006/main">
            <a:off x="666750" y="43815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E30"/>
                </a:solidFill>
                <a:latin typeface="Arial"/>
                <a:ea typeface="Arial"/>
                <a:cs typeface="Arial"/>
              </a:defRPr>
            </a:defPPr>
          </a:lstStyle>
          <a:p xmlns:a="http://schemas.openxmlformats.org/drawingml/2006/main">
            <a:pPr>
              <a:defRPr sz="3300" b="1">
                <a:solidFill>
                  <a:srgbClr val="153E30"/>
                </a:solidFill>
                <a:latin typeface="Arial"/>
                <a:ea typeface="Arial"/>
                <a:cs typeface="Arial"/>
              </a:defRPr>
            </a:pPr>
            <a:r>
              <a:rPr sz="3300" b="1">
                <a:solidFill>
                  <a:srgbClr val="153E30"/>
                </a:solidFill>
                <a:latin typeface="Arial"/>
                <a:ea typeface="Arial"/>
                <a:cs typeface="Arial"/>
              </a:rPr>
              <a:t>Ontbrekende Mushroom-kenmerken</a:t>
            </a:r>
          </a:p>
        </p:txBody>
      </p:sp>
      <p:sp>
        <p:nvSpPr>
          <p:cNvPr id="2" name="number">
            <a:extLst xmlns:a="http://schemas.openxmlformats.org/drawingml/2006/main">
              <a:ext uri="{FF2B5EF4-FFF2-40B4-BE49-F238E27FC236}">
                <a16:creationId xmlns:a16="http://schemas.microsoft.com/office/drawing/2014/main" id="{5736E8E6-D7F4-4F93-A854-D0F53B8536A2}"/>
              </a:ext>
            </a:extLst>
          </p:cNvPr>
          <p:cNvSpPr>
            <a:spLocks xmlns:a="http://schemas.openxmlformats.org/drawingml/2006/main" noGrp="1"/>
          </p:cNvSpPr>
          <p:nvPr/>
        </p:nvSpPr>
        <p:spPr>
          <a:xfrm xmlns:a="http://schemas.openxmlformats.org/drawingml/2006/main">
            <a:off x="1123950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F655D"/>
                </a:solidFill>
                <a:latin typeface="Arial"/>
                <a:ea typeface="Arial"/>
                <a:cs typeface="Arial"/>
              </a:defRPr>
            </a:defPPr>
          </a:lstStyle>
          <a:p xmlns:a="http://schemas.openxmlformats.org/drawingml/2006/main">
            <a:pPr>
              <a:defRPr sz="1275" b="0">
                <a:solidFill>
                  <a:srgbClr val="4F655D"/>
                </a:solidFill>
                <a:latin typeface="Arial"/>
                <a:ea typeface="Arial"/>
                <a:cs typeface="Arial"/>
              </a:defRPr>
            </a:pPr>
            <a:r>
              <a:rPr sz="1275" b="0">
                <a:solidFill>
                  <a:srgbClr val="4F655D"/>
                </a:solidFill>
                <a:latin typeface="Arial"/>
                <a:ea typeface="Arial"/>
                <a:cs typeface="Arial"/>
              </a:rPr>
              <a:t>03</a:t>
            </a:r>
          </a:p>
        </p:txBody>
      </p:sp>
      <p:graphicFrame>
        <p:nvGraphicFramePr>
          <p:cNvPr id="3" name="Chart">
            <a:extLst xmlns:a="http://schemas.openxmlformats.org/drawingml/2006/main">
              <a:ext uri="{FF2B5EF4-FFF2-40B4-BE49-F238E27FC236}">
                <a16:creationId xmlns:a16="http://schemas.microsoft.com/office/drawing/2014/main" id="{3ADAC28E-E83B-462B-9D6F-33EA6375DEA3}"/>
              </a:ext>
            </a:extLst>
          </p:cNvPr>
          <p:cNvGraphicFramePr/>
          <p:nvPr/>
        </p:nvGraphicFramePr>
        <p:xfrm>
          <a:off xmlns:a="http://schemas.openxmlformats.org/drawingml/2006/main" x="762000" y="1428750"/>
          <a:ext xmlns:a="http://schemas.openxmlformats.org/drawingml/2006/main" cx="10429875" cy="3714750"/>
        </p:xfrm>
        <a:graphic xmlns:a="http://schemas.openxmlformats.org/drawingml/2006/main">
          <a:graphicData uri="http://schemas.openxmlformats.org/drawingml/2006/chart">
            <c:chart xmlns:r="http://schemas.openxmlformats.org/officeDocument/2006/relationships" xmlns:c="http://schemas.openxmlformats.org/drawingml/2006/chart" r:id="R42540d19fa544bc5"/>
          </a:graphicData>
        </a:graphic>
      </p:graphicFrame>
      <p:sp>
        <p:nvSpPr>
          <p:cNvPr id="4" name="paragraph-570-78">
            <a:extLst xmlns:a="http://schemas.openxmlformats.org/drawingml/2006/main">
              <a:ext uri="{FF2B5EF4-FFF2-40B4-BE49-F238E27FC236}">
                <a16:creationId xmlns:a16="http://schemas.microsoft.com/office/drawing/2014/main" id="{45960A8D-380D-45CB-9EB6-B30E9B2C0C6A}"/>
              </a:ext>
            </a:extLst>
          </p:cNvPr>
          <p:cNvSpPr>
            <a:spLocks xmlns:a="http://schemas.openxmlformats.org/drawingml/2006/main" noGrp="1"/>
          </p:cNvSpPr>
          <p:nvPr/>
        </p:nvSpPr>
        <p:spPr>
          <a:xfrm xmlns:a="http://schemas.openxmlformats.org/drawingml/2006/main">
            <a:off x="742950" y="54292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F655D"/>
                </a:solidFill>
                <a:latin typeface="Arial"/>
                <a:ea typeface="Arial"/>
                <a:cs typeface="Arial"/>
              </a:defRPr>
            </a:defPPr>
          </a:lstStyle>
          <a:p xmlns:a="http://schemas.openxmlformats.org/drawingml/2006/main">
            <a:pPr>
              <a:defRPr sz="2100" b="0">
                <a:solidFill>
                  <a:srgbClr val="4F655D"/>
                </a:solidFill>
                <a:latin typeface="Arial"/>
                <a:ea typeface="Arial"/>
                <a:cs typeface="Arial"/>
              </a:defRPr>
            </a:pPr>
            <a:r>
              <a:rPr sz="2100" b="0">
                <a:solidFill>
                  <a:srgbClr val="4F655D"/>
                </a:solidFill>
                <a:latin typeface="Arial"/>
                <a:ea typeface="Arial"/>
                <a:cs typeface="Arial"/>
              </a:rPr>
              <a:t>Imputatie leert uit training; de validatiefold bepaalt geen invulwaarden.</a:t>
            </a:r>
          </a:p>
        </p:txBody>
      </p:sp>
    </p:spTree>
    <p:extLst>
      <p:ext uri="{BB962C8B-B14F-4D97-AF65-F5344CB8AC3E}">
        <p14:creationId xmlns:p14="http://schemas.microsoft.com/office/powerpoint/2010/main" val="412195650"/>
      </p:ext>
    </p:extLst>
  </p:cSld>
</p:sld>
</file>

<file path=ppt/slides/slide4.xml><?xml version="1.0" encoding="utf-8"?>
<p:sld xmlns:p="http://schemas.openxmlformats.org/presentationml/2006/main">
  <p:cSld>
    <p:bg>
      <p:bgPr>
        <a:solidFill xmlns:a="http://schemas.openxmlformats.org/drawingml/2006/main">
          <a:srgbClr val="F2F6F2"/>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6037FA45-274D-4B5F-8A2B-A030E312CCB7}"/>
              </a:ext>
            </a:extLst>
          </p:cNvPr>
          <p:cNvSpPr>
            <a:spLocks xmlns:a="http://schemas.openxmlformats.org/drawingml/2006/main" noGrp="1"/>
          </p:cNvSpPr>
          <p:nvPr/>
        </p:nvSpPr>
        <p:spPr>
          <a:xfrm xmlns:a="http://schemas.openxmlformats.org/drawingml/2006/main">
            <a:off x="666750" y="43815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E30"/>
                </a:solidFill>
                <a:latin typeface="Arial"/>
                <a:ea typeface="Arial"/>
                <a:cs typeface="Arial"/>
              </a:defRPr>
            </a:defPPr>
          </a:lstStyle>
          <a:p xmlns:a="http://schemas.openxmlformats.org/drawingml/2006/main">
            <a:pPr>
              <a:defRPr sz="3300" b="1">
                <a:solidFill>
                  <a:srgbClr val="153E30"/>
                </a:solidFill>
                <a:latin typeface="Arial"/>
                <a:ea typeface="Arial"/>
                <a:cs typeface="Arial"/>
              </a:defRPr>
            </a:pPr>
            <a:r>
              <a:rPr sz="3300" b="1">
                <a:solidFill>
                  <a:srgbClr val="153E30"/>
                </a:solidFill>
                <a:latin typeface="Arial"/>
                <a:ea typeface="Arial"/>
                <a:cs typeface="Arial"/>
              </a:rPr>
              <a:t>Validatie en preprocessing</a:t>
            </a:r>
          </a:p>
        </p:txBody>
      </p:sp>
      <p:sp>
        <p:nvSpPr>
          <p:cNvPr id="2" name="number">
            <a:extLst xmlns:a="http://schemas.openxmlformats.org/drawingml/2006/main">
              <a:ext uri="{FF2B5EF4-FFF2-40B4-BE49-F238E27FC236}">
                <a16:creationId xmlns:a16="http://schemas.microsoft.com/office/drawing/2014/main" id="{1FE74979-8B57-4C12-A958-088E35791B8F}"/>
              </a:ext>
            </a:extLst>
          </p:cNvPr>
          <p:cNvSpPr>
            <a:spLocks xmlns:a="http://schemas.openxmlformats.org/drawingml/2006/main" noGrp="1"/>
          </p:cNvSpPr>
          <p:nvPr/>
        </p:nvSpPr>
        <p:spPr>
          <a:xfrm xmlns:a="http://schemas.openxmlformats.org/drawingml/2006/main">
            <a:off x="1123950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F655D"/>
                </a:solidFill>
                <a:latin typeface="Arial"/>
                <a:ea typeface="Arial"/>
                <a:cs typeface="Arial"/>
              </a:defRPr>
            </a:defPPr>
          </a:lstStyle>
          <a:p xmlns:a="http://schemas.openxmlformats.org/drawingml/2006/main">
            <a:pPr>
              <a:defRPr sz="1275" b="0">
                <a:solidFill>
                  <a:srgbClr val="4F655D"/>
                </a:solidFill>
                <a:latin typeface="Arial"/>
                <a:ea typeface="Arial"/>
                <a:cs typeface="Arial"/>
              </a:defRPr>
            </a:pPr>
            <a:r>
              <a:rPr sz="1275" b="0">
                <a:solidFill>
                  <a:srgbClr val="4F655D"/>
                </a:solidFill>
                <a:latin typeface="Arial"/>
                <a:ea typeface="Arial"/>
                <a:cs typeface="Arial"/>
              </a:rPr>
              <a:t>04</a:t>
            </a:r>
          </a:p>
        </p:txBody>
      </p:sp>
      <p:sp>
        <p:nvSpPr>
          <p:cNvPr id="3" name="train-heading">
            <a:extLst xmlns:a="http://schemas.openxmlformats.org/drawingml/2006/main">
              <a:ext uri="{FF2B5EF4-FFF2-40B4-BE49-F238E27FC236}">
                <a16:creationId xmlns:a16="http://schemas.microsoft.com/office/drawing/2014/main" id="{2D20B85A-00A0-4862-9413-1D23503BA360}"/>
              </a:ext>
            </a:extLst>
          </p:cNvPr>
          <p:cNvSpPr>
            <a:spLocks xmlns:a="http://schemas.openxmlformats.org/drawingml/2006/main" noGrp="1"/>
          </p:cNvSpPr>
          <p:nvPr/>
        </p:nvSpPr>
        <p:spPr>
          <a:xfrm xmlns:a="http://schemas.openxmlformats.org/drawingml/2006/main">
            <a:off x="723900" y="16192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53E30"/>
                </a:solidFill>
                <a:latin typeface="Arial"/>
                <a:ea typeface="Arial"/>
                <a:cs typeface="Arial"/>
              </a:defRPr>
            </a:defPPr>
          </a:lstStyle>
          <a:p xmlns:a="http://schemas.openxmlformats.org/drawingml/2006/main">
            <a:pPr>
              <a:defRPr sz="2550" b="1">
                <a:solidFill>
                  <a:srgbClr val="153E30"/>
                </a:solidFill>
                <a:latin typeface="Arial"/>
                <a:ea typeface="Arial"/>
                <a:cs typeface="Arial"/>
              </a:defRPr>
            </a:pPr>
            <a:r>
              <a:rPr sz="2550" b="1">
                <a:solidFill>
                  <a:srgbClr val="153E30"/>
                </a:solidFill>
                <a:latin typeface="Arial"/>
                <a:ea typeface="Arial"/>
                <a:cs typeface="Arial"/>
              </a:rPr>
              <a:t>Binnen de vijf trainingsfolds</a:t>
            </a:r>
          </a:p>
        </p:txBody>
      </p:sp>
      <p:sp>
        <p:nvSpPr>
          <p:cNvPr id="4" name="paragraph-266-76">
            <a:extLst xmlns:a="http://schemas.openxmlformats.org/drawingml/2006/main">
              <a:ext uri="{FF2B5EF4-FFF2-40B4-BE49-F238E27FC236}">
                <a16:creationId xmlns:a16="http://schemas.microsoft.com/office/drawing/2014/main" id="{8840373A-98F6-462E-BC8F-CE9B85677D87}"/>
              </a:ext>
            </a:extLst>
          </p:cNvPr>
          <p:cNvSpPr>
            <a:spLocks xmlns:a="http://schemas.openxmlformats.org/drawingml/2006/main" noGrp="1"/>
          </p:cNvSpPr>
          <p:nvPr/>
        </p:nvSpPr>
        <p:spPr>
          <a:xfrm xmlns:a="http://schemas.openxmlformats.org/drawingml/2006/main">
            <a:off x="723900" y="25336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53E30"/>
                </a:solidFill>
                <a:latin typeface="Arial"/>
                <a:ea typeface="Arial"/>
                <a:cs typeface="Arial"/>
              </a:defRPr>
            </a:defPPr>
          </a:lstStyle>
          <a:p xmlns:a="http://schemas.openxmlformats.org/drawingml/2006/main">
            <a:pPr>
              <a:defRPr sz="2400" b="0">
                <a:solidFill>
                  <a:srgbClr val="153E30"/>
                </a:solidFill>
                <a:latin typeface="Arial"/>
                <a:ea typeface="Arial"/>
                <a:cs typeface="Arial"/>
              </a:defRPr>
            </a:pPr>
            <a:r>
              <a:rPr sz="2400" b="0">
                <a:solidFill>
                  <a:srgbClr val="153E30"/>
                </a:solidFill>
                <a:latin typeface="Arial"/>
                <a:ea typeface="Arial"/>
                <a:cs typeface="Arial"/>
              </a:rPr>
              <a:t>Ruwe kenmerken → imputatie → encoding → model</a:t>
            </a:r>
          </a:p>
        </p:txBody>
      </p:sp>
      <p:sp>
        <p:nvSpPr>
          <p:cNvPr id="5" name="paragraph-365-76">
            <a:extLst xmlns:a="http://schemas.openxmlformats.org/drawingml/2006/main">
              <a:ext uri="{FF2B5EF4-FFF2-40B4-BE49-F238E27FC236}">
                <a16:creationId xmlns:a16="http://schemas.microsoft.com/office/drawing/2014/main" id="{A3C45595-4F36-4F2E-A049-671E0737F68C}"/>
              </a:ext>
            </a:extLst>
          </p:cNvPr>
          <p:cNvSpPr>
            <a:spLocks xmlns:a="http://schemas.openxmlformats.org/drawingml/2006/main" noGrp="1"/>
          </p:cNvSpPr>
          <p:nvPr/>
        </p:nvSpPr>
        <p:spPr>
          <a:xfrm xmlns:a="http://schemas.openxmlformats.org/drawingml/2006/main">
            <a:off x="723900" y="34766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4F655D"/>
                </a:solidFill>
                <a:latin typeface="Arial"/>
                <a:ea typeface="Arial"/>
                <a:cs typeface="Arial"/>
              </a:defRPr>
            </a:defPPr>
          </a:lstStyle>
          <a:p xmlns:a="http://schemas.openxmlformats.org/drawingml/2006/main">
            <a:pPr>
              <a:defRPr sz="2250" b="0">
                <a:solidFill>
                  <a:srgbClr val="4F655D"/>
                </a:solidFill>
                <a:latin typeface="Arial"/>
                <a:ea typeface="Arial"/>
                <a:cs typeface="Arial"/>
              </a:defRPr>
            </a:pPr>
            <a:r>
              <a:rPr sz="2250" b="0">
                <a:solidFill>
                  <a:srgbClr val="4F655D"/>
                </a:solidFill>
                <a:latin typeface="Arial"/>
                <a:ea typeface="Arial"/>
                <a:cs typeface="Arial"/>
              </a:rPr>
              <a:t>De transformer wordt per fold opnieuw geleerd.</a:t>
            </a:r>
          </a:p>
        </p:txBody>
      </p:sp>
      <p:sp>
        <p:nvSpPr>
          <p:cNvPr id="6" name="test-heading">
            <a:extLst xmlns:a="http://schemas.openxmlformats.org/drawingml/2006/main">
              <a:ext uri="{FF2B5EF4-FFF2-40B4-BE49-F238E27FC236}">
                <a16:creationId xmlns:a16="http://schemas.microsoft.com/office/drawing/2014/main" id="{0296D1B2-DA36-413C-BF79-27E634B89B0E}"/>
              </a:ext>
            </a:extLst>
          </p:cNvPr>
          <p:cNvSpPr>
            <a:spLocks xmlns:a="http://schemas.openxmlformats.org/drawingml/2006/main" noGrp="1"/>
          </p:cNvSpPr>
          <p:nvPr/>
        </p:nvSpPr>
        <p:spPr>
          <a:xfrm xmlns:a="http://schemas.openxmlformats.org/drawingml/2006/main">
            <a:off x="723900" y="4429125"/>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53E30"/>
                </a:solidFill>
                <a:latin typeface="Arial"/>
                <a:ea typeface="Arial"/>
                <a:cs typeface="Arial"/>
              </a:defRPr>
            </a:defPPr>
          </a:lstStyle>
          <a:p xmlns:a="http://schemas.openxmlformats.org/drawingml/2006/main">
            <a:pPr>
              <a:defRPr sz="2550" b="1">
                <a:solidFill>
                  <a:srgbClr val="153E30"/>
                </a:solidFill>
                <a:latin typeface="Arial"/>
                <a:ea typeface="Arial"/>
                <a:cs typeface="Arial"/>
              </a:defRPr>
            </a:pPr>
            <a:r>
              <a:rPr sz="2550" b="1">
                <a:solidFill>
                  <a:srgbClr val="153E30"/>
                </a:solidFill>
                <a:latin typeface="Arial"/>
                <a:ea typeface="Arial"/>
                <a:cs typeface="Arial"/>
              </a:rPr>
              <a:t>Na de keuze</a:t>
            </a:r>
          </a:p>
        </p:txBody>
      </p:sp>
      <p:sp>
        <p:nvSpPr>
          <p:cNvPr id="7" name="paragraph-540-76">
            <a:extLst xmlns:a="http://schemas.openxmlformats.org/drawingml/2006/main">
              <a:ext uri="{FF2B5EF4-FFF2-40B4-BE49-F238E27FC236}">
                <a16:creationId xmlns:a16="http://schemas.microsoft.com/office/drawing/2014/main" id="{A7DD40C8-F636-4936-B4BE-9F61BCF315A3}"/>
              </a:ext>
            </a:extLst>
          </p:cNvPr>
          <p:cNvSpPr>
            <a:spLocks xmlns:a="http://schemas.openxmlformats.org/drawingml/2006/main" noGrp="1"/>
          </p:cNvSpPr>
          <p:nvPr/>
        </p:nvSpPr>
        <p:spPr>
          <a:xfrm xmlns:a="http://schemas.openxmlformats.org/drawingml/2006/main">
            <a:off x="723900" y="5143500"/>
            <a:ext cx="10572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F655D"/>
                </a:solidFill>
                <a:latin typeface="Arial"/>
                <a:ea typeface="Arial"/>
                <a:cs typeface="Arial"/>
              </a:defRPr>
            </a:defPPr>
          </a:lstStyle>
          <a:p xmlns:a="http://schemas.openxmlformats.org/drawingml/2006/main">
            <a:pPr>
              <a:defRPr sz="2100" b="0">
                <a:solidFill>
                  <a:srgbClr val="4F655D"/>
                </a:solidFill>
                <a:latin typeface="Arial"/>
                <a:ea typeface="Arial"/>
                <a:cs typeface="Arial"/>
              </a:defRPr>
            </a:pPr>
            <a:r>
              <a:rPr sz="2100" b="0">
                <a:solidFill>
                  <a:srgbClr val="4F655D"/>
                </a:solidFill>
                <a:latin typeface="Arial"/>
                <a:ea typeface="Arial"/>
                <a:cs typeface="Arial"/>
              </a:rPr>
              <a:t>Refit op 4.100 rijen; daarna beschrijvende evaluatie op 900 ontwikkeltestrecords.</a:t>
            </a:r>
          </a:p>
        </p:txBody>
      </p:sp>
    </p:spTree>
    <p:extLst>
      <p:ext uri="{BB962C8B-B14F-4D97-AF65-F5344CB8AC3E}">
        <p14:creationId xmlns:p14="http://schemas.microsoft.com/office/powerpoint/2010/main" val="2138346367"/>
      </p:ext>
    </p:extLst>
  </p:cSld>
</p:sld>
</file>

<file path=ppt/slides/slide5.xml><?xml version="1.0" encoding="utf-8"?>
<p:sld xmlns:p="http://schemas.openxmlformats.org/presentationml/2006/main">
  <p:cSld>
    <p:bg>
      <p:bgPr>
        <a:solidFill xmlns:a="http://schemas.openxmlformats.org/drawingml/2006/main">
          <a:srgbClr val="F2F6F2"/>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2DF72E3-EDB0-4246-8135-B6004CD5F2A2}"/>
              </a:ext>
            </a:extLst>
          </p:cNvPr>
          <p:cNvSpPr>
            <a:spLocks xmlns:a="http://schemas.openxmlformats.org/drawingml/2006/main" noGrp="1"/>
          </p:cNvSpPr>
          <p:nvPr/>
        </p:nvSpPr>
        <p:spPr>
          <a:xfrm xmlns:a="http://schemas.openxmlformats.org/drawingml/2006/main">
            <a:off x="666750" y="43815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E30"/>
                </a:solidFill>
                <a:latin typeface="Arial"/>
                <a:ea typeface="Arial"/>
                <a:cs typeface="Arial"/>
              </a:defRPr>
            </a:defPPr>
          </a:lstStyle>
          <a:p xmlns:a="http://schemas.openxmlformats.org/drawingml/2006/main">
            <a:pPr>
              <a:defRPr sz="3300" b="1">
                <a:solidFill>
                  <a:srgbClr val="153E30"/>
                </a:solidFill>
                <a:latin typeface="Arial"/>
                <a:ea typeface="Arial"/>
                <a:cs typeface="Arial"/>
              </a:defRPr>
            </a:pPr>
            <a:r>
              <a:rPr sz="3300" b="1">
                <a:solidFill>
                  <a:srgbClr val="153E30"/>
                </a:solidFill>
                <a:latin typeface="Arial"/>
                <a:ea typeface="Arial"/>
                <a:cs typeface="Arial"/>
              </a:rPr>
              <a:t>Mushroom-modelvergelijking</a:t>
            </a:r>
          </a:p>
        </p:txBody>
      </p:sp>
      <p:sp>
        <p:nvSpPr>
          <p:cNvPr id="2" name="number">
            <a:extLst xmlns:a="http://schemas.openxmlformats.org/drawingml/2006/main">
              <a:ext uri="{FF2B5EF4-FFF2-40B4-BE49-F238E27FC236}">
                <a16:creationId xmlns:a16="http://schemas.microsoft.com/office/drawing/2014/main" id="{5D16F638-8933-437D-9C1E-3B4B121A8E73}"/>
              </a:ext>
            </a:extLst>
          </p:cNvPr>
          <p:cNvSpPr>
            <a:spLocks xmlns:a="http://schemas.openxmlformats.org/drawingml/2006/main" noGrp="1"/>
          </p:cNvSpPr>
          <p:nvPr/>
        </p:nvSpPr>
        <p:spPr>
          <a:xfrm xmlns:a="http://schemas.openxmlformats.org/drawingml/2006/main">
            <a:off x="1123950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F655D"/>
                </a:solidFill>
                <a:latin typeface="Arial"/>
                <a:ea typeface="Arial"/>
                <a:cs typeface="Arial"/>
              </a:defRPr>
            </a:defPPr>
          </a:lstStyle>
          <a:p xmlns:a="http://schemas.openxmlformats.org/drawingml/2006/main">
            <a:pPr>
              <a:defRPr sz="1275" b="0">
                <a:solidFill>
                  <a:srgbClr val="4F655D"/>
                </a:solidFill>
                <a:latin typeface="Arial"/>
                <a:ea typeface="Arial"/>
                <a:cs typeface="Arial"/>
              </a:defRPr>
            </a:pPr>
            <a:r>
              <a:rPr sz="1275" b="0">
                <a:solidFill>
                  <a:srgbClr val="4F655D"/>
                </a:solidFill>
                <a:latin typeface="Arial"/>
                <a:ea typeface="Arial"/>
                <a:cs typeface="Arial"/>
              </a:rPr>
              <a:t>05</a:t>
            </a:r>
          </a:p>
        </p:txBody>
      </p:sp>
      <p:graphicFrame>
        <p:nvGraphicFramePr>
          <p:cNvPr id="3" name="Chart">
            <a:extLst xmlns:a="http://schemas.openxmlformats.org/drawingml/2006/main">
              <a:ext uri="{FF2B5EF4-FFF2-40B4-BE49-F238E27FC236}">
                <a16:creationId xmlns:a16="http://schemas.microsoft.com/office/drawing/2014/main" id="{9E3DE9FB-9FEE-484D-82F7-D2A1249B8A47}"/>
              </a:ext>
            </a:extLst>
          </p:cNvPr>
          <p:cNvGraphicFramePr/>
          <p:nvPr/>
        </p:nvGraphicFramePr>
        <p:xfrm>
          <a:off xmlns:a="http://schemas.openxmlformats.org/drawingml/2006/main" x="762000" y="1504950"/>
          <a:ext xmlns:a="http://schemas.openxmlformats.org/drawingml/2006/main" cx="10429875" cy="3762375"/>
        </p:xfrm>
        <a:graphic xmlns:a="http://schemas.openxmlformats.org/drawingml/2006/main">
          <a:graphicData uri="http://schemas.openxmlformats.org/drawingml/2006/chart">
            <c:chart xmlns:r="http://schemas.openxmlformats.org/officeDocument/2006/relationships" xmlns:c="http://schemas.openxmlformats.org/drawingml/2006/chart" r:id="Rdb8eb35307524900"/>
          </a:graphicData>
        </a:graphic>
      </p:graphicFrame>
      <p:sp>
        <p:nvSpPr>
          <p:cNvPr id="4" name="paragraph-579-78">
            <a:extLst xmlns:a="http://schemas.openxmlformats.org/drawingml/2006/main">
              <a:ext uri="{FF2B5EF4-FFF2-40B4-BE49-F238E27FC236}">
                <a16:creationId xmlns:a16="http://schemas.microsoft.com/office/drawing/2014/main" id="{7E5934D7-7E79-47B1-86DC-C188631D8043}"/>
              </a:ext>
            </a:extLst>
          </p:cNvPr>
          <p:cNvSpPr>
            <a:spLocks xmlns:a="http://schemas.openxmlformats.org/drawingml/2006/main" noGrp="1"/>
          </p:cNvSpPr>
          <p:nvPr/>
        </p:nvSpPr>
        <p:spPr>
          <a:xfrm xmlns:a="http://schemas.openxmlformats.org/drawingml/2006/main">
            <a:off x="742950" y="55149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F655D"/>
                </a:solidFill>
                <a:latin typeface="Arial"/>
                <a:ea typeface="Arial"/>
                <a:cs typeface="Arial"/>
              </a:defRPr>
            </a:defPPr>
          </a:lstStyle>
          <a:p xmlns:a="http://schemas.openxmlformats.org/drawingml/2006/main">
            <a:pPr>
              <a:defRPr sz="2025" b="0">
                <a:solidFill>
                  <a:srgbClr val="4F655D"/>
                </a:solidFill>
                <a:latin typeface="Arial"/>
                <a:ea typeface="Arial"/>
                <a:cs typeface="Arial"/>
              </a:defRPr>
            </a:pPr>
            <a:r>
              <a:rPr sz="2025" b="0">
                <a:solidFill>
                  <a:srgbClr val="4F655D"/>
                </a:solidFill>
                <a:latin typeface="Arial"/>
                <a:ea typeface="Arial"/>
                <a:cs typeface="Arial"/>
              </a:rPr>
              <a:t>Dezelfde trainingsrijen en folds; keuze op CV, niet op testaccuracy.</a:t>
            </a:r>
          </a:p>
        </p:txBody>
      </p:sp>
    </p:spTree>
    <p:extLst>
      <p:ext uri="{BB962C8B-B14F-4D97-AF65-F5344CB8AC3E}">
        <p14:creationId xmlns:p14="http://schemas.microsoft.com/office/powerpoint/2010/main" val="112608194"/>
      </p:ext>
    </p:extLst>
  </p:cSld>
</p:sld>
</file>

<file path=ppt/slides/slide6.xml><?xml version="1.0" encoding="utf-8"?>
<p:sld xmlns:p="http://schemas.openxmlformats.org/presentationml/2006/main">
  <p:cSld>
    <p:bg>
      <p:bgPr>
        <a:solidFill xmlns:a="http://schemas.openxmlformats.org/drawingml/2006/main">
          <a:srgbClr val="F2F6F2"/>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2041910-CAC3-4535-AA89-0BB633A969F7}"/>
              </a:ext>
            </a:extLst>
          </p:cNvPr>
          <p:cNvSpPr>
            <a:spLocks xmlns:a="http://schemas.openxmlformats.org/drawingml/2006/main" noGrp="1"/>
          </p:cNvSpPr>
          <p:nvPr/>
        </p:nvSpPr>
        <p:spPr>
          <a:xfrm xmlns:a="http://schemas.openxmlformats.org/drawingml/2006/main">
            <a:off x="666750" y="43815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E30"/>
                </a:solidFill>
                <a:latin typeface="Arial"/>
                <a:ea typeface="Arial"/>
                <a:cs typeface="Arial"/>
              </a:defRPr>
            </a:defPPr>
          </a:lstStyle>
          <a:p xmlns:a="http://schemas.openxmlformats.org/drawingml/2006/main">
            <a:pPr>
              <a:defRPr sz="3300" b="1">
                <a:solidFill>
                  <a:srgbClr val="153E30"/>
                </a:solidFill>
                <a:latin typeface="Arial"/>
                <a:ea typeface="Arial"/>
                <a:cs typeface="Arial"/>
              </a:defRPr>
            </a:pPr>
            <a:r>
              <a:rPr sz="3300" b="1">
                <a:solidFill>
                  <a:srgbClr val="153E30"/>
                </a:solidFill>
                <a:latin typeface="Arial"/>
                <a:ea typeface="Arial"/>
                <a:cs typeface="Arial"/>
              </a:rPr>
              <a:t>Mushroom-fouten en de website</a:t>
            </a:r>
          </a:p>
        </p:txBody>
      </p:sp>
      <p:sp>
        <p:nvSpPr>
          <p:cNvPr id="2" name="number">
            <a:extLst xmlns:a="http://schemas.openxmlformats.org/drawingml/2006/main">
              <a:ext uri="{FF2B5EF4-FFF2-40B4-BE49-F238E27FC236}">
                <a16:creationId xmlns:a16="http://schemas.microsoft.com/office/drawing/2014/main" id="{506C414D-4731-4F04-BE1A-A3E400D277B9}"/>
              </a:ext>
            </a:extLst>
          </p:cNvPr>
          <p:cNvSpPr>
            <a:spLocks xmlns:a="http://schemas.openxmlformats.org/drawingml/2006/main" noGrp="1"/>
          </p:cNvSpPr>
          <p:nvPr/>
        </p:nvSpPr>
        <p:spPr>
          <a:xfrm xmlns:a="http://schemas.openxmlformats.org/drawingml/2006/main">
            <a:off x="1123950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F655D"/>
                </a:solidFill>
                <a:latin typeface="Arial"/>
                <a:ea typeface="Arial"/>
                <a:cs typeface="Arial"/>
              </a:defRPr>
            </a:defPPr>
          </a:lstStyle>
          <a:p xmlns:a="http://schemas.openxmlformats.org/drawingml/2006/main">
            <a:pPr>
              <a:defRPr sz="1275" b="0">
                <a:solidFill>
                  <a:srgbClr val="4F655D"/>
                </a:solidFill>
                <a:latin typeface="Arial"/>
                <a:ea typeface="Arial"/>
                <a:cs typeface="Arial"/>
              </a:defRPr>
            </a:pPr>
            <a:r>
              <a:rPr sz="1275" b="0">
                <a:solidFill>
                  <a:srgbClr val="4F655D"/>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0B35D5A8-FFFC-4545-B547-1E86314DD19C}"/>
              </a:ext>
            </a:extLst>
          </p:cNvPr>
          <p:cNvGraphicFramePr/>
          <p:nvPr/>
        </p:nvGraphicFramePr>
        <p:xfrm>
          <a:off xmlns:a="http://schemas.openxmlformats.org/drawingml/2006/main" x="723900" y="1685925"/>
          <a:ext xmlns:a="http://schemas.openxmlformats.org/drawingml/2006/main" cx="6667500" cy="2286000"/>
        </p:xfrm>
        <a:graphic xmlns:a="http://schemas.openxmlformats.org/drawingml/2006/main">
          <a:graphicData uri="http://schemas.openxmlformats.org/drawingml/2006/table">
            <a:tbl>
              <a:tblPr/>
              <a:tblGrid>
                <a:gridCol w="4000500"/>
                <a:gridCol w="1333500"/>
                <a:gridCol w="1333500"/>
              </a:tblGrid>
              <a:tr h="762000">
                <a:tc>
                  <a:txBody>
                    <a:bodyPr/>
                    <a:lstStyle/>
                    <a:p>
                      <a:r>
                        <a:rPr sz="1875" b="1">
                          <a:solidFill>
                            <a:srgbClr val="FFFFFF"/>
                          </a:solidFill>
                          <a:latin typeface="Arial"/>
                          <a:ea typeface="Arial"/>
                          <a:cs typeface="Arial"/>
                        </a:rPr>
                        <a:t>Werkelijk / voorspeld</a:t>
                      </a:r>
                    </a:p>
                  </a:txBody>
                  <a:tcPr marL="91440" marR="91440" marT="45720" marB="45720">
                    <a:lnL w="9525">
                      <a:solidFill>
                        <a:srgbClr val="C4D3C8"/>
                      </a:solidFill>
                      <a:prstDash val="solid"/>
                    </a:lnL>
                    <a:lnR w="9525">
                      <a:solidFill>
                        <a:srgbClr val="C4D3C8"/>
                      </a:solidFill>
                      <a:prstDash val="solid"/>
                    </a:lnR>
                    <a:lnT w="9525">
                      <a:solidFill>
                        <a:srgbClr val="C4D3C8"/>
                      </a:solidFill>
                      <a:prstDash val="solid"/>
                    </a:lnT>
                    <a:lnB w="9525">
                      <a:solidFill>
                        <a:srgbClr val="C4D3C8"/>
                      </a:solidFill>
                      <a:prstDash val="solid"/>
                    </a:lnB>
                    <a:solidFill>
                      <a:srgbClr val="2D7352"/>
                    </a:solidFill>
                  </a:tcPr>
                </a:tc>
                <a:tc>
                  <a:txBody>
                    <a:bodyPr/>
                    <a:lstStyle/>
                    <a:p>
                      <a:r>
                        <a:rPr sz="1875" b="1">
                          <a:solidFill>
                            <a:srgbClr val="FFFFFF"/>
                          </a:solidFill>
                          <a:latin typeface="Arial"/>
                          <a:ea typeface="Arial"/>
                          <a:cs typeface="Arial"/>
                        </a:rPr>
                        <a:t>e</a:t>
                      </a:r>
                    </a:p>
                  </a:txBody>
                  <a:tcPr marL="91440" marR="91440" marT="45720" marB="45720">
                    <a:lnR w="9525">
                      <a:solidFill>
                        <a:srgbClr val="C4D3C8"/>
                      </a:solidFill>
                      <a:prstDash val="solid"/>
                    </a:lnR>
                    <a:lnT w="9525">
                      <a:solidFill>
                        <a:srgbClr val="C4D3C8"/>
                      </a:solidFill>
                      <a:prstDash val="solid"/>
                    </a:lnT>
                    <a:lnB w="9525">
                      <a:solidFill>
                        <a:srgbClr val="C4D3C8"/>
                      </a:solidFill>
                      <a:prstDash val="solid"/>
                    </a:lnB>
                    <a:solidFill>
                      <a:srgbClr val="2D7352"/>
                    </a:solidFill>
                  </a:tcPr>
                </a:tc>
                <a:tc>
                  <a:txBody>
                    <a:bodyPr/>
                    <a:lstStyle/>
                    <a:p>
                      <a:r>
                        <a:rPr sz="1875" b="1">
                          <a:solidFill>
                            <a:srgbClr val="FFFFFF"/>
                          </a:solidFill>
                          <a:latin typeface="Arial"/>
                          <a:ea typeface="Arial"/>
                          <a:cs typeface="Arial"/>
                        </a:rPr>
                        <a:t>p</a:t>
                      </a:r>
                    </a:p>
                  </a:txBody>
                  <a:tcPr marL="91440" marR="91440" marT="45720" marB="45720">
                    <a:lnR w="9525">
                      <a:solidFill>
                        <a:srgbClr val="C4D3C8"/>
                      </a:solidFill>
                      <a:prstDash val="solid"/>
                    </a:lnR>
                    <a:lnT w="9525">
                      <a:solidFill>
                        <a:srgbClr val="C4D3C8"/>
                      </a:solidFill>
                      <a:prstDash val="solid"/>
                    </a:lnT>
                    <a:lnB w="9525">
                      <a:solidFill>
                        <a:srgbClr val="C4D3C8"/>
                      </a:solidFill>
                      <a:prstDash val="solid"/>
                    </a:lnB>
                    <a:solidFill>
                      <a:srgbClr val="2D7352"/>
                    </a:solidFill>
                  </a:tcPr>
                </a:tc>
              </a:tr>
              <a:tr h="762000">
                <a:tc>
                  <a:txBody>
                    <a:bodyPr/>
                    <a:lstStyle/>
                    <a:p>
                      <a:r>
                        <a:rPr sz="1875" b="0">
                          <a:solidFill>
                            <a:srgbClr val="153E30"/>
                          </a:solidFill>
                          <a:latin typeface="Arial"/>
                          <a:ea typeface="Arial"/>
                          <a:cs typeface="Arial"/>
                        </a:rPr>
                        <a:t>Eetbare klasse</a:t>
                      </a:r>
                    </a:p>
                  </a:txBody>
                  <a:tcPr marL="91440" marR="91440" marT="45720" marB="45720">
                    <a:lnL w="9525">
                      <a:solidFill>
                        <a:srgbClr val="C4D3C8"/>
                      </a:solidFill>
                      <a:prstDash val="solid"/>
                    </a:lnL>
                    <a:lnR w="9525">
                      <a:solidFill>
                        <a:srgbClr val="C4D3C8"/>
                      </a:solidFill>
                      <a:prstDash val="solid"/>
                    </a:lnR>
                    <a:lnB w="9525">
                      <a:solidFill>
                        <a:srgbClr val="C4D3C8"/>
                      </a:solidFill>
                      <a:prstDash val="solid"/>
                    </a:lnB>
                    <a:solidFill>
                      <a:srgbClr val="FFFFFF"/>
                    </a:solidFill>
                  </a:tcPr>
                </a:tc>
                <a:tc>
                  <a:txBody>
                    <a:bodyPr/>
                    <a:lstStyle/>
                    <a:p>
                      <a:r>
                        <a:rPr sz="1875" b="0">
                          <a:solidFill>
                            <a:srgbClr val="153E30"/>
                          </a:solidFill>
                          <a:latin typeface="Arial"/>
                          <a:ea typeface="Arial"/>
                          <a:cs typeface="Arial"/>
                        </a:rPr>
                        <a:t>512</a:t>
                      </a:r>
                    </a:p>
                  </a:txBody>
                  <a:tcPr marL="91440" marR="91440" marT="45720" marB="45720">
                    <a:lnR w="9525">
                      <a:solidFill>
                        <a:srgbClr val="C4D3C8"/>
                      </a:solidFill>
                      <a:prstDash val="solid"/>
                    </a:lnR>
                    <a:lnB w="9525">
                      <a:solidFill>
                        <a:srgbClr val="C4D3C8"/>
                      </a:solidFill>
                      <a:prstDash val="solid"/>
                    </a:lnB>
                    <a:solidFill>
                      <a:srgbClr val="FFFFFF"/>
                    </a:solidFill>
                  </a:tcPr>
                </a:tc>
                <a:tc>
                  <a:txBody>
                    <a:bodyPr/>
                    <a:lstStyle/>
                    <a:p>
                      <a:r>
                        <a:rPr sz="1875" b="0">
                          <a:solidFill>
                            <a:srgbClr val="153E30"/>
                          </a:solidFill>
                          <a:latin typeface="Arial"/>
                          <a:ea typeface="Arial"/>
                          <a:cs typeface="Arial"/>
                        </a:rPr>
                        <a:t>47</a:t>
                      </a:r>
                    </a:p>
                  </a:txBody>
                  <a:tcPr marL="91440" marR="91440" marT="45720" marB="45720">
                    <a:lnR w="9525">
                      <a:solidFill>
                        <a:srgbClr val="C4D3C8"/>
                      </a:solidFill>
                      <a:prstDash val="solid"/>
                    </a:lnR>
                    <a:lnB w="9525">
                      <a:solidFill>
                        <a:srgbClr val="C4D3C8"/>
                      </a:solidFill>
                      <a:prstDash val="solid"/>
                    </a:lnB>
                    <a:solidFill>
                      <a:srgbClr val="FFFFFF"/>
                    </a:solidFill>
                  </a:tcPr>
                </a:tc>
              </a:tr>
              <a:tr h="762000">
                <a:tc>
                  <a:txBody>
                    <a:bodyPr/>
                    <a:lstStyle/>
                    <a:p>
                      <a:r>
                        <a:rPr sz="1875" b="0">
                          <a:solidFill>
                            <a:srgbClr val="153E30"/>
                          </a:solidFill>
                          <a:latin typeface="Arial"/>
                          <a:ea typeface="Arial"/>
                          <a:cs typeface="Arial"/>
                        </a:rPr>
                        <a:t>Giftige klasse</a:t>
                      </a:r>
                    </a:p>
                  </a:txBody>
                  <a:tcPr marL="91440" marR="91440" marT="45720" marB="45720">
                    <a:lnL w="9525">
                      <a:solidFill>
                        <a:srgbClr val="C4D3C8"/>
                      </a:solidFill>
                      <a:prstDash val="solid"/>
                    </a:lnL>
                    <a:lnR w="9525">
                      <a:solidFill>
                        <a:srgbClr val="C4D3C8"/>
                      </a:solidFill>
                      <a:prstDash val="solid"/>
                    </a:lnR>
                    <a:lnB w="9525">
                      <a:solidFill>
                        <a:srgbClr val="C4D3C8"/>
                      </a:solidFill>
                      <a:prstDash val="solid"/>
                    </a:lnB>
                    <a:solidFill>
                      <a:srgbClr val="E5EEE7"/>
                    </a:solidFill>
                  </a:tcPr>
                </a:tc>
                <a:tc>
                  <a:txBody>
                    <a:bodyPr/>
                    <a:lstStyle/>
                    <a:p>
                      <a:r>
                        <a:rPr sz="1875" b="0">
                          <a:solidFill>
                            <a:srgbClr val="153E30"/>
                          </a:solidFill>
                          <a:latin typeface="Arial"/>
                          <a:ea typeface="Arial"/>
                          <a:cs typeface="Arial"/>
                        </a:rPr>
                        <a:t>121</a:t>
                      </a:r>
                    </a:p>
                  </a:txBody>
                  <a:tcPr marL="91440" marR="91440" marT="45720" marB="45720">
                    <a:lnR w="9525">
                      <a:solidFill>
                        <a:srgbClr val="C4D3C8"/>
                      </a:solidFill>
                      <a:prstDash val="solid"/>
                    </a:lnR>
                    <a:lnB w="9525">
                      <a:solidFill>
                        <a:srgbClr val="C4D3C8"/>
                      </a:solidFill>
                      <a:prstDash val="solid"/>
                    </a:lnB>
                    <a:solidFill>
                      <a:srgbClr val="E5EEE7"/>
                    </a:solidFill>
                  </a:tcPr>
                </a:tc>
                <a:tc>
                  <a:txBody>
                    <a:bodyPr/>
                    <a:lstStyle/>
                    <a:p>
                      <a:r>
                        <a:rPr sz="1875" b="0">
                          <a:solidFill>
                            <a:srgbClr val="153E30"/>
                          </a:solidFill>
                          <a:latin typeface="Arial"/>
                          <a:ea typeface="Arial"/>
                          <a:cs typeface="Arial"/>
                        </a:rPr>
                        <a:t>220</a:t>
                      </a:r>
                    </a:p>
                  </a:txBody>
                  <a:tcPr marL="91440" marR="91440" marT="45720" marB="45720">
                    <a:lnR w="9525">
                      <a:solidFill>
                        <a:srgbClr val="C4D3C8"/>
                      </a:solidFill>
                      <a:prstDash val="solid"/>
                    </a:lnR>
                    <a:lnB w="9525">
                      <a:solidFill>
                        <a:srgbClr val="C4D3C8"/>
                      </a:solidFill>
                      <a:prstDash val="solid"/>
                    </a:lnB>
                    <a:solidFill>
                      <a:srgbClr val="E5EEE7"/>
                    </a:solidFill>
                  </a:tcPr>
                </a:tc>
              </a:tr>
            </a:tbl>
          </a:graphicData>
        </a:graphic>
      </p:graphicFrame>
      <p:sp>
        <p:nvSpPr>
          <p:cNvPr id="4" name="misses">
            <a:extLst xmlns:a="http://schemas.openxmlformats.org/drawingml/2006/main">
              <a:ext uri="{FF2B5EF4-FFF2-40B4-BE49-F238E27FC236}">
                <a16:creationId xmlns:a16="http://schemas.microsoft.com/office/drawing/2014/main" id="{E1910534-4D68-4DE4-A9D4-66CD2C4D0AE5}"/>
              </a:ext>
            </a:extLst>
          </p:cNvPr>
          <p:cNvSpPr>
            <a:spLocks xmlns:a="http://schemas.openxmlformats.org/drawingml/2006/main" noGrp="1"/>
          </p:cNvSpPr>
          <p:nvPr/>
        </p:nvSpPr>
        <p:spPr>
          <a:xfrm xmlns:a="http://schemas.openxmlformats.org/drawingml/2006/main">
            <a:off x="7953375" y="1838325"/>
            <a:ext cx="3429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99571C"/>
                </a:solidFill>
                <a:latin typeface="Arial"/>
                <a:ea typeface="Arial"/>
                <a:cs typeface="Arial"/>
              </a:defRPr>
            </a:defPPr>
          </a:lstStyle>
          <a:p xmlns:a="http://schemas.openxmlformats.org/drawingml/2006/main">
            <a:pPr>
              <a:defRPr sz="2850" b="1">
                <a:solidFill>
                  <a:srgbClr val="99571C"/>
                </a:solidFill>
                <a:latin typeface="Arial"/>
                <a:ea typeface="Arial"/>
                <a:cs typeface="Arial"/>
              </a:defRPr>
            </a:pPr>
            <a:r>
              <a:rPr sz="2850" b="1">
                <a:solidFill>
                  <a:srgbClr val="99571C"/>
                </a:solidFill>
                <a:latin typeface="Arial"/>
                <a:ea typeface="Arial"/>
                <a:cs typeface="Arial"/>
              </a:rPr>
              <a:t>121 gemiste</a:t>
            </a:r>
          </a:p>
          <a:p xmlns:a="http://schemas.openxmlformats.org/drawingml/2006/main">
            <a:pPr>
              <a:defRPr sz="2850" b="1">
                <a:solidFill>
                  <a:srgbClr val="99571C"/>
                </a:solidFill>
                <a:latin typeface="Arial"/>
                <a:ea typeface="Arial"/>
                <a:cs typeface="Arial"/>
              </a:defRPr>
            </a:pPr>
            <a:r>
              <a:rPr sz="2850" b="1">
                <a:solidFill>
                  <a:srgbClr val="99571C"/>
                </a:solidFill>
                <a:latin typeface="Arial"/>
                <a:ea typeface="Arial"/>
                <a:cs typeface="Arial"/>
              </a:rPr>
              <a:t>giftige voorbeelden</a:t>
            </a:r>
          </a:p>
        </p:txBody>
      </p:sp>
      <p:sp>
        <p:nvSpPr>
          <p:cNvPr id="5" name="paragraph-447-76">
            <a:extLst xmlns:a="http://schemas.openxmlformats.org/drawingml/2006/main">
              <a:ext uri="{FF2B5EF4-FFF2-40B4-BE49-F238E27FC236}">
                <a16:creationId xmlns:a16="http://schemas.microsoft.com/office/drawing/2014/main" id="{3DAFD2B0-C724-4774-836F-3CB88ADD6D12}"/>
              </a:ext>
            </a:extLst>
          </p:cNvPr>
          <p:cNvSpPr>
            <a:spLocks xmlns:a="http://schemas.openxmlformats.org/drawingml/2006/main" noGrp="1"/>
          </p:cNvSpPr>
          <p:nvPr/>
        </p:nvSpPr>
        <p:spPr>
          <a:xfrm xmlns:a="http://schemas.openxmlformats.org/drawingml/2006/main">
            <a:off x="723900" y="42576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53E30"/>
                </a:solidFill>
                <a:latin typeface="Arial"/>
                <a:ea typeface="Arial"/>
                <a:cs typeface="Arial"/>
              </a:defRPr>
            </a:defPPr>
          </a:lstStyle>
          <a:p xmlns:a="http://schemas.openxmlformats.org/drawingml/2006/main">
            <a:pPr>
              <a:defRPr sz="2250" b="0">
                <a:solidFill>
                  <a:srgbClr val="153E30"/>
                </a:solidFill>
                <a:latin typeface="Arial"/>
                <a:ea typeface="Arial"/>
                <a:cs typeface="Arial"/>
              </a:defRPr>
            </a:pPr>
            <a:r>
              <a:rPr sz="2250" b="0">
                <a:solidFill>
                  <a:srgbClr val="153E30"/>
                </a:solidFill>
                <a:latin typeface="Arial"/>
                <a:ea typeface="Arial"/>
                <a:cs typeface="Arial"/>
              </a:rPr>
              <a:t>81,33% accuracy · 64,52% giftige recall</a:t>
            </a:r>
          </a:p>
        </p:txBody>
      </p:sp>
      <p:sp>
        <p:nvSpPr>
          <p:cNvPr id="6" name="paragraph-544-76">
            <a:extLst xmlns:a="http://schemas.openxmlformats.org/drawingml/2006/main">
              <a:ext uri="{FF2B5EF4-FFF2-40B4-BE49-F238E27FC236}">
                <a16:creationId xmlns:a16="http://schemas.microsoft.com/office/drawing/2014/main" id="{B41C4344-3C7D-4B18-ACB2-E69AB3125DDF}"/>
              </a:ext>
            </a:extLst>
          </p:cNvPr>
          <p:cNvSpPr>
            <a:spLocks xmlns:a="http://schemas.openxmlformats.org/drawingml/2006/main" noGrp="1"/>
          </p:cNvSpPr>
          <p:nvPr/>
        </p:nvSpPr>
        <p:spPr>
          <a:xfrm xmlns:a="http://schemas.openxmlformats.org/drawingml/2006/main">
            <a:off x="723900" y="51816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99571C"/>
                </a:solidFill>
                <a:latin typeface="Arial"/>
                <a:ea typeface="Arial"/>
                <a:cs typeface="Arial"/>
              </a:defRPr>
            </a:defPPr>
          </a:lstStyle>
          <a:p xmlns:a="http://schemas.openxmlformats.org/drawingml/2006/main">
            <a:pPr>
              <a:defRPr sz="2175" b="0">
                <a:solidFill>
                  <a:srgbClr val="99571C"/>
                </a:solidFill>
                <a:latin typeface="Arial"/>
                <a:ea typeface="Arial"/>
                <a:cs typeface="Arial"/>
              </a:defRPr>
            </a:pPr>
            <a:r>
              <a:rPr sz="2175" b="0">
                <a:solidFill>
                  <a:srgbClr val="99571C"/>
                </a:solidFill>
                <a:latin typeface="Arial"/>
                <a:ea typeface="Arial"/>
                <a:cs typeface="Arial"/>
              </a:rPr>
              <a:t>De UI toont “giftig” of “onzeker / mogelijk giftig”.</a:t>
            </a:r>
          </a:p>
        </p:txBody>
      </p:sp>
    </p:spTree>
    <p:extLst>
      <p:ext uri="{BB962C8B-B14F-4D97-AF65-F5344CB8AC3E}">
        <p14:creationId xmlns:p14="http://schemas.microsoft.com/office/powerpoint/2010/main" val="1381162326"/>
      </p:ext>
    </p:extLst>
  </p:cSld>
</p:sld>
</file>

<file path=ppt/slides/slide7.xml><?xml version="1.0" encoding="utf-8"?>
<p:sld xmlns:p="http://schemas.openxmlformats.org/presentationml/2006/main">
  <p:cSld>
    <p:bg>
      <p:bgPr>
        <a:solidFill xmlns:a="http://schemas.openxmlformats.org/drawingml/2006/main">
          <a:srgbClr val="F2F6F2"/>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2DA6818-5E78-4BAA-AF0C-F84D98BD5296}"/>
              </a:ext>
            </a:extLst>
          </p:cNvPr>
          <p:cNvSpPr>
            <a:spLocks xmlns:a="http://schemas.openxmlformats.org/drawingml/2006/main" noGrp="1"/>
          </p:cNvSpPr>
          <p:nvPr/>
        </p:nvSpPr>
        <p:spPr>
          <a:xfrm xmlns:a="http://schemas.openxmlformats.org/drawingml/2006/main">
            <a:off x="666750" y="43815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E30"/>
                </a:solidFill>
                <a:latin typeface="Arial"/>
                <a:ea typeface="Arial"/>
                <a:cs typeface="Arial"/>
              </a:defRPr>
            </a:defPPr>
          </a:lstStyle>
          <a:p xmlns:a="http://schemas.openxmlformats.org/drawingml/2006/main">
            <a:pPr>
              <a:defRPr sz="3300" b="1">
                <a:solidFill>
                  <a:srgbClr val="153E30"/>
                </a:solidFill>
                <a:latin typeface="Arial"/>
                <a:ea typeface="Arial"/>
                <a:cs typeface="Arial"/>
              </a:defRPr>
            </a:pPr>
            <a:r>
              <a:rPr sz="3300" b="1">
                <a:solidFill>
                  <a:srgbClr val="153E30"/>
                </a:solidFill>
                <a:latin typeface="Arial"/>
                <a:ea typeface="Arial"/>
                <a:cs typeface="Arial"/>
              </a:rPr>
              <a:t>Training en tuning op SageMaker</a:t>
            </a:r>
          </a:p>
        </p:txBody>
      </p:sp>
      <p:sp>
        <p:nvSpPr>
          <p:cNvPr id="2" name="number">
            <a:extLst xmlns:a="http://schemas.openxmlformats.org/drawingml/2006/main">
              <a:ext uri="{FF2B5EF4-FFF2-40B4-BE49-F238E27FC236}">
                <a16:creationId xmlns:a16="http://schemas.microsoft.com/office/drawing/2014/main" id="{B699ED2D-F264-4694-A40C-FECDE9192855}"/>
              </a:ext>
            </a:extLst>
          </p:cNvPr>
          <p:cNvSpPr>
            <a:spLocks xmlns:a="http://schemas.openxmlformats.org/drawingml/2006/main" noGrp="1"/>
          </p:cNvSpPr>
          <p:nvPr/>
        </p:nvSpPr>
        <p:spPr>
          <a:xfrm xmlns:a="http://schemas.openxmlformats.org/drawingml/2006/main">
            <a:off x="1123950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F655D"/>
                </a:solidFill>
                <a:latin typeface="Arial"/>
                <a:ea typeface="Arial"/>
                <a:cs typeface="Arial"/>
              </a:defRPr>
            </a:defPPr>
          </a:lstStyle>
          <a:p xmlns:a="http://schemas.openxmlformats.org/drawingml/2006/main">
            <a:pPr>
              <a:defRPr sz="1275" b="0">
                <a:solidFill>
                  <a:srgbClr val="4F655D"/>
                </a:solidFill>
                <a:latin typeface="Arial"/>
                <a:ea typeface="Arial"/>
                <a:cs typeface="Arial"/>
              </a:defRPr>
            </a:pPr>
            <a:r>
              <a:rPr sz="1275" b="0">
                <a:solidFill>
                  <a:srgbClr val="4F655D"/>
                </a:solidFill>
                <a:latin typeface="Arial"/>
                <a:ea typeface="Arial"/>
                <a:cs typeface="Arial"/>
              </a:rPr>
              <a:t>07</a:t>
            </a:r>
          </a:p>
        </p:txBody>
      </p:sp>
      <p:sp>
        <p:nvSpPr>
          <p:cNvPr id="3" name="aws-cv">
            <a:extLst xmlns:a="http://schemas.openxmlformats.org/drawingml/2006/main">
              <a:ext uri="{FF2B5EF4-FFF2-40B4-BE49-F238E27FC236}">
                <a16:creationId xmlns:a16="http://schemas.microsoft.com/office/drawing/2014/main" id="{AA3F0D8E-8C13-4F73-A0FE-FF8DAF87B5B3}"/>
              </a:ext>
            </a:extLst>
          </p:cNvPr>
          <p:cNvSpPr>
            <a:spLocks xmlns:a="http://schemas.openxmlformats.org/drawingml/2006/main" noGrp="1"/>
          </p:cNvSpPr>
          <p:nvPr/>
        </p:nvSpPr>
        <p:spPr>
          <a:xfrm xmlns:a="http://schemas.openxmlformats.org/drawingml/2006/main">
            <a:off x="742950" y="1685925"/>
            <a:ext cx="714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153E30"/>
                </a:solidFill>
                <a:latin typeface="Arial"/>
                <a:ea typeface="Arial"/>
                <a:cs typeface="Arial"/>
              </a:defRPr>
            </a:defPPr>
          </a:lstStyle>
          <a:p xmlns:a="http://schemas.openxmlformats.org/drawingml/2006/main">
            <a:pPr>
              <a:defRPr sz="5700" b="1">
                <a:solidFill>
                  <a:srgbClr val="153E30"/>
                </a:solidFill>
                <a:latin typeface="Arial"/>
                <a:ea typeface="Arial"/>
                <a:cs typeface="Arial"/>
              </a:defRPr>
            </a:pPr>
            <a:r>
              <a:rPr sz="5700" b="1">
                <a:solidFill>
                  <a:srgbClr val="153E30"/>
                </a:solidFill>
                <a:latin typeface="Arial"/>
                <a:ea typeface="Arial"/>
                <a:cs typeface="Arial"/>
              </a:rPr>
              <a:t>0,7531</a:t>
            </a:r>
          </a:p>
        </p:txBody>
      </p:sp>
      <p:sp>
        <p:nvSpPr>
          <p:cNvPr id="4" name="paragraph-296-80">
            <a:extLst xmlns:a="http://schemas.openxmlformats.org/drawingml/2006/main">
              <a:ext uri="{FF2B5EF4-FFF2-40B4-BE49-F238E27FC236}">
                <a16:creationId xmlns:a16="http://schemas.microsoft.com/office/drawing/2014/main" id="{362740C5-B82C-4BB7-B25A-171EF3F02869}"/>
              </a:ext>
            </a:extLst>
          </p:cNvPr>
          <p:cNvSpPr>
            <a:spLocks xmlns:a="http://schemas.openxmlformats.org/drawingml/2006/main" noGrp="1"/>
          </p:cNvSpPr>
          <p:nvPr/>
        </p:nvSpPr>
        <p:spPr>
          <a:xfrm xmlns:a="http://schemas.openxmlformats.org/drawingml/2006/main">
            <a:off x="762000" y="2819400"/>
            <a:ext cx="714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4F655D"/>
                </a:solidFill>
                <a:latin typeface="Arial"/>
                <a:ea typeface="Arial"/>
                <a:cs typeface="Arial"/>
              </a:defRPr>
            </a:defPPr>
          </a:lstStyle>
          <a:p xmlns:a="http://schemas.openxmlformats.org/drawingml/2006/main">
            <a:pPr>
              <a:defRPr sz="2250" b="0">
                <a:solidFill>
                  <a:srgbClr val="4F655D"/>
                </a:solidFill>
                <a:latin typeface="Arial"/>
                <a:ea typeface="Arial"/>
                <a:cs typeface="Arial"/>
              </a:defRPr>
            </a:pPr>
            <a:r>
              <a:rPr sz="2250" b="0">
                <a:solidFill>
                  <a:srgbClr val="4F655D"/>
                </a:solidFill>
                <a:latin typeface="Arial"/>
                <a:ea typeface="Arial"/>
                <a:cs typeface="Arial"/>
              </a:rPr>
              <a:t>CV macro F1</a:t>
            </a:r>
          </a:p>
        </p:txBody>
      </p:sp>
      <p:sp>
        <p:nvSpPr>
          <p:cNvPr id="5" name="paragraph-406-80">
            <a:extLst xmlns:a="http://schemas.openxmlformats.org/drawingml/2006/main">
              <a:ext uri="{FF2B5EF4-FFF2-40B4-BE49-F238E27FC236}">
                <a16:creationId xmlns:a16="http://schemas.microsoft.com/office/drawing/2014/main" id="{66B683CC-E127-4B81-ABA8-FD367277ADF0}"/>
              </a:ext>
            </a:extLst>
          </p:cNvPr>
          <p:cNvSpPr>
            <a:spLocks xmlns:a="http://schemas.openxmlformats.org/drawingml/2006/main" noGrp="1"/>
          </p:cNvSpPr>
          <p:nvPr/>
        </p:nvSpPr>
        <p:spPr>
          <a:xfrm xmlns:a="http://schemas.openxmlformats.org/drawingml/2006/main">
            <a:off x="762000" y="3867150"/>
            <a:ext cx="9906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53E30"/>
                </a:solidFill>
                <a:latin typeface="Arial"/>
                <a:ea typeface="Arial"/>
                <a:cs typeface="Arial"/>
              </a:defRPr>
            </a:defPPr>
          </a:lstStyle>
          <a:p xmlns:a="http://schemas.openxmlformats.org/drawingml/2006/main">
            <a:pPr>
              <a:defRPr sz="2550" b="0">
                <a:solidFill>
                  <a:srgbClr val="153E30"/>
                </a:solidFill>
                <a:latin typeface="Arial"/>
                <a:ea typeface="Arial"/>
                <a:cs typeface="Arial"/>
              </a:defRPr>
            </a:pPr>
            <a:r>
              <a:rPr sz="2550" b="0">
                <a:solidFill>
                  <a:srgbClr val="153E30"/>
                </a:solidFill>
                <a:latin typeface="Arial"/>
                <a:ea typeface="Arial"/>
                <a:cs typeface="Arial"/>
              </a:rPr>
              <a:t>80,11% ontwikkeltestaccuracy</a:t>
            </a:r>
          </a:p>
          <a:p xmlns:a="http://schemas.openxmlformats.org/drawingml/2006/main">
            <a:pPr>
              <a:defRPr sz="2550" b="0">
                <a:solidFill>
                  <a:srgbClr val="153E30"/>
                </a:solidFill>
                <a:latin typeface="Arial"/>
                <a:ea typeface="Arial"/>
                <a:cs typeface="Arial"/>
              </a:defRPr>
            </a:pPr>
            <a:r>
              <a:rPr sz="2550" b="0">
                <a:solidFill>
                  <a:srgbClr val="153E30"/>
                </a:solidFill>
                <a:latin typeface="Arial"/>
                <a:ea typeface="Arial"/>
                <a:cs typeface="Arial"/>
              </a:rPr>
              <a:t>58,94% giftige recall</a:t>
            </a:r>
          </a:p>
        </p:txBody>
      </p:sp>
      <p:sp>
        <p:nvSpPr>
          <p:cNvPr id="6" name="paragraph-579-80">
            <a:extLst xmlns:a="http://schemas.openxmlformats.org/drawingml/2006/main">
              <a:ext uri="{FF2B5EF4-FFF2-40B4-BE49-F238E27FC236}">
                <a16:creationId xmlns:a16="http://schemas.microsoft.com/office/drawing/2014/main" id="{48EB6327-DDB0-472B-B280-9E21A128D9E7}"/>
              </a:ext>
            </a:extLst>
          </p:cNvPr>
          <p:cNvSpPr>
            <a:spLocks xmlns:a="http://schemas.openxmlformats.org/drawingml/2006/main" noGrp="1"/>
          </p:cNvSpPr>
          <p:nvPr/>
        </p:nvSpPr>
        <p:spPr>
          <a:xfrm xmlns:a="http://schemas.openxmlformats.org/drawingml/2006/main">
            <a:off x="762000" y="55149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4F655D"/>
                </a:solidFill>
                <a:latin typeface="Arial"/>
                <a:ea typeface="Arial"/>
                <a:cs typeface="Arial"/>
              </a:defRPr>
            </a:defPPr>
          </a:lstStyle>
          <a:p xmlns:a="http://schemas.openxmlformats.org/drawingml/2006/main">
            <a:pPr>
              <a:defRPr sz="1950" b="0">
                <a:solidFill>
                  <a:srgbClr val="4F655D"/>
                </a:solidFill>
                <a:latin typeface="Arial"/>
                <a:ea typeface="Arial"/>
                <a:cs typeface="Arial"/>
              </a:defRPr>
            </a:pPr>
            <a:r>
              <a:rPr sz="1950" b="0">
                <a:solidFill>
                  <a:srgbClr val="4F655D"/>
                </a:solidFill>
                <a:latin typeface="Arial"/>
                <a:ea typeface="Arial"/>
                <a:cs typeface="Arial"/>
              </a:rPr>
              <a:t>Notebook, parameters en herlaadbaar artifact zijn bewaard.</a:t>
            </a:r>
          </a:p>
        </p:txBody>
      </p:sp>
    </p:spTree>
    <p:extLst>
      <p:ext uri="{BB962C8B-B14F-4D97-AF65-F5344CB8AC3E}">
        <p14:creationId xmlns:p14="http://schemas.microsoft.com/office/powerpoint/2010/main" val="487725715"/>
      </p:ext>
    </p:extLst>
  </p:cSld>
</p:sld>
</file>

<file path=ppt/slides/slide8.xml><?xml version="1.0" encoding="utf-8"?>
<p:sld xmlns:p="http://schemas.openxmlformats.org/presentationml/2006/main">
  <p:cSld>
    <p:bg>
      <p:bgPr>
        <a:solidFill xmlns:a="http://schemas.openxmlformats.org/drawingml/2006/main">
          <a:srgbClr val="F2F6F2"/>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F9EE8D9-3A34-49CF-94B6-D1163C4A8E31}"/>
              </a:ext>
            </a:extLst>
          </p:cNvPr>
          <p:cNvSpPr>
            <a:spLocks xmlns:a="http://schemas.openxmlformats.org/drawingml/2006/main" noGrp="1"/>
          </p:cNvSpPr>
          <p:nvPr/>
        </p:nvSpPr>
        <p:spPr>
          <a:xfrm xmlns:a="http://schemas.openxmlformats.org/drawingml/2006/main">
            <a:off x="666750" y="43815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E30"/>
                </a:solidFill>
                <a:latin typeface="Arial"/>
                <a:ea typeface="Arial"/>
                <a:cs typeface="Arial"/>
              </a:defRPr>
            </a:defPPr>
          </a:lstStyle>
          <a:p xmlns:a="http://schemas.openxmlformats.org/drawingml/2006/main">
            <a:pPr>
              <a:defRPr sz="3300" b="1">
                <a:solidFill>
                  <a:srgbClr val="153E30"/>
                </a:solidFill>
                <a:latin typeface="Arial"/>
                <a:ea typeface="Arial"/>
                <a:cs typeface="Arial"/>
              </a:defRPr>
            </a:pPr>
            <a:r>
              <a:rPr sz="3300" b="1">
                <a:solidFill>
                  <a:srgbClr val="153E30"/>
                </a:solidFill>
                <a:latin typeface="Arial"/>
                <a:ea typeface="Arial"/>
                <a:cs typeface="Arial"/>
              </a:rPr>
              <a:t>Citi Bike: een toetsbaar patroon</a:t>
            </a:r>
          </a:p>
        </p:txBody>
      </p:sp>
      <p:sp>
        <p:nvSpPr>
          <p:cNvPr id="2" name="number">
            <a:extLst xmlns:a="http://schemas.openxmlformats.org/drawingml/2006/main">
              <a:ext uri="{FF2B5EF4-FFF2-40B4-BE49-F238E27FC236}">
                <a16:creationId xmlns:a16="http://schemas.microsoft.com/office/drawing/2014/main" id="{D1B99F78-6815-4527-BBDC-9EE1D19302C6}"/>
              </a:ext>
            </a:extLst>
          </p:cNvPr>
          <p:cNvSpPr>
            <a:spLocks xmlns:a="http://schemas.openxmlformats.org/drawingml/2006/main" noGrp="1"/>
          </p:cNvSpPr>
          <p:nvPr/>
        </p:nvSpPr>
        <p:spPr>
          <a:xfrm xmlns:a="http://schemas.openxmlformats.org/drawingml/2006/main">
            <a:off x="1123950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F655D"/>
                </a:solidFill>
                <a:latin typeface="Arial"/>
                <a:ea typeface="Arial"/>
                <a:cs typeface="Arial"/>
              </a:defRPr>
            </a:defPPr>
          </a:lstStyle>
          <a:p xmlns:a="http://schemas.openxmlformats.org/drawingml/2006/main">
            <a:pPr>
              <a:defRPr sz="1275" b="0">
                <a:solidFill>
                  <a:srgbClr val="4F655D"/>
                </a:solidFill>
                <a:latin typeface="Arial"/>
                <a:ea typeface="Arial"/>
                <a:cs typeface="Arial"/>
              </a:defRPr>
            </a:pPr>
            <a:r>
              <a:rPr sz="1275" b="0">
                <a:solidFill>
                  <a:srgbClr val="4F655D"/>
                </a:solidFill>
                <a:latin typeface="Arial"/>
                <a:ea typeface="Arial"/>
                <a:cs typeface="Arial"/>
              </a:rPr>
              <a:t>08</a:t>
            </a:r>
          </a:p>
        </p:txBody>
      </p:sp>
      <p:sp>
        <p:nvSpPr>
          <p:cNvPr id="3" name="effect">
            <a:extLst xmlns:a="http://schemas.openxmlformats.org/drawingml/2006/main">
              <a:ext uri="{FF2B5EF4-FFF2-40B4-BE49-F238E27FC236}">
                <a16:creationId xmlns:a16="http://schemas.microsoft.com/office/drawing/2014/main" id="{B372DC4F-2EC3-492E-B585-00F53ED620D5}"/>
              </a:ext>
            </a:extLst>
          </p:cNvPr>
          <p:cNvSpPr>
            <a:spLocks xmlns:a="http://schemas.openxmlformats.org/drawingml/2006/main" noGrp="1"/>
          </p:cNvSpPr>
          <p:nvPr/>
        </p:nvSpPr>
        <p:spPr>
          <a:xfrm xmlns:a="http://schemas.openxmlformats.org/drawingml/2006/main">
            <a:off x="723900" y="169545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153E30"/>
                </a:solidFill>
                <a:latin typeface="Arial"/>
                <a:ea typeface="Arial"/>
                <a:cs typeface="Arial"/>
              </a:defRPr>
            </a:defPPr>
          </a:lstStyle>
          <a:p xmlns:a="http://schemas.openxmlformats.org/drawingml/2006/main">
            <a:pPr>
              <a:defRPr sz="4950" b="1">
                <a:solidFill>
                  <a:srgbClr val="153E30"/>
                </a:solidFill>
                <a:latin typeface="Arial"/>
                <a:ea typeface="Arial"/>
                <a:cs typeface="Arial"/>
              </a:defRPr>
            </a:pPr>
            <a:r>
              <a:rPr sz="4950" b="1">
                <a:solidFill>
                  <a:srgbClr val="153E30"/>
                </a:solidFill>
                <a:latin typeface="Arial"/>
                <a:ea typeface="Arial"/>
                <a:cs typeface="Arial"/>
              </a:rPr>
              <a:t>+9,55 procentpunt</a:t>
            </a:r>
          </a:p>
        </p:txBody>
      </p:sp>
      <p:sp>
        <p:nvSpPr>
          <p:cNvPr id="4" name="paragraph-309-78">
            <a:extLst xmlns:a="http://schemas.openxmlformats.org/drawingml/2006/main">
              <a:ext uri="{FF2B5EF4-FFF2-40B4-BE49-F238E27FC236}">
                <a16:creationId xmlns:a16="http://schemas.microsoft.com/office/drawing/2014/main" id="{8546B68F-F84E-41A5-9DB2-1909756D9387}"/>
              </a:ext>
            </a:extLst>
          </p:cNvPr>
          <p:cNvSpPr>
            <a:spLocks xmlns:a="http://schemas.openxmlformats.org/drawingml/2006/main" noGrp="1"/>
          </p:cNvSpPr>
          <p:nvPr/>
        </p:nvSpPr>
        <p:spPr>
          <a:xfrm xmlns:a="http://schemas.openxmlformats.org/drawingml/2006/main">
            <a:off x="742950" y="29432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53E30"/>
                </a:solidFill>
                <a:latin typeface="Arial"/>
                <a:ea typeface="Arial"/>
                <a:cs typeface="Arial"/>
              </a:defRPr>
            </a:defPPr>
          </a:lstStyle>
          <a:p xmlns:a="http://schemas.openxmlformats.org/drawingml/2006/main">
            <a:pPr>
              <a:defRPr sz="2400" b="0">
                <a:solidFill>
                  <a:srgbClr val="153E30"/>
                </a:solidFill>
                <a:latin typeface="Arial"/>
                <a:ea typeface="Arial"/>
                <a:cs typeface="Arial"/>
              </a:defRPr>
            </a:pPr>
            <a:r>
              <a:rPr sz="2400" b="0">
                <a:solidFill>
                  <a:srgbClr val="153E30"/>
                </a:solidFill>
                <a:latin typeface="Arial"/>
                <a:ea typeface="Arial"/>
                <a:cs typeface="Arial"/>
              </a:rPr>
              <a:t>Ochtendrit-aandeel: werkdag tegenover weekend</a:t>
            </a:r>
          </a:p>
        </p:txBody>
      </p:sp>
      <p:sp>
        <p:nvSpPr>
          <p:cNvPr id="5" name="paragraph-420-78">
            <a:extLst xmlns:a="http://schemas.openxmlformats.org/drawingml/2006/main">
              <a:ext uri="{FF2B5EF4-FFF2-40B4-BE49-F238E27FC236}">
                <a16:creationId xmlns:a16="http://schemas.microsoft.com/office/drawing/2014/main" id="{8722C5E8-4011-4609-BCBD-C082B62C8B1F}"/>
              </a:ext>
            </a:extLst>
          </p:cNvPr>
          <p:cNvSpPr>
            <a:spLocks xmlns:a="http://schemas.openxmlformats.org/drawingml/2006/main" noGrp="1"/>
          </p:cNvSpPr>
          <p:nvPr/>
        </p:nvSpPr>
        <p:spPr>
          <a:xfrm xmlns:a="http://schemas.openxmlformats.org/drawingml/2006/main">
            <a:off x="742950" y="40005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4F655D"/>
                </a:solidFill>
                <a:latin typeface="Arial"/>
                <a:ea typeface="Arial"/>
                <a:cs typeface="Arial"/>
              </a:defRPr>
            </a:defPPr>
          </a:lstStyle>
          <a:p xmlns:a="http://schemas.openxmlformats.org/drawingml/2006/main">
            <a:pPr>
              <a:defRPr sz="2175" b="0">
                <a:solidFill>
                  <a:srgbClr val="4F655D"/>
                </a:solidFill>
                <a:latin typeface="Arial"/>
                <a:ea typeface="Arial"/>
                <a:cs typeface="Arial"/>
              </a:defRPr>
            </a:pPr>
            <a:r>
              <a:rPr sz="2175" b="0">
                <a:solidFill>
                  <a:srgbClr val="4F655D"/>
                </a:solidFill>
                <a:latin typeface="Arial"/>
                <a:ea typeface="Arial"/>
                <a:cs typeface="Arial"/>
              </a:rPr>
              <a:t>Vierweekblokken · Holm-gecorrigeerde p ≈ 0,00015</a:t>
            </a:r>
          </a:p>
        </p:txBody>
      </p:sp>
      <p:sp>
        <p:nvSpPr>
          <p:cNvPr id="6" name="paragraph-550-78">
            <a:extLst xmlns:a="http://schemas.openxmlformats.org/drawingml/2006/main">
              <a:ext uri="{FF2B5EF4-FFF2-40B4-BE49-F238E27FC236}">
                <a16:creationId xmlns:a16="http://schemas.microsoft.com/office/drawing/2014/main" id="{E256AE41-F1FE-4965-A63B-1DC64A3A8933}"/>
              </a:ext>
            </a:extLst>
          </p:cNvPr>
          <p:cNvSpPr>
            <a:spLocks xmlns:a="http://schemas.openxmlformats.org/drawingml/2006/main" noGrp="1"/>
          </p:cNvSpPr>
          <p:nvPr/>
        </p:nvSpPr>
        <p:spPr>
          <a:xfrm xmlns:a="http://schemas.openxmlformats.org/drawingml/2006/main">
            <a:off x="742950" y="52387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F655D"/>
                </a:solidFill>
                <a:latin typeface="Arial"/>
                <a:ea typeface="Arial"/>
                <a:cs typeface="Arial"/>
              </a:defRPr>
            </a:defPPr>
          </a:lstStyle>
          <a:p xmlns:a="http://schemas.openxmlformats.org/drawingml/2006/main">
            <a:pPr>
              <a:defRPr sz="2100" b="0">
                <a:solidFill>
                  <a:srgbClr val="4F655D"/>
                </a:solidFill>
                <a:latin typeface="Arial"/>
                <a:ea typeface="Arial"/>
                <a:cs typeface="Arial"/>
              </a:defRPr>
            </a:pPr>
            <a:r>
              <a:rPr sz="2100" b="0">
                <a:solidFill>
                  <a:srgbClr val="4F655D"/>
                </a:solidFill>
                <a:latin typeface="Arial"/>
                <a:ea typeface="Arial"/>
                <a:cs typeface="Arial"/>
              </a:rPr>
              <a:t>Het model gebruikt kalenderpatronen en historische uurtellingen.</a:t>
            </a:r>
          </a:p>
        </p:txBody>
      </p:sp>
    </p:spTree>
    <p:extLst>
      <p:ext uri="{BB962C8B-B14F-4D97-AF65-F5344CB8AC3E}">
        <p14:creationId xmlns:p14="http://schemas.microsoft.com/office/powerpoint/2010/main" val="1646290009"/>
      </p:ext>
    </p:extLst>
  </p:cSld>
</p:sld>
</file>

<file path=ppt/slides/slide9.xml><?xml version="1.0" encoding="utf-8"?>
<p:sld xmlns:p="http://schemas.openxmlformats.org/presentationml/2006/main">
  <p:cSld>
    <p:bg>
      <p:bgPr>
        <a:solidFill xmlns:a="http://schemas.openxmlformats.org/drawingml/2006/main">
          <a:srgbClr val="F2F6F2"/>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DBFB4CF-A910-41C4-9D06-C11D6E757847}"/>
              </a:ext>
            </a:extLst>
          </p:cNvPr>
          <p:cNvSpPr>
            <a:spLocks xmlns:a="http://schemas.openxmlformats.org/drawingml/2006/main" noGrp="1"/>
          </p:cNvSpPr>
          <p:nvPr/>
        </p:nvSpPr>
        <p:spPr>
          <a:xfrm xmlns:a="http://schemas.openxmlformats.org/drawingml/2006/main">
            <a:off x="666750" y="43815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E30"/>
                </a:solidFill>
                <a:latin typeface="Arial"/>
                <a:ea typeface="Arial"/>
                <a:cs typeface="Arial"/>
              </a:defRPr>
            </a:defPPr>
          </a:lstStyle>
          <a:p xmlns:a="http://schemas.openxmlformats.org/drawingml/2006/main">
            <a:pPr>
              <a:defRPr sz="3300" b="1">
                <a:solidFill>
                  <a:srgbClr val="153E30"/>
                </a:solidFill>
                <a:latin typeface="Arial"/>
                <a:ea typeface="Arial"/>
                <a:cs typeface="Arial"/>
              </a:defRPr>
            </a:pPr>
            <a:r>
              <a:rPr sz="3300" b="1">
                <a:solidFill>
                  <a:srgbClr val="153E30"/>
                </a:solidFill>
                <a:latin typeface="Arial"/>
                <a:ea typeface="Arial"/>
                <a:cs typeface="Arial"/>
              </a:rPr>
              <a:t>Citi Bike-modelvergelijking</a:t>
            </a:r>
          </a:p>
        </p:txBody>
      </p:sp>
      <p:sp>
        <p:nvSpPr>
          <p:cNvPr id="2" name="number">
            <a:extLst xmlns:a="http://schemas.openxmlformats.org/drawingml/2006/main">
              <a:ext uri="{FF2B5EF4-FFF2-40B4-BE49-F238E27FC236}">
                <a16:creationId xmlns:a16="http://schemas.microsoft.com/office/drawing/2014/main" id="{084510AE-5BA0-4569-91B9-A10A8FE87E46}"/>
              </a:ext>
            </a:extLst>
          </p:cNvPr>
          <p:cNvSpPr>
            <a:spLocks xmlns:a="http://schemas.openxmlformats.org/drawingml/2006/main" noGrp="1"/>
          </p:cNvSpPr>
          <p:nvPr/>
        </p:nvSpPr>
        <p:spPr>
          <a:xfrm xmlns:a="http://schemas.openxmlformats.org/drawingml/2006/main">
            <a:off x="1123950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F655D"/>
                </a:solidFill>
                <a:latin typeface="Arial"/>
                <a:ea typeface="Arial"/>
                <a:cs typeface="Arial"/>
              </a:defRPr>
            </a:defPPr>
          </a:lstStyle>
          <a:p xmlns:a="http://schemas.openxmlformats.org/drawingml/2006/main">
            <a:pPr>
              <a:defRPr sz="1275" b="0">
                <a:solidFill>
                  <a:srgbClr val="4F655D"/>
                </a:solidFill>
                <a:latin typeface="Arial"/>
                <a:ea typeface="Arial"/>
                <a:cs typeface="Arial"/>
              </a:defRPr>
            </a:pPr>
            <a:r>
              <a:rPr sz="1275" b="0">
                <a:solidFill>
                  <a:srgbClr val="4F655D"/>
                </a:solidFill>
                <a:latin typeface="Arial"/>
                <a:ea typeface="Arial"/>
                <a:cs typeface="Arial"/>
              </a:rPr>
              <a:t>09</a:t>
            </a:r>
          </a:p>
        </p:txBody>
      </p:sp>
      <p:graphicFrame>
        <p:nvGraphicFramePr>
          <p:cNvPr id="3" name="Chart">
            <a:extLst xmlns:a="http://schemas.openxmlformats.org/drawingml/2006/main">
              <a:ext uri="{FF2B5EF4-FFF2-40B4-BE49-F238E27FC236}">
                <a16:creationId xmlns:a16="http://schemas.microsoft.com/office/drawing/2014/main" id="{512944E5-B7B1-4E1E-816B-6CEE129B7533}"/>
              </a:ext>
            </a:extLst>
          </p:cNvPr>
          <p:cNvGraphicFramePr/>
          <p:nvPr/>
        </p:nvGraphicFramePr>
        <p:xfrm>
          <a:off xmlns:a="http://schemas.openxmlformats.org/drawingml/2006/main" x="762000" y="1504950"/>
          <a:ext xmlns:a="http://schemas.openxmlformats.org/drawingml/2006/main" cx="10429875" cy="3714750"/>
        </p:xfrm>
        <a:graphic xmlns:a="http://schemas.openxmlformats.org/drawingml/2006/main">
          <a:graphicData uri="http://schemas.openxmlformats.org/drawingml/2006/chart">
            <c:chart xmlns:r="http://schemas.openxmlformats.org/officeDocument/2006/relationships" xmlns:c="http://schemas.openxmlformats.org/drawingml/2006/chart" r:id="R575255e1b33341a6"/>
          </a:graphicData>
        </a:graphic>
      </p:graphicFrame>
      <p:sp>
        <p:nvSpPr>
          <p:cNvPr id="4" name="paragraph-577-76">
            <a:extLst xmlns:a="http://schemas.openxmlformats.org/drawingml/2006/main">
              <a:ext uri="{FF2B5EF4-FFF2-40B4-BE49-F238E27FC236}">
                <a16:creationId xmlns:a16="http://schemas.microsoft.com/office/drawing/2014/main" id="{9AFF539B-0EEB-4F06-B3BF-558BD015038D}"/>
              </a:ext>
            </a:extLst>
          </p:cNvPr>
          <p:cNvSpPr>
            <a:spLocks xmlns:a="http://schemas.openxmlformats.org/drawingml/2006/main" noGrp="1"/>
          </p:cNvSpPr>
          <p:nvPr/>
        </p:nvSpPr>
        <p:spPr>
          <a:xfrm xmlns:a="http://schemas.openxmlformats.org/drawingml/2006/main">
            <a:off x="723900" y="549592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F655D"/>
                </a:solidFill>
                <a:latin typeface="Arial"/>
                <a:ea typeface="Arial"/>
                <a:cs typeface="Arial"/>
              </a:defRPr>
            </a:defPPr>
          </a:lstStyle>
          <a:p xmlns:a="http://schemas.openxmlformats.org/drawingml/2006/main">
            <a:pPr>
              <a:defRPr sz="2025" b="0">
                <a:solidFill>
                  <a:srgbClr val="4F655D"/>
                </a:solidFill>
                <a:latin typeface="Arial"/>
                <a:ea typeface="Arial"/>
                <a:cs typeface="Arial"/>
              </a:defRPr>
            </a:pPr>
            <a:r>
              <a:rPr sz="2025" b="0">
                <a:solidFill>
                  <a:srgbClr val="4F655D"/>
                </a:solidFill>
                <a:latin typeface="Arial"/>
                <a:ea typeface="Arial"/>
                <a:cs typeface="Arial"/>
              </a:rPr>
              <a:t>Validatie mei–juni 2026 · RMSE in ritstarts per lokaal uurvak</a:t>
            </a:r>
          </a:p>
        </p:txBody>
      </p:sp>
    </p:spTree>
    <p:extLst>
      <p:ext uri="{BB962C8B-B14F-4D97-AF65-F5344CB8AC3E}">
        <p14:creationId xmlns:p14="http://schemas.microsoft.com/office/powerpoint/2010/main" val="579851707"/>
      </p:ext>
    </p:extLst>
  </p:cSld>
</p:sld>
</file>

<file path=ppt/slides/slide10.xml><?xml version="1.0" encoding="utf-8"?>
<p:sld xmlns:p="http://schemas.openxmlformats.org/presentationml/2006/main">
  <p:cSld>
    <p:bg>
      <p:bgPr>
        <a:solidFill xmlns:a="http://schemas.openxmlformats.org/drawingml/2006/main">
          <a:srgbClr val="F2F6F2"/>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5C0503FC-D45F-4D0F-8BBF-A98B29A52E03}"/>
              </a:ext>
            </a:extLst>
          </p:cNvPr>
          <p:cNvSpPr>
            <a:spLocks xmlns:a="http://schemas.openxmlformats.org/drawingml/2006/main" noGrp="1"/>
          </p:cNvSpPr>
          <p:nvPr/>
        </p:nvSpPr>
        <p:spPr>
          <a:xfrm xmlns:a="http://schemas.openxmlformats.org/drawingml/2006/main">
            <a:off x="666750" y="43815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E30"/>
                </a:solidFill>
                <a:latin typeface="Arial"/>
                <a:ea typeface="Arial"/>
                <a:cs typeface="Arial"/>
              </a:defRPr>
            </a:defPPr>
          </a:lstStyle>
          <a:p xmlns:a="http://schemas.openxmlformats.org/drawingml/2006/main">
            <a:pPr>
              <a:defRPr sz="3300" b="1">
                <a:solidFill>
                  <a:srgbClr val="153E30"/>
                </a:solidFill>
                <a:latin typeface="Arial"/>
                <a:ea typeface="Arial"/>
                <a:cs typeface="Arial"/>
              </a:defRPr>
            </a:pPr>
            <a:r>
              <a:rPr sz="3300" b="1">
                <a:solidFill>
                  <a:srgbClr val="153E30"/>
                </a:solidFill>
                <a:latin typeface="Arial"/>
                <a:ea typeface="Arial"/>
                <a:cs typeface="Arial"/>
              </a:rPr>
              <a:t>Citi Bike: de vastgelegde eindtest</a:t>
            </a:r>
          </a:p>
        </p:txBody>
      </p:sp>
      <p:sp>
        <p:nvSpPr>
          <p:cNvPr id="2" name="number">
            <a:extLst xmlns:a="http://schemas.openxmlformats.org/drawingml/2006/main">
              <a:ext uri="{FF2B5EF4-FFF2-40B4-BE49-F238E27FC236}">
                <a16:creationId xmlns:a16="http://schemas.microsoft.com/office/drawing/2014/main" id="{4B277A6B-1568-4170-A88E-5B5CCE2A21F0}"/>
              </a:ext>
            </a:extLst>
          </p:cNvPr>
          <p:cNvSpPr>
            <a:spLocks xmlns:a="http://schemas.openxmlformats.org/drawingml/2006/main" noGrp="1"/>
          </p:cNvSpPr>
          <p:nvPr/>
        </p:nvSpPr>
        <p:spPr>
          <a:xfrm xmlns:a="http://schemas.openxmlformats.org/drawingml/2006/main">
            <a:off x="1123950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F655D"/>
                </a:solidFill>
                <a:latin typeface="Arial"/>
                <a:ea typeface="Arial"/>
                <a:cs typeface="Arial"/>
              </a:defRPr>
            </a:defPPr>
          </a:lstStyle>
          <a:p xmlns:a="http://schemas.openxmlformats.org/drawingml/2006/main">
            <a:pPr>
              <a:defRPr sz="1275" b="0">
                <a:solidFill>
                  <a:srgbClr val="4F655D"/>
                </a:solidFill>
                <a:latin typeface="Arial"/>
                <a:ea typeface="Arial"/>
                <a:cs typeface="Arial"/>
              </a:defRPr>
            </a:pPr>
            <a:r>
              <a:rPr sz="1275" b="0">
                <a:solidFill>
                  <a:srgbClr val="4F655D"/>
                </a:solidFill>
                <a:latin typeface="Arial"/>
                <a:ea typeface="Arial"/>
                <a:cs typeface="Arial"/>
              </a:rPr>
              <a:t>10</a:t>
            </a:r>
          </a:p>
        </p:txBody>
      </p:sp>
      <p:graphicFrame>
        <p:nvGraphicFramePr>
          <p:cNvPr id="3" name="Chart">
            <a:extLst xmlns:a="http://schemas.openxmlformats.org/drawingml/2006/main">
              <a:ext uri="{FF2B5EF4-FFF2-40B4-BE49-F238E27FC236}">
                <a16:creationId xmlns:a16="http://schemas.microsoft.com/office/drawing/2014/main" id="{31899068-F69C-4E8F-AFA2-A31EE5582562}"/>
              </a:ext>
            </a:extLst>
          </p:cNvPr>
          <p:cNvGraphicFramePr/>
          <p:nvPr/>
        </p:nvGraphicFramePr>
        <p:xfrm>
          <a:off xmlns:a="http://schemas.openxmlformats.org/drawingml/2006/main" x="704850" y="1581150"/>
          <a:ext xmlns:a="http://schemas.openxmlformats.org/drawingml/2006/main" cx="6953250" cy="3476625"/>
        </p:xfrm>
        <a:graphic xmlns:a="http://schemas.openxmlformats.org/drawingml/2006/main">
          <a:graphicData uri="http://schemas.openxmlformats.org/drawingml/2006/chart">
            <c:chart xmlns:r="http://schemas.openxmlformats.org/officeDocument/2006/relationships" xmlns:c="http://schemas.openxmlformats.org/drawingml/2006/chart" r:id="Rb410c9d1d6564351"/>
          </a:graphicData>
        </a:graphic>
      </p:graphicFrame>
      <p:sp>
        <p:nvSpPr>
          <p:cNvPr id="4" name="gain">
            <a:extLst xmlns:a="http://schemas.openxmlformats.org/drawingml/2006/main">
              <a:ext uri="{FF2B5EF4-FFF2-40B4-BE49-F238E27FC236}">
                <a16:creationId xmlns:a16="http://schemas.microsoft.com/office/drawing/2014/main" id="{E62E2D1C-7EBE-4D0A-B1E2-20C685459138}"/>
              </a:ext>
            </a:extLst>
          </p:cNvPr>
          <p:cNvSpPr>
            <a:spLocks xmlns:a="http://schemas.openxmlformats.org/drawingml/2006/main" noGrp="1"/>
          </p:cNvSpPr>
          <p:nvPr/>
        </p:nvSpPr>
        <p:spPr>
          <a:xfrm xmlns:a="http://schemas.openxmlformats.org/drawingml/2006/main">
            <a:off x="8105775" y="2009775"/>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153E30"/>
                </a:solidFill>
                <a:latin typeface="Arial"/>
                <a:ea typeface="Arial"/>
                <a:cs typeface="Arial"/>
              </a:defRPr>
            </a:defPPr>
          </a:lstStyle>
          <a:p xmlns:a="http://schemas.openxmlformats.org/drawingml/2006/main">
            <a:pPr>
              <a:defRPr sz="4950" b="1">
                <a:solidFill>
                  <a:srgbClr val="153E30"/>
                </a:solidFill>
                <a:latin typeface="Arial"/>
                <a:ea typeface="Arial"/>
                <a:cs typeface="Arial"/>
              </a:defRPr>
            </a:pPr>
            <a:r>
              <a:rPr sz="4950" b="1">
                <a:solidFill>
                  <a:srgbClr val="153E30"/>
                </a:solidFill>
                <a:latin typeface="Arial"/>
                <a:ea typeface="Arial"/>
                <a:cs typeface="Arial"/>
              </a:rPr>
              <a:t>24,12%</a:t>
            </a:r>
          </a:p>
        </p:txBody>
      </p:sp>
      <p:sp>
        <p:nvSpPr>
          <p:cNvPr id="5" name="paragraph-322-854">
            <a:extLst xmlns:a="http://schemas.openxmlformats.org/drawingml/2006/main">
              <a:ext uri="{FF2B5EF4-FFF2-40B4-BE49-F238E27FC236}">
                <a16:creationId xmlns:a16="http://schemas.microsoft.com/office/drawing/2014/main" id="{96A32789-7C1A-4FCE-B911-90B817563C89}"/>
              </a:ext>
            </a:extLst>
          </p:cNvPr>
          <p:cNvSpPr>
            <a:spLocks xmlns:a="http://schemas.openxmlformats.org/drawingml/2006/main" noGrp="1"/>
          </p:cNvSpPr>
          <p:nvPr/>
        </p:nvSpPr>
        <p:spPr>
          <a:xfrm xmlns:a="http://schemas.openxmlformats.org/drawingml/2006/main">
            <a:off x="8134350" y="306705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4F655D"/>
                </a:solidFill>
                <a:latin typeface="Arial"/>
                <a:ea typeface="Arial"/>
                <a:cs typeface="Arial"/>
              </a:defRPr>
            </a:defPPr>
          </a:lstStyle>
          <a:p xmlns:a="http://schemas.openxmlformats.org/drawingml/2006/main">
            <a:pPr>
              <a:defRPr sz="2250" b="0">
                <a:solidFill>
                  <a:srgbClr val="4F655D"/>
                </a:solidFill>
                <a:latin typeface="Arial"/>
                <a:ea typeface="Arial"/>
                <a:cs typeface="Arial"/>
              </a:defRPr>
            </a:pPr>
            <a:r>
              <a:rPr sz="2250" b="0">
                <a:solidFill>
                  <a:srgbClr val="4F655D"/>
                </a:solidFill>
                <a:latin typeface="Arial"/>
                <a:ea typeface="Arial"/>
                <a:cs typeface="Arial"/>
              </a:rPr>
              <a:t>lagere RMSE</a:t>
            </a:r>
          </a:p>
        </p:txBody>
      </p:sp>
      <p:sp>
        <p:nvSpPr>
          <p:cNvPr id="6" name="paragraph-442-854">
            <a:extLst xmlns:a="http://schemas.openxmlformats.org/drawingml/2006/main">
              <a:ext uri="{FF2B5EF4-FFF2-40B4-BE49-F238E27FC236}">
                <a16:creationId xmlns:a16="http://schemas.microsoft.com/office/drawing/2014/main" id="{DC33BC57-6170-41AA-AE20-BAAA032B9370}"/>
              </a:ext>
            </a:extLst>
          </p:cNvPr>
          <p:cNvSpPr>
            <a:spLocks xmlns:a="http://schemas.openxmlformats.org/drawingml/2006/main" noGrp="1"/>
          </p:cNvSpPr>
          <p:nvPr/>
        </p:nvSpPr>
        <p:spPr>
          <a:xfrm xmlns:a="http://schemas.openxmlformats.org/drawingml/2006/main">
            <a:off x="8134350" y="421005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3E30"/>
                </a:solidFill>
                <a:latin typeface="Arial"/>
                <a:ea typeface="Arial"/>
                <a:cs typeface="Arial"/>
              </a:defRPr>
            </a:defPPr>
          </a:lstStyle>
          <a:p xmlns:a="http://schemas.openxmlformats.org/drawingml/2006/main">
            <a:pPr>
              <a:defRPr sz="2025" b="0">
                <a:solidFill>
                  <a:srgbClr val="153E30"/>
                </a:solidFill>
                <a:latin typeface="Arial"/>
                <a:ea typeface="Arial"/>
                <a:cs typeface="Arial"/>
              </a:defRPr>
            </a:pPr>
            <a:r>
              <a:rPr sz="2025" b="0">
                <a:solidFill>
                  <a:srgbClr val="153E30"/>
                </a:solidFill>
                <a:latin typeface="Arial"/>
                <a:ea typeface="Arial"/>
                <a:cs typeface="Arial"/>
              </a:rPr>
              <a:t>MAE: 1.076 ritstarts</a:t>
            </a:r>
          </a:p>
        </p:txBody>
      </p:sp>
      <p:sp>
        <p:nvSpPr>
          <p:cNvPr id="7" name="paragraph-579-76">
            <a:extLst xmlns:a="http://schemas.openxmlformats.org/drawingml/2006/main">
              <a:ext uri="{FF2B5EF4-FFF2-40B4-BE49-F238E27FC236}">
                <a16:creationId xmlns:a16="http://schemas.microsoft.com/office/drawing/2014/main" id="{F273AB0A-BC3E-42E5-BA16-C7E81016093F}"/>
              </a:ext>
            </a:extLst>
          </p:cNvPr>
          <p:cNvSpPr>
            <a:spLocks xmlns:a="http://schemas.openxmlformats.org/drawingml/2006/main" noGrp="1"/>
          </p:cNvSpPr>
          <p:nvPr/>
        </p:nvSpPr>
        <p:spPr>
          <a:xfrm xmlns:a="http://schemas.openxmlformats.org/drawingml/2006/main">
            <a:off x="723900" y="55149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F655D"/>
                </a:solidFill>
                <a:latin typeface="Arial"/>
                <a:ea typeface="Arial"/>
                <a:cs typeface="Arial"/>
              </a:defRPr>
            </a:defPPr>
          </a:lstStyle>
          <a:p xmlns:a="http://schemas.openxmlformats.org/drawingml/2006/main">
            <a:pPr>
              <a:defRPr sz="2025" b="0">
                <a:solidFill>
                  <a:srgbClr val="4F655D"/>
                </a:solidFill>
                <a:latin typeface="Arial"/>
                <a:ea typeface="Arial"/>
                <a:cs typeface="Arial"/>
              </a:defRPr>
            </a:pPr>
            <a:r>
              <a:rPr sz="2025" b="0">
                <a:solidFill>
                  <a:srgbClr val="4F655D"/>
                </a:solidFill>
                <a:latin typeface="Arial"/>
                <a:ea typeface="Arial"/>
                <a:cs typeface="Arial"/>
              </a:rPr>
              <a:t>Juli–augustus 2026 · 1.488 lokale uurvakken</a:t>
            </a:r>
          </a:p>
        </p:txBody>
      </p:sp>
    </p:spTree>
    <p:extLst>
      <p:ext uri="{BB962C8B-B14F-4D97-AF65-F5344CB8AC3E}">
        <p14:creationId xmlns:p14="http://schemas.microsoft.com/office/powerpoint/2010/main" val="2066904182"/>
      </p:ext>
    </p:extLst>
  </p:cSld>
</p:sld>
</file>

<file path=ppt/slides/slide11.xml><?xml version="1.0" encoding="utf-8"?>
<p:sld xmlns:p="http://schemas.openxmlformats.org/presentationml/2006/main">
  <p:cSld>
    <p:bg>
      <p:bgPr>
        <a:solidFill xmlns:a="http://schemas.openxmlformats.org/drawingml/2006/main">
          <a:srgbClr val="F2F6F2"/>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3050704D-1E84-4C6B-82BD-1AF5AD0DB483}"/>
              </a:ext>
            </a:extLst>
          </p:cNvPr>
          <p:cNvSpPr>
            <a:spLocks xmlns:a="http://schemas.openxmlformats.org/drawingml/2006/main" noGrp="1"/>
          </p:cNvSpPr>
          <p:nvPr/>
        </p:nvSpPr>
        <p:spPr>
          <a:xfrm xmlns:a="http://schemas.openxmlformats.org/drawingml/2006/main">
            <a:off x="666750" y="43815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E30"/>
                </a:solidFill>
                <a:latin typeface="Arial"/>
                <a:ea typeface="Arial"/>
                <a:cs typeface="Arial"/>
              </a:defRPr>
            </a:defPPr>
          </a:lstStyle>
          <a:p xmlns:a="http://schemas.openxmlformats.org/drawingml/2006/main">
            <a:pPr>
              <a:defRPr sz="3300" b="1">
                <a:solidFill>
                  <a:srgbClr val="153E30"/>
                </a:solidFill>
                <a:latin typeface="Arial"/>
                <a:ea typeface="Arial"/>
                <a:cs typeface="Arial"/>
              </a:defRPr>
            </a:pPr>
            <a:r>
              <a:rPr sz="3300" b="1">
                <a:solidFill>
                  <a:srgbClr val="153E30"/>
                </a:solidFill>
                <a:latin typeface="Arial"/>
                <a:ea typeface="Arial"/>
                <a:cs typeface="Arial"/>
              </a:rPr>
              <a:t>API, website en automatische publicatie</a:t>
            </a:r>
          </a:p>
        </p:txBody>
      </p:sp>
      <p:sp>
        <p:nvSpPr>
          <p:cNvPr id="2" name="number">
            <a:extLst xmlns:a="http://schemas.openxmlformats.org/drawingml/2006/main">
              <a:ext uri="{FF2B5EF4-FFF2-40B4-BE49-F238E27FC236}">
                <a16:creationId xmlns:a16="http://schemas.microsoft.com/office/drawing/2014/main" id="{364796E9-FA47-44E7-81E5-2B7801198D73}"/>
              </a:ext>
            </a:extLst>
          </p:cNvPr>
          <p:cNvSpPr>
            <a:spLocks xmlns:a="http://schemas.openxmlformats.org/drawingml/2006/main" noGrp="1"/>
          </p:cNvSpPr>
          <p:nvPr/>
        </p:nvSpPr>
        <p:spPr>
          <a:xfrm xmlns:a="http://schemas.openxmlformats.org/drawingml/2006/main">
            <a:off x="1123950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F655D"/>
                </a:solidFill>
                <a:latin typeface="Arial"/>
                <a:ea typeface="Arial"/>
                <a:cs typeface="Arial"/>
              </a:defRPr>
            </a:defPPr>
          </a:lstStyle>
          <a:p xmlns:a="http://schemas.openxmlformats.org/drawingml/2006/main">
            <a:pPr>
              <a:defRPr sz="1275" b="0">
                <a:solidFill>
                  <a:srgbClr val="4F655D"/>
                </a:solidFill>
                <a:latin typeface="Arial"/>
                <a:ea typeface="Arial"/>
                <a:cs typeface="Arial"/>
              </a:defRPr>
            </a:pPr>
            <a:r>
              <a:rPr sz="1275" b="0">
                <a:solidFill>
                  <a:srgbClr val="4F655D"/>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F0A1BAC4-4DC4-452C-B719-31321846765D}"/>
              </a:ext>
            </a:extLst>
          </p:cNvPr>
          <p:cNvPicPr>
            <a:picLocks xmlns:a="http://schemas.openxmlformats.org/drawingml/2006/main" noChangeAspect="1"/>
          </p:cNvPicPr>
          <p:nvPr/>
        </p:nvPicPr>
        <p:blipFill>
          <a:blip xmlns:r="http://schemas.openxmlformats.org/officeDocument/2006/relationships" xmlns:a="http://schemas.openxmlformats.org/drawingml/2006/main" r:embed="R98dc227b3b654649"/>
          <a:stretch xmlns:a="http://schemas.openxmlformats.org/drawingml/2006/main"/>
        </p:blipFill>
        <p:spPr>
          <a:xfrm xmlns:a="http://schemas.openxmlformats.org/drawingml/2006/main">
            <a:off x="736889" y="1428750"/>
            <a:ext cx="5860473" cy="4476750"/>
          </a:xfrm>
          <a:prstGeom xmlns:a="http://schemas.openxmlformats.org/drawingml/2006/main" prst="rect">
            <a:avLst/>
          </a:prstGeom>
        </p:spPr>
      </p:pic>
      <p:sp>
        <p:nvSpPr>
          <p:cNvPr id="4" name="paragraph-190-735">
            <a:extLst xmlns:a="http://schemas.openxmlformats.org/drawingml/2006/main">
              <a:ext uri="{FF2B5EF4-FFF2-40B4-BE49-F238E27FC236}">
                <a16:creationId xmlns:a16="http://schemas.microsoft.com/office/drawing/2014/main" id="{66285226-D90E-4F3A-889D-50B398A71689}"/>
              </a:ext>
            </a:extLst>
          </p:cNvPr>
          <p:cNvSpPr>
            <a:spLocks xmlns:a="http://schemas.openxmlformats.org/drawingml/2006/main" noGrp="1"/>
          </p:cNvSpPr>
          <p:nvPr/>
        </p:nvSpPr>
        <p:spPr>
          <a:xfrm xmlns:a="http://schemas.openxmlformats.org/drawingml/2006/main">
            <a:off x="7000875" y="1809750"/>
            <a:ext cx="4476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3E30"/>
                </a:solidFill>
                <a:latin typeface="Arial"/>
                <a:ea typeface="Arial"/>
                <a:cs typeface="Arial"/>
              </a:defRPr>
            </a:defPPr>
          </a:lstStyle>
          <a:p xmlns:a="http://schemas.openxmlformats.org/drawingml/2006/main">
            <a:pPr>
              <a:defRPr sz="2325" b="0">
                <a:solidFill>
                  <a:srgbClr val="153E30"/>
                </a:solidFill>
                <a:latin typeface="Arial"/>
                <a:ea typeface="Arial"/>
                <a:cs typeface="Arial"/>
              </a:defRPr>
            </a:pPr>
            <a:r>
              <a:rPr sz="2325" b="0">
                <a:solidFill>
                  <a:srgbClr val="153E30"/>
                </a:solidFill>
                <a:latin typeface="Arial"/>
                <a:ea typeface="Arial"/>
                <a:cs typeface="Arial"/>
              </a:rPr>
              <a:t>GitHub: trainen en valideren</a:t>
            </a:r>
          </a:p>
        </p:txBody>
      </p:sp>
      <p:sp>
        <p:nvSpPr>
          <p:cNvPr id="5" name="paragraph-325-735">
            <a:extLst xmlns:a="http://schemas.openxmlformats.org/drawingml/2006/main">
              <a:ext uri="{FF2B5EF4-FFF2-40B4-BE49-F238E27FC236}">
                <a16:creationId xmlns:a16="http://schemas.microsoft.com/office/drawing/2014/main" id="{5219CF5B-AF02-4B9D-9E85-7DA3F59FACDA}"/>
              </a:ext>
            </a:extLst>
          </p:cNvPr>
          <p:cNvSpPr>
            <a:spLocks xmlns:a="http://schemas.openxmlformats.org/drawingml/2006/main" noGrp="1"/>
          </p:cNvSpPr>
          <p:nvPr/>
        </p:nvSpPr>
        <p:spPr>
          <a:xfrm xmlns:a="http://schemas.openxmlformats.org/drawingml/2006/main">
            <a:off x="7000875" y="3095625"/>
            <a:ext cx="4476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3E30"/>
                </a:solidFill>
                <a:latin typeface="Arial"/>
                <a:ea typeface="Arial"/>
                <a:cs typeface="Arial"/>
              </a:defRPr>
            </a:defPPr>
          </a:lstStyle>
          <a:p xmlns:a="http://schemas.openxmlformats.org/drawingml/2006/main">
            <a:pPr>
              <a:defRPr sz="2325" b="0">
                <a:solidFill>
                  <a:srgbClr val="153E30"/>
                </a:solidFill>
                <a:latin typeface="Arial"/>
                <a:ea typeface="Arial"/>
                <a:cs typeface="Arial"/>
              </a:defRPr>
            </a:pPr>
            <a:r>
              <a:rPr sz="2325" b="0">
                <a:solidFill>
                  <a:srgbClr val="153E30"/>
                </a:solidFill>
                <a:latin typeface="Arial"/>
                <a:ea typeface="Arial"/>
                <a:cs typeface="Arial"/>
              </a:rPr>
              <a:t>Modelartifact + metadata</a:t>
            </a:r>
          </a:p>
        </p:txBody>
      </p:sp>
      <p:sp>
        <p:nvSpPr>
          <p:cNvPr id="6" name="paragraph-460-735">
            <a:extLst xmlns:a="http://schemas.openxmlformats.org/drawingml/2006/main">
              <a:ext uri="{FF2B5EF4-FFF2-40B4-BE49-F238E27FC236}">
                <a16:creationId xmlns:a16="http://schemas.microsoft.com/office/drawing/2014/main" id="{3CDC14CD-A0A1-4169-AEDD-20DD0E995333}"/>
              </a:ext>
            </a:extLst>
          </p:cNvPr>
          <p:cNvSpPr>
            <a:spLocks xmlns:a="http://schemas.openxmlformats.org/drawingml/2006/main" noGrp="1"/>
          </p:cNvSpPr>
          <p:nvPr/>
        </p:nvSpPr>
        <p:spPr>
          <a:xfrm xmlns:a="http://schemas.openxmlformats.org/drawingml/2006/main">
            <a:off x="7000875" y="4381500"/>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3E30"/>
                </a:solidFill>
                <a:latin typeface="Arial"/>
                <a:ea typeface="Arial"/>
                <a:cs typeface="Arial"/>
              </a:defRPr>
            </a:defPPr>
          </a:lstStyle>
          <a:p xmlns:a="http://schemas.openxmlformats.org/drawingml/2006/main">
            <a:pPr>
              <a:defRPr sz="2325" b="0">
                <a:solidFill>
                  <a:srgbClr val="153E30"/>
                </a:solidFill>
                <a:latin typeface="Arial"/>
                <a:ea typeface="Arial"/>
                <a:cs typeface="Arial"/>
              </a:defRPr>
            </a:pPr>
            <a:r>
              <a:rPr sz="2325" b="0">
                <a:solidFill>
                  <a:srgbClr val="153E30"/>
                </a:solidFill>
                <a:latin typeface="Arial"/>
                <a:ea typeface="Arial"/>
                <a:cs typeface="Arial"/>
              </a:rPr>
              <a:t>Render API ↔ Netlify-website</a:t>
            </a:r>
          </a:p>
        </p:txBody>
      </p:sp>
    </p:spTree>
    <p:extLst>
      <p:ext uri="{BB962C8B-B14F-4D97-AF65-F5344CB8AC3E}">
        <p14:creationId xmlns:p14="http://schemas.microsoft.com/office/powerpoint/2010/main" val="213840297"/>
      </p:ext>
    </p:extLst>
  </p:cSld>
</p:sld>
</file>

<file path=ppt/slides/slide12.xml><?xml version="1.0" encoding="utf-8"?>
<p:sld xmlns:p="http://schemas.openxmlformats.org/presentationml/2006/main">
  <p:cSld>
    <p:bg>
      <p:bgPr>
        <a:solidFill xmlns:a="http://schemas.openxmlformats.org/drawingml/2006/main">
          <a:srgbClr val="F2F6F2"/>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DE23295-BB75-4C9D-B82A-F895E2F0BC08}"/>
              </a:ext>
            </a:extLst>
          </p:cNvPr>
          <p:cNvSpPr>
            <a:spLocks xmlns:a="http://schemas.openxmlformats.org/drawingml/2006/main" noGrp="1"/>
          </p:cNvSpPr>
          <p:nvPr/>
        </p:nvSpPr>
        <p:spPr>
          <a:xfrm xmlns:a="http://schemas.openxmlformats.org/drawingml/2006/main">
            <a:off x="666750" y="43815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E30"/>
                </a:solidFill>
                <a:latin typeface="Arial"/>
                <a:ea typeface="Arial"/>
                <a:cs typeface="Arial"/>
              </a:defRPr>
            </a:defPPr>
          </a:lstStyle>
          <a:p xmlns:a="http://schemas.openxmlformats.org/drawingml/2006/main">
            <a:pPr>
              <a:defRPr sz="3300" b="1">
                <a:solidFill>
                  <a:srgbClr val="153E30"/>
                </a:solidFill>
                <a:latin typeface="Arial"/>
                <a:ea typeface="Arial"/>
                <a:cs typeface="Arial"/>
              </a:defRPr>
            </a:pPr>
            <a:r>
              <a:rPr sz="3300" b="1">
                <a:solidFill>
                  <a:srgbClr val="153E30"/>
                </a:solidFill>
                <a:latin typeface="Arial"/>
                <a:ea typeface="Arial"/>
                <a:cs typeface="Arial"/>
              </a:rPr>
              <a:t>Resultaat en beperkingen</a:t>
            </a:r>
          </a:p>
        </p:txBody>
      </p:sp>
      <p:sp>
        <p:nvSpPr>
          <p:cNvPr id="2" name="number">
            <a:extLst xmlns:a="http://schemas.openxmlformats.org/drawingml/2006/main">
              <a:ext uri="{FF2B5EF4-FFF2-40B4-BE49-F238E27FC236}">
                <a16:creationId xmlns:a16="http://schemas.microsoft.com/office/drawing/2014/main" id="{4D35C10C-98B5-4520-89FC-5EFDA158B4AA}"/>
              </a:ext>
            </a:extLst>
          </p:cNvPr>
          <p:cNvSpPr>
            <a:spLocks xmlns:a="http://schemas.openxmlformats.org/drawingml/2006/main" noGrp="1"/>
          </p:cNvSpPr>
          <p:nvPr/>
        </p:nvSpPr>
        <p:spPr>
          <a:xfrm xmlns:a="http://schemas.openxmlformats.org/drawingml/2006/main">
            <a:off x="1123950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F655D"/>
                </a:solidFill>
                <a:latin typeface="Arial"/>
                <a:ea typeface="Arial"/>
                <a:cs typeface="Arial"/>
              </a:defRPr>
            </a:defPPr>
          </a:lstStyle>
          <a:p xmlns:a="http://schemas.openxmlformats.org/drawingml/2006/main">
            <a:pPr>
              <a:defRPr sz="1275" b="0">
                <a:solidFill>
                  <a:srgbClr val="4F655D"/>
                </a:solidFill>
                <a:latin typeface="Arial"/>
                <a:ea typeface="Arial"/>
                <a:cs typeface="Arial"/>
              </a:defRPr>
            </a:pPr>
            <a:r>
              <a:rPr sz="1275" b="0">
                <a:solidFill>
                  <a:srgbClr val="4F655D"/>
                </a:solidFill>
                <a:latin typeface="Arial"/>
                <a:ea typeface="Arial"/>
                <a:cs typeface="Arial"/>
              </a:rPr>
              <a:t>12</a:t>
            </a:r>
          </a:p>
        </p:txBody>
      </p:sp>
      <p:sp>
        <p:nvSpPr>
          <p:cNvPr id="3" name="paragraph-178-76">
            <a:extLst xmlns:a="http://schemas.openxmlformats.org/drawingml/2006/main">
              <a:ext uri="{FF2B5EF4-FFF2-40B4-BE49-F238E27FC236}">
                <a16:creationId xmlns:a16="http://schemas.microsoft.com/office/drawing/2014/main" id="{40374447-2A2A-4499-BD01-44B20A46E962}"/>
              </a:ext>
            </a:extLst>
          </p:cNvPr>
          <p:cNvSpPr>
            <a:spLocks xmlns:a="http://schemas.openxmlformats.org/drawingml/2006/main" noGrp="1"/>
          </p:cNvSpPr>
          <p:nvPr/>
        </p:nvSpPr>
        <p:spPr>
          <a:xfrm xmlns:a="http://schemas.openxmlformats.org/drawingml/2006/main">
            <a:off x="723900" y="16954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53E30"/>
                </a:solidFill>
                <a:latin typeface="Arial"/>
                <a:ea typeface="Arial"/>
                <a:cs typeface="Arial"/>
              </a:defRPr>
            </a:defPPr>
          </a:lstStyle>
          <a:p xmlns:a="http://schemas.openxmlformats.org/drawingml/2006/main">
            <a:pPr>
              <a:defRPr sz="2475" b="0">
                <a:solidFill>
                  <a:srgbClr val="153E30"/>
                </a:solidFill>
                <a:latin typeface="Arial"/>
                <a:ea typeface="Arial"/>
                <a:cs typeface="Arial"/>
              </a:defRPr>
            </a:pPr>
            <a:r>
              <a:rPr sz="2475" b="0">
                <a:solidFill>
                  <a:srgbClr val="153E30"/>
                </a:solidFill>
                <a:latin typeface="Arial"/>
                <a:ea typeface="Arial"/>
                <a:cs typeface="Arial"/>
              </a:rPr>
              <a:t>Beide gekozen modellen zijn beschikbaar via API en website.</a:t>
            </a:r>
          </a:p>
        </p:txBody>
      </p:sp>
      <p:sp>
        <p:nvSpPr>
          <p:cNvPr id="4" name="paragraph-321-76">
            <a:extLst xmlns:a="http://schemas.openxmlformats.org/drawingml/2006/main">
              <a:ext uri="{FF2B5EF4-FFF2-40B4-BE49-F238E27FC236}">
                <a16:creationId xmlns:a16="http://schemas.microsoft.com/office/drawing/2014/main" id="{C952E3D9-6ABA-4D5C-98E3-6A3601101C16}"/>
              </a:ext>
            </a:extLst>
          </p:cNvPr>
          <p:cNvSpPr>
            <a:spLocks xmlns:a="http://schemas.openxmlformats.org/drawingml/2006/main" noGrp="1"/>
          </p:cNvSpPr>
          <p:nvPr/>
        </p:nvSpPr>
        <p:spPr>
          <a:xfrm xmlns:a="http://schemas.openxmlformats.org/drawingml/2006/main">
            <a:off x="723900" y="305752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99571C"/>
                </a:solidFill>
                <a:latin typeface="Arial"/>
                <a:ea typeface="Arial"/>
                <a:cs typeface="Arial"/>
              </a:defRPr>
            </a:defPPr>
          </a:lstStyle>
          <a:p xmlns:a="http://schemas.openxmlformats.org/drawingml/2006/main">
            <a:pPr>
              <a:defRPr sz="2325" b="0">
                <a:solidFill>
                  <a:srgbClr val="99571C"/>
                </a:solidFill>
                <a:latin typeface="Arial"/>
                <a:ea typeface="Arial"/>
                <a:cs typeface="Arial"/>
              </a:defRPr>
            </a:pPr>
            <a:r>
              <a:rPr sz="2325" b="0">
                <a:solidFill>
                  <a:srgbClr val="99571C"/>
                </a:solidFill>
                <a:latin typeface="Arial"/>
                <a:ea typeface="Arial"/>
                <a:cs typeface="Arial"/>
              </a:rPr>
              <a:t>Mushroom blijft onzeker bij giftige voorbeelden; de UI bevestigt geen eetbaarheid.</a:t>
            </a:r>
          </a:p>
        </p:txBody>
      </p:sp>
      <p:sp>
        <p:nvSpPr>
          <p:cNvPr id="5" name="paragraph-471-76">
            <a:extLst xmlns:a="http://schemas.openxmlformats.org/drawingml/2006/main">
              <a:ext uri="{FF2B5EF4-FFF2-40B4-BE49-F238E27FC236}">
                <a16:creationId xmlns:a16="http://schemas.microsoft.com/office/drawing/2014/main" id="{47A2ABA8-8019-40C8-A01C-CA200B19543D}"/>
              </a:ext>
            </a:extLst>
          </p:cNvPr>
          <p:cNvSpPr>
            <a:spLocks xmlns:a="http://schemas.openxmlformats.org/drawingml/2006/main" noGrp="1"/>
          </p:cNvSpPr>
          <p:nvPr/>
        </p:nvSpPr>
        <p:spPr>
          <a:xfrm xmlns:a="http://schemas.openxmlformats.org/drawingml/2006/main">
            <a:off x="723900" y="448627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3E30"/>
                </a:solidFill>
                <a:latin typeface="Arial"/>
                <a:ea typeface="Arial"/>
                <a:cs typeface="Arial"/>
              </a:defRPr>
            </a:defPPr>
          </a:lstStyle>
          <a:p xmlns:a="http://schemas.openxmlformats.org/drawingml/2006/main">
            <a:pPr>
              <a:defRPr sz="2325" b="0">
                <a:solidFill>
                  <a:srgbClr val="153E30"/>
                </a:solidFill>
                <a:latin typeface="Arial"/>
                <a:ea typeface="Arial"/>
                <a:cs typeface="Arial"/>
              </a:defRPr>
            </a:pPr>
            <a:r>
              <a:rPr sz="2325" b="0">
                <a:solidFill>
                  <a:srgbClr val="153E30"/>
                </a:solidFill>
                <a:latin typeface="Arial"/>
                <a:ea typeface="Arial"/>
                <a:cs typeface="Arial"/>
              </a:rPr>
              <a:t>Citi Bike vereist recente historie en een correct tijdscontract.</a:t>
            </a:r>
          </a:p>
        </p:txBody>
      </p:sp>
      <p:sp>
        <p:nvSpPr>
          <p:cNvPr id="6" name="demo-url">
            <a:extLst xmlns:a="http://schemas.openxmlformats.org/drawingml/2006/main">
              <a:ext uri="{FF2B5EF4-FFF2-40B4-BE49-F238E27FC236}">
                <a16:creationId xmlns:a16="http://schemas.microsoft.com/office/drawing/2014/main" id="{104D2BC7-2313-4A90-9DD5-2489A8A264C2}"/>
              </a:ext>
            </a:extLst>
          </p:cNvPr>
          <p:cNvSpPr>
            <a:spLocks xmlns:a="http://schemas.openxmlformats.org/drawingml/2006/main" noGrp="1"/>
          </p:cNvSpPr>
          <p:nvPr/>
        </p:nvSpPr>
        <p:spPr>
          <a:xfrm xmlns:a="http://schemas.openxmlformats.org/drawingml/2006/main">
            <a:off x="733425" y="57626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D7352"/>
                </a:solidFill>
                <a:latin typeface="Arial"/>
                <a:ea typeface="Arial"/>
                <a:cs typeface="Arial"/>
              </a:defRPr>
            </a:defPPr>
          </a:lstStyle>
          <a:p xmlns:a="http://schemas.openxmlformats.org/drawingml/2006/main">
            <a:pPr>
              <a:defRPr sz="2175" b="1">
                <a:solidFill>
                  <a:srgbClr val="2D7352"/>
                </a:solidFill>
                <a:latin typeface="Arial"/>
                <a:ea typeface="Arial"/>
                <a:cs typeface="Arial"/>
              </a:defRPr>
            </a:pPr>
            <a:r>
              <a:rPr sz="2175" b="1">
                <a:solidFill>
                  <a:srgbClr val="2D7352"/>
                </a:solidFill>
                <a:latin typeface="Arial"/>
                <a:ea typeface="Arial"/>
                <a:cs typeface="Arial"/>
              </a:rPr>
              <a:t>10messi10.netlify.app</a:t>
            </a:r>
          </a:p>
        </p:txBody>
      </p:sp>
    </p:spTree>
    <p:extLst>
      <p:ext uri="{BB962C8B-B14F-4D97-AF65-F5344CB8AC3E}">
        <p14:creationId xmlns:p14="http://schemas.microsoft.com/office/powerpoint/2010/main" val="16007330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2026-10-14T17:00:58.4420000Z</dcterms:created>
  <dcterms:modified xsi:type="dcterms:W3CDTF">2026-10-14T17:00:58.4420000Z</dcterms:modified>
</coreProperties>
</file>