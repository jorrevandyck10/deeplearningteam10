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4.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5.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6.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Default Extension="xlsx" ContentType="application/vnd.openxmlformats-officedocument.spreadsheetml.sheet"/>
  <Default Extension="jpg" ContentType="image/jpeg"/>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6b7e7735ad4889" /><Relationship Type="http://schemas.openxmlformats.org/officeDocument/2006/relationships/extended-properties" Target="/docProps/app.xml" Id="R3e7e83c29a634d79" /><Relationship Type="http://schemas.openxmlformats.org/officeDocument/2006/relationships/officeDocument" Target="/ppt/presentation.xml" Id="R01b8f46ddf9041ea"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415c0d819fb840e2"/>
    <p:sldMasterId id="2147483660" r:id="R1e68c713d9934ba1"/>
  </p:sldMasterIdLst>
  <p:notesMasterIdLst>
    <p:notesMasterId r:id="R7b64124082cf497d"/>
  </p:notesMasterIdLst>
  <p:sldIdLst>
    <p:sldId id="256" r:id="R42c2894919b047fc"/>
    <p:sldId id="257" r:id="R698fa1e7d7cd46e4"/>
    <p:sldId id="258" r:id="Rf13a3562e71b47b0"/>
    <p:sldId id="259" r:id="R92a4dd02fc7f4934"/>
    <p:sldId id="260" r:id="R02a95b50c7474b74"/>
    <p:sldId id="261" r:id="R09240abbc6b14a8d"/>
    <p:sldId id="262" r:id="R57f6fbde16294f3b"/>
    <p:sldId id="263" r:id="R2b06143e75bb424e"/>
    <p:sldId id="264" r:id="R20cba3ae57c94140"/>
    <p:sldId id="265" r:id="R6638d09b1ecf4ee8"/>
    <p:sldId id="266" r:id="Re6c02e18c6d84174"/>
    <p:sldId id="267" r:id="R8e656180a7fa4805"/>
    <p:sldId id="268" r:id="Rcbeaa8b190b441ee"/>
    <p:sldId id="269" r:id="Rca3c3e9117594965"/>
    <p:sldId id="270" r:id="Rceaf43ad62c14f7d"/>
    <p:sldId id="271" r:id="Rdbc9a51c62374e08"/>
    <p:sldId id="272" r:id="R265b0e383d23441d"/>
    <p:sldId id="273" r:id="R54293889860d4e88"/>
    <p:sldId id="274" r:id="Rbfdb91811e1e4042"/>
    <p:sldId id="275" r:id="Rd6b2efab27b245f2"/>
    <p:sldId id="276" r:id="R983d5b40be574081"/>
    <p:sldId id="277" r:id="Ref5d3d1d59754ca0"/>
    <p:sldId id="278" r:id="R51e43f64afc24573"/>
    <p:sldId id="279" r:id="R1d313365ac614b77"/>
    <p:sldId id="280" r:id="Rbc29078fcb224b1c"/>
    <p:sldId id="283" r:id="rIdGenAIDisclosure"/>
    <p:sldId id="281" r:id="R94b1044da23744ab"/>
    <p:sldId id="282" r:id="Rf02da790ce1b4132"/>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xml version='1.0' encoding='utf-8'?>
<Relationships xmlns="http://schemas.openxmlformats.org/package/2006/relationships"><Relationship Type="http://schemas.openxmlformats.org/officeDocument/2006/relationships/theme" Target="/ppt/theme/theme1.xml" Id="Rcdcc10be316c48e9" /><Relationship Type="http://schemas.openxmlformats.org/officeDocument/2006/relationships/slideMaster" Target="/ppt/slideMasters/slideMaster1.xml" Id="R415c0d819fb840e2" /><Relationship Type="http://schemas.openxmlformats.org/officeDocument/2006/relationships/slideMaster" Target="/ppt/slideMasters/slideMaster2.xml" Id="R1e68c713d9934ba1" /><Relationship Type="http://schemas.openxmlformats.org/officeDocument/2006/relationships/notesMaster" Target="/ppt/notesMasters/notesMaster1.xml" Id="R7b64124082cf497d" /><Relationship Type="http://schemas.openxmlformats.org/officeDocument/2006/relationships/presProps" Target="/ppt/presProps.xml" Id="R92356228d6dd4edb" /><Relationship Type="http://schemas.openxmlformats.org/officeDocument/2006/relationships/viewProps" Target="/ppt/viewProps.xml" Id="R84ddf50257a244fd" /><Relationship Type="http://schemas.openxmlformats.org/officeDocument/2006/relationships/tableStyles" Target="/ppt/tableStyles.xml" Id="R79fcb24fb2e74e1c" /><Relationship Type="http://schemas.openxmlformats.org/officeDocument/2006/relationships/slide" Target="/ppt/slides/slide1.xml" Id="R42c2894919b047fc" /><Relationship Type="http://schemas.openxmlformats.org/officeDocument/2006/relationships/slide" Target="/ppt/slides/slide2.xml" Id="R698fa1e7d7cd46e4" /><Relationship Type="http://schemas.openxmlformats.org/officeDocument/2006/relationships/slide" Target="/ppt/slides/slide3.xml" Id="Rf13a3562e71b47b0" /><Relationship Type="http://schemas.openxmlformats.org/officeDocument/2006/relationships/slide" Target="/ppt/slides/slide4.xml" Id="R92a4dd02fc7f4934" /><Relationship Type="http://schemas.openxmlformats.org/officeDocument/2006/relationships/slide" Target="/ppt/slides/slide5.xml" Id="R02a95b50c7474b74" /><Relationship Type="http://schemas.openxmlformats.org/officeDocument/2006/relationships/slide" Target="/ppt/slides/slide6.xml" Id="R09240abbc6b14a8d" /><Relationship Type="http://schemas.openxmlformats.org/officeDocument/2006/relationships/slide" Target="/ppt/slides/slide7.xml" Id="R57f6fbde16294f3b" /><Relationship Type="http://schemas.openxmlformats.org/officeDocument/2006/relationships/slide" Target="/ppt/slides/slide8.xml" Id="R2b06143e75bb424e" /><Relationship Type="http://schemas.openxmlformats.org/officeDocument/2006/relationships/slide" Target="/ppt/slides/slide9.xml" Id="R20cba3ae57c94140" /><Relationship Type="http://schemas.openxmlformats.org/officeDocument/2006/relationships/slide" Target="/ppt/slides/slide10.xml" Id="R6638d09b1ecf4ee8" /><Relationship Type="http://schemas.openxmlformats.org/officeDocument/2006/relationships/slide" Target="/ppt/slides/slide11.xml" Id="Re6c02e18c6d84174" /><Relationship Type="http://schemas.openxmlformats.org/officeDocument/2006/relationships/slide" Target="/ppt/slides/slide12.xml" Id="R8e656180a7fa4805" /><Relationship Type="http://schemas.openxmlformats.org/officeDocument/2006/relationships/slide" Target="/ppt/slides/slide13.xml" Id="Rcbeaa8b190b441ee" /><Relationship Type="http://schemas.openxmlformats.org/officeDocument/2006/relationships/slide" Target="/ppt/slides/slide14.xml" Id="Rca3c3e9117594965" /><Relationship Type="http://schemas.openxmlformats.org/officeDocument/2006/relationships/slide" Target="/ppt/slides/slide15.xml" Id="Rceaf43ad62c14f7d" /><Relationship Type="http://schemas.openxmlformats.org/officeDocument/2006/relationships/slide" Target="/ppt/slides/slide16.xml" Id="Rdbc9a51c62374e08" /><Relationship Type="http://schemas.openxmlformats.org/officeDocument/2006/relationships/slide" Target="/ppt/slides/slide17.xml" Id="R265b0e383d23441d" /><Relationship Type="http://schemas.openxmlformats.org/officeDocument/2006/relationships/slide" Target="/ppt/slides/slide18.xml" Id="R54293889860d4e88" /><Relationship Type="http://schemas.openxmlformats.org/officeDocument/2006/relationships/slide" Target="/ppt/slides/slide19.xml" Id="Rbfdb91811e1e4042" /><Relationship Type="http://schemas.openxmlformats.org/officeDocument/2006/relationships/slide" Target="/ppt/slides/slide20.xml" Id="Rd6b2efab27b245f2" /><Relationship Type="http://schemas.openxmlformats.org/officeDocument/2006/relationships/slide" Target="/ppt/slides/slide21.xml" Id="R983d5b40be574081" /><Relationship Type="http://schemas.openxmlformats.org/officeDocument/2006/relationships/slide" Target="/ppt/slides/slide22.xml" Id="Ref5d3d1d59754ca0" /><Relationship Type="http://schemas.openxmlformats.org/officeDocument/2006/relationships/slide" Target="/ppt/slides/slide23.xml" Id="R51e43f64afc24573" /><Relationship Type="http://schemas.openxmlformats.org/officeDocument/2006/relationships/slide" Target="/ppt/slides/slide24.xml" Id="R1d313365ac614b77" /><Relationship Type="http://schemas.openxmlformats.org/officeDocument/2006/relationships/slide" Target="/ppt/slides/slide25.xml" Id="Rbc29078fcb224b1c" /><Relationship Type="http://schemas.openxmlformats.org/officeDocument/2006/relationships/slide" Target="/ppt/slides/slide26.xml" Id="R94b1044da23744ab" /><Relationship Type="http://schemas.openxmlformats.org/officeDocument/2006/relationships/slide" Target="/ppt/slides/slide27.xml" Id="Rf02da790ce1b4132" /><Relationship Id="rIdGenAIDisclosure" Type="http://schemas.openxmlformats.org/officeDocument/2006/relationships/slide" Target="slides/slide28.xml"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9d47c32739454e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4adc9104a14578" /><Relationship Type="http://schemas.openxmlformats.org/officeDocument/2006/relationships/notesMaster" Target="/ppt/notesMasters/notesMaster1.xml" Id="R4f6062cb2eba4d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8da9b611ab446a" /><Relationship Type="http://schemas.openxmlformats.org/officeDocument/2006/relationships/notesMaster" Target="/ppt/notesMasters/notesMaster1.xml" Id="Rabb243311e9b46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4b619bffc645eb" /><Relationship Type="http://schemas.openxmlformats.org/officeDocument/2006/relationships/notesMaster" Target="/ppt/notesMasters/notesMaster1.xml" Id="R982275772abc4f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a0019c14f944f1" /><Relationship Type="http://schemas.openxmlformats.org/officeDocument/2006/relationships/notesMaster" Target="/ppt/notesMasters/notesMaster1.xml" Id="R2d0418a57f0e49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e10f47ae434868" /><Relationship Type="http://schemas.openxmlformats.org/officeDocument/2006/relationships/notesMaster" Target="/ppt/notesMasters/notesMaster1.xml" Id="Rc4c018a1f98045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f40bdcd55344ce" /><Relationship Type="http://schemas.openxmlformats.org/officeDocument/2006/relationships/notesMaster" Target="/ppt/notesMasters/notesMaster1.xml" Id="Rbaef3465fae442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e17a3f28ae46e6" /><Relationship Type="http://schemas.openxmlformats.org/officeDocument/2006/relationships/notesMaster" Target="/ppt/notesMasters/notesMaster1.xml" Id="R331eb3b9395140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636ca924be40b9" /><Relationship Type="http://schemas.openxmlformats.org/officeDocument/2006/relationships/notesMaster" Target="/ppt/notesMasters/notesMaster1.xml" Id="R8efc0e6a9f594f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4e36de5a7b4fdc" /><Relationship Type="http://schemas.openxmlformats.org/officeDocument/2006/relationships/notesMaster" Target="/ppt/notesMasters/notesMaster1.xml" Id="Rac1467433c234d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a717316a54427d" /><Relationship Type="http://schemas.openxmlformats.org/officeDocument/2006/relationships/notesMaster" Target="/ppt/notesMasters/notesMaster1.xml" Id="Reac7f86579f84d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ce6d0866924102" /><Relationship Type="http://schemas.openxmlformats.org/officeDocument/2006/relationships/notesMaster" Target="/ppt/notesMasters/notesMaster1.xml" Id="R4de04a9cc13943f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8e74e079fe451b" /><Relationship Type="http://schemas.openxmlformats.org/officeDocument/2006/relationships/notesMaster" Target="/ppt/notesMasters/notesMaster1.xml" Id="R38e3727544fb4c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dfb1838ace4ab8" /><Relationship Type="http://schemas.openxmlformats.org/officeDocument/2006/relationships/notesMaster" Target="/ppt/notesMasters/notesMaster1.xml" Id="R8467e37bbb774d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62aa97d1ef64f39" /><Relationship Type="http://schemas.openxmlformats.org/officeDocument/2006/relationships/notesMaster" Target="/ppt/notesMasters/notesMaster1.xml" Id="Rcd6d86b64b6446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b0772b5917f4cfb" /><Relationship Type="http://schemas.openxmlformats.org/officeDocument/2006/relationships/notesMaster" Target="/ppt/notesMasters/notesMaster1.xml" Id="Raec83844985946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626ea133494bec" /><Relationship Type="http://schemas.openxmlformats.org/officeDocument/2006/relationships/notesMaster" Target="/ppt/notesMasters/notesMaster1.xml" Id="Rcadc861cbd2e486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4646d967f348b9" /><Relationship Type="http://schemas.openxmlformats.org/officeDocument/2006/relationships/notesMaster" Target="/ppt/notesMasters/notesMaster1.xml" Id="Rbebcc080381b42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79fd45b4fc4cb7" /><Relationship Type="http://schemas.openxmlformats.org/officeDocument/2006/relationships/notesMaster" Target="/ppt/notesMasters/notesMaster1.xml" Id="R794015ef2dc148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9898713ef7948b5" /><Relationship Type="http://schemas.openxmlformats.org/officeDocument/2006/relationships/notesMaster" Target="/ppt/notesMasters/notesMaster1.xml" Id="R7e1db246672e419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7376137eb0b42a5" /><Relationship Type="http://schemas.openxmlformats.org/officeDocument/2006/relationships/notesMaster" Target="/ppt/notesMasters/notesMaster1.xml" Id="R69bec2f629b7426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18b2813cbd4bdf" /><Relationship Type="http://schemas.openxmlformats.org/officeDocument/2006/relationships/notesMaster" Target="/ppt/notesMasters/notesMaster1.xml" Id="Rc7ab8627064b468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88818cd33144b5e" /><Relationship Type="http://schemas.openxmlformats.org/officeDocument/2006/relationships/notesMaster" Target="/ppt/notesMasters/notesMaster1.xml" Id="R76f668e717c54c2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e6600e480f04158" /><Relationship Type="http://schemas.openxmlformats.org/officeDocument/2006/relationships/notesMaster" Target="/ppt/notesMasters/notesMaster1.xml" Id="Rf220fd8a34754f2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13a3b00065846d9" /><Relationship Type="http://schemas.openxmlformats.org/officeDocument/2006/relationships/notesMaster" Target="/ppt/notesMasters/notesMaster1.xml" Id="R1239c5530ac542e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9c11f02edcf440f" /><Relationship Type="http://schemas.openxmlformats.org/officeDocument/2006/relationships/notesMaster" Target="/ppt/notesMasters/notesMaster1.xml" Id="R49cc926debbb49c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578f0c62b684894" /><Relationship Type="http://schemas.openxmlformats.org/officeDocument/2006/relationships/notesMaster" Target="/ppt/notesMasters/notesMaster1.xml" Id="R8d06836b7c6b458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e6d316c78584a34" /><Relationship Type="http://schemas.openxmlformats.org/officeDocument/2006/relationships/notesMaster" Target="/ppt/notesMasters/notesMaster1.xml" Id="R738c106b23424645" /></Relationships>
</file>

<file path=ppt/notesSlides/_rels/notesSlide28.xml.rels><?xml version='1.0' encoding='utf-8'?>
<Relationships xmlns="http://schemas.openxmlformats.org/package/2006/relationships"><Relationship Type="http://schemas.openxmlformats.org/officeDocument/2006/relationships/slide" Target="../slides/slide28.xml" Id="Rd9c11f02edcf440f" /><Relationship Type="http://schemas.openxmlformats.org/officeDocument/2006/relationships/notesMaster" Target="/ppt/notesMasters/notesMaster1.xml" Id="R49cc926debbb49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20 seconden. Twee problemen: Mushroom-classificatie en Citi Bike-uurvraag. Deze presentatie is met Codex bijgewerkt vanuit Andrews bronpresentatie en gecontroleerde projectresultaten. Het team controleert de GenAI-policy en kan de keuzes zelf toelichten.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15 seconden.</a:t>
            </a:r>
          </a:p>
          <a:p xmlns:a="http://schemas.openxmlformats.org/drawingml/2006/main">
            <a:r>
              <a:t>Overzicht. Ongeveer 19,5 minuten inclusief demo; houd 5,5 minuten vrij voor vragen.</a:t>
            </a:r>
          </a:p>
          <a:p xmlns:a="http://schemas.openxmlformats.org/drawingml/2006/main">
            <a:r>
              <a:t/>
            </a:r>
          </a:p>
          <a:p xmlns:a="http://schemas.openxmlformats.org/drawingml/2006/main">
            <a:r>
              <a:t>Bronnen: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Richttijd: 35 seconden.</a:t>
            </a:r>
          </a:p>
          <a:p>
            <a:r>
              <a:t>Jorre Van Dyck bevestigde op 15 oktober zijn bijdragen: de pipeline opgesteld, de gezamenlijke backend ontwikkeld, de UI gebouwd en een model op AWS SageMaker getraind. Deze onderdelen zijn met substantiële hulp van Codex uitgewerkt. De bronbijdragen van Andrew, Raoul en Milan blijven behouden. De precieze eigen taken en AI-inzet van de andere leden worden door henzelf gecontroleerd.</a:t>
            </a:r>
          </a:p>
          <a:p>
            <a:r>
              <a:t/>
            </a:r>
          </a:p>
          <a:p>
            <a:r>
              <a:t>Bronnen: Final/BIJDRAGEN.md en Final/GENAI_DISCLOSURE.md; foto door Jorre aangeleverd.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40 seconden.</a:t>
            </a:r>
          </a:p>
          <a:p xmlns:a="http://schemas.openxmlformats.org/drawingml/2006/main">
            <a:r>
              <a:t>Het juiste cursusbestand heeft 5.000 rijen; de oude UCI-download met 61.069 rijen is een andere studie. Drie numerieke en acht categorische modelvelden. jumbled_noise_0 verwijderd, jumbled_noise_1 behouden. Hypothetische cursusdata.</a:t>
            </a:r>
          </a:p>
          <a:p xmlns:a="http://schemas.openxmlformats.org/drawingml/2006/main">
            <a:r>
              <a:t/>
            </a:r>
          </a:p>
          <a:p xmlns:a="http://schemas.openxmlformats.org/drawingml/2006/main">
            <a:r>
              <a:t>Bronnen:</a:t>
            </a:r>
          </a:p>
          <a:p xmlns:a="http://schemas.openxmlformats.org/drawingml/2006/main">
            <a:r>
              <a:t>https://github.com/JorreVanDyck10/DeepLearningTeam10/blob/main/MushroomFinal/README.md</a:t>
            </a:r>
          </a:p>
          <a:p xmlns:a="http://schemas.openxmlformats.org/drawingml/2006/main">
            <a:r>
              <a:t>https://github.com/JorreVanDyck10/DeepLearningTeam10/blob/main/MushroomFinal/mushroom_project_dataset.csv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45 seconden.</a:t>
            </a:r>
          </a:p>
          <a:p xmlns:a="http://schemas.openxmlformats.org/drawingml/2006/main">
            <a:r>
              <a:t>3.107 eetbare en 1.893 giftige gevallen. De meerderheid voorspellen levert ongeveer 62% accuracy. Daarom gebruiken we dummy en beslisboom als baselines, macro F1 en recall van de giftige klasse.</a:t>
            </a:r>
          </a:p>
          <a:p xmlns:a="http://schemas.openxmlformats.org/drawingml/2006/main">
            <a:r>
              <a:t/>
            </a:r>
          </a:p>
          <a:p xmlns:a="http://schemas.openxmlformats.org/drawingml/2006/main">
            <a:r>
              <a:t>Bronnen:</a:t>
            </a:r>
          </a:p>
          <a:p xmlns:a="http://schemas.openxmlformats.org/drawingml/2006/main">
            <a:r>
              <a:t>https://github.com/JorreVanDyck10/DeepLearningTeam10/blob/main/MushroomFinal/mushroom_project_dataset.csv</a:t>
            </a:r>
          </a:p>
          <a:p xmlns:a="http://schemas.openxmlformats.org/drawingml/2006/main">
            <a:r>
              <a:t>https://github.com/JorreVanDyck10/DeepLearningTeam10/blob/main/MushroomFinal/comparison_correct/model_comparison.csv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60 seconden.</a:t>
            </a:r>
          </a:p>
          <a:p xmlns:a="http://schemas.openxmlformats.org/drawingml/2006/main">
            <a:r>
              <a:t>Spore print ontbreekt bij 94,8%; stem surface bij 67,18%; cap diameter bij 40,64%. Niet alle rijen weggooien. RF300 gebruikt mediaan voor getallen, modus en one-hot voor categorieën. Alles leert alleen uit de betreffende trainingsfold. De oorspronkelijke proximity-imputatie vóór CV gaf leakage-risico; de gecorrigeerde fits gebruiken fold-lokale preprocessing.</a:t>
            </a:r>
          </a:p>
          <a:p xmlns:a="http://schemas.openxmlformats.org/drawingml/2006/main">
            <a:r>
              <a:t/>
            </a:r>
          </a:p>
          <a:p xmlns:a="http://schemas.openxmlformats.org/drawingml/2006/main">
            <a:r>
              <a:t>Bronnen:</a:t>
            </a:r>
          </a:p>
          <a:p xmlns:a="http://schemas.openxmlformats.org/drawingml/2006/main">
            <a:r>
              <a:t>https://github.com/JorreVanDyck10/DeepLearningTeam10/blob/main/MushroomFinal/mushroom_project_dataset.csv</a:t>
            </a:r>
          </a:p>
          <a:p xmlns:a="http://schemas.openxmlformats.org/drawingml/2006/main">
            <a:r>
              <a:t>https://github.com/JorreVanDyck10/DeepLearningTeam10/blob/main/MushroomFinal/final_model_support.py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40 seconden.</a:t>
            </a:r>
          </a:p>
          <a:p xmlns:a="http://schemas.openxmlformats.org/drawingml/2006/main">
            <a:r>
              <a:t>De stamhoogteverdelingen overlappen sterk. Eén kenmerk kan dus niet beslissen. Extreme waarden zijn niet automatisch meetfouten. We verwijderen ze niet blind; bij RF300 blijven nulmetingen nul. De grafiek komt uit Andrews EDA op dezelfde cursusdata.</a:t>
            </a:r>
          </a:p>
          <a:p xmlns:a="http://schemas.openxmlformats.org/drawingml/2006/main">
            <a:r>
              <a:t/>
            </a:r>
          </a:p>
          <a:p xmlns:a="http://schemas.openxmlformats.org/drawingml/2006/main">
            <a:r>
              <a:t>Bronnen:</a:t>
            </a:r>
          </a:p>
          <a:p xmlns:a="http://schemas.openxmlformats.org/drawingml/2006/main">
            <a:r>
              <a:t>https://github.com/JorreVanDyck10/DeepLearningTeam10/blob/main/MushroomFinal/mushroom_project.ipynb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60 seconden.</a:t>
            </a:r>
          </a:p>
          <a:p xmlns:a="http://schemas.openxmlformats.org/drawingml/2006/main">
            <a:r>
              <a:t>Stratified split seed42: 4.100 train, 900 ontwikkeltest. Vijf gedeelde stratified trainingsfolds. Fit preprocessing en model opnieuw binnen elke fold. Selecteer op CV macro F1 en rapporteer giftige recall. De ontwikkeltest is eerder bekeken, dus geen onaangeraakte eindtest. Gecorrigeerde fits hebben andere scores dan oorspronkelijke screenshots.</a:t>
            </a:r>
          </a:p>
          <a:p xmlns:a="http://schemas.openxmlformats.org/drawingml/2006/main">
            <a:r>
              <a:t/>
            </a:r>
          </a:p>
          <a:p xmlns:a="http://schemas.openxmlformats.org/drawingml/2006/main">
            <a:r>
              <a:t>Bronnen:</a:t>
            </a:r>
          </a:p>
          <a:p xmlns:a="http://schemas.openxmlformats.org/drawingml/2006/main">
            <a:r>
              <a:t>https://github.com/JorreVanDyck10/DeepLearningTeam10/blob/main/MushroomFinal/final_model_support.py</a:t>
            </a:r>
          </a:p>
          <a:p xmlns:a="http://schemas.openxmlformats.org/drawingml/2006/main">
            <a:r>
              <a:t>https://github.com/JorreVanDyck10/DeepLearningTeam10/blob/main/MushroomFinal/comparison_correct/protocol.json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65 seconden.</a:t>
            </a:r>
          </a:p>
          <a:p xmlns:a="http://schemas.openxmlformats.org/drawingml/2006/main">
            <a:r>
              <a:t>RF300 is geselecteerd op de gemiddelde macro F1 over de vijf trainingsfolds: 0,761876. De 300 bomen hebben max_depth=20, max_features=None, min_samples_split=4, min_samples_leaf=1, class_weight=balanced en random_state=42. De matrix en de scores horen bij dezelfde gecorrigeerde pipeline. Accuracy is (512+220)/900 = 81,33%. Giftige recall is 220/341 = 64,52%. De 121 giftige gevallen die als eetbaar geclassificeerd worden, tonen waarom accuracy onvoldoende is. De website gebruikt deze RF300, niet de oorspronkelijke RF200 uit Andrews eerdere screenshot. De preprocessing gebruikt medianen en modi, geen vooraf op alle trainingsrijen geleerde proximity-matrix.</a:t>
            </a:r>
          </a:p>
          <a:p xmlns:a="http://schemas.openxmlformats.org/drawingml/2006/main">
            <a:r>
              <a:t/>
            </a:r>
          </a:p>
          <a:p xmlns:a="http://schemas.openxmlformats.org/drawingml/2006/main">
            <a:r>
              <a:t>Bronnen:</a:t>
            </a:r>
          </a:p>
          <a:p xmlns:a="http://schemas.openxmlformats.org/drawingml/2006/main">
            <a:r>
              <a:t>https://github.com/JorreVanDyck10/DeepLearningTeam10/blob/main/Final/config/mushroom.json</a:t>
            </a:r>
          </a:p>
          <a:p xmlns:a="http://schemas.openxmlformats.org/drawingml/2006/main">
            <a:r>
              <a:t>https://github.com/JorreVanDyck10/DeepLearningTeam10/blob/main/MushroomFinal/comparison_correct/model_comparison.csv</a:t>
            </a:r>
          </a:p>
          <a:p xmlns:a="http://schemas.openxmlformats.org/drawingml/2006/main">
            <a:r>
              <a:t>https://github.com/JorreVanDyck10/DeepLearningTeam10/blob/main/backend/artifacts/mushroom_rf300.json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55 seconden.</a:t>
            </a:r>
          </a:p>
          <a:p xmlns:a="http://schemas.openxmlformats.org/drawingml/2006/main">
            <a:r>
              <a:t>Gradient Boosting leert opeenvolgende bomen die fouten van eerdere bomen corrigeren. Logistic Regression is een lineaire referentie met scaling. In de gecontroleerde vergelijking wordt ook de proximity-imputatie van GB binnen elke fold geleerd. GB heeft TN536, FP23, FN171 en TP170. LR heeft TN410, FP149, FN136 en TP205. De oude GB-matrix en het oude rapport spraken elkaar tegen en zijn vervangen door cijfers uit dezelfde gecontroleerde fit. De gemiddelde fitduur per trainingsfold was ongeveer 0,31 seconde voor LR, 3,07 seconden voor GB en 6,36 seconden voor RF300. Dit zijn gemeten looptijden op die omgeving, geen garanties voor andere computers. LR is het snelste; RF300 heeft hier de hoogste CV macro F1.</a:t>
            </a:r>
          </a:p>
          <a:p xmlns:a="http://schemas.openxmlformats.org/drawingml/2006/main">
            <a:r>
              <a:t/>
            </a:r>
          </a:p>
          <a:p xmlns:a="http://schemas.openxmlformats.org/drawingml/2006/main">
            <a:r>
              <a:t>Bronnen:</a:t>
            </a:r>
          </a:p>
          <a:p xmlns:a="http://schemas.openxmlformats.org/drawingml/2006/main">
            <a:r>
              <a:t>https://github.com/JorreVanDyck10/DeepLearningTeam10/blob/main/MushroomFinal/final_model_support.py</a:t>
            </a:r>
          </a:p>
          <a:p xmlns:a="http://schemas.openxmlformats.org/drawingml/2006/main">
            <a:r>
              <a:t>https://github.com/JorreVanDyck10/DeepLearningTeam10/blob/main/MushroomFinal/comparison_correct/model_comparison.csv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45 seconden.</a:t>
            </a:r>
          </a:p>
          <a:p xmlns:a="http://schemas.openxmlformats.org/drawingml/2006/main">
            <a:r>
              <a:t>PyCaret 3.3.2 is daadwerkelijk uitgevoerd op het juiste cursusbestand. De brede vergelijking retourneerde dertien modellen. De tabel toont de aparte vergelijking van drie standaardmodellen met dezelfde trainingsrijen en vijf folds. Het betreft geen handmatig getunede eindmodellen. Macro F1 is expliciet als macro-gemiddelde gecontroleerd. De getoonde recall betreft de giftige klasse. RF scoort hier beter dan GB en LR. Deze cijfers moeten niet rechtstreeks verwisseld worden met de volgende tabel met de uiteindelijke fits.</a:t>
            </a:r>
          </a:p>
          <a:p xmlns:a="http://schemas.openxmlformats.org/drawingml/2006/main">
            <a:r>
              <a:t/>
            </a:r>
          </a:p>
          <a:p xmlns:a="http://schemas.openxmlformats.org/drawingml/2006/main">
            <a:r>
              <a:t>Bronnen:</a:t>
            </a:r>
          </a:p>
          <a:p xmlns:a="http://schemas.openxmlformats.org/drawingml/2006/main">
            <a:r>
              <a:t>https://github.com/JorreVanDyck10/DeepLearningTeam10/blob/main/MushroomFinal/comparison_correct/pycaret_audit.json</a:t>
            </a:r>
          </a:p>
          <a:p xmlns:a="http://schemas.openxmlformats.org/drawingml/2006/main">
            <a:r>
              <a:t>https://github.com/JorreVanDyck10/DeepLearningTeam10/blob/main/MushroomFinal/comparison_correct/pycaret_three.csv</a:t>
            </a:r>
          </a:p>
          <a:p xmlns:a="http://schemas.openxmlformats.org/drawingml/2006/main">
            <a:r>
              <a:t>https://github.com/JorreVanDyck10/DeepLearningTeam10/blob/main/MushroomFinal/comparison_correct/pycaret_all.csv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70 seconden.</a:t>
            </a:r>
          </a:p>
          <a:p xmlns:a="http://schemas.openxmlformats.org/drawingml/2006/main">
            <a:r>
              <a:t>Alle kandidaten gebruiken dezelfde 4.100 trainingsrijen, 900 ontwikkeltestrecords en vijf trainingsfolds. De primaire modelkeuze gebruikt gemiddelde CV macro F1. De beslisboom is de snelle eerste baseline; de dummy voorspelt de meerderheidsklasse. De AWS-rij komt uit de afzonderlijk gecontroleerde echte SageMaker-pipeline. Haar voorspellingen komen overeen met de lokale AWS-baseline. RF300 blijft de geselecteerde keuze, met een kleine voorsprong op AWS. De verschillen zijn geen bewijs van statistische significantie. De ontwikkeltest is eerder bekeken en is dus niet meer onaangeraakt. De tabel toont de belangrijkste modelfamilies en baselines; de volledige vergelijking in GitHub bevat ook andere RF-configuraties.</a:t>
            </a:r>
          </a:p>
          <a:p xmlns:a="http://schemas.openxmlformats.org/drawingml/2006/main">
            <a:r>
              <a:t/>
            </a:r>
          </a:p>
          <a:p xmlns:a="http://schemas.openxmlformats.org/drawingml/2006/main">
            <a:r>
              <a:t>Bronnen:</a:t>
            </a:r>
          </a:p>
          <a:p xmlns:a="http://schemas.openxmlformats.org/drawingml/2006/main">
            <a:r>
              <a:t>https://github.com/JorreVanDyck10/DeepLearningTeam10/blob/main/MushroomFinal/comparison_correct/model_comparison.csv</a:t>
            </a:r>
          </a:p>
          <a:p xmlns:a="http://schemas.openxmlformats.org/drawingml/2006/main">
            <a:r>
              <a:t>https://github.com/JorreVanDyck10/DeepLearningTeam10/blob/main/MushroomFinal/comparison_correct/aws_artifact_audit.json</a:t>
            </a:r>
          </a:p>
          <a:p xmlns:a="http://schemas.openxmlformats.org/drawingml/2006/main">
            <a:r>
              <a:t>https://github.com/JorreVanDyck10/DeepLearningTeam10/blob/main/MushroomFinal/comparison_correct/cv_selection.json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50 seconden.</a:t>
            </a:r>
          </a:p>
          <a:p xmlns:a="http://schemas.openxmlformats.org/drawingml/2006/main">
            <a:r>
              <a:t>Jorre heeft in AWS SageMaker opnieuw getraind op het correcte cursusbestand met 5.000 rijen. Er zijn vier kandidaatconfiguraties onderzocht. Het uitgevoerde notebook, de herlaadbare pipeline, het resultatenbestand en de tuningtabel zijn gedownload naar de repository. Een aparte artifactaudit controleert de voorspellingen van de werkelijk gedownloade pipeline: 80,11% accuracy en 58,94% recall voor de giftige klasse. De oude 100%-run gebruikte een ander databestand en hoort niet in deze vergelijking. De AWS-training is uitgevoerd, maar RF300 blijft het gekozen gehoste model.</a:t>
            </a:r>
          </a:p>
          <a:p xmlns:a="http://schemas.openxmlformats.org/drawingml/2006/main">
            <a:r>
              <a:t/>
            </a:r>
          </a:p>
          <a:p xmlns:a="http://schemas.openxmlformats.org/drawingml/2006/main">
            <a:r>
              <a:t>Bronnen:</a:t>
            </a:r>
          </a:p>
          <a:p xmlns:a="http://schemas.openxmlformats.org/drawingml/2006/main">
            <a:r>
              <a:t>https://github.com/JorreVanDyck10/DeepLearningTeam10/blob/main/SolutionJorre/MushroomDataset/correct_dataset/04_aws_correct_dataset.ipynb</a:t>
            </a:r>
          </a:p>
          <a:p xmlns:a="http://schemas.openxmlformats.org/drawingml/2006/main">
            <a:r>
              <a:t>https://github.com/JorreVanDyck10/DeepLearningTeam10/blob/main/SolutionJorre/MushroomDataset/correct_dataset/correct_aws_tuning_results.csv</a:t>
            </a:r>
          </a:p>
          <a:p xmlns:a="http://schemas.openxmlformats.org/drawingml/2006/main">
            <a:r>
              <a:t>https://github.com/JorreVanDyck10/DeepLearningTeam10/blob/main/MushroomFinal/comparison_correct/aws_artifact_audit.json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25 seconden.</a:t>
            </a:r>
          </a:p>
          <a:p xmlns:a="http://schemas.openxmlformats.org/drawingml/2006/main">
            <a:r>
              <a:t/>
            </a:r>
          </a:p>
          <a:p xmlns:a="http://schemas.openxmlformats.org/drawingml/2006/main">
            <a:r>
              <a:t>Ik ben Raoul Buffels. Ons team heet Messi10. In dit deel bespreek ik mijn Citi Bike-uitwerking. Ik werkte aan de bronverwerking, cleaning, EDA, hypothesen, modellen en vergelijking. Ik maakte ook de Citi Bike-frontend en backend. Jorre hielp met deployment op Render. De andere teamleden presenteren hun eigen werk. Ik volg de opdrachtvolgorde: EDA, modellen en conclusie. Codex hielp bij implementatie en uitleg, zoals vermeld in de repository. Ik moet de keuzes zelf kunnen verdedigen.</a:t>
            </a:r>
          </a:p>
          <a:p xmlns:a="http://schemas.openxmlformats.org/drawingml/2006/main">
            <a:r>
              <a:t/>
            </a:r>
          </a:p>
          <a:p xmlns:a="http://schemas.openxmlformats.org/drawingml/2006/main">
            <a:r>
              <a:t>Bronnen: README.md en SolutionRaoul/Citybike/notebooks/00_projectoverzicht.ipynb; opdracht: CloudAI/Discussion topics/project assignment.md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45 seconden.</a:t>
            </a:r>
          </a:p>
          <a:p xmlns:a="http://schemas.openxmlformats.org/drawingml/2006/main">
            <a:r>
              <a:t/>
            </a:r>
          </a:p>
          <a:p xmlns:a="http://schemas.openxmlformats.org/drawingml/2006/main">
            <a:r>
              <a:t>Ik had grote bestanden verwacht. De lastigste stap was bepalen welke records echte bronkopieën waren. De 175 ZIPs bevatten NYC en Jersey City en verschillende oude en nieuwe schema’s. Na verwerking blijven circa 323,8 miljoen NYC-records over. Dat is technische dekking tot augustus 2026, geen EDA op de eindtest. Mijn EDA gebruikt alleen ontwikkeling vóór mei. Een ontbrekend eindstation hoeft een geldige start niet onbruikbaar te maken. Extreem lange duur kan een registratieprobleem of een laat afgesloten rit zijn. Voor uurvolume tel ik de start en behoud ik kwaliteitsflags. Alleen bewezen bronkopieën verwijder ik. Identieke historische ritten kunnen echte afzonderlijke ritten zijn.</a:t>
            </a:r>
          </a:p>
          <a:p xmlns:a="http://schemas.openxmlformats.org/drawingml/2006/main">
            <a:r>
              <a:t/>
            </a:r>
          </a:p>
          <a:p xmlns:a="http://schemas.openxmlformats.org/drawingml/2006/main">
            <a:r>
              <a:t>Bronnen: reports/data_manifest.json; 01a_dataonderzoek_en_cleaning.ipynb; reports/NYC_duration_sample_audit.json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45 seconden.</a:t>
            </a:r>
          </a:p>
          <a:p xmlns:a="http://schemas.openxmlformats.org/drawingml/2006/main">
            <a:r>
              <a:t/>
            </a:r>
          </a:p>
          <a:p xmlns:a="http://schemas.openxmlformats.org/drawingml/2006/main">
            <a:r>
              <a:t>Deze figuur gebruikt echte gemiddelde uurtellingen vanaf 2023 tot eind april 2026. Ik vergelijk werkdagen met weekends. Werkdagen hebben een ander dagprofiel en vooral een duidelijke avondpiek. Het hoogste gemiddelde uur ligt hier om 17 uur op werkdagen en om 15 uur in het weekend. Een verschil tussen dagtypes past bij woon-werkgebruik, maar de data bewijzen het reisdoel niet. Ik verwachte herhaling in tijd. De grafiek toont dat de patronen veranderen met dagtype en dat één algemeen gemiddelde onvoldoende is. Dat motiveert kalenderkenmerken en historische tellingen in het model.</a:t>
            </a:r>
          </a:p>
          <a:p xmlns:a="http://schemas.openxmlformats.org/drawingml/2006/main">
            <a:r>
              <a:t/>
            </a:r>
          </a:p>
          <a:p xmlns:a="http://schemas.openxmlformats.org/drawingml/2006/main">
            <a:r>
              <a:t>Bronnen: data/NYC_hourly_development.parquet, dezelfde aggregatie als citibike/plots.py hour_weekday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55 seconden.</a:t>
            </a:r>
          </a:p>
          <a:p xmlns:a="http://schemas.openxmlformats.org/drawingml/2006/main">
            <a:r>
              <a:t/>
            </a:r>
          </a:p>
          <a:p xmlns:a="http://schemas.openxmlformats.org/drawingml/2006/main">
            <a:r>
              <a:t>Mijn hoofdhypothese is dat een uurtelling samenhangt met hetzelfde uur vorige week. H0 zegt dat de gemiddelde correlatie over tijdsblokken nul is. H1 zegt dat die verschilt van nul. Ik behandel miljoenen ritten niet als onafhankelijke observaties. Ik bereken effecten per week en toets met 43 vierweekblokken. De bestaande sign-fliptoets veronderstelt voldoende onafhankelijke blokken en symmetrie onder H0. De correlatie is ongeveer 0,856 met een interval van 0,837 tot 0,876. De Holm-p is ongeveer 0,00015. Het patroon is dus sterk in ontwikkeling. De vraag kwam uit EDA en blijft exploratief. Correlatie bewijst geen oorzaak of modelprestatie. Pas daarna kies ik het bestaande doel: geregistreerd uurvolume één dag vooruit.</a:t>
            </a:r>
          </a:p>
          <a:p xmlns:a="http://schemas.openxmlformats.org/drawingml/2006/main">
            <a:r>
              <a:t/>
            </a:r>
          </a:p>
          <a:p xmlns:a="http://schemas.openxmlformats.org/drawingml/2006/main">
            <a:r>
              <a:t>Bronnen: reports/hypotheses.json; reports/hypothesis_protocol.json; reports/target_decision.json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45 seconden.</a:t>
            </a:r>
          </a:p>
          <a:p xmlns:a="http://schemas.openxmlformats.org/drawingml/2006/main">
            <a:r>
              <a:t/>
            </a:r>
          </a:p>
          <a:p xmlns:a="http://schemas.openxmlformats.org/drawingml/2006/main">
            <a:r>
              <a:t>Notebook 02 maakt zelfstandig de definitieve modeldata vanaf de bronnen of gecontroleerde caches. Het target is geregistreerde vertrekken per lokaal uurvak. Ik gebruik veertien features: kalenderkenmerken en historische tellingen. Voorbeelden zijn het uur en de weekdag, hetzelfde uur gisteren en vorige week, en een gemiddelde van zeven afgesloten dagen. Rolling wordt eerst verschoven. Niets van de voorspeldag komt als historische input binnen. De eerste veertien dagen vallen weg omdat historie ontbreekt. Ik split chronologisch: training vóór mei, validatie mei en juni, test juli en augustus. Binnen training gebruik ik vijf chronologische folds van 28 dagen. Ridge leert zijn scaler alleen op de trainingsrijen van iedere fold.</a:t>
            </a:r>
          </a:p>
          <a:p xmlns:a="http://schemas.openxmlformats.org/drawingml/2006/main">
            <a:r>
              <a:t/>
            </a:r>
          </a:p>
          <a:p xmlns:a="http://schemas.openxmlformats.org/drawingml/2006/main">
            <a:r>
              <a:t>Bronnen: 02_definitieve_voorbereiding.ipynb; reports/prepared_model_data.json; citibike/features.py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65 seconden.</a:t>
            </a:r>
          </a:p>
          <a:p xmlns:a="http://schemas.openxmlformats.org/drawingml/2006/main">
            <a:r>
              <a:t/>
            </a:r>
          </a:p>
          <a:p xmlns:a="http://schemas.openxmlformats.org/drawingml/2006/main">
            <a:r>
              <a:t>De weekbaseline voorspelt hetzelfde uur van vorige week. Ridge is een eenvoudige lineaire referentie. Random Forest en LightGBM leren niet-lineaire verbanden. PyCaret vergelijkt dezelfde vier basismodellen met dezelfde chronologische folds. Daarna behoud ik de beperkte bestaande RF- en LightGBM-tuning. De finale getunede RF heeft een validatie-RMSE van ongeveer 1940,49 ritten per uurvak tegenover 2826,16 voor de baseline. Dat is circa 31,34 procent lager. LightGBM-tuning verbeterde trainings-CV, maar niet de mei-juni-validatie. De verschillen tussen de sterke modellen zijn klein. De keuze lag vóór de test vast en gebruikte de bestaande 1%-regel met een eenvoudigheidsrang per modeltype.</a:t>
            </a:r>
          </a:p>
          <a:p xmlns:a="http://schemas.openxmlformats.org/drawingml/2006/main">
            <a:r>
              <a:t/>
            </a:r>
          </a:p>
          <a:p xmlns:a="http://schemas.openxmlformats.org/drawingml/2006/main">
            <a:r>
              <a:t>Bronnen: reports/model_comparison.csv; reports/model_selection.json; reports/pycaret_comparison.csv; tuningrapporten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55 seconden.</a:t>
            </a:r>
          </a:p>
          <a:p xmlns:a="http://schemas.openxmlformats.org/drawingml/2006/main">
            <a:r>
              <a:t/>
            </a:r>
          </a:p>
          <a:p xmlns:a="http://schemas.openxmlformats.org/drawingml/2006/main">
            <a:r>
              <a:t>Ridge is het eenvoudigst uit te leggen en fit in deze reproductie in ongeveer 0,05 seconde. LightGBM fit in minder dan een seconde, terwijl RF tientallen seconden nodig heeft. Die tijden zijn echte afzonderlijke fits op deze computer en niet de volledige tuningduur. De getunede RF heeft een trainings-RMSE van ongeveer 536 tegenover 1940 op validatie. Dat is een grote kloof. Overfit kan meespelen, maar de vroege trainingsjaren hebben ook minder intensiteit dan 2026. Ik kan die kloof dus niet uitsluitend aan overfit toeschrijven. RF-tuning bracht maar circa 0,27 procent extra validatiewinst en een groot modelbestand. Dat bespreek ik naast de score. Ik wijzig de keuze niet nadat de test al bekeken is.</a:t>
            </a:r>
          </a:p>
          <a:p xmlns:a="http://schemas.openxmlformats.org/drawingml/2006/main">
            <a:r>
              <a:t/>
            </a:r>
          </a:p>
          <a:p xmlns:a="http://schemas.openxmlformats.org/drawingml/2006/main">
            <a:r>
              <a:t>Bronnen: reports/notebook_reproduction/*.json, fit_seconds; reports/model_comparison.csv; reports/model_artifact.json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45 seconden.</a:t>
            </a:r>
          </a:p>
          <a:p xmlns:a="http://schemas.openxmlformats.org/drawingml/2006/main">
            <a:r>
              <a:t/>
            </a:r>
          </a:p>
          <a:p xmlns:a="http://schemas.openxmlformats.org/drawingml/2006/main">
            <a:r>
              <a:t>Ik bespreek de bestaande eindtest juli en augustus 2026. Alleen de vooraf geselecteerde RF en de baseline zijn daarop vergeleken. De model-RMSE is ongeveer 1979,51 tegenover 2608,78 voor de baseline. Dat is 24,12 procent lager. De MAE is ongeveer 1076 ritten per uurvak en R² is 0,828. Deze scores horen bij de finale refit tot eind juni, niet bij de ontwikkelingsfit op de vorige dia. De test was al bekeken. Ik gebruik hem nu niet om features of instellingen te veranderen. Twee zomermaanden garanderen geen prestaties voor een heel toekomstig jaar. Weer en evenementen ontbreken, en recente historische tellingen moeten op tijd beschikbaar zijn.</a:t>
            </a:r>
          </a:p>
          <a:p xmlns:a="http://schemas.openxmlformats.org/drawingml/2006/main">
            <a:r>
              <a:t/>
            </a:r>
          </a:p>
          <a:p xmlns:a="http://schemas.openxmlformats.org/drawingml/2006/main">
            <a:r>
              <a:t>Bronnen: reports/final_evaluation.json; reports/MODEL_CARD.md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55 seconden.</a:t>
            </a:r>
          </a:p>
          <a:p xmlns:a="http://schemas.openxmlformats.org/drawingml/2006/main">
            <a:r>
              <a:t/>
            </a:r>
          </a:p>
          <a:p xmlns:a="http://schemas.openxmlformats.org/drawingml/2006/main">
            <a:r>
              <a:t>Mijn uitwerking eindigt in een eigen webpagina en API. Een gebruiker kiest een datum en levert veertien volledige voorgaande dagen aan. De API gebruikt dezelfde preprocessing en predict_day als offline. De screenshot toont een ontwikkelingsdemonstratie en is geen onafhankelijk testresultaat. Ik heb voorspellingsovereenkomst gecontroleerd, ook bij beide DST-overgangen. Mijn lokale pipeline traint dezelfde RF opnieuw, controleert herladen en bewaart een apart artefact. De groepsintegratie is inmiddels bijgewerkt: er zijn geslaagde GitHub Actions-runs voor Mushroom-training en modelpublicatie. Render en Netlify volgen de gevalideerde publicatie. Het gedownloade Mushroom-SageMaker-model is afzonderlijk gecontroleerd. Deze centrale workflow traint Citi Bike niet automatisch opnieuw: die API gebruikt de gepinde modelrelease. De lokale Citi Bike-hertraining blijft een afzonderlijk traject. Mijn conclusie is dat historische tellingen bruikbaar zijn voor geregistreerd uurgebruik, onder een duidelijk invoercontract.</a:t>
            </a:r>
          </a:p>
          <a:p xmlns:a="http://schemas.openxmlformats.org/drawingml/2006/main">
            <a:r>
              <a:t/>
            </a:r>
          </a:p>
          <a:p xmlns:a="http://schemas.openxmlformats.org/drawingml/2006/main">
            <a:r>
              <a:t>Bronnen: docs/citibike_raoul_frontend.jpg; DEPLOYMENT.md; reports/inference_parity.json; reports/retraining_pipeline_latest.json; OPDRACHTCONTROLE.md (bestaande gecontroleerde uitwerking, 14 oktober 2026).</a:t>
            </a:r>
          </a:p>
          <a:p xmlns:a="http://schemas.openxmlformats.org/drawingml/2006/main">
            <a:r>
              <a:t/>
            </a:r>
          </a:p>
          <a:p xmlns:a="http://schemas.openxmlformats.org/drawingml/2006/main">
            <a:r>
              <a:t>Statusupdate: Final/AUTOMATISERING.md en Final/VALIDATIE.md.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30 seconden.</a:t>
            </a:r>
          </a:p>
          <a:p xmlns:a="http://schemas.openxmlformats.org/drawingml/2006/main">
            <a:r>
              <a:t>De frontend gebruikt HTML, CSS en JavaScript op Netlify. De backend is Python met FastAPI op Render. De API valideert invoer en gebruikt het geselecteerde model. Mushroom gebruikt een verliesvrije NumPy-export van RF300; paritycontroles vergelijken de uitkomsten met de getrainde pipeline. Citi Bike laadt een gepinde modelrelease met checksum en memory mapping. Beide voorspeltaken gebruiken dezelfde API. Voor Mushroom controleert de frontend ook het model-id en de exacte modelrevisie. Dit voorkomt dat frontend en backend ongemerkt verschillende modelversies gebruiken. Het is een eigen website met API, geen Streamlit-app.</a:t>
            </a:r>
          </a:p>
          <a:p xmlns:a="http://schemas.openxmlformats.org/drawingml/2006/main">
            <a:r>
              <a:t/>
            </a:r>
          </a:p>
          <a:p xmlns:a="http://schemas.openxmlformats.org/drawingml/2006/main">
            <a:r>
              <a:t>Bronnen:</a:t>
            </a:r>
          </a:p>
          <a:p xmlns:a="http://schemas.openxmlformats.org/drawingml/2006/main">
            <a:r>
              <a:t>https://github.com/JorreVanDyck10/DeepLearningTeam10/blob/main/backend/main.py</a:t>
            </a:r>
          </a:p>
          <a:p xmlns:a="http://schemas.openxmlformats.org/drawingml/2006/main">
            <a:r>
              <a:t>https://github.com/JorreVanDyck10/DeepLearningTeam10/blob/main/backend/mushroom_model.py</a:t>
            </a:r>
          </a:p>
          <a:p xmlns:a="http://schemas.openxmlformats.org/drawingml/2006/main">
            <a:r>
              <a:t>https://github.com/JorreVanDyck10/DeepLearningTeam10/blob/main/backend/raoul_citibike.py</a:t>
            </a:r>
          </a:p>
          <a:p xmlns:a="http://schemas.openxmlformats.org/drawingml/2006/main">
            <a:r>
              <a:t>https://github.com/JorreVanDyck10/DeepLearningTeam10/blob/main/frontend/README.md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40 seconden.</a:t>
            </a:r>
          </a:p>
          <a:p xmlns:a="http://schemas.openxmlformats.org/drawingml/2006/main">
            <a:r>
              <a:t>Een relevante code-, configuratie- of datapush op GitHub start de Mushroom-workflow. Python 3.11 voert vijfvoudige cross-validatie en een refit van de vastgelegde RF300-configuratie uit. De CV macro F1 en giftige recall moeten de referentiedrempels halen. Een aparte Python 3.13-job controleert het servingexport en de API met beide modellen. De export wordt op alle 5.000 rijen vergeleken met de gefitte kandidaat. Pas na geslaagde controles worden model en metadata gepubliceerd. Een inmiddels verouderde broncommit wordt geweigerd. Render en Netlify volgen de gevalideerde publicatie. Dit is automatisch herfitten van de gekozen configuratie, geen nieuwe automatische hyperparameterzoektocht. Voor Citi Bike is er momenteel een gepinde modelrelease en geen automatische hertraining.</a:t>
            </a:r>
          </a:p>
          <a:p xmlns:a="http://schemas.openxmlformats.org/drawingml/2006/main">
            <a:r>
              <a:t/>
            </a:r>
          </a:p>
          <a:p xmlns:a="http://schemas.openxmlformats.org/drawingml/2006/main">
            <a:r>
              <a:t>Bronnen:</a:t>
            </a:r>
          </a:p>
          <a:p xmlns:a="http://schemas.openxmlformats.org/drawingml/2006/main">
            <a:r>
              <a:t>https://github.com/JorreVanDyck10/DeepLearningTeam10/blob/main/.github/workflows/model-training.yml</a:t>
            </a:r>
          </a:p>
          <a:p xmlns:a="http://schemas.openxmlformats.org/drawingml/2006/main">
            <a:r>
              <a:t>https://github.com/JorreVanDyck10/DeepLearningTeam10/blob/main/Final/AUTOMATISERING.md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75 seconden.</a:t>
            </a:r>
          </a:p>
          <a:p xmlns:a="http://schemas.openxmlformats.org/drawingml/2006/main">
            <a:r>
              <a:t>Beide taken hebben een reproduceerbare keten van brondata en preprocessing tot vergelijking en gehoste inference. RF300 wint de Mushroom-vergelijking op CV, maar mist nog 121 giftige gevallen in de ontwikkeltest. Een grens van 95% eetbare modelscore is onvoldoende: van 55 toegelaten gevallen in out-of-fold-training waren er zeven giftig. Dat is geen schatting van het risico van echte paddenstoelen en de scores zijn niet aantoonbaar gekalibreerd. Daarom toont de website giftig of onzeker/mogelijk giftig en bevestigt zij geen eetbaarheid. Deze berichtgeving verbetert de statistische classifiermetrics niet. RF320 verlaagt bij Citi Bike de test-RMSE met 24,12%, maar pieken en drift blijven beperkingen. Demonstreer kort het Mushroom-voorbeeld en de historische Citi Bike-demo met de volgende 24 uur. Warm de backend vooraf op. Houd ongeveer zeven minuten vrij voor vragen. Het team controleert de werkelijke bijdragen en de GenAI-vermelding volgens de opleidingspolicy.</a:t>
            </a:r>
          </a:p>
          <a:p xmlns:a="http://schemas.openxmlformats.org/drawingml/2006/main">
            <a:r>
              <a:t/>
            </a:r>
          </a:p>
          <a:p xmlns:a="http://schemas.openxmlformats.org/drawingml/2006/main">
            <a:r>
              <a:t>Bronnen:</a:t>
            </a:r>
          </a:p>
          <a:p xmlns:a="http://schemas.openxmlformats.org/drawingml/2006/main">
            <a:r>
              <a:t>https://github.com/JorreVanDyck10/DeepLearningTeam10/blob/main/docs/mushroom_decisions.md</a:t>
            </a:r>
          </a:p>
          <a:p xmlns:a="http://schemas.openxmlformats.org/drawingml/2006/main">
            <a:r>
              <a:t>https://github.com/JorreVanDyck10/DeepLearningTeam10/blob/main/SolutionRaoul/Citybike/reports/final_evaluation.json</a:t>
            </a:r>
          </a:p>
          <a:p xmlns:a="http://schemas.openxmlformats.org/drawingml/2006/main">
            <a:r>
              <a:t>https://github.com/JorreVanDyck10/DeepLearningTeam10/blob/main/Final/INLEVERCHECK.md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Reservedia voor vragen.</a:t>
            </a:r>
          </a:p>
          <a:p xmlns:a="http://schemas.openxmlformats.org/drawingml/2006/main">
            <a:r>
              <a:t/>
            </a:r>
          </a:p>
          <a:p xmlns:a="http://schemas.openxmlformats.org/drawingml/2006/main">
            <a:r>
              <a:t>Reservedia. Residual is actual minus prediction. Positief betekent onderschatting. Ik onderzocht de verdeling, fouten tegenover voorspellingen, fouten over tijd en de grootste missers. Deze figuur toont gemiddelde absolute validatiefout per uur. Een normale verdeling betekent niet dat het model perfect is. Systematische fouten kunnen wijzen op ontbrekende informatie, veranderde omstandigheden of beperkingen van het model. Weer en evenementen zijn mogelijke factoren, zonder dat ik daarmee één fout causaal verklaar. De analyse gebruikt mei-juni-validatie. Ze rechtvaardigt geen nieuwe keuze op basis van de reeds bekeken test.</a:t>
            </a:r>
          </a:p>
          <a:p xmlns:a="http://schemas.openxmlformats.org/drawingml/2006/main">
            <a:r>
              <a:t/>
            </a:r>
          </a:p>
          <a:p xmlns:a="http://schemas.openxmlformats.org/drawingml/2006/main">
            <a:r>
              <a:t>Bronnen: reports/validation_errors_by_hour.csv; reports/validation_residuals.csv; 07_eindvergelijking.ipynb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Reservedia voor vragen.</a:t>
            </a:r>
          </a:p>
          <a:p xmlns:a="http://schemas.openxmlformats.org/drawingml/2006/main">
            <a:r>
              <a:t/>
            </a:r>
          </a:p>
          <a:p xmlns:a="http://schemas.openxmlformats.org/drawingml/2006/main">
            <a:r>
              <a:t>Reservedia. De vaste selectieregel vergelijkt modeltypen: weekbaseline, Ridge, RF en LightGBM. Modellen die strikt minder dan één procent boven de minimale validatiefout zitten mogen winnen als ze eenvoudiger zijn volgens die rang. Binnen dezelfde RF-familie geldt de lagere validatiefout. Daarom behoud ik de getunede RF, ook al is de praktische extra winst klein. Daglags passen bij voorspellen om 00:00 en kennen geen uur van de voorspeldag. De scaler van Ridge wordt per trainfold gefit. Ik gebruik blokken omdat ritten en naburige uren samenhangen. Geen enkele normale residualverdeling garandeert goede toekomstvoorspellingen. Voor nieuwe keuzes na deze studie is een nieuwe onafhankelijke testperiode nodig.</a:t>
            </a:r>
          </a:p>
          <a:p xmlns:a="http://schemas.openxmlformats.org/drawingml/2006/main">
            <a:r>
              <a:t/>
            </a:r>
          </a:p>
          <a:p xmlns:a="http://schemas.openxmlformats.org/drawingml/2006/main">
            <a:r>
              <a:t>Bronnen: citibike/modeling.py choose_model; citibike/features.py; hypotheseprotocol; model_selection.json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25 seconden.</a:t>
            </a:r>
          </a:p>
          <a:p xmlns:a="http://schemas.openxmlformats.org/drawingml/2006/main">
            <a:r>
              <a:t>Codex is een hulpmiddel, geen teamlid. Jorres bevestigde bijdragen zijn pipeline, backend, UI en het AWS-model. De AI-hulp omvat ook substantiële code en proza. De uitvoer en referentievoorspellingen zijn gecontroleerd; menselijke review en zelfstandige beheersing moeten door ieder teamlid worden bevestigd. De vijf echte prompts, concrete bijsturing en bronverwijzingen staan hieronder.</a:t>
            </a:r>
          </a:p>
          <a:p xmlns:a="http://schemas.openxmlformats.org/drawingml/2006/main">
            <a:r>
              <a:t/>
            </a:r>
          </a:p>
          <a:p xmlns:a="http://schemas.openxmlformats.org/drawingml/2006/main">
            <a:r>
              <a:t># GenAI Disclosure</a:t>
            </a:r>
          </a:p>
          <a:p xmlns:a="http://schemas.openxmlformats.org/drawingml/2006/main">
            <a:r>
              <a:t/>
            </a:r>
          </a:p>
          <a:p xmlns:a="http://schemas.openxmlformats.org/drawingml/2006/main">
            <a:r>
              <a:t>Deze verantwoording hoort bij de volledige eindoplevering van DeepLearningTeam10.</a:t>
            </a:r>
          </a:p>
          <a:p xmlns:a="http://schemas.openxmlformats.org/drawingml/2006/main">
            <a:r>
              <a:t>Zij is op 15 oktober 2026 uitgewerkt tegen de door Jorre aangeleverde</a:t>
            </a:r>
          </a:p>
          <a:p xmlns:a="http://schemas.openxmlformats.org/drawingml/2006/main">
            <a:r>
              <a:t>`GenAI_Policy.pdf` (twee pagina's). De eerdere korte disclaimers blijven als</a:t>
            </a:r>
          </a:p>
          <a:p xmlns:a="http://schemas.openxmlformats.org/drawingml/2006/main">
            <a:r>
              <a:t>historische bronvermeldingen bestaan; dit document geeft de actuele, bredere scope.</a:t>
            </a:r>
          </a:p>
          <a:p xmlns:a="http://schemas.openxmlformats.org/drawingml/2006/main">
            <a:r>
              <a:t/>
            </a:r>
          </a:p>
          <a:p xmlns:a="http://schemas.openxmlformats.org/drawingml/2006/main">
            <a:r>
              <a:t>## 1. Functionele scope: AI-code en menselijke bijdragen</a:t>
            </a:r>
          </a:p>
          <a:p xmlns:a="http://schemas.openxmlformats.org/drawingml/2006/main">
            <a:r>
              <a:t/>
            </a:r>
          </a:p>
          <a:p xmlns:a="http://schemas.openxmlformats.org/drawingml/2006/main">
            <a:r>
              <a:t>De gebruikte assistent in deze chat is **OpenAI Codex**. Codex is een hulpmiddel,</a:t>
            </a:r>
          </a:p>
          <a:p xmlns:a="http://schemas.openxmlformats.org/drawingml/2006/main">
            <a:r>
              <a:t>geen teamlid. Jorre bevestigde dat hij de pipeline heeft opgesteld, de backend</a:t>
            </a:r>
          </a:p>
          <a:p xmlns:a="http://schemas.openxmlformats.org/drawingml/2006/main">
            <a:r>
              <a:t>heeft ontwikkeld, de UI heeft gebouwd en een model op AWS heeft getraind.</a:t>
            </a:r>
          </a:p>
          <a:p xmlns:a="http://schemas.openxmlformats.org/drawingml/2006/main">
            <a:r>
              <a:t>Dit beschrijft zijn projectbijdrage en verantwoordelijkheid; het is geen claim</a:t>
            </a:r>
          </a:p>
          <a:p xmlns:a="http://schemas.openxmlformats.org/drawingml/2006/main">
            <a:r>
              <a:t>dat alle bijbehorende code zonder AI of volledig vanaf nul is geschreven.</a:t>
            </a:r>
          </a:p>
          <a:p xmlns:a="http://schemas.openxmlformats.org/drawingml/2006/main">
            <a:r>
              <a:t/>
            </a:r>
          </a:p>
          <a:p xmlns:a="http://schemas.openxmlformats.org/drawingml/2006/main">
            <a:r>
              <a:t>| Onderdeel | Aantoonbare hulp van Codex in deze chat | Menselijke inbreng / afbakening |</a:t>
            </a:r>
          </a:p>
          <a:p xmlns:a="http://schemas.openxmlformats.org/drawingml/2006/main">
            <a:r>
              <a:t>| --- | --- | --- |</a:t>
            </a:r>
          </a:p>
          <a:p xmlns:a="http://schemas.openxmlformats.org/drawingml/2006/main">
            <a:r>
              <a:t>| Structuur en notebooks | Structuur, templates, downloadcode, aparte Final-leesversies en toelichtingen gegenereerd of aangepast. | Jorre bepaalde de opdrachtcontext en vroeg om een aparte Final-map met behoud van eerder werk. Oorspronkelijke onderzoeken behouden hun bestaande auteursvermelding. |</a:t>
            </a:r>
          </a:p>
          <a:p xmlns:a="http://schemas.openxmlformats.org/drawingml/2006/main">
            <a:r>
              <a:t>| Mushroom-evaluatie | Vergelijkingscode, gedeelde splits/folds, fold-lokale preprocessing, PyCaret-reparatie en -uitvoering, AWS-artifactaudit en foutenanalyse uitgewerkt en uitgevoerd. | Jorre wees de 100%-score af als verdacht en corrigeerde de voorgeschreven bron naar het cursusbestand van 5.000 rijen. Andrew leverde de oorspronkelijke Mushroom-uitwerking. |</a:t>
            </a:r>
          </a:p>
          <a:p xmlns:a="http://schemas.openxmlformats.org/drawingml/2006/main">
            <a:r>
              <a:t>| AWS | Notebookcode voorbereid, foutmeldingen toegelicht en de gedownloade pipeline en resultaten geaudit. | Jorre voerde de training op SageMaker uit en leverde het uitgevoerde notebook, model en tuningresultaten aan. |</a:t>
            </a:r>
          </a:p>
          <a:p xmlns:a="http://schemas.openxmlformats.org/drawingml/2006/main">
            <a:r>
              <a:t>| Pipeline | Trainings-, validatie-, export-, test- en publicatiecode en GitHub Actions-configuratie gegenereerd en aangepast. | Jorre stelde de pipeline op met deze hulp en vroeg expliciet om automatische updates na een GitHub-push. Nieuwe training geldt hier voor Mushroom; Citi Bike gebruikt een vaste release. |</a:t>
            </a:r>
          </a:p>
          <a:p xmlns:a="http://schemas.openxmlformats.org/drawingml/2006/main">
            <a:r>
              <a:t>| Backend en UI | FastAPI-routes, modelkoppelingen, lossless exports, invoercontrole, JavaScript/HTML/CSS, tests en versiecontroles gegenereerd of aangepast. | Jorre ontwikkelde en stuurde de gezamenlijke backend en UI met deze hulp. Raouls oorspronkelijke Citi Bike-inference en applicatieonderdelen blijven als bronbijdrage vermeld. |</a:t>
            </a:r>
          </a:p>
          <a:p xmlns:a="http://schemas.openxmlformats.org/drawingml/2006/main">
            <a:r>
              <a:t>| Beslismelding Mushroom | Drempelaudit en de voorzichtige API/UI-melding uitgewerkt. | Jorre gaf aan dat onterecht eetbaar melden ernstiger is en vroeg om een strengere beslisregel. Een onbewezen grens van 95% werd na controle niet als veilige oplossing gebruikt. |</a:t>
            </a:r>
          </a:p>
          <a:p xmlns:a="http://schemas.openxmlformats.org/drawingml/2006/main">
            <a:r>
              <a:t>| Presentatie | Tekst, structuur, tabellen, grafieken, opmaak en spreeknotities samengesteld of bijgewerkt. | Andrew leverde de bronpresentatie. Op Jorres aanwijzing zijn Raouls bestaande volgorde en spreektekst behouden; Jorre leverde zijn foto aan. De eerdere twaalfdia-versie heeft een AI-coverillustratie; de huidige groepsversie gebruikt de aangeleverde foto's en bestaande bronbeelden. |</a:t>
            </a:r>
          </a:p>
          <a:p xmlns:a="http://schemas.openxmlformats.org/drawingml/2006/main">
            <a:r>
              <a:t/>
            </a:r>
          </a:p>
          <a:p xmlns:a="http://schemas.openxmlformats.org/drawingml/2006/main">
            <a:r>
              <a:t>De AI-hulp was dus substantieel en omvat ook inhoudelijke implementatie,</a:t>
            </a:r>
          </a:p>
          <a:p xmlns:a="http://schemas.openxmlformats.org/drawingml/2006/main">
            <a:r>
              <a:t>evaluatiehelpers en rapportage. Er wordt geen lijst van 'volledig zelfgeschreven'</a:t>
            </a:r>
          </a:p>
          <a:p xmlns:a="http://schemas.openxmlformats.org/drawingml/2006/main">
            <a:r>
              <a:t>codeblokken verzonnen: dat onderscheid is voor de oudere teamonderdelen niet</a:t>
            </a:r>
          </a:p>
          <a:p xmlns:a="http://schemas.openxmlformats.org/drawingml/2006/main">
            <a:r>
              <a:t>volledig uit deze chat vast te stellen. Ieder teamlid moet de eigen bijdrage en</a:t>
            </a:r>
          </a:p>
          <a:p xmlns:a="http://schemas.openxmlformats.org/drawingml/2006/main">
            <a:r>
              <a:t>eventueel aanvullend AI-gebruik zelf preciseren. Codex heeft de oorspronkelijke</a:t>
            </a:r>
          </a:p>
          <a:p xmlns:a="http://schemas.openxmlformats.org/drawingml/2006/main">
            <a:r>
              <a:t>datasetonderzoeken niet onafhankelijk van de bronbijdragen geclaimd.</a:t>
            </a:r>
          </a:p>
          <a:p xmlns:a="http://schemas.openxmlformats.org/drawingml/2006/main">
            <a:r>
              <a:t/>
            </a:r>
          </a:p>
          <a:p xmlns:a="http://schemas.openxmlformats.org/drawingml/2006/main">
            <a:r>
              <a:t>## 2. Proza en structuur</a:t>
            </a:r>
          </a:p>
          <a:p xmlns:a="http://schemas.openxmlformats.org/drawingml/2006/main">
            <a:r>
              <a:t/>
            </a:r>
          </a:p>
          <a:p xmlns:a="http://schemas.openxmlformats.org/drawingml/2006/main">
            <a:r>
              <a:t>Codex hielp met het schrijven en herschikken van README-bestanden, Markdown in</a:t>
            </a:r>
          </a:p>
          <a:p xmlns:a="http://schemas.openxmlformats.org/drawingml/2006/main">
            <a:r>
              <a:t>notebooks, modelvergelijkingen, conclusies, deploymentdocumentatie, inlevercheck,</a:t>
            </a:r>
          </a:p>
          <a:p xmlns:a="http://schemas.openxmlformats.org/drawingml/2006/main">
            <a:r>
              <a:t>presentaties en spreeknotities. Ook deze verantwoording is door Codex opgesteld</a:t>
            </a:r>
          </a:p>
          <a:p xmlns:a="http://schemas.openxmlformats.org/drawingml/2006/main">
            <a:r>
              <a:t>op basis van de echte chat, bestanden en policy. Het is geen automatisch bewijs</a:t>
            </a:r>
          </a:p>
          <a:p xmlns:a="http://schemas.openxmlformats.org/drawingml/2006/main">
            <a:r>
              <a:t>dat alle teamleden alle teksten al hebben gelezen of begrepen.</a:t>
            </a:r>
          </a:p>
          <a:p xmlns:a="http://schemas.openxmlformats.org/drawingml/2006/main">
            <a:r>
              <a:t/>
            </a:r>
          </a:p>
          <a:p xmlns:a="http://schemas.openxmlformats.org/drawingml/2006/main">
            <a:r>
              <a:t>## 3. Vijf echte prompts uit de ontwikkelworkflow</a:t>
            </a:r>
          </a:p>
          <a:p xmlns:a="http://schemas.openxmlformats.org/drawingml/2006/main">
            <a:r>
              <a:t/>
            </a:r>
          </a:p>
          <a:p xmlns:a="http://schemas.openxmlformats.org/drawingml/2006/main">
            <a:r>
              <a:t>Onderstaande prompts zijn letterlijk overgenomen uit Jorres berichten in deze</a:t>
            </a:r>
          </a:p>
          <a:p xmlns:a="http://schemas.openxmlformats.org/drawingml/2006/main">
            <a:r>
              <a:t>chat, inclusief oorspronkelijke spelling. Het zijn geen achteraf verzonnen</a:t>
            </a:r>
          </a:p>
          <a:p xmlns:a="http://schemas.openxmlformats.org/drawingml/2006/main">
            <a:r>
              <a:t>voorbeeldprompts. Zij tonen ook bijsturing en controle, naast verzoeken om code.</a:t>
            </a:r>
          </a:p>
          <a:p xmlns:a="http://schemas.openxmlformats.org/drawingml/2006/main">
            <a:r>
              <a:t/>
            </a:r>
          </a:p>
          <a:p xmlns:a="http://schemas.openxmlformats.org/drawingml/2006/main">
            <a:r>
              <a:t>1. Automatisering:</a:t>
            </a:r>
          </a:p>
          <a:p xmlns:a="http://schemas.openxmlformats.org/drawingml/2006/main">
            <a:r>
              <a:t/>
            </a:r>
          </a:p>
          <a:p xmlns:a="http://schemas.openxmlformats.org/drawingml/2006/main">
            <a:r>
              <a:t>   &gt; Maak het nu dat als er op github gepushed word dat de backend automatisch geupdate word en dat de frontend automatisch de backend ophaald</a:t>
            </a:r>
          </a:p>
          <a:p xmlns:a="http://schemas.openxmlformats.org/drawingml/2006/main">
            <a:r>
              <a:t/>
            </a:r>
          </a:p>
          <a:p xmlns:a="http://schemas.openxmlformats.org/drawingml/2006/main">
            <a:r>
              <a:t>2. Vergelijking aan de opdracht toetsen:</a:t>
            </a:r>
          </a:p>
          <a:p xmlns:a="http://schemas.openxmlformats.org/drawingml/2006/main">
            <a:r>
              <a:t/>
            </a:r>
          </a:p>
          <a:p xmlns:a="http://schemas.openxmlformats.org/drawingml/2006/main">
            <a:r>
              <a:t>   &gt; Maak nu volgens de taak wat we moeten doen de vergelijking tussen de modellen</a:t>
            </a:r>
          </a:p>
          <a:p xmlns:a="http://schemas.openxmlformats.org/drawingml/2006/main">
            <a:r>
              <a:t/>
            </a:r>
          </a:p>
          <a:p xmlns:a="http://schemas.openxmlformats.org/drawingml/2006/main">
            <a:r>
              <a:t>3. Een verdachte uitkomst kritisch bevragen:</a:t>
            </a:r>
          </a:p>
          <a:p xmlns:a="http://schemas.openxmlformats.org/drawingml/2006/main">
            <a:r>
              <a:t/>
            </a:r>
          </a:p>
          <a:p xmlns:a="http://schemas.openxmlformats.org/drawingml/2006/main">
            <a:r>
              <a:t>   &gt; Het kan toch niet dat dat aws model het beste is. 100% juist is wel heel verdacht</a:t>
            </a:r>
          </a:p>
          <a:p xmlns:a="http://schemas.openxmlformats.org/drawingml/2006/main">
            <a:r>
              <a:t/>
            </a:r>
          </a:p>
          <a:p xmlns:a="http://schemas.openxmlformats.org/drawingml/2006/main">
            <a:r>
              <a:t>4. De databron corrigeren:</a:t>
            </a:r>
          </a:p>
          <a:p xmlns:a="http://schemas.openxmlformats.org/drawingml/2006/main">
            <a:r>
              <a:t/>
            </a:r>
          </a:p>
          <a:p xmlns:a="http://schemas.openxmlformats.org/drawingml/2006/main">
            <a:r>
              <a:t>   &gt; En dit er nog bij: Zorg er ook voor dat je het excel bestand gebruikt dat ik heb geupload naar github. De vorige die we gebruikten met 61k rijen was de foute.</a:t>
            </a:r>
          </a:p>
          <a:p xmlns:a="http://schemas.openxmlformats.org/drawingml/2006/main">
            <a:r>
              <a:t/>
            </a:r>
          </a:p>
          <a:p xmlns:a="http://schemas.openxmlformats.org/drawingml/2006/main">
            <a:r>
              <a:t>5. De foutkosten en beslisregel sturen:</a:t>
            </a:r>
          </a:p>
          <a:p xmlns:a="http://schemas.openxmlformats.org/drawingml/2006/main">
            <a:r>
              <a:t/>
            </a:r>
          </a:p>
          <a:p xmlns:a="http://schemas.openxmlformats.org/drawingml/2006/main">
            <a:r>
              <a:t>   &gt; Iegenlijk zou het pas eetbaar mogen tonen als het 95% eetbaar is ofzo niet? Of iets anders wat jij denkt. want we willen niet dat het eetbaar toont als het giftig is. giftig tonen als het eetbaar is is minder erg</a:t>
            </a:r>
          </a:p>
          <a:p xmlns:a="http://schemas.openxmlformats.org/drawingml/2006/main">
            <a:r>
              <a:t/>
            </a:r>
          </a:p>
          <a:p xmlns:a="http://schemas.openxmlformats.org/drawingml/2006/main">
            <a:r>
              <a:t>## 4. Verificatie en reproduceerbaarheid</a:t>
            </a:r>
          </a:p>
          <a:p xmlns:a="http://schemas.openxmlformats.org/drawingml/2006/main">
            <a:r>
              <a:t/>
            </a:r>
          </a:p>
          <a:p xmlns:a="http://schemas.openxmlformats.org/drawingml/2006/main">
            <a:r>
              <a:t>De gerapporteerde projectmetrics komen uit bewaarde uitvoer en uitgevoerde code,</a:t>
            </a:r>
          </a:p>
          <a:p xmlns:a="http://schemas.openxmlformats.org/drawingml/2006/main">
            <a:r>
              <a:t>niet uit door AI bedachte scores. De technische bewijsstukken zijn:</a:t>
            </a:r>
          </a:p>
          <a:p xmlns:a="http://schemas.openxmlformats.org/drawingml/2006/main">
            <a:r>
              <a:t/>
            </a:r>
          </a:p>
          <a:p xmlns:a="http://schemas.openxmlformats.org/drawingml/2006/main">
            <a:r>
              <a:t>- De [uitvoeringsregistratie](execution_checks.json): twaalf opnieuw uitgevoerde</a:t>
            </a:r>
          </a:p>
          <a:p xmlns:a="http://schemas.openxmlformats.org/drawingml/2006/main">
            <a:r>
              <a:t>  Final-notebooks. Andere Citi Bike-resultaten zijn expliciet bewaarde bronuitvoer,</a:t>
            </a:r>
          </a:p>
          <a:p xmlns:a="http://schemas.openxmlformats.org/drawingml/2006/main">
            <a:r>
              <a:t>  geen fictieve nieuwe training en geen opnieuw geopende eindtest.</a:t>
            </a:r>
          </a:p>
          <a:p xmlns:a="http://schemas.openxmlformats.org/drawingml/2006/main">
            <a:r>
              <a:t>- Het [bronmanifest](source_manifest.json) en de vaste bronhash/splits: dezelfde</a:t>
            </a:r>
          </a:p>
          <a:p xmlns:a="http://schemas.openxmlformats.org/drawingml/2006/main">
            <a:r>
              <a:t>  5.000 cursusrijen en gedeelde trainingfolds voor de Mushroom-vergelijking.</a:t>
            </a:r>
          </a:p>
          <a:p xmlns:a="http://schemas.openxmlformats.org/drawingml/2006/main">
            <a:r>
              <a:t>- De [Mushroom-vergelijking](../MushroomFinal/comparison_correct/model_comparison.csv),</a:t>
            </a:r>
          </a:p>
          <a:p xmlns:a="http://schemas.openxmlformats.org/drawingml/2006/main">
            <a:r>
              <a:t>  [AWS-artifactaudit](../MushroomFinal/comparison_correct/aws_artifact_audit.json) en</a:t>
            </a:r>
          </a:p>
          <a:p xmlns:a="http://schemas.openxmlformats.org/drawingml/2006/main">
            <a:r>
              <a:t>  [drempelaudit](../MushroomFinal/comparison_correct/decision_threshold_audit.json).</a:t>
            </a:r>
          </a:p>
          <a:p xmlns:a="http://schemas.openxmlformats.org/drawingml/2006/main">
            <a:r>
              <a:t>- De [Citi Bike-eindbeoordeling](../SolutionRaoul/Citybike/reports/final_evaluation.json)</a:t>
            </a:r>
          </a:p>
          <a:p xmlns:a="http://schemas.openxmlformats.org/drawingml/2006/main">
            <a:r>
              <a:t>  en het [evaluatieslot](../SolutionRaoul/Citybike/reports/evaluation_lock.json).</a:t>
            </a:r>
          </a:p>
          <a:p xmlns:a="http://schemas.openxmlformats.org/drawingml/2006/main">
            <a:r>
              <a:t>- Tests op backend, frontend, modelpublicatie en referentievoorspellingen, plus</a:t>
            </a:r>
          </a:p>
          <a:p xmlns:a="http://schemas.openxmlformats.org/drawingml/2006/main">
            <a:r>
              <a:t>  uitgevoerde Actions-runs en live controles. De aantallen en runlinks staan in</a:t>
            </a:r>
          </a:p>
          <a:p xmlns:a="http://schemas.openxmlformats.org/drawingml/2006/main">
            <a:r>
              <a:t>  [VALIDATIE.md](VALIDATIE.md). Een nieuwe documentatiewijziging is geen nieuwe</a:t>
            </a:r>
          </a:p>
          <a:p xmlns:a="http://schemas.openxmlformats.org/drawingml/2006/main">
            <a:r>
              <a:t>  training of extra prestatiemeting.</a:t>
            </a:r>
          </a:p>
          <a:p xmlns:a="http://schemas.openxmlformats.org/drawingml/2006/main">
            <a:r>
              <a:t/>
            </a:r>
          </a:p>
          <a:p xmlns:a="http://schemas.openxmlformats.org/drawingml/2006/main">
            <a:r>
              <a:t>Dit zijn technische controles, deels uitgevoerd met Codex. Zij vervangen de</a:t>
            </a:r>
          </a:p>
          <a:p xmlns:a="http://schemas.openxmlformats.org/drawingml/2006/main">
            <a:r>
              <a:t>persoonlijke inhoudelijke review en mondelinge verdediging niet.</a:t>
            </a:r>
          </a:p>
          <a:p xmlns:a="http://schemas.openxmlformats.org/drawingml/2006/main">
            <a:r>
              <a:t/>
            </a:r>
          </a:p>
          <a:p xmlns:a="http://schemas.openxmlformats.org/drawingml/2006/main">
            <a:r>
              <a:t>## 5. Concrete correcties en grenzen</a:t>
            </a:r>
          </a:p>
          <a:p xmlns:a="http://schemas.openxmlformats.org/drawingml/2006/main">
            <a:r>
              <a:t/>
            </a:r>
          </a:p>
          <a:p xmlns:a="http://schemas.openxmlformats.org/drawingml/2006/main">
            <a:r>
              <a:t>| Aanleiding | Bijsturing en controle |</a:t>
            </a:r>
          </a:p>
          <a:p xmlns:a="http://schemas.openxmlformats.org/drawingml/2006/main">
            <a:r>
              <a:t>| --- | --- |</a:t>
            </a:r>
          </a:p>
          <a:p xmlns:a="http://schemas.openxmlformats.org/drawingml/2006/main">
            <a:r>
              <a:t>| Verdachte 100%-score en verkeerde bron | Jorre bevroeg de uitkomst en gaf aan dat het 61k-bestand fout was. De vergelijking is vervangen door dezelfde gecontroleerde 5.000 cursusrijen. Historische scores worden niet als finale resultaten verkocht. |</a:t>
            </a:r>
          </a:p>
          <a:p xmlns:a="http://schemas.openxmlformats.org/drawingml/2006/main">
            <a:r>
              <a:t>| Leakage-risico bij vooraf geleerde preprocessing | De complete preprocessing wordt per trainingsfold geleerd. De gecorrigeerde fits hebben eigen referentievoorspellingen; oude screenshots worden niet met nieuwe scores gemengd. |</a:t>
            </a:r>
          </a:p>
          <a:p xmlns:a="http://schemas.openxmlformats.org/drawingml/2006/main">
            <a:r>
              <a:t>| Eetbaar tonen ondanks een giftigheidsscore | De 95%-regel is onderzocht. In trainings-OOF bleken zeven van 55 toegelaten gevallen giftig. De UI bevestigt daarom geen eetbaarheid; dit wordt niet als hogere classifieraccuracy of 100% recall gepresenteerd. |</a:t>
            </a:r>
          </a:p>
          <a:p xmlns:a="http://schemas.openxmlformats.org/drawingml/2006/main">
            <a:r>
              <a:t>| Tegenstrijdige presentatiecijfers | In Andrews presentatie paste de GB-confusion matrix niet bij het classificatierapport. Die combinatie is vervangen door de cijfers van één gecontroleerde fit; RF200 is niet verward met de gehoste RF300. |</a:t>
            </a:r>
          </a:p>
          <a:p xmlns:a="http://schemas.openxmlformats.org/drawingml/2006/main">
            <a:r>
              <a:t>| Geleerde verhaallijn van Raoul | Jorre vroeg om diens eigen dia's te gebruiken. De volgorde en spreektekst zijn behouden; alleen de verouderde projectstatus is bijgewerkt. |</a:t>
            </a:r>
          </a:p>
          <a:p xmlns:a="http://schemas.openxmlformats.org/drawingml/2006/main">
            <a:r>
              <a:t/>
            </a:r>
          </a:p>
          <a:p xmlns:a="http://schemas.openxmlformats.org/drawingml/2006/main">
            <a:r>
              <a:t>Scopekeuzes: originele bestanden en lokale bijdragen behouden; de eerder bekeken</a:t>
            </a:r>
          </a:p>
          <a:p xmlns:a="http://schemas.openxmlformats.org/drawingml/2006/main">
            <a:r>
              <a:t>Mushroom-test als ontwikkeltest benoemen; geen nieuwe modelkeuze op de vergrendelde</a:t>
            </a:r>
          </a:p>
          <a:p xmlns:a="http://schemas.openxmlformats.org/drawingml/2006/main">
            <a:r>
              <a:t>Citi Bike-eindtest; en geen automatische Citi Bike-hertraining claimen die de</a:t>
            </a:r>
          </a:p>
          <a:p xmlns:a="http://schemas.openxmlformats.org/drawingml/2006/main">
            <a:r>
              <a:t>centrale workflow niet uitvoert. De publicatie weigert een kandidaat die de</a:t>
            </a:r>
          </a:p>
          <a:p xmlns:a="http://schemas.openxmlformats.org/drawingml/2006/main">
            <a:r>
              <a:t>kwaliteitscontroles niet haalt of op een verouderde broncommit gebaseerd is.</a:t>
            </a:r>
          </a:p>
          <a:p xmlns:a="http://schemas.openxmlformats.org/drawingml/2006/main">
            <a:r>
              <a:t/>
            </a:r>
          </a:p>
          <a:p xmlns:a="http://schemas.openxmlformats.org/drawingml/2006/main">
            <a:r>
              <a:t>## 6. Intellectueel eigenaarschap en nog te bevestigen review</a:t>
            </a:r>
          </a:p>
          <a:p xmlns:a="http://schemas.openxmlformats.org/drawingml/2006/main">
            <a:r>
              <a:t/>
            </a:r>
          </a:p>
          <a:p xmlns:a="http://schemas.openxmlformats.org/drawingml/2006/main">
            <a:r>
              <a:t>Het team draagt de eindverantwoordelijkheid voor code, cijfers, beveiliging,</a:t>
            </a:r>
          </a:p>
          <a:p xmlns:a="http://schemas.openxmlformats.org/drawingml/2006/main">
            <a:r>
              <a:t>interpretatie en conclusies. Ieder lid moet zelfstandig kunnen uitleggen waarom</a:t>
            </a:r>
          </a:p>
          <a:p xmlns:a="http://schemas.openxmlformats.org/drawingml/2006/main">
            <a:r>
              <a:t>de split en preprocessing zo gekozen zijn, wat macro F1/recall/RMSE meten, waarom</a:t>
            </a:r>
          </a:p>
          <a:p xmlns:a="http://schemas.openxmlformats.org/drawingml/2006/main">
            <a:r>
              <a:t>het geselecteerde model gekozen werd en hoe model, API en website samenwerken.</a:t>
            </a:r>
          </a:p>
          <a:p xmlns:a="http://schemas.openxmlformats.org/drawingml/2006/main">
            <a:r>
              <a:t>Een antwoord als 'de AI stelde dit voor' is geen technische onderbouwing.</a:t>
            </a:r>
          </a:p>
          <a:p xmlns:a="http://schemas.openxmlformats.org/drawingml/2006/main">
            <a:r>
              <a:t/>
            </a:r>
          </a:p>
          <a:p xmlns:a="http://schemas.openxmlformats.org/drawingml/2006/main">
            <a:r>
              <a:t>Jorres vier genoemde bijdragen zijn bevestigd. De precieze bijdragen en AI-inzet</a:t>
            </a:r>
          </a:p>
          <a:p xmlns:a="http://schemas.openxmlformats.org/drawingml/2006/main">
            <a:r>
              <a:t>van de overige leden en hun zelfstandige beheersing zijn hiermee niet automatisch</a:t>
            </a:r>
          </a:p>
          <a:p xmlns:a="http://schemas.openxmlformats.org/drawingml/2006/main">
            <a:r>
              <a:t>bevestigd. Die menselijke eindcontrole blijft open in de</a:t>
            </a:r>
          </a:p>
          <a:p xmlns:a="http://schemas.openxmlformats.org/drawingml/2006/main">
            <a:r>
              <a:t>[inlevercheck](INLEVERCHECK.md). De aanwezigheid van deze tekst is evenmin bewijs</a:t>
            </a:r>
          </a:p>
          <a:p xmlns:a="http://schemas.openxmlformats.org/drawingml/2006/main">
            <a:r>
              <a:t>van een Canvas-indiening.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23930be5e942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5ffa4611c048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3b2b6dfae246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fd5604497948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64639134fa04d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cedff5d036c475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77a185a0875466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d6fe5db2c6c42d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6d0ee371c52412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d1b5c30a6144c6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88de260042842a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45350f3002f34e15"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4f47f1e50f294193"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c2f85e02a08046d3"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3158af53ce6940f7"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d21a1abf439c4bc6"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9514244a01774616" /></Relationships>
</file>

<file path=ppt/slideLayouts/slideLayout1.xml><?xml version="1.0" encoding="utf-8"?>
<p:sldLayout xmlns:p="http://schemas.openxmlformats.org/presentationml/2006/main" type="title" preserve="1">
  <p:cSld name="Titeldia">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A0D496D2-904A-0E1D-D0B9-295EB5E68E70}"/>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Klik om stijl te bewerken</a:t>
            </a:r>
            <a:endParaRPr/>
          </a:p>
        </p:txBody>
      </p:sp>
      <p:sp>
        <p:nvSpPr>
          <p:cNvPr id="3" name="Ondertitel 2">
            <a:extLst xmlns:a="http://schemas.openxmlformats.org/drawingml/2006/main">
              <a:ext uri="{FF2B5EF4-FFF2-40B4-BE49-F238E27FC236}">
                <a16:creationId xmlns:a16="http://schemas.microsoft.com/office/drawing/2014/main" id="{32D7E723-065C-FA75-5AB3-8784EBB38B2C}"/>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Klikken om de ondertitelstijl van het model te bewerken</a:t>
            </a:r>
            <a:endParaRPr/>
          </a:p>
        </p:txBody>
      </p:sp>
      <p:sp>
        <p:nvSpPr>
          <p:cNvPr id="4" name="Tijdelijke aanduiding voor datum 3">
            <a:extLst xmlns:a="http://schemas.openxmlformats.org/drawingml/2006/main">
              <a:ext uri="{FF2B5EF4-FFF2-40B4-BE49-F238E27FC236}">
                <a16:creationId xmlns:a16="http://schemas.microsoft.com/office/drawing/2014/main" id="{34068693-8A15-D02F-F8C1-41B4CFE6C5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FEE39B5-A173-4B88-9E2E-FFD54790FD4E}" type="datetimeFigureOut">
              <a:t>14/10/2026</a:t>
            </a:fld>
            <a:endParaRPr/>
          </a:p>
        </p:txBody>
      </p:sp>
      <p:sp>
        <p:nvSpPr>
          <p:cNvPr id="5" name="Tijdelijke aanduiding voor voettekst 4">
            <a:extLst xmlns:a="http://schemas.openxmlformats.org/drawingml/2006/main">
              <a:ext uri="{FF2B5EF4-FFF2-40B4-BE49-F238E27FC236}">
                <a16:creationId xmlns:a16="http://schemas.microsoft.com/office/drawing/2014/main" id="{DAF9E2C0-BFE0-2865-CB1A-8C6E20BF5B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Tijdelijke aanduiding voor dianummer 5">
            <a:extLst xmlns:a="http://schemas.openxmlformats.org/drawingml/2006/main">
              <a:ext uri="{FF2B5EF4-FFF2-40B4-BE49-F238E27FC236}">
                <a16:creationId xmlns:a16="http://schemas.microsoft.com/office/drawing/2014/main" id="{20F29D19-F093-0866-E416-6AB3F455166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BCDC85-8DB5-47E8-A022-26757C064B38}" type="slidenum">
              <a:t>‹#›</a:t>
            </a:fld>
            <a:endParaRPr/>
          </a:p>
        </p:txBody>
      </p:sp>
    </p:spTree>
  </p:cSld>
</p:sldLayout>
</file>

<file path=ppt/slideLayouts/slideLayout2.xml><?xml version="1.0" encoding="utf-8"?>
<p:sldLayout xmlns:p="http://schemas.openxmlformats.org/presentationml/2006/main" type="obj" preserve="1">
  <p:cSld name="Titel en object">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1ADDE3BB-6D39-C77E-0AB8-3F2F03627C8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Klik om stijl te bewerken</a:t>
            </a:r>
            <a:endParaRPr/>
          </a:p>
        </p:txBody>
      </p:sp>
      <p:sp>
        <p:nvSpPr>
          <p:cNvPr id="3" name="Tijdelijke aanduiding voor inhoud 2">
            <a:extLst xmlns:a="http://schemas.openxmlformats.org/drawingml/2006/main">
              <a:ext uri="{FF2B5EF4-FFF2-40B4-BE49-F238E27FC236}">
                <a16:creationId xmlns:a16="http://schemas.microsoft.com/office/drawing/2014/main" id="{EADD24E5-3AB3-3953-0328-D3FB32B7A57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Klikken om de tekststijl van het model te bewerken</a:t>
            </a:r>
          </a:p>
          <a:p xmlns:a="http://schemas.openxmlformats.org/drawingml/2006/main">
            <a:pPr lvl="1">
              <a:buNone/>
            </a:pPr>
            <a:r>
              <a:t>Tweede niveau</a:t>
            </a:r>
          </a:p>
          <a:p xmlns:a="http://schemas.openxmlformats.org/drawingml/2006/main">
            <a:pPr lvl="2">
              <a:buNone/>
            </a:pPr>
            <a:r>
              <a:t>Derde niveau</a:t>
            </a:r>
          </a:p>
          <a:p xmlns:a="http://schemas.openxmlformats.org/drawingml/2006/main">
            <a:pPr lvl="3">
              <a:buNone/>
            </a:pPr>
            <a:r>
              <a:t>Vierde niveau</a:t>
            </a:r>
          </a:p>
          <a:p xmlns:a="http://schemas.openxmlformats.org/drawingml/2006/main">
            <a:pPr lvl="4">
              <a:buNone/>
            </a:pPr>
            <a:r>
              <a:t>Vijfde niveau</a:t>
            </a:r>
            <a:endParaRPr/>
          </a:p>
        </p:txBody>
      </p:sp>
      <p:sp>
        <p:nvSpPr>
          <p:cNvPr id="4" name="Tijdelijke aanduiding voor datum 3">
            <a:extLst xmlns:a="http://schemas.openxmlformats.org/drawingml/2006/main">
              <a:ext uri="{FF2B5EF4-FFF2-40B4-BE49-F238E27FC236}">
                <a16:creationId xmlns:a16="http://schemas.microsoft.com/office/drawing/2014/main" id="{722F9C96-76C5-B8F5-CF7E-0879EA7D93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FEE39B5-A173-4B88-9E2E-FFD54790FD4E}" type="datetimeFigureOut">
              <a:t>14/10/2026</a:t>
            </a:fld>
            <a:endParaRPr/>
          </a:p>
        </p:txBody>
      </p:sp>
      <p:sp>
        <p:nvSpPr>
          <p:cNvPr id="5" name="Tijdelijke aanduiding voor voettekst 4">
            <a:extLst xmlns:a="http://schemas.openxmlformats.org/drawingml/2006/main">
              <a:ext uri="{FF2B5EF4-FFF2-40B4-BE49-F238E27FC236}">
                <a16:creationId xmlns:a16="http://schemas.microsoft.com/office/drawing/2014/main" id="{240AA054-9911-83B0-B72B-F22692B8903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Tijdelijke aanduiding voor dianummer 5">
            <a:extLst xmlns:a="http://schemas.openxmlformats.org/drawingml/2006/main">
              <a:ext uri="{FF2B5EF4-FFF2-40B4-BE49-F238E27FC236}">
                <a16:creationId xmlns:a16="http://schemas.microsoft.com/office/drawing/2014/main" id="{A5C825BD-B699-BDF6-30ED-2237C14E03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BCDC85-8DB5-47E8-A022-26757C064B38}" type="slidenum">
              <a:t>‹#›</a:t>
            </a:fld>
            <a:endParaRPr/>
          </a:p>
        </p:txBody>
      </p:sp>
    </p:spTree>
  </p:cSld>
</p:sldLayout>
</file>

<file path=ppt/slideLayouts/slideLayout3.xml><?xml version="1.0" encoding="utf-8"?>
<p:sldLayout xmlns:p="http://schemas.openxmlformats.org/presentationml/2006/main" type="secHead" preserve="1">
  <p:cSld name="Sectiekop">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3CE9E87B-0231-8E73-B8D4-112A1FE4185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Klik om stijl te bewerken</a:t>
            </a:r>
            <a:endParaRPr/>
          </a:p>
        </p:txBody>
      </p:sp>
      <p:sp>
        <p:nvSpPr>
          <p:cNvPr id="3" name="Tijdelijke aanduiding voor tekst 2">
            <a:extLst xmlns:a="http://schemas.openxmlformats.org/drawingml/2006/main">
              <a:ext uri="{FF2B5EF4-FFF2-40B4-BE49-F238E27FC236}">
                <a16:creationId xmlns:a16="http://schemas.microsoft.com/office/drawing/2014/main" id="{AAC304B9-0B97-7D08-8B2A-3AA347ACF3DC}"/>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Klikken om de tekststijl van het model te bewerken</a:t>
            </a:r>
          </a:p>
        </p:txBody>
      </p:sp>
      <p:sp>
        <p:nvSpPr>
          <p:cNvPr id="4" name="Tijdelijke aanduiding voor datum 3">
            <a:extLst xmlns:a="http://schemas.openxmlformats.org/drawingml/2006/main">
              <a:ext uri="{FF2B5EF4-FFF2-40B4-BE49-F238E27FC236}">
                <a16:creationId xmlns:a16="http://schemas.microsoft.com/office/drawing/2014/main" id="{C106CC9A-DAB5-8AB9-C6E9-40814231304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FEE39B5-A173-4B88-9E2E-FFD54790FD4E}" type="datetimeFigureOut">
              <a:t>14/10/2026</a:t>
            </a:fld>
            <a:endParaRPr/>
          </a:p>
        </p:txBody>
      </p:sp>
      <p:sp>
        <p:nvSpPr>
          <p:cNvPr id="5" name="Tijdelijke aanduiding voor voettekst 4">
            <a:extLst xmlns:a="http://schemas.openxmlformats.org/drawingml/2006/main">
              <a:ext uri="{FF2B5EF4-FFF2-40B4-BE49-F238E27FC236}">
                <a16:creationId xmlns:a16="http://schemas.microsoft.com/office/drawing/2014/main" id="{9493C3E7-EF3C-D1FF-DC08-A12BBE0E7E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Tijdelijke aanduiding voor dianummer 5">
            <a:extLst xmlns:a="http://schemas.openxmlformats.org/drawingml/2006/main">
              <a:ext uri="{FF2B5EF4-FFF2-40B4-BE49-F238E27FC236}">
                <a16:creationId xmlns:a16="http://schemas.microsoft.com/office/drawing/2014/main" id="{49C895AB-2248-D0C6-4675-772C06D164C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BCDC85-8DB5-47E8-A022-26757C064B38}" type="slidenum">
              <a:t>‹#›</a:t>
            </a:fld>
            <a:endParaRPr/>
          </a:p>
        </p:txBody>
      </p:sp>
    </p:spTree>
  </p:cSld>
</p:sldLayout>
</file>

<file path=ppt/slideLayouts/slideLayout4.xml><?xml version="1.0" encoding="utf-8"?>
<p:sldLayout xmlns:p="http://schemas.openxmlformats.org/presentationml/2006/main" type="twoObj" preserve="1">
  <p:cSld name="Inhoud van twee">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D1971F1A-9345-DA9B-80CA-F8E2DB03872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Klik om stijl te bewerken</a:t>
            </a:r>
            <a:endParaRPr/>
          </a:p>
        </p:txBody>
      </p:sp>
      <p:sp>
        <p:nvSpPr>
          <p:cNvPr id="3" name="Tijdelijke aanduiding voor inhoud 2">
            <a:extLst xmlns:a="http://schemas.openxmlformats.org/drawingml/2006/main">
              <a:ext uri="{FF2B5EF4-FFF2-40B4-BE49-F238E27FC236}">
                <a16:creationId xmlns:a16="http://schemas.microsoft.com/office/drawing/2014/main" id="{55885883-0DC7-A78B-B65D-63D4BE7EE608}"/>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Klikken om de tekststijl van het model te bewerken</a:t>
            </a:r>
          </a:p>
          <a:p xmlns:a="http://schemas.openxmlformats.org/drawingml/2006/main">
            <a:pPr lvl="1">
              <a:buNone/>
            </a:pPr>
            <a:r>
              <a:t>Tweede niveau</a:t>
            </a:r>
          </a:p>
          <a:p xmlns:a="http://schemas.openxmlformats.org/drawingml/2006/main">
            <a:pPr lvl="2">
              <a:buNone/>
            </a:pPr>
            <a:r>
              <a:t>Derde niveau</a:t>
            </a:r>
          </a:p>
          <a:p xmlns:a="http://schemas.openxmlformats.org/drawingml/2006/main">
            <a:pPr lvl="3">
              <a:buNone/>
            </a:pPr>
            <a:r>
              <a:t>Vierde niveau</a:t>
            </a:r>
          </a:p>
          <a:p xmlns:a="http://schemas.openxmlformats.org/drawingml/2006/main">
            <a:pPr lvl="4">
              <a:buNone/>
            </a:pPr>
            <a:r>
              <a:t>Vijfde niveau</a:t>
            </a:r>
            <a:endParaRPr/>
          </a:p>
        </p:txBody>
      </p:sp>
      <p:sp>
        <p:nvSpPr>
          <p:cNvPr id="4" name="Tijdelijke aanduiding voor inhoud 3">
            <a:extLst xmlns:a="http://schemas.openxmlformats.org/drawingml/2006/main">
              <a:ext uri="{FF2B5EF4-FFF2-40B4-BE49-F238E27FC236}">
                <a16:creationId xmlns:a16="http://schemas.microsoft.com/office/drawing/2014/main" id="{9CC56F77-2AC5-1728-3F8F-285286375FFC}"/>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Klikken om de tekststijl van het model te bewerken</a:t>
            </a:r>
          </a:p>
          <a:p xmlns:a="http://schemas.openxmlformats.org/drawingml/2006/main">
            <a:pPr lvl="1">
              <a:buNone/>
            </a:pPr>
            <a:r>
              <a:t>Tweede niveau</a:t>
            </a:r>
          </a:p>
          <a:p xmlns:a="http://schemas.openxmlformats.org/drawingml/2006/main">
            <a:pPr lvl="2">
              <a:buNone/>
            </a:pPr>
            <a:r>
              <a:t>Derde niveau</a:t>
            </a:r>
          </a:p>
          <a:p xmlns:a="http://schemas.openxmlformats.org/drawingml/2006/main">
            <a:pPr lvl="3">
              <a:buNone/>
            </a:pPr>
            <a:r>
              <a:t>Vierde niveau</a:t>
            </a:r>
          </a:p>
          <a:p xmlns:a="http://schemas.openxmlformats.org/drawingml/2006/main">
            <a:pPr lvl="4">
              <a:buNone/>
            </a:pPr>
            <a:r>
              <a:t>Vijfde niveau</a:t>
            </a:r>
            <a:endParaRPr/>
          </a:p>
        </p:txBody>
      </p:sp>
      <p:sp>
        <p:nvSpPr>
          <p:cNvPr id="5" name="Tijdelijke aanduiding voor datum 4">
            <a:extLst xmlns:a="http://schemas.openxmlformats.org/drawingml/2006/main">
              <a:ext uri="{FF2B5EF4-FFF2-40B4-BE49-F238E27FC236}">
                <a16:creationId xmlns:a16="http://schemas.microsoft.com/office/drawing/2014/main" id="{4459C230-FC5A-6180-CD9F-9BDB128366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FEE39B5-A173-4B88-9E2E-FFD54790FD4E}" type="datetimeFigureOut">
              <a:t>14/10/2026</a:t>
            </a:fld>
            <a:endParaRPr/>
          </a:p>
        </p:txBody>
      </p:sp>
      <p:sp>
        <p:nvSpPr>
          <p:cNvPr id="6" name="Tijdelijke aanduiding voor voettekst 5">
            <a:extLst xmlns:a="http://schemas.openxmlformats.org/drawingml/2006/main">
              <a:ext uri="{FF2B5EF4-FFF2-40B4-BE49-F238E27FC236}">
                <a16:creationId xmlns:a16="http://schemas.microsoft.com/office/drawing/2014/main" id="{B4CAAB31-17BE-CF0C-BB5E-3E6E0FE127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Tijdelijke aanduiding voor dianummer 6">
            <a:extLst xmlns:a="http://schemas.openxmlformats.org/drawingml/2006/main">
              <a:ext uri="{FF2B5EF4-FFF2-40B4-BE49-F238E27FC236}">
                <a16:creationId xmlns:a16="http://schemas.microsoft.com/office/drawing/2014/main" id="{68CE6D5A-68DA-164B-A985-8EF7321CF6C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BCDC85-8DB5-47E8-A022-26757C064B38}" type="slidenum">
              <a:t>‹#›</a:t>
            </a:fld>
            <a:endParaRPr/>
          </a:p>
        </p:txBody>
      </p:sp>
    </p:spTree>
  </p:cSld>
</p:sldLayout>
</file>

<file path=ppt/slideLayouts/slideLayout5.xml><?xml version="1.0" encoding="utf-8"?>
<p:sldLayout xmlns:p="http://schemas.openxmlformats.org/presentationml/2006/main" type="twoTxTwoObj" preserve="1">
  <p:cSld name="Vergelijking">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A946249E-F2CF-E264-12C5-BD023AEE3F5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Klik om stijl te bewerken</a:t>
            </a:r>
            <a:endParaRPr/>
          </a:p>
        </p:txBody>
      </p:sp>
      <p:sp>
        <p:nvSpPr>
          <p:cNvPr id="3" name="Tijdelijke aanduiding voor tekst 2">
            <a:extLst xmlns:a="http://schemas.openxmlformats.org/drawingml/2006/main">
              <a:ext uri="{FF2B5EF4-FFF2-40B4-BE49-F238E27FC236}">
                <a16:creationId xmlns:a16="http://schemas.microsoft.com/office/drawing/2014/main" id="{2F9A4582-F478-4162-375E-F739C077DF4D}"/>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Klikken om de tekststijl van het model te bewerken</a:t>
            </a:r>
          </a:p>
        </p:txBody>
      </p:sp>
      <p:sp>
        <p:nvSpPr>
          <p:cNvPr id="4" name="Tijdelijke aanduiding voor inhoud 3">
            <a:extLst xmlns:a="http://schemas.openxmlformats.org/drawingml/2006/main">
              <a:ext uri="{FF2B5EF4-FFF2-40B4-BE49-F238E27FC236}">
                <a16:creationId xmlns:a16="http://schemas.microsoft.com/office/drawing/2014/main" id="{4801ABD7-C995-15A0-18C6-3421157D3742}"/>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Klikken om de tekststijl van het model te bewerken</a:t>
            </a:r>
          </a:p>
          <a:p xmlns:a="http://schemas.openxmlformats.org/drawingml/2006/main">
            <a:pPr lvl="1">
              <a:buNone/>
            </a:pPr>
            <a:r>
              <a:t>Tweede niveau</a:t>
            </a:r>
          </a:p>
          <a:p xmlns:a="http://schemas.openxmlformats.org/drawingml/2006/main">
            <a:pPr lvl="2">
              <a:buNone/>
            </a:pPr>
            <a:r>
              <a:t>Derde niveau</a:t>
            </a:r>
          </a:p>
          <a:p xmlns:a="http://schemas.openxmlformats.org/drawingml/2006/main">
            <a:pPr lvl="3">
              <a:buNone/>
            </a:pPr>
            <a:r>
              <a:t>Vierde niveau</a:t>
            </a:r>
          </a:p>
          <a:p xmlns:a="http://schemas.openxmlformats.org/drawingml/2006/main">
            <a:pPr lvl="4">
              <a:buNone/>
            </a:pPr>
            <a:r>
              <a:t>Vijfde niveau</a:t>
            </a:r>
            <a:endParaRPr/>
          </a:p>
        </p:txBody>
      </p:sp>
      <p:sp>
        <p:nvSpPr>
          <p:cNvPr id="5" name="Tijdelijke aanduiding voor tekst 4">
            <a:extLst xmlns:a="http://schemas.openxmlformats.org/drawingml/2006/main">
              <a:ext uri="{FF2B5EF4-FFF2-40B4-BE49-F238E27FC236}">
                <a16:creationId xmlns:a16="http://schemas.microsoft.com/office/drawing/2014/main" id="{969E0612-BA4B-EC10-61D6-132F2472AF19}"/>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Klikken om de tekststijl van het model te bewerken</a:t>
            </a:r>
          </a:p>
        </p:txBody>
      </p:sp>
      <p:sp>
        <p:nvSpPr>
          <p:cNvPr id="6" name="Tijdelijke aanduiding voor inhoud 5">
            <a:extLst xmlns:a="http://schemas.openxmlformats.org/drawingml/2006/main">
              <a:ext uri="{FF2B5EF4-FFF2-40B4-BE49-F238E27FC236}">
                <a16:creationId xmlns:a16="http://schemas.microsoft.com/office/drawing/2014/main" id="{047E6338-F4F6-26C9-3941-C460B8EA25DA}"/>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Klikken om de tekststijl van het model te bewerken</a:t>
            </a:r>
          </a:p>
          <a:p xmlns:a="http://schemas.openxmlformats.org/drawingml/2006/main">
            <a:pPr lvl="1">
              <a:buNone/>
            </a:pPr>
            <a:r>
              <a:t>Tweede niveau</a:t>
            </a:r>
          </a:p>
          <a:p xmlns:a="http://schemas.openxmlformats.org/drawingml/2006/main">
            <a:pPr lvl="2">
              <a:buNone/>
            </a:pPr>
            <a:r>
              <a:t>Derde niveau</a:t>
            </a:r>
          </a:p>
          <a:p xmlns:a="http://schemas.openxmlformats.org/drawingml/2006/main">
            <a:pPr lvl="3">
              <a:buNone/>
            </a:pPr>
            <a:r>
              <a:t>Vierde niveau</a:t>
            </a:r>
          </a:p>
          <a:p xmlns:a="http://schemas.openxmlformats.org/drawingml/2006/main">
            <a:pPr lvl="4">
              <a:buNone/>
            </a:pPr>
            <a:r>
              <a:t>Vijfde niveau</a:t>
            </a:r>
            <a:endParaRPr/>
          </a:p>
        </p:txBody>
      </p:sp>
      <p:sp>
        <p:nvSpPr>
          <p:cNvPr id="7" name="Tijdelijke aanduiding voor datum 6">
            <a:extLst xmlns:a="http://schemas.openxmlformats.org/drawingml/2006/main">
              <a:ext uri="{FF2B5EF4-FFF2-40B4-BE49-F238E27FC236}">
                <a16:creationId xmlns:a16="http://schemas.microsoft.com/office/drawing/2014/main" id="{308B5CA2-588F-B0C6-5191-722F672A1C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FEE39B5-A173-4B88-9E2E-FFD54790FD4E}" type="datetimeFigureOut">
              <a:t>14/10/2026</a:t>
            </a:fld>
            <a:endParaRPr/>
          </a:p>
        </p:txBody>
      </p:sp>
      <p:sp>
        <p:nvSpPr>
          <p:cNvPr id="8" name="Tijdelijke aanduiding voor voettekst 7">
            <a:extLst xmlns:a="http://schemas.openxmlformats.org/drawingml/2006/main">
              <a:ext uri="{FF2B5EF4-FFF2-40B4-BE49-F238E27FC236}">
                <a16:creationId xmlns:a16="http://schemas.microsoft.com/office/drawing/2014/main" id="{4DDE659F-A583-0959-AF00-B7DB01FCB16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Tijdelijke aanduiding voor dianummer 8">
            <a:extLst xmlns:a="http://schemas.openxmlformats.org/drawingml/2006/main">
              <a:ext uri="{FF2B5EF4-FFF2-40B4-BE49-F238E27FC236}">
                <a16:creationId xmlns:a16="http://schemas.microsoft.com/office/drawing/2014/main" id="{93476B59-481F-3936-95A2-F908A0F10D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BCDC85-8DB5-47E8-A022-26757C064B38}" type="slidenum">
              <a:t>‹#›</a:t>
            </a:fld>
            <a:endParaRPr/>
          </a:p>
        </p:txBody>
      </p:sp>
    </p:spTree>
  </p:cSld>
</p:sldLayout>
</file>

<file path=ppt/slideLayouts/slideLayout6.xml><?xml version="1.0" encoding="utf-8"?>
<p:sldLayout xmlns:p="http://schemas.openxmlformats.org/presentationml/2006/main" type="titleOnly" preserve="1">
  <p:cSld name="Alleen titel">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06F52D34-D171-4702-7299-E2544B800E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Klik om stijl te bewerken</a:t>
            </a:r>
            <a:endParaRPr/>
          </a:p>
        </p:txBody>
      </p:sp>
      <p:sp>
        <p:nvSpPr>
          <p:cNvPr id="3" name="Tijdelijke aanduiding voor datum 2">
            <a:extLst xmlns:a="http://schemas.openxmlformats.org/drawingml/2006/main">
              <a:ext uri="{FF2B5EF4-FFF2-40B4-BE49-F238E27FC236}">
                <a16:creationId xmlns:a16="http://schemas.microsoft.com/office/drawing/2014/main" id="{CB82D844-2A55-45B8-B156-8B7B33E948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FEE39B5-A173-4B88-9E2E-FFD54790FD4E}" type="datetimeFigureOut">
              <a:t>14/10/2026</a:t>
            </a:fld>
            <a:endParaRPr/>
          </a:p>
        </p:txBody>
      </p:sp>
      <p:sp>
        <p:nvSpPr>
          <p:cNvPr id="4" name="Tijdelijke aanduiding voor voettekst 3">
            <a:extLst xmlns:a="http://schemas.openxmlformats.org/drawingml/2006/main">
              <a:ext uri="{FF2B5EF4-FFF2-40B4-BE49-F238E27FC236}">
                <a16:creationId xmlns:a16="http://schemas.microsoft.com/office/drawing/2014/main" id="{475DC7C8-68FF-8FFB-B5C7-40842AD381E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Tijdelijke aanduiding voor dianummer 4">
            <a:extLst xmlns:a="http://schemas.openxmlformats.org/drawingml/2006/main">
              <a:ext uri="{FF2B5EF4-FFF2-40B4-BE49-F238E27FC236}">
                <a16:creationId xmlns:a16="http://schemas.microsoft.com/office/drawing/2014/main" id="{3161EC81-AFB8-D3D0-AA8C-9A2D676B0B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BCDC85-8DB5-47E8-A022-26757C064B38}" type="slidenum">
              <a:t>‹#›</a:t>
            </a:fld>
            <a:endParaRPr/>
          </a:p>
        </p:txBody>
      </p:sp>
    </p:spTree>
  </p:cSld>
</p:sldLayout>
</file>

<file path=ppt/slideLayouts/slideLayout7.xml><?xml version="1.0" encoding="utf-8"?>
<p:sldLayout xmlns:p="http://schemas.openxmlformats.org/presentationml/2006/main" type="blank" preserve="1">
  <p:cSld name="Leeg">
    <p:spTree>
      <p:nvGrpSpPr>
        <p:cNvPr id="1" name=""/>
        <p:cNvGrpSpPr/>
        <p:nvPr/>
      </p:nvGrpSpPr>
      <p:grpSpPr>
        <a:xfrm xmlns:a="http://schemas.openxmlformats.org/drawingml/2006/main"/>
      </p:grpSpPr>
      <p:sp>
        <p:nvSpPr>
          <p:cNvPr id="2" name="Tijdelijke aanduiding voor datum 1">
            <a:extLst xmlns:a="http://schemas.openxmlformats.org/drawingml/2006/main">
              <a:ext uri="{FF2B5EF4-FFF2-40B4-BE49-F238E27FC236}">
                <a16:creationId xmlns:a16="http://schemas.microsoft.com/office/drawing/2014/main" id="{04BF2892-EEC1-A070-900C-12C159C8DC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FEE39B5-A173-4B88-9E2E-FFD54790FD4E}" type="datetimeFigureOut">
              <a:t>14/10/2026</a:t>
            </a:fld>
            <a:endParaRPr/>
          </a:p>
        </p:txBody>
      </p:sp>
      <p:sp>
        <p:nvSpPr>
          <p:cNvPr id="3" name="Tijdelijke aanduiding voor voettekst 2">
            <a:extLst xmlns:a="http://schemas.openxmlformats.org/drawingml/2006/main">
              <a:ext uri="{FF2B5EF4-FFF2-40B4-BE49-F238E27FC236}">
                <a16:creationId xmlns:a16="http://schemas.microsoft.com/office/drawing/2014/main" id="{4962471E-823A-E698-4F98-0E577813FCE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Tijdelijke aanduiding voor dianummer 3">
            <a:extLst xmlns:a="http://schemas.openxmlformats.org/drawingml/2006/main">
              <a:ext uri="{FF2B5EF4-FFF2-40B4-BE49-F238E27FC236}">
                <a16:creationId xmlns:a16="http://schemas.microsoft.com/office/drawing/2014/main" id="{7E4A5F74-3BB1-E683-887F-E15E7C13BC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BCDC85-8DB5-47E8-A022-26757C064B38}" type="slidenum">
              <a:t>‹#›</a:t>
            </a:fld>
            <a:endParaRPr/>
          </a:p>
        </p:txBody>
      </p:sp>
    </p:spTree>
  </p:cSld>
</p:sldLayout>
</file>

<file path=ppt/slideLayouts/slideLayout8.xml><?xml version="1.0" encoding="utf-8"?>
<p:sldLayout xmlns:p="http://schemas.openxmlformats.org/presentationml/2006/main" type="objTx" preserve="1">
  <p:cSld name="Inhoud met bijschrift">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6359F0F1-D170-273B-ED33-F9ACAF5AE323}"/>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Klik om stijl te bewerken</a:t>
            </a:r>
            <a:endParaRPr/>
          </a:p>
        </p:txBody>
      </p:sp>
      <p:sp>
        <p:nvSpPr>
          <p:cNvPr id="3" name="Tijdelijke aanduiding voor inhoud 2">
            <a:extLst xmlns:a="http://schemas.openxmlformats.org/drawingml/2006/main">
              <a:ext uri="{FF2B5EF4-FFF2-40B4-BE49-F238E27FC236}">
                <a16:creationId xmlns:a16="http://schemas.microsoft.com/office/drawing/2014/main" id="{5A20AB1F-3E5C-3631-D819-1A2B42DEF00E}"/>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Klikken om de tekststijl van het model te bewerken</a:t>
            </a:r>
          </a:p>
          <a:p xmlns:a="http://schemas.openxmlformats.org/drawingml/2006/main">
            <a:pPr lvl="1">
              <a:buNone/>
            </a:pPr>
            <a:r>
              <a:t>Tweede niveau</a:t>
            </a:r>
          </a:p>
          <a:p xmlns:a="http://schemas.openxmlformats.org/drawingml/2006/main">
            <a:pPr lvl="2">
              <a:buNone/>
            </a:pPr>
            <a:r>
              <a:t>Derde niveau</a:t>
            </a:r>
          </a:p>
          <a:p xmlns:a="http://schemas.openxmlformats.org/drawingml/2006/main">
            <a:pPr lvl="3">
              <a:buNone/>
            </a:pPr>
            <a:r>
              <a:t>Vierde niveau</a:t>
            </a:r>
          </a:p>
          <a:p xmlns:a="http://schemas.openxmlformats.org/drawingml/2006/main">
            <a:pPr lvl="4">
              <a:buNone/>
            </a:pPr>
            <a:r>
              <a:t>Vijfde niveau</a:t>
            </a:r>
            <a:endParaRPr/>
          </a:p>
        </p:txBody>
      </p:sp>
      <p:sp>
        <p:nvSpPr>
          <p:cNvPr id="4" name="Tijdelijke aanduiding voor tekst 3">
            <a:extLst xmlns:a="http://schemas.openxmlformats.org/drawingml/2006/main">
              <a:ext uri="{FF2B5EF4-FFF2-40B4-BE49-F238E27FC236}">
                <a16:creationId xmlns:a16="http://schemas.microsoft.com/office/drawing/2014/main" id="{CA1E6AF8-0760-0A74-6672-5D228B8DECF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Klikken om de tekststijl van het model te bewerken</a:t>
            </a:r>
          </a:p>
        </p:txBody>
      </p:sp>
      <p:sp>
        <p:nvSpPr>
          <p:cNvPr id="5" name="Tijdelijke aanduiding voor datum 4">
            <a:extLst xmlns:a="http://schemas.openxmlformats.org/drawingml/2006/main">
              <a:ext uri="{FF2B5EF4-FFF2-40B4-BE49-F238E27FC236}">
                <a16:creationId xmlns:a16="http://schemas.microsoft.com/office/drawing/2014/main" id="{EF7F8A32-1649-CFD4-7442-0E95065EBD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FEE39B5-A173-4B88-9E2E-FFD54790FD4E}" type="datetimeFigureOut">
              <a:t>14/10/2026</a:t>
            </a:fld>
            <a:endParaRPr/>
          </a:p>
        </p:txBody>
      </p:sp>
      <p:sp>
        <p:nvSpPr>
          <p:cNvPr id="6" name="Tijdelijke aanduiding voor voettekst 5">
            <a:extLst xmlns:a="http://schemas.openxmlformats.org/drawingml/2006/main">
              <a:ext uri="{FF2B5EF4-FFF2-40B4-BE49-F238E27FC236}">
                <a16:creationId xmlns:a16="http://schemas.microsoft.com/office/drawing/2014/main" id="{60A70FBD-73ED-0A37-F2A6-E9AD081F04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Tijdelijke aanduiding voor dianummer 6">
            <a:extLst xmlns:a="http://schemas.openxmlformats.org/drawingml/2006/main">
              <a:ext uri="{FF2B5EF4-FFF2-40B4-BE49-F238E27FC236}">
                <a16:creationId xmlns:a16="http://schemas.microsoft.com/office/drawing/2014/main" id="{3CF2E514-3478-7C4F-98C8-BB2BE08BC1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BCDC85-8DB5-47E8-A022-26757C064B38}" type="slidenum">
              <a:t>‹#›</a:t>
            </a:fld>
            <a:endParaRPr/>
          </a:p>
        </p:txBody>
      </p:sp>
    </p:spTree>
  </p:cSld>
</p:sldLayout>
</file>

<file path=ppt/slideLayouts/slideLayout9.xml><?xml version="1.0" encoding="utf-8"?>
<p:sldLayout xmlns:p="http://schemas.openxmlformats.org/presentationml/2006/main" type="picTx" preserve="1">
  <p:cSld name="Afbeelding met bijschrift">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6A41DBA8-A50D-8759-3E5B-F089125DE943}"/>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Klik om stijl te bewerken</a:t>
            </a:r>
            <a:endParaRPr/>
          </a:p>
        </p:txBody>
      </p:sp>
      <p:sp>
        <p:nvSpPr>
          <p:cNvPr id="3" name="Tijdelijke aanduiding voor afbeelding 2">
            <a:extLst xmlns:a="http://schemas.openxmlformats.org/drawingml/2006/main">
              <a:ext uri="{FF2B5EF4-FFF2-40B4-BE49-F238E27FC236}">
                <a16:creationId xmlns:a16="http://schemas.microsoft.com/office/drawing/2014/main" id="{069611FC-DE86-7A08-4517-74D916DF8613}"/>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ijdelijke aanduiding voor tekst 3">
            <a:extLst xmlns:a="http://schemas.openxmlformats.org/drawingml/2006/main">
              <a:ext uri="{FF2B5EF4-FFF2-40B4-BE49-F238E27FC236}">
                <a16:creationId xmlns:a16="http://schemas.microsoft.com/office/drawing/2014/main" id="{D89ECF73-2064-4145-DC3D-0740B9868FFD}"/>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Klikken om de tekststijl van het model te bewerken</a:t>
            </a:r>
          </a:p>
        </p:txBody>
      </p:sp>
      <p:sp>
        <p:nvSpPr>
          <p:cNvPr id="5" name="Tijdelijke aanduiding voor datum 4">
            <a:extLst xmlns:a="http://schemas.openxmlformats.org/drawingml/2006/main">
              <a:ext uri="{FF2B5EF4-FFF2-40B4-BE49-F238E27FC236}">
                <a16:creationId xmlns:a16="http://schemas.microsoft.com/office/drawing/2014/main" id="{953BA847-EFA8-87A8-0E42-A4598802FE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FEE39B5-A173-4B88-9E2E-FFD54790FD4E}" type="datetimeFigureOut">
              <a:t>14/10/2026</a:t>
            </a:fld>
            <a:endParaRPr/>
          </a:p>
        </p:txBody>
      </p:sp>
      <p:sp>
        <p:nvSpPr>
          <p:cNvPr id="6" name="Tijdelijke aanduiding voor voettekst 5">
            <a:extLst xmlns:a="http://schemas.openxmlformats.org/drawingml/2006/main">
              <a:ext uri="{FF2B5EF4-FFF2-40B4-BE49-F238E27FC236}">
                <a16:creationId xmlns:a16="http://schemas.microsoft.com/office/drawing/2014/main" id="{40BC4785-8154-FB89-1F95-873BBADDC8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Tijdelijke aanduiding voor dianummer 6">
            <a:extLst xmlns:a="http://schemas.openxmlformats.org/drawingml/2006/main">
              <a:ext uri="{FF2B5EF4-FFF2-40B4-BE49-F238E27FC236}">
                <a16:creationId xmlns:a16="http://schemas.microsoft.com/office/drawing/2014/main" id="{11D3BB40-1948-9BD9-E699-714E635B6C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BCDC85-8DB5-47E8-A022-26757C064B38}" type="slidenum">
              <a:t>‹#›</a:t>
            </a:fld>
            <a:endParaRPr/>
          </a:p>
        </p:txBody>
      </p:sp>
    </p:spTree>
  </p:cSld>
</p:sldLayout>
</file>

<file path=ppt/slideLayouts/slideLayout10.xml><?xml version="1.0" encoding="utf-8"?>
<p:sldLayout xmlns:p="http://schemas.openxmlformats.org/presentationml/2006/main" type="vertTx" preserve="1">
  <p:cSld name="Titel en verticale tekst">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16A82F67-FBD7-4D9B-4216-B83C1B9CFED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Klik om stijl te bewerken</a:t>
            </a:r>
            <a:endParaRPr/>
          </a:p>
        </p:txBody>
      </p:sp>
      <p:sp>
        <p:nvSpPr>
          <p:cNvPr id="3" name="Tijdelijke aanduiding voor verticale tekst 2">
            <a:extLst xmlns:a="http://schemas.openxmlformats.org/drawingml/2006/main">
              <a:ext uri="{FF2B5EF4-FFF2-40B4-BE49-F238E27FC236}">
                <a16:creationId xmlns:a16="http://schemas.microsoft.com/office/drawing/2014/main" id="{92220771-0572-0B6F-965A-349E904CBB4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Klikken om de tekststijl van het model te bewerken</a:t>
            </a:r>
          </a:p>
          <a:p xmlns:a="http://schemas.openxmlformats.org/drawingml/2006/main">
            <a:pPr lvl="1">
              <a:buNone/>
            </a:pPr>
            <a:r>
              <a:t>Tweede niveau</a:t>
            </a:r>
          </a:p>
          <a:p xmlns:a="http://schemas.openxmlformats.org/drawingml/2006/main">
            <a:pPr lvl="2">
              <a:buNone/>
            </a:pPr>
            <a:r>
              <a:t>Derde niveau</a:t>
            </a:r>
          </a:p>
          <a:p xmlns:a="http://schemas.openxmlformats.org/drawingml/2006/main">
            <a:pPr lvl="3">
              <a:buNone/>
            </a:pPr>
            <a:r>
              <a:t>Vierde niveau</a:t>
            </a:r>
          </a:p>
          <a:p xmlns:a="http://schemas.openxmlformats.org/drawingml/2006/main">
            <a:pPr lvl="4">
              <a:buNone/>
            </a:pPr>
            <a:r>
              <a:t>Vijfde niveau</a:t>
            </a:r>
            <a:endParaRPr/>
          </a:p>
        </p:txBody>
      </p:sp>
      <p:sp>
        <p:nvSpPr>
          <p:cNvPr id="4" name="Tijdelijke aanduiding voor datum 3">
            <a:extLst xmlns:a="http://schemas.openxmlformats.org/drawingml/2006/main">
              <a:ext uri="{FF2B5EF4-FFF2-40B4-BE49-F238E27FC236}">
                <a16:creationId xmlns:a16="http://schemas.microsoft.com/office/drawing/2014/main" id="{C82AB655-B8CF-7765-8475-648044B320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FEE39B5-A173-4B88-9E2E-FFD54790FD4E}" type="datetimeFigureOut">
              <a:t>14/10/2026</a:t>
            </a:fld>
            <a:endParaRPr/>
          </a:p>
        </p:txBody>
      </p:sp>
      <p:sp>
        <p:nvSpPr>
          <p:cNvPr id="5" name="Tijdelijke aanduiding voor voettekst 4">
            <a:extLst xmlns:a="http://schemas.openxmlformats.org/drawingml/2006/main">
              <a:ext uri="{FF2B5EF4-FFF2-40B4-BE49-F238E27FC236}">
                <a16:creationId xmlns:a16="http://schemas.microsoft.com/office/drawing/2014/main" id="{7FAD2C33-BDED-116A-8E89-37326FE5DF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Tijdelijke aanduiding voor dianummer 5">
            <a:extLst xmlns:a="http://schemas.openxmlformats.org/drawingml/2006/main">
              <a:ext uri="{FF2B5EF4-FFF2-40B4-BE49-F238E27FC236}">
                <a16:creationId xmlns:a16="http://schemas.microsoft.com/office/drawing/2014/main" id="{5FEFFFCE-8975-C959-DAC3-E064EB015D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BCDC85-8DB5-47E8-A022-26757C064B38}" type="slidenum">
              <a:t>‹#›</a:t>
            </a:fld>
            <a:endParaRPr/>
          </a:p>
        </p:txBody>
      </p:sp>
    </p:spTree>
  </p:cSld>
</p:sldLayout>
</file>

<file path=ppt/slideLayouts/slideLayout11.xml><?xml version="1.0" encoding="utf-8"?>
<p:sldLayout xmlns:p="http://schemas.openxmlformats.org/presentationml/2006/main" type="vertTitleAndTx" preserve="1">
  <p:cSld name="Verticale titel en tekst">
    <p:spTree>
      <p:nvGrpSpPr>
        <p:cNvPr id="1" name=""/>
        <p:cNvGrpSpPr/>
        <p:nvPr/>
      </p:nvGrpSpPr>
      <p:grpSpPr>
        <a:xfrm xmlns:a="http://schemas.openxmlformats.org/drawingml/2006/main"/>
      </p:grpSpPr>
      <p:sp>
        <p:nvSpPr>
          <p:cNvPr id="2" name="Verticale titel 1">
            <a:extLst xmlns:a="http://schemas.openxmlformats.org/drawingml/2006/main">
              <a:ext uri="{FF2B5EF4-FFF2-40B4-BE49-F238E27FC236}">
                <a16:creationId xmlns:a16="http://schemas.microsoft.com/office/drawing/2014/main" id="{8C658F6A-FD72-0A6C-07FA-61A0D65538CF}"/>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Klik om stijl te bewerken</a:t>
            </a:r>
            <a:endParaRPr/>
          </a:p>
        </p:txBody>
      </p:sp>
      <p:sp>
        <p:nvSpPr>
          <p:cNvPr id="3" name="Tijdelijke aanduiding voor verticale tekst 2">
            <a:extLst xmlns:a="http://schemas.openxmlformats.org/drawingml/2006/main">
              <a:ext uri="{FF2B5EF4-FFF2-40B4-BE49-F238E27FC236}">
                <a16:creationId xmlns:a16="http://schemas.microsoft.com/office/drawing/2014/main" id="{15FE1A1F-9EB9-3E7F-48B8-B84A3F41DAB5}"/>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Klikken om de tekststijl van het model te bewerken</a:t>
            </a:r>
          </a:p>
          <a:p xmlns:a="http://schemas.openxmlformats.org/drawingml/2006/main">
            <a:pPr lvl="1">
              <a:buNone/>
            </a:pPr>
            <a:r>
              <a:t>Tweede niveau</a:t>
            </a:r>
          </a:p>
          <a:p xmlns:a="http://schemas.openxmlformats.org/drawingml/2006/main">
            <a:pPr lvl="2">
              <a:buNone/>
            </a:pPr>
            <a:r>
              <a:t>Derde niveau</a:t>
            </a:r>
          </a:p>
          <a:p xmlns:a="http://schemas.openxmlformats.org/drawingml/2006/main">
            <a:pPr lvl="3">
              <a:buNone/>
            </a:pPr>
            <a:r>
              <a:t>Vierde niveau</a:t>
            </a:r>
          </a:p>
          <a:p xmlns:a="http://schemas.openxmlformats.org/drawingml/2006/main">
            <a:pPr lvl="4">
              <a:buNone/>
            </a:pPr>
            <a:r>
              <a:t>Vijfde niveau</a:t>
            </a:r>
            <a:endParaRPr/>
          </a:p>
        </p:txBody>
      </p:sp>
      <p:sp>
        <p:nvSpPr>
          <p:cNvPr id="4" name="Tijdelijke aanduiding voor datum 3">
            <a:extLst xmlns:a="http://schemas.openxmlformats.org/drawingml/2006/main">
              <a:ext uri="{FF2B5EF4-FFF2-40B4-BE49-F238E27FC236}">
                <a16:creationId xmlns:a16="http://schemas.microsoft.com/office/drawing/2014/main" id="{D0C01585-0618-5C18-B2E6-258D9566CA3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FEE39B5-A173-4B88-9E2E-FFD54790FD4E}" type="datetimeFigureOut">
              <a:t>14/10/2026</a:t>
            </a:fld>
            <a:endParaRPr/>
          </a:p>
        </p:txBody>
      </p:sp>
      <p:sp>
        <p:nvSpPr>
          <p:cNvPr id="5" name="Tijdelijke aanduiding voor voettekst 4">
            <a:extLst xmlns:a="http://schemas.openxmlformats.org/drawingml/2006/main">
              <a:ext uri="{FF2B5EF4-FFF2-40B4-BE49-F238E27FC236}">
                <a16:creationId xmlns:a16="http://schemas.microsoft.com/office/drawing/2014/main" id="{5E18DFE0-8EDB-C046-3C62-B658845A3F7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Tijdelijke aanduiding voor dianummer 5">
            <a:extLst xmlns:a="http://schemas.openxmlformats.org/drawingml/2006/main">
              <a:ext uri="{FF2B5EF4-FFF2-40B4-BE49-F238E27FC236}">
                <a16:creationId xmlns:a16="http://schemas.microsoft.com/office/drawing/2014/main" id="{249EF0C5-8DBA-1A82-9A34-DD3EAA06A58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1BCDC85-8DB5-47E8-A022-26757C064B38}" type="slidenum">
              <a:t>‹#›</a:t>
            </a:fld>
            <a:endParaRPr/>
          </a:p>
        </p:txBody>
      </p:sp>
    </p:spTree>
  </p:cSld>
</p:sldLayout>
</file>

<file path=ppt/slideLayouts/slideLayout1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47F58E-F98E-45A6-BFBD-D49425D2481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41E0333-7CE7-4DB4-ADFA-3E59B936227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13.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1362A53-BA76-41B9-BCA3-834F685B59A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14.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41BDD0-D9B2-44DD-82DE-C4FC31E14D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ABC9EA-796D-4C74-8172-CFE6424EC0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15.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4D5D93-F30F-4BBD-A5F0-15B6FC36F2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09205F-B2A3-4305-B4EC-775ECF643E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F1CC8B1-3F85-4FE1-866C-77C1A6B773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16.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04332C-E0DF-49E5-9E1B-F2827EE627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847947-3A3E-450E-A8B4-1CC91F9293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17.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74469bf93b4fe7" /><Relationship Type="http://schemas.openxmlformats.org/officeDocument/2006/relationships/slideLayout" Target="/ppt/slideLayouts/slideLayout1.xml" Id="R6262a24a40fb489c" /><Relationship Type="http://schemas.openxmlformats.org/officeDocument/2006/relationships/slideLayout" Target="/ppt/slideLayouts/slideLayout2.xml" Id="R175cae70f9c0476f" /><Relationship Type="http://schemas.openxmlformats.org/officeDocument/2006/relationships/slideLayout" Target="/ppt/slideLayouts/slideLayout3.xml" Id="R012467f4a63e4757" /><Relationship Type="http://schemas.openxmlformats.org/officeDocument/2006/relationships/slideLayout" Target="/ppt/slideLayouts/slideLayout4.xml" Id="R327c8f0950d54b4d" /><Relationship Type="http://schemas.openxmlformats.org/officeDocument/2006/relationships/slideLayout" Target="/ppt/slideLayouts/slideLayout5.xml" Id="Rf6f2be450b094d55" /><Relationship Type="http://schemas.openxmlformats.org/officeDocument/2006/relationships/slideLayout" Target="/ppt/slideLayouts/slideLayout6.xml" Id="R0c1284d9a9804b1c" /><Relationship Type="http://schemas.openxmlformats.org/officeDocument/2006/relationships/slideLayout" Target="/ppt/slideLayouts/slideLayout7.xml" Id="R3e4ee1c9b2064b0b" /><Relationship Type="http://schemas.openxmlformats.org/officeDocument/2006/relationships/slideLayout" Target="/ppt/slideLayouts/slideLayout8.xml" Id="R1ff0d8f5e2f443bc" /><Relationship Type="http://schemas.openxmlformats.org/officeDocument/2006/relationships/slideLayout" Target="/ppt/slideLayouts/slideLayout9.xml" Id="R3112d49ae51e4b4e" /><Relationship Type="http://schemas.openxmlformats.org/officeDocument/2006/relationships/slideLayout" Target="/ppt/slideLayouts/slideLayout10.xml" Id="R0206738f074c48c5" /><Relationship Type="http://schemas.openxmlformats.org/officeDocument/2006/relationships/slideLayout" Target="/ppt/slideLayouts/slideLayout11.xml" Id="R56faa6fcacb14f0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3207487020dc4ca3" /><Relationship Type="http://schemas.openxmlformats.org/officeDocument/2006/relationships/slideLayout" Target="/ppt/slideLayouts/slideLayout12.xml" Id="Rede98c4d10624cb5" /><Relationship Type="http://schemas.openxmlformats.org/officeDocument/2006/relationships/slideLayout" Target="/ppt/slideLayouts/slideLayout13.xml" Id="R2047425fda7844f1" /><Relationship Type="http://schemas.openxmlformats.org/officeDocument/2006/relationships/slideLayout" Target="/ppt/slideLayouts/slideLayout14.xml" Id="R8c06f58337024bb2" /><Relationship Type="http://schemas.openxmlformats.org/officeDocument/2006/relationships/slideLayout" Target="/ppt/slideLayouts/slideLayout15.xml" Id="R619e11ec9e0447f7" /><Relationship Type="http://schemas.openxmlformats.org/officeDocument/2006/relationships/slideLayout" Target="/ppt/slideLayouts/slideLayout16.xml" Id="Rdc02d4ccd51c4c8f" /><Relationship Type="http://schemas.openxmlformats.org/officeDocument/2006/relationships/slideLayout" Target="/ppt/slideLayouts/slideLayout17.xml" Id="R4de53c1ee90e485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jdelijke aanduiding voor titel 1">
            <a:extLst xmlns:a="http://schemas.openxmlformats.org/drawingml/2006/main">
              <a:ext uri="{FF2B5EF4-FFF2-40B4-BE49-F238E27FC236}">
                <a16:creationId xmlns:a16="http://schemas.microsoft.com/office/drawing/2014/main" id="{A9242B03-6421-45C4-4A6B-11EA98009B57}"/>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Klik om stijl te bewerken</a:t>
            </a:r>
            <a:endParaRPr/>
          </a:p>
        </p:txBody>
      </p:sp>
      <p:sp>
        <p:nvSpPr>
          <p:cNvPr id="3" name="Tijdelijke aanduiding voor tekst 2">
            <a:extLst xmlns:a="http://schemas.openxmlformats.org/drawingml/2006/main">
              <a:ext uri="{FF2B5EF4-FFF2-40B4-BE49-F238E27FC236}">
                <a16:creationId xmlns:a16="http://schemas.microsoft.com/office/drawing/2014/main" id="{5E7B77C6-0B0E-C328-2CE6-BCCDDB131BA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Klikken om de tekststijl van het model te bewerken</a:t>
            </a:r>
          </a:p>
          <a:p xmlns:a="http://schemas.openxmlformats.org/drawingml/2006/main">
            <a:pPr lvl="1">
              <a:buNone/>
            </a:pPr>
            <a:r>
              <a:t>Tweede niveau</a:t>
            </a:r>
          </a:p>
          <a:p xmlns:a="http://schemas.openxmlformats.org/drawingml/2006/main">
            <a:pPr lvl="2">
              <a:buNone/>
            </a:pPr>
            <a:r>
              <a:t>Derde niveau</a:t>
            </a:r>
          </a:p>
          <a:p xmlns:a="http://schemas.openxmlformats.org/drawingml/2006/main">
            <a:pPr lvl="3">
              <a:buNone/>
            </a:pPr>
            <a:r>
              <a:t>Vierde niveau</a:t>
            </a:r>
          </a:p>
          <a:p xmlns:a="http://schemas.openxmlformats.org/drawingml/2006/main">
            <a:pPr lvl="4">
              <a:buNone/>
            </a:pPr>
            <a:r>
              <a:t>Vijfde niveau</a:t>
            </a:r>
            <a:endParaRPr/>
          </a:p>
        </p:txBody>
      </p:sp>
      <p:sp>
        <p:nvSpPr>
          <p:cNvPr id="4" name="Tijdelijke aanduiding voor datum 3">
            <a:extLst xmlns:a="http://schemas.openxmlformats.org/drawingml/2006/main">
              <a:ext uri="{FF2B5EF4-FFF2-40B4-BE49-F238E27FC236}">
                <a16:creationId xmlns:a16="http://schemas.microsoft.com/office/drawing/2014/main" id="{99F7DA9F-D38A-31BA-82BA-DCE3E92333AC}"/>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1FEE39B5-A173-4B88-9E2E-FFD54790FD4E}" type="datetimeFigureOut">
              <a:t>14/10/2026</a:t>
            </a:fld>
            <a:endParaRPr/>
          </a:p>
        </p:txBody>
      </p:sp>
      <p:sp>
        <p:nvSpPr>
          <p:cNvPr id="5" name="Tijdelijke aanduiding voor voettekst 4">
            <a:extLst xmlns:a="http://schemas.openxmlformats.org/drawingml/2006/main">
              <a:ext uri="{FF2B5EF4-FFF2-40B4-BE49-F238E27FC236}">
                <a16:creationId xmlns:a16="http://schemas.microsoft.com/office/drawing/2014/main" id="{DD4F309F-EDC1-4B38-489D-802CB5DACDF4}"/>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Tijdelijke aanduiding voor dianummer 5">
            <a:extLst xmlns:a="http://schemas.openxmlformats.org/drawingml/2006/main">
              <a:ext uri="{FF2B5EF4-FFF2-40B4-BE49-F238E27FC236}">
                <a16:creationId xmlns:a16="http://schemas.microsoft.com/office/drawing/2014/main" id="{9F855ACA-9C6D-13E0-F5CA-51A1C5C005B5}"/>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B1BCDC85-8DB5-47E8-A022-26757C064B3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62a24a40fb489c"/>
    <p:sldLayoutId xmlns:r="http://schemas.openxmlformats.org/officeDocument/2006/relationships" id="2147483650" r:id="R175cae70f9c0476f"/>
    <p:sldLayoutId xmlns:r="http://schemas.openxmlformats.org/officeDocument/2006/relationships" id="2147483651" r:id="R012467f4a63e4757"/>
    <p:sldLayoutId xmlns:r="http://schemas.openxmlformats.org/officeDocument/2006/relationships" id="2147483652" r:id="R327c8f0950d54b4d"/>
    <p:sldLayoutId xmlns:r="http://schemas.openxmlformats.org/officeDocument/2006/relationships" id="2147483653" r:id="Rf6f2be450b094d55"/>
    <p:sldLayoutId xmlns:r="http://schemas.openxmlformats.org/officeDocument/2006/relationships" id="2147483654" r:id="R0c1284d9a9804b1c"/>
    <p:sldLayoutId xmlns:r="http://schemas.openxmlformats.org/officeDocument/2006/relationships" id="2147483655" r:id="R3e4ee1c9b2064b0b"/>
    <p:sldLayoutId xmlns:r="http://schemas.openxmlformats.org/officeDocument/2006/relationships" id="2147483656" r:id="R1ff0d8f5e2f443bc"/>
    <p:sldLayoutId xmlns:r="http://schemas.openxmlformats.org/officeDocument/2006/relationships" id="2147483657" r:id="R3112d49ae51e4b4e"/>
    <p:sldLayoutId xmlns:r="http://schemas.openxmlformats.org/officeDocument/2006/relationships" id="2147483658" r:id="R0206738f074c48c5"/>
    <p:sldLayoutId xmlns:r="http://schemas.openxmlformats.org/officeDocument/2006/relationships" id="2147483659" r:id="R56faa6fcacb14f0d"/>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1" r:id="Rede98c4d10624cb5"/>
    <p:sldLayoutId xmlns:r="http://schemas.openxmlformats.org/officeDocument/2006/relationships" id="2147483662" r:id="R2047425fda7844f1"/>
    <p:sldLayoutId xmlns:r="http://schemas.openxmlformats.org/officeDocument/2006/relationships" id="2147483663" r:id="R8c06f58337024bb2"/>
    <p:sldLayoutId xmlns:r="http://schemas.openxmlformats.org/officeDocument/2006/relationships" id="2147483664" r:id="R619e11ec9e0447f7"/>
    <p:sldLayoutId xmlns:r="http://schemas.openxmlformats.org/officeDocument/2006/relationships" id="2147483665" r:id="Rdc02d4ccd51c4c8f"/>
    <p:sldLayoutId xmlns:r="http://schemas.openxmlformats.org/officeDocument/2006/relationships" id="2147483666" r:id="R4de53c1ee90e48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6cf40e23ff4b2e" /><Relationship Type="http://schemas.openxmlformats.org/officeDocument/2006/relationships/notesSlide" Target="/ppt/notesSlides/notesSlide1.xml" Id="Rfa99caa2cd5f44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f78ec790733412b" /><Relationship Type="http://schemas.openxmlformats.org/officeDocument/2006/relationships/image" Target="/ppt/media/image.png" Id="Rd695453a00454ad8" /><Relationship Type="http://schemas.openxmlformats.org/officeDocument/2006/relationships/image" Target="/ppt/media/image2.png" Id="Rbf9d5c2c14b945c6" /><Relationship Type="http://schemas.openxmlformats.org/officeDocument/2006/relationships/notesSlide" Target="/ppt/notesSlides/notesSlide2.xml" Id="R958583186f7c4b8e" /></Relationships>
</file>

<file path=ppt/slides/_rels/slide3.xml.rels><?xml version='1.0' encoding='utf-8'?>
<Relationships xmlns="http://schemas.openxmlformats.org/package/2006/relationships"><Relationship Type="http://schemas.openxmlformats.org/officeDocument/2006/relationships/slideLayout" Target="/ppt/slideLayouts/slideLayout2.xml" Id="R4bda52935d514877" /><Relationship Type="http://schemas.openxmlformats.org/officeDocument/2006/relationships/image" Target="/ppt/media/image3.png" Id="Rb12b8a73e55d4fbb" /><Relationship Type="http://schemas.openxmlformats.org/officeDocument/2006/relationships/image" Target="/ppt/media/image.jpeg" Id="Rf3f1c383a6604897" /><Relationship Type="http://schemas.openxmlformats.org/officeDocument/2006/relationships/notesSlide" Target="/ppt/notesSlides/notesSlide3.xml" Id="Rb40b8886e0654cd4" /><Relationship Id="rIdProvidedTeamPhoto" Type="http://schemas.openxmlformats.org/officeDocument/2006/relationships/image" Target="../media/provided-team-photo.jpg"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f5649989be24e32" /><Relationship Type="http://schemas.openxmlformats.org/officeDocument/2006/relationships/image" Target="/ppt/media/image4.png" Id="R0770a0c184a041db" /><Relationship Type="http://schemas.openxmlformats.org/officeDocument/2006/relationships/image" Target="/ppt/media/image5.png" Id="R5c35e6b5f03f494f" /><Relationship Type="http://schemas.openxmlformats.org/officeDocument/2006/relationships/notesSlide" Target="/ppt/notesSlides/notesSlide4.xml" Id="Ra28a8afe188f44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2406741bc5845be" /><Relationship Type="http://schemas.openxmlformats.org/officeDocument/2006/relationships/chart" Target="/ppt/slides/charts/chart1.xml" Id="R5fca5e78863f44a5" /><Relationship Type="http://schemas.openxmlformats.org/officeDocument/2006/relationships/notesSlide" Target="/ppt/notesSlides/notesSlide5.xml" Id="R5aef7ca2f37247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97f0ace16d24a1f" /><Relationship Type="http://schemas.openxmlformats.org/officeDocument/2006/relationships/chart" Target="/ppt/slides/charts/chart2.xml" Id="R956252ff506847df" /><Relationship Type="http://schemas.openxmlformats.org/officeDocument/2006/relationships/notesSlide" Target="/ppt/notesSlides/notesSlide6.xml" Id="Rbef474bab3e945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ee43d1b3c504425" /><Relationship Type="http://schemas.openxmlformats.org/officeDocument/2006/relationships/image" Target="/ppt/media/image6.png" Id="Rabe9d16b61f74bcc" /><Relationship Type="http://schemas.openxmlformats.org/officeDocument/2006/relationships/notesSlide" Target="/ppt/notesSlides/notesSlide7.xml" Id="Rf15b6f8cd9cf4c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d77ff5e5e034b87" /><Relationship Type="http://schemas.openxmlformats.org/officeDocument/2006/relationships/notesSlide" Target="/ppt/notesSlides/notesSlide8.xml" Id="R0bea9f6dcebb44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e195492d2d84219" /><Relationship Type="http://schemas.openxmlformats.org/officeDocument/2006/relationships/notesSlide" Target="/ppt/notesSlides/notesSlide9.xml" Id="Ra5372f6041af44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e6fced9e34241c7" /><Relationship Type="http://schemas.openxmlformats.org/officeDocument/2006/relationships/notesSlide" Target="/ppt/notesSlides/notesSlide10.xml" Id="R73a5a8b42e3847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6d02ebbf33f4a6d" /><Relationship Type="http://schemas.openxmlformats.org/officeDocument/2006/relationships/notesSlide" Target="/ppt/notesSlides/notesSlide11.xml" Id="R33bec586262d435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7faab9563e484084" /><Relationship Type="http://schemas.openxmlformats.org/officeDocument/2006/relationships/notesSlide" Target="/ppt/notesSlides/notesSlide12.xml" Id="R7d923b84f72542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1c01c42a45e4863" /><Relationship Type="http://schemas.openxmlformats.org/officeDocument/2006/relationships/notesSlide" Target="/ppt/notesSlides/notesSlide13.xml" Id="R4c72eb7d2e5e40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7.xml" Id="Rc3b42ed3bba84b9a" /><Relationship Type="http://schemas.openxmlformats.org/officeDocument/2006/relationships/notesSlide" Target="/ppt/notesSlides/notesSlide14.xml" Id="R81911508a6da46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7.xml" Id="Rc26e3e672db04817" /><Relationship Type="http://schemas.openxmlformats.org/officeDocument/2006/relationships/notesSlide" Target="/ppt/notesSlides/notesSlide15.xml" Id="R27ca246edee74f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7.xml" Id="Rebea0acc9e2a44a7" /><Relationship Type="http://schemas.openxmlformats.org/officeDocument/2006/relationships/chart" Target="/ppt/slides/charts/chart3.xml" Id="R1bd63784f3df4a57" /><Relationship Type="http://schemas.openxmlformats.org/officeDocument/2006/relationships/notesSlide" Target="/ppt/notesSlides/notesSlide16.xml" Id="R87556539b9774e3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7.xml" Id="R958e89b151a94153" /><Relationship Type="http://schemas.openxmlformats.org/officeDocument/2006/relationships/notesSlide" Target="/ppt/notesSlides/notesSlide17.xml" Id="Rb46b8c216c304f6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7.xml" Id="R707638bd620c4880" /><Relationship Type="http://schemas.openxmlformats.org/officeDocument/2006/relationships/notesSlide" Target="/ppt/notesSlides/notesSlide18.xml" Id="R6596435baef34e6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7.xml" Id="Rdf5d26b4b9ea420f" /><Relationship Type="http://schemas.openxmlformats.org/officeDocument/2006/relationships/chart" Target="/ppt/slides/charts/chart4.xml" Id="R5f8827aa008b45e2" /><Relationship Type="http://schemas.openxmlformats.org/officeDocument/2006/relationships/notesSlide" Target="/ppt/notesSlides/notesSlide19.xml" Id="R812b149a425a410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7.xml" Id="R388b8883655244ef" /><Relationship Type="http://schemas.openxmlformats.org/officeDocument/2006/relationships/notesSlide" Target="/ppt/notesSlides/notesSlide20.xml" Id="R851595e1dcec49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7.xml" Id="Ree0cb97fd122426e" /><Relationship Type="http://schemas.openxmlformats.org/officeDocument/2006/relationships/chart" Target="/ppt/slides/charts/chart5.xml" Id="R25298f1cb1c24cb6" /><Relationship Type="http://schemas.openxmlformats.org/officeDocument/2006/relationships/notesSlide" Target="/ppt/notesSlides/notesSlide21.xml" Id="R65a343f2d72d4a9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7.xml" Id="R3b41bdc361054429" /><Relationship Type="http://schemas.openxmlformats.org/officeDocument/2006/relationships/image" Target="/ppt/media/image2.jpeg" Id="R764dd8fb09d34ef3" /><Relationship Type="http://schemas.openxmlformats.org/officeDocument/2006/relationships/notesSlide" Target="/ppt/notesSlides/notesSlide22.xml" Id="R61cb16272670486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42bd43496bee4fe9" /><Relationship Type="http://schemas.openxmlformats.org/officeDocument/2006/relationships/notesSlide" Target="/ppt/notesSlides/notesSlide23.xml" Id="Rd2d11c445c22424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1458a22d86984e2b" /><Relationship Type="http://schemas.openxmlformats.org/officeDocument/2006/relationships/notesSlide" Target="/ppt/notesSlides/notesSlide24.xml" Id="Rf228db21006b455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26eaa25d39dd484f" /><Relationship Type="http://schemas.openxmlformats.org/officeDocument/2006/relationships/notesSlide" Target="/ppt/notesSlides/notesSlide25.xml" Id="R45f60fa3c9d5466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7.xml" Id="Rf4bd8237b2604b55" /><Relationship Type="http://schemas.openxmlformats.org/officeDocument/2006/relationships/chart" Target="/ppt/slides/charts/chart6.xml" Id="Rd4612d88662e4982" /><Relationship Type="http://schemas.openxmlformats.org/officeDocument/2006/relationships/notesSlide" Target="/ppt/notesSlides/notesSlide26.xml" Id="R6f4d8a14f698489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7.xml" Id="R76af529c11854ef7" /><Relationship Type="http://schemas.openxmlformats.org/officeDocument/2006/relationships/notesSlide" Target="/ppt/notesSlides/notesSlide27.xml" Id="Rf49d2bb712eb48c6" /></Relationships>
</file>

<file path=ppt/slides/_rels/slide28.xml.rels><?xml version='1.0' encoding='utf-8'?>
<Relationships xmlns="http://schemas.openxmlformats.org/package/2006/relationships"><Relationship Type="http://schemas.openxmlformats.org/officeDocument/2006/relationships/slideLayout" Target="/ppt/slideLayouts/slideLayout2.xml" Id="R26eaa25d39dd484f" /><Relationship Type="http://schemas.openxmlformats.org/officeDocument/2006/relationships/notesSlide" Target="../notesSlides/notesSlide28.xml" Id="R45f60fa3c9d54666" /></Relationships>
</file>

<file path=ppt/slides/charts/_rels/chart1.xml.rels><?xml version='1.0' encoding='utf-8'?>
<Relationships xmlns="http://schemas.openxmlformats.org/package/2006/relationships"><Relationship Id="rIdChartSnapshot1" Type="http://schemas.openxmlformats.org/officeDocument/2006/relationships/package" Target="../../embeddings/preserved-original-01.xlsx" /></Relationships>
</file>

<file path=ppt/slides/charts/_rels/chart2.xml.rels><?xml version='1.0' encoding='utf-8'?>
<Relationships xmlns="http://schemas.openxmlformats.org/package/2006/relationships"><Relationship Id="rIdChartSnapshot1" Type="http://schemas.openxmlformats.org/officeDocument/2006/relationships/package" Target="../../embeddings/preserved-original-02.xlsx" /></Relationships>
</file>

<file path=ppt/slides/charts/_rels/chart3.xml.rels><?xml version='1.0' encoding='utf-8'?>
<Relationships xmlns="http://schemas.openxmlformats.org/package/2006/relationships"><Relationship Id="rIdChartSnapshot1" Type="http://schemas.openxmlformats.org/officeDocument/2006/relationships/package" Target="../../embeddings/preserved-original-03.xlsx" /></Relationships>
</file>

<file path=ppt/slides/charts/_rels/chart4.xml.rels><?xml version='1.0' encoding='utf-8'?>
<Relationships xmlns="http://schemas.openxmlformats.org/package/2006/relationships"><Relationship Id="rIdChartSnapshot1" Type="http://schemas.openxmlformats.org/officeDocument/2006/relationships/package" Target="../../embeddings/preserved-original-04.xlsx" /></Relationships>
</file>

<file path=ppt/slides/charts/_rels/chart5.xml.rels><?xml version='1.0' encoding='utf-8'?>
<Relationships xmlns="http://schemas.openxmlformats.org/package/2006/relationships"><Relationship Id="rIdChartSnapshot1" Type="http://schemas.openxmlformats.org/officeDocument/2006/relationships/package" Target="../../embeddings/preserved-original-05.xlsx" /></Relationships>
</file>

<file path=ppt/slides/charts/_rels/chart6.xml.rels><?xml version='1.0' encoding='utf-8'?>
<Relationships xmlns="http://schemas.openxmlformats.org/package/2006/relationships"><Relationship Id="rIdChartSnapshot1" Type="http://schemas.openxmlformats.org/officeDocument/2006/relationships/package" Target="../../embeddings/preserved-original-06.xlsx" /></Relationships>
</file>

<file path=ppt/slides/charts/chart1.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875">
                <a:latin typeface="Aptos"/>
                <a:ea typeface="Aptos"/>
                <a:cs typeface="Aptos"/>
              </a:rPr>
              <a:t>Records</a:t>
            </a:r>
          </a:p>
        </c:rich>
      </c:tx>
      <c:overlay val="0"/>
      <c:txPr>
        <a:bodyPr anchorCtr="1"/>
        <a:lstStyle/>
        <a:p>
          <a:pPr>
            <a:defRPr sz="1875">
              <a:latin typeface="Aptos"/>
              <a:ea typeface="Aptos"/>
              <a:cs typeface="Aptos"/>
            </a:defRPr>
          </a:pPr>
        </a:p>
      </c:txPr>
    </c:title>
    <c:plotArea>
      <c:barChart>
        <c:barDir val="col"/>
        <c:grouping val="clustered"/>
        <c:varyColors val="0"/>
        <c:ser>
          <c:idx val="0"/>
          <c:order val="0"/>
          <c:tx>
            <c:v>Records</c:v>
          </c:tx>
          <c:spPr>
            <a:solidFill>
              <a:srgbClr val="0F9ED5"/>
            </a:solidFill>
          </c:spPr>
          <c:invertIfNegative val="0"/>
          <c:cat>
            <c:strRef>
              <c:f>'Chart Data'!$A$2:$A$3</c:f>
              <c:strCache>
                <c:ptCount val="2"/>
                <c:pt idx="0">
                  <c:v>Edible</c:v>
                </c:pt>
                <c:pt idx="1">
                  <c:v>Poisonous</c:v>
                </c:pt>
              </c:strCache>
            </c:strRef>
          </c:cat>
          <c:val>
            <c:numRef>
              <c:f>'Chart Data'!$B$2:$B$3</c:f>
              <c:numCache>
                <c:formatCode>0</c:formatCode>
                <c:ptCount val="2"/>
                <c:pt idx="0">
                  <c:v>3107</c:v>
                </c:pt>
                <c:pt idx="1">
                  <c:v>1893</c:v>
                </c:pt>
              </c:numCache>
            </c:numRef>
          </c:val>
        </c:ser>
        <c:dLbls>
          <c:numFmt formatCode="0" sourceLinked="0"/>
          <c:txPr>
            <a:bodyPr anchorCtr="1"/>
            <a:lstStyle/>
            <a:p>
              <a:pPr>
                <a:defRPr sz="1800">
                  <a:latin typeface="Aptos"/>
                  <a:ea typeface="Aptos"/>
                  <a:cs typeface="Apto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650">
                <a:solidFill>
                  <a:srgbClr val="666666"/>
                </a:solidFill>
                <a:latin typeface="Aptos"/>
                <a:ea typeface="Aptos"/>
                <a:cs typeface="Aptos"/>
              </a:defRPr>
            </a:pPr>
          </a:p>
        </c:txPr>
        <c:crossAx val="48672768"/>
      </c:catAx>
      <c:valAx>
        <c:axId val="48672768"/>
        <c:scaling>
          <c:orientation val="minMax"/>
        </c:scaling>
        <c:delete val="0"/>
        <c:axPos val="l"/>
        <c:majorGridlines>
          <c:spPr>
            <a:ln w="5715">
              <a:solidFill>
                <a:srgbClr val="DDDDDD"/>
              </a:solidFill>
            </a:ln>
          </c:spPr>
        </c:majorGridlines>
        <c:numFmt formatCode="0"/>
        <c:majorTickMark val="none"/>
        <c:minorTickMark val="none"/>
        <c:spPr>
          <a:ln w="9525">
            <a:solidFill>
              <a:srgbClr val="D4D4D4"/>
            </a:solidFill>
            <a:prstDash val="solid"/>
          </a:ln>
        </c:spPr>
        <c:txPr>
          <a:bodyPr anchorCtr="1"/>
          <a:lstStyle/>
          <a:p>
            <a:pPr>
              <a:defRPr sz="1500">
                <a:solidFill>
                  <a:srgbClr val="666666"/>
                </a:solidFill>
                <a:latin typeface="Aptos"/>
                <a:ea typeface="Aptos"/>
                <a:cs typeface="Aptos"/>
              </a:defRPr>
            </a:pPr>
          </a:p>
        </c:txPr>
        <c:crossAx val="48650112"/>
        <c:crossBetween val="between"/>
      </c:valAx>
      <c:spPr>
        <a:noFill/>
      </c:spPr>
    </c:plotArea>
    <c:plotVisOnly val="1"/>
  </c:chart>
  <c:spPr>
    <a:noFill/>
  </c:spPr>
  <c:externalData r:id="rIdChartSnapshot1">
    <c:autoUpdate val="0"/>
  </c:externalData>
</c:chartSpace>
</file>

<file path=ppt/slides/charts/chart2.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875">
                <a:latin typeface="Aptos"/>
                <a:ea typeface="Aptos"/>
                <a:cs typeface="Aptos"/>
              </a:rPr>
              <a:t>Missing records</a:t>
            </a:r>
          </a:p>
        </c:rich>
      </c:tx>
      <c:overlay val="0"/>
      <c:txPr>
        <a:bodyPr anchorCtr="1"/>
        <a:lstStyle/>
        <a:p>
          <a:pPr>
            <a:defRPr sz="1875">
              <a:latin typeface="Aptos"/>
              <a:ea typeface="Aptos"/>
              <a:cs typeface="Aptos"/>
            </a:defRPr>
          </a:pPr>
        </a:p>
      </c:txPr>
    </c:title>
    <c:plotArea>
      <c:barChart>
        <c:barDir val="col"/>
        <c:grouping val="clustered"/>
        <c:varyColors val="0"/>
        <c:ser>
          <c:idx val="0"/>
          <c:order val="0"/>
          <c:tx>
            <c:v>Missing records</c:v>
          </c:tx>
          <c:spPr>
            <a:solidFill>
              <a:srgbClr val="0F9ED5"/>
            </a:solidFill>
          </c:spPr>
          <c:invertIfNegative val="0"/>
          <c:cat>
            <c:strRef>
              <c:f>'Chart Data'!$A$2:$A$4</c:f>
              <c:strCache>
                <c:ptCount val="3"/>
                <c:pt idx="0">
                  <c:v>Spore print</c:v>
                </c:pt>
                <c:pt idx="1">
                  <c:v>Stem surface</c:v>
                </c:pt>
                <c:pt idx="2">
                  <c:v>Cap diameter</c:v>
                </c:pt>
              </c:strCache>
            </c:strRef>
          </c:cat>
          <c:val>
            <c:numRef>
              <c:f>'Chart Data'!$B$2:$B$4</c:f>
              <c:numCache>
                <c:formatCode>0</c:formatCode>
                <c:ptCount val="3"/>
                <c:pt idx="0">
                  <c:v>4740</c:v>
                </c:pt>
                <c:pt idx="1">
                  <c:v>3359</c:v>
                </c:pt>
                <c:pt idx="2">
                  <c:v>2032</c:v>
                </c:pt>
              </c:numCache>
            </c:numRef>
          </c:val>
        </c:ser>
        <c:dLbls>
          <c:numFmt formatCode="0" sourceLinked="0"/>
          <c:txPr>
            <a:bodyPr anchorCtr="1"/>
            <a:lstStyle/>
            <a:p>
              <a:pPr>
                <a:defRPr sz="1800">
                  <a:latin typeface="Aptos"/>
                  <a:ea typeface="Aptos"/>
                  <a:cs typeface="Aptos"/>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650">
                <a:solidFill>
                  <a:srgbClr val="666666"/>
                </a:solidFill>
                <a:latin typeface="Aptos"/>
                <a:ea typeface="Aptos"/>
                <a:cs typeface="Aptos"/>
              </a:defRPr>
            </a:pPr>
          </a:p>
        </c:txPr>
        <c:crossAx val="48672768"/>
      </c:catAx>
      <c:valAx>
        <c:axId val="48672768"/>
        <c:scaling>
          <c:orientation val="minMax"/>
        </c:scaling>
        <c:delete val="0"/>
        <c:axPos val="l"/>
        <c:majorGridlines>
          <c:spPr>
            <a:ln w="5715">
              <a:solidFill>
                <a:srgbClr val="DDDDDD"/>
              </a:solidFill>
            </a:ln>
          </c:spPr>
        </c:majorGridlines>
        <c:numFmt formatCode="0"/>
        <c:majorTickMark val="none"/>
        <c:minorTickMark val="none"/>
        <c:spPr>
          <a:ln w="9525">
            <a:solidFill>
              <a:srgbClr val="D4D4D4"/>
            </a:solidFill>
            <a:prstDash val="solid"/>
          </a:ln>
        </c:spPr>
        <c:txPr>
          <a:bodyPr anchorCtr="1"/>
          <a:lstStyle/>
          <a:p>
            <a:pPr>
              <a:defRPr sz="1500">
                <a:solidFill>
                  <a:srgbClr val="666666"/>
                </a:solidFill>
                <a:latin typeface="Aptos"/>
                <a:ea typeface="Aptos"/>
                <a:cs typeface="Aptos"/>
              </a:defRPr>
            </a:pPr>
          </a:p>
        </c:txPr>
        <c:crossAx val="48650112"/>
        <c:crossBetween val="between"/>
      </c:valAx>
      <c:spPr>
        <a:noFill/>
      </c:spPr>
    </c:plotArea>
    <c:plotVisOnly val="1"/>
  </c:chart>
  <c:spPr>
    <a:noFill/>
  </c:spPr>
  <c:externalData r:id="rIdChartSnapshot1">
    <c:autoUpdate val="0"/>
  </c:externalData>
</c:chartSpace>
</file>

<file path=ppt/slides/charts/chart3.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650">
                <a:latin typeface="Aptos"/>
                <a:ea typeface="Aptos"/>
                <a:cs typeface="Aptos"/>
              </a:rPr>
              <a:t>Gemiddelde ritstarts per uur</a:t>
            </a:r>
          </a:p>
        </c:rich>
      </c:tx>
      <c:overlay val="0"/>
      <c:txPr>
        <a:bodyPr anchorCtr="1"/>
        <a:lstStyle/>
        <a:p>
          <a:pPr>
            <a:defRPr sz="1650">
              <a:latin typeface="Aptos"/>
              <a:ea typeface="Aptos"/>
              <a:cs typeface="Aptos"/>
            </a:defRPr>
          </a:pPr>
        </a:p>
      </c:txPr>
    </c:title>
    <c:plotArea>
      <c:lineChart>
        <c:grouping val="standard"/>
        <c:varyColors val="0"/>
        <c:ser>
          <c:idx val="0"/>
          <c:order val="0"/>
          <c:tx>
            <c:v>Weekend</c:v>
          </c:tx>
          <c:spPr>
            <a:ln w="38100">
              <a:solidFill>
                <a:srgbClr val="0F9ED5"/>
              </a:solidFill>
            </a:ln>
          </c:spPr>
          <c:marker>
            <c:symbol val="none"/>
          </c:marker>
          <c:cat>
            <c:numRef>
              <c:f>'Chart Data'!$A$2:$A$25</c:f>
              <c:numCache>
                <c:formatCode>#,##0</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c:formatCode>
                <c:ptCount val="24"/>
                <c:pt idx="0">
                  <c:v>2401.84</c:v>
                </c:pt>
                <c:pt idx="1">
                  <c:v>1693.79</c:v>
                </c:pt>
                <c:pt idx="2">
                  <c:v>1147.58</c:v>
                </c:pt>
                <c:pt idx="3">
                  <c:v>764.12</c:v>
                </c:pt>
                <c:pt idx="4">
                  <c:v>511.89</c:v>
                </c:pt>
                <c:pt idx="5">
                  <c:v>421.2</c:v>
                </c:pt>
                <c:pt idx="6">
                  <c:v>832.07</c:v>
                </c:pt>
                <c:pt idx="7">
                  <c:v>1547.51</c:v>
                </c:pt>
                <c:pt idx="8">
                  <c:v>2656.42</c:v>
                </c:pt>
                <c:pt idx="9">
                  <c:v>4200.53</c:v>
                </c:pt>
                <c:pt idx="10">
                  <c:v>5616.55</c:v>
                </c:pt>
                <c:pt idx="11">
                  <c:v>6769.73</c:v>
                </c:pt>
                <c:pt idx="12">
                  <c:v>7561.7</c:v>
                </c:pt>
                <c:pt idx="13">
                  <c:v>7880.8</c:v>
                </c:pt>
                <c:pt idx="14">
                  <c:v>8035.29</c:v>
                </c:pt>
                <c:pt idx="15">
                  <c:v>8071</c:v>
                </c:pt>
                <c:pt idx="16">
                  <c:v>7855.56</c:v>
                </c:pt>
                <c:pt idx="17">
                  <c:v>7425.96</c:v>
                </c:pt>
                <c:pt idx="18">
                  <c:v>6903.7</c:v>
                </c:pt>
                <c:pt idx="19">
                  <c:v>5746.77</c:v>
                </c:pt>
                <c:pt idx="20">
                  <c:v>4307.92</c:v>
                </c:pt>
                <c:pt idx="21">
                  <c:v>3384.31</c:v>
                </c:pt>
                <c:pt idx="22">
                  <c:v>2881.9</c:v>
                </c:pt>
                <c:pt idx="23">
                  <c:v>2358.7</c:v>
                </c:pt>
              </c:numCache>
            </c:numRef>
          </c:val>
        </c:ser>
        <c:ser>
          <c:idx val="1"/>
          <c:order val="1"/>
          <c:tx>
            <c:v>Werkdag</c:v>
          </c:tx>
          <c:spPr>
            <a:ln w="38100">
              <a:solidFill>
                <a:srgbClr val="C77842"/>
              </a:solidFill>
            </a:ln>
          </c:spPr>
          <c:marker>
            <c:symbol val="none"/>
          </c:marker>
          <c:cat>
            <c:numRef>
              <c:f>'Chart Data'!$C$2:$C$25</c:f>
              <c:numCache>
                <c:formatCode>#,##0</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Data'!$D$2:$D$25</c:f>
              <c:numCache>
                <c:formatCode>#,##0</c:formatCode>
                <c:ptCount val="24"/>
                <c:pt idx="0">
                  <c:v>1184.01</c:v>
                </c:pt>
                <c:pt idx="1">
                  <c:v>626.78</c:v>
                </c:pt>
                <c:pt idx="2">
                  <c:v>377.68</c:v>
                </c:pt>
                <c:pt idx="3">
                  <c:v>250.42</c:v>
                </c:pt>
                <c:pt idx="4">
                  <c:v>309.4</c:v>
                </c:pt>
                <c:pt idx="5">
                  <c:v>959.95</c:v>
                </c:pt>
                <c:pt idx="6">
                  <c:v>2735.24</c:v>
                </c:pt>
                <c:pt idx="7">
                  <c:v>5706.84</c:v>
                </c:pt>
                <c:pt idx="8">
                  <c:v>8643.43</c:v>
                </c:pt>
                <c:pt idx="9">
                  <c:v>6425.48</c:v>
                </c:pt>
                <c:pt idx="10">
                  <c:v>4662.81</c:v>
                </c:pt>
                <c:pt idx="11">
                  <c:v>4733.88</c:v>
                </c:pt>
                <c:pt idx="12">
                  <c:v>5340.62</c:v>
                </c:pt>
                <c:pt idx="13">
                  <c:v>5702.24</c:v>
                </c:pt>
                <c:pt idx="14">
                  <c:v>6387.07</c:v>
                </c:pt>
                <c:pt idx="15">
                  <c:v>7236.5</c:v>
                </c:pt>
                <c:pt idx="16">
                  <c:v>8482.14</c:v>
                </c:pt>
                <c:pt idx="17">
                  <c:v>11389.2</c:v>
                </c:pt>
                <c:pt idx="18">
                  <c:v>10638.36</c:v>
                </c:pt>
                <c:pt idx="19">
                  <c:v>7841.02</c:v>
                </c:pt>
                <c:pt idx="20">
                  <c:v>5548.13</c:v>
                </c:pt>
                <c:pt idx="21">
                  <c:v>4158.82</c:v>
                </c:pt>
                <c:pt idx="22">
                  <c:v>3345.06</c:v>
                </c:pt>
                <c:pt idx="23">
                  <c:v>2371.32</c:v>
                </c:pt>
              </c:numCache>
            </c:numRef>
          </c:val>
        </c:ser>
        <c:dLbls>
          <c:txPr>
            <a:bodyPr anchorCtr="1"/>
            <a:lstStyle/>
            <a:p>
              <a:pPr>
                <a:defRPr>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a:lstStyle/>
              <a:p>
                <a:r>
                  <a:rPr sz="1650">
                    <a:solidFill>
                      <a:srgbClr val="62766E"/>
                    </a:solidFill>
                    <a:latin typeface="Aptos"/>
                    <a:ea typeface="Aptos"/>
                    <a:cs typeface="Aptos"/>
                  </a:rPr>
                  <a:t>Lokaal uur in New York</a:t>
                </a:r>
              </a:p>
            </c:rich>
          </c:tx>
          <c:overlay val="0"/>
          <c:txPr>
            <a:bodyPr anchorCtr="1"/>
            <a:lstStyle/>
            <a:p>
              <a:pPr>
                <a:defRPr sz="1650">
                  <a:solidFill>
                    <a:srgbClr val="62766E"/>
                  </a:solidFill>
                  <a:latin typeface="Aptos"/>
                  <a:ea typeface="Aptos"/>
                  <a:cs typeface="Aptos"/>
                </a:defRPr>
              </a:pPr>
            </a:p>
          </c:txPr>
        </c:title>
        <c:numFmt formatCode="#,##0"/>
        <c:majorTickMark val="none"/>
        <c:minorTickMark val="none"/>
        <c:spPr>
          <a:ln w="9525">
            <a:solidFill>
              <a:srgbClr val="D8E1DB"/>
            </a:solidFill>
          </a:ln>
        </c:spPr>
        <c:txPr>
          <a:bodyPr anchorCtr="1"/>
          <a:lstStyle/>
          <a:p>
            <a:pPr>
              <a:defRPr sz="1650">
                <a:solidFill>
                  <a:srgbClr val="000000"/>
                </a:solidFill>
                <a:latin typeface="Aptos"/>
                <a:ea typeface="Aptos"/>
                <a:cs typeface="Aptos"/>
              </a:defRPr>
            </a:pPr>
          </a:p>
        </c:txPr>
        <c:crossAx val="48672768"/>
      </c:catAx>
      <c:valAx>
        <c:axId val="48672768"/>
        <c:scaling>
          <c:orientation val="minMax"/>
          <c:min val="0"/>
        </c:scaling>
        <c:delete val="0"/>
        <c:axPos val="l"/>
        <c:majorGridlines>
          <c:spPr>
            <a:ln w="9525">
              <a:solidFill>
                <a:srgbClr val="D8E1DB"/>
              </a:solidFill>
            </a:ln>
          </c:spPr>
        </c:majorGridlines>
        <c:title>
          <c:tx>
            <c:rich>
              <a:bodyPr/>
              <a:lstStyle/>
              <a:p>
                <a:r>
                  <a:rPr sz="1650">
                    <a:solidFill>
                      <a:srgbClr val="62766E"/>
                    </a:solidFill>
                    <a:latin typeface="Aptos"/>
                    <a:ea typeface="Aptos"/>
                    <a:cs typeface="Aptos"/>
                  </a:rPr>
                  <a:t>Gemiddelde vertrekken</a:t>
                </a:r>
              </a:p>
            </c:rich>
          </c:tx>
          <c:overlay val="0"/>
          <c:txPr>
            <a:bodyPr anchorCtr="1"/>
            <a:lstStyle/>
            <a:p>
              <a:pPr>
                <a:defRPr sz="1650">
                  <a:solidFill>
                    <a:srgbClr val="62766E"/>
                  </a:solidFill>
                  <a:latin typeface="Aptos"/>
                  <a:ea typeface="Aptos"/>
                  <a:cs typeface="Aptos"/>
                </a:defRPr>
              </a:pPr>
            </a:p>
          </c:txPr>
        </c:title>
        <c:numFmt formatCode="#,##0"/>
        <c:majorTickMark val="none"/>
        <c:minorTickMark val="none"/>
        <c:spPr>
          <a:ln w="9525">
            <a:solidFill>
              <a:srgbClr val="D8E1DB"/>
            </a:solidFill>
          </a:ln>
        </c:spPr>
        <c:txPr>
          <a:bodyPr anchorCtr="1"/>
          <a:lstStyle/>
          <a:p>
            <a:pPr>
              <a:defRPr sz="1650">
                <a:solidFill>
                  <a:srgbClr val="000000"/>
                </a:solidFill>
                <a:latin typeface="Aptos"/>
                <a:ea typeface="Aptos"/>
                <a:cs typeface="Aptos"/>
              </a:defRPr>
            </a:pPr>
          </a:p>
        </c:txPr>
        <c:crossAx val="48650112"/>
        <c:crossBetween val="between"/>
      </c:valAx>
      <c:spPr>
        <a:noFill/>
      </c:spPr>
    </c:plotArea>
    <c:legend>
      <c:legendPos val="b"/>
      <c:overlay val="0"/>
      <c:txPr>
        <a:bodyPr anchorCtr="1"/>
        <a:lstStyle/>
        <a:p>
          <a:pPr>
            <a:defRPr sz="1800">
              <a:solidFill>
                <a:srgbClr val="000000"/>
              </a:solidFill>
              <a:latin typeface="Aptos"/>
              <a:ea typeface="Aptos"/>
              <a:cs typeface="Aptos"/>
            </a:defRPr>
          </a:pPr>
        </a:p>
      </c:txPr>
    </c:legend>
    <c:plotVisOnly val="1"/>
  </c:chart>
  <c:spPr>
    <a:noFill/>
  </c:spPr>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650">
                <a:latin typeface="Aptos"/>
                <a:ea typeface="Aptos"/>
                <a:cs typeface="Aptos"/>
              </a:rPr>
              <a:t>Validatie-RMSE in ritten per uurvak</a:t>
            </a:r>
          </a:p>
        </c:rich>
      </c:tx>
      <c:overlay val="0"/>
      <c:txPr>
        <a:bodyPr anchorCtr="1"/>
        <a:lstStyle/>
        <a:p>
          <a:pPr>
            <a:defRPr sz="1650">
              <a:latin typeface="Aptos"/>
              <a:ea typeface="Aptos"/>
              <a:cs typeface="Aptos"/>
            </a:defRPr>
          </a:pPr>
        </a:p>
      </c:txPr>
    </c:title>
    <c:plotArea>
      <c:barChart>
        <c:barDir val="bar"/>
        <c:grouping val="clustered"/>
        <c:varyColors val="0"/>
        <c:ser>
          <c:idx val="0"/>
          <c:order val="0"/>
          <c:tx>
            <c:v>Validatie-RMSE</c:v>
          </c:tx>
          <c:spPr>
            <a:solidFill>
              <a:srgbClr val="0F9ED5"/>
            </a:solidFill>
          </c:spPr>
          <c:invertIfNegative val="0"/>
          <c:cat>
            <c:strRef>
              <c:f>'Chart Data'!$A$2:$A$7</c:f>
              <c:strCache>
                <c:ptCount val="6"/>
                <c:pt idx="0">
                  <c:v>Weekbaseline</c:v>
                </c:pt>
                <c:pt idx="1">
                  <c:v>Ridge</c:v>
                </c:pt>
                <c:pt idx="2">
                  <c:v>Random Forest</c:v>
                </c:pt>
                <c:pt idx="3">
                  <c:v>LightGBM</c:v>
                </c:pt>
                <c:pt idx="4">
                  <c:v>LightGBM getuned</c:v>
                </c:pt>
                <c:pt idx="5">
                  <c:v>RF getuned</c:v>
                </c:pt>
              </c:strCache>
            </c:strRef>
          </c:cat>
          <c:val>
            <c:numRef>
              <c:f>'Chart Data'!$B$2:$B$7</c:f>
              <c:numCache>
                <c:formatCode>#,##0</c:formatCode>
                <c:ptCount val="6"/>
                <c:pt idx="0">
                  <c:v>2826.16</c:v>
                </c:pt>
                <c:pt idx="1">
                  <c:v>1982.44</c:v>
                </c:pt>
                <c:pt idx="2">
                  <c:v>1945.71</c:v>
                </c:pt>
                <c:pt idx="3">
                  <c:v>1952.24</c:v>
                </c:pt>
                <c:pt idx="4">
                  <c:v>1972.51</c:v>
                </c:pt>
                <c:pt idx="5">
                  <c:v>1940.49</c:v>
                </c:pt>
              </c:numCache>
            </c:numRef>
          </c:val>
        </c:ser>
        <c:dLbls>
          <c:numFmt formatCode="0" sourceLinked="0"/>
          <c:txPr>
            <a:bodyPr anchorCtr="1"/>
            <a:lstStyle/>
            <a:p>
              <a:pPr>
                <a:defRPr sz="1800" b="1">
                  <a:solidFill>
                    <a:srgbClr val="000000"/>
                  </a:solidFill>
                  <a:latin typeface="Aptos"/>
                  <a:ea typeface="Aptos"/>
                  <a:cs typeface="Aptos"/>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majorGridlines>
          <c:spPr>
            <a:ln w="9525">
              <a:solidFill>
                <a:srgbClr val="D8E1DB"/>
              </a:solidFill>
            </a:ln>
          </c:spPr>
        </c:majorGridlines>
        <c:numFmt formatCode="#,##0"/>
        <c:majorTickMark val="none"/>
        <c:minorTickMark val="none"/>
        <c:spPr>
          <a:ln w="9525">
            <a:solidFill>
              <a:srgbClr val="D8E1DB"/>
            </a:solidFill>
          </a:ln>
        </c:spPr>
        <c:txPr>
          <a:bodyPr anchorCtr="1"/>
          <a:lstStyle/>
          <a:p>
            <a:pPr>
              <a:defRPr sz="1650">
                <a:solidFill>
                  <a:srgbClr val="000000"/>
                </a:solidFill>
                <a:latin typeface="Aptos"/>
                <a:ea typeface="Aptos"/>
                <a:cs typeface="Aptos"/>
              </a:defRPr>
            </a:pPr>
          </a:p>
        </c:txPr>
        <c:crossAx val="48672768"/>
      </c:catAx>
      <c:valAx>
        <c:axId val="48672768"/>
        <c:scaling>
          <c:orientation val="minMax"/>
        </c:scaling>
        <c:delete val="0"/>
        <c:axPos val="b"/>
        <c:numFmt formatCode="#,##0"/>
        <c:majorTickMark val="none"/>
        <c:minorTickMark val="none"/>
        <c:spPr>
          <a:ln w="9525">
            <a:solidFill>
              <a:srgbClr val="D8E1DB"/>
            </a:solidFill>
          </a:ln>
        </c:spPr>
        <c:txPr>
          <a:bodyPr anchorCtr="1"/>
          <a:lstStyle/>
          <a:p>
            <a:pPr>
              <a:defRPr sz="1650">
                <a:solidFill>
                  <a:srgbClr val="000000"/>
                </a:solidFill>
                <a:latin typeface="Aptos"/>
                <a:ea typeface="Aptos"/>
                <a:cs typeface="Aptos"/>
              </a:defRPr>
            </a:pPr>
          </a:p>
        </c:txPr>
        <c:crossAx val="48650112"/>
        <c:crossBetween val="between"/>
      </c:valAx>
      <c:spPr>
        <a:noFill/>
      </c:spPr>
    </c:plotArea>
    <c:plotVisOnly val="1"/>
  </c:chart>
  <c:spPr>
    <a:noFill/>
  </c:spPr>
  <c:externalData r:id="rIdChartSnapshot1">
    <c:autoUpdate val="0"/>
  </c:externalData>
</c:chartSpace>
</file>

<file path=ppt/slides/charts/chart5.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650">
                <a:latin typeface="Aptos"/>
                <a:ea typeface="Aptos"/>
                <a:cs typeface="Aptos"/>
              </a:rPr>
              <a:t>Eindtest-RMSE in ritten per uurvak</a:t>
            </a:r>
          </a:p>
        </c:rich>
      </c:tx>
      <c:overlay val="0"/>
      <c:txPr>
        <a:bodyPr anchorCtr="1"/>
        <a:lstStyle/>
        <a:p>
          <a:pPr>
            <a:defRPr sz="1650">
              <a:latin typeface="Aptos"/>
              <a:ea typeface="Aptos"/>
              <a:cs typeface="Aptos"/>
            </a:defRPr>
          </a:pPr>
        </a:p>
      </c:txPr>
    </c:title>
    <c:plotArea>
      <c:barChart>
        <c:barDir val="col"/>
        <c:grouping val="clustered"/>
        <c:varyColors val="0"/>
        <c:ser>
          <c:idx val="0"/>
          <c:order val="0"/>
          <c:tx>
            <c:v>Eindtest-RMSE</c:v>
          </c:tx>
          <c:spPr>
            <a:solidFill>
              <a:srgbClr val="0F9ED5"/>
            </a:solidFill>
          </c:spPr>
          <c:invertIfNegative val="0"/>
          <c:cat>
            <c:strRef>
              <c:f>'Chart Data'!$A$2:$A$3</c:f>
              <c:strCache>
                <c:ptCount val="2"/>
                <c:pt idx="0">
                  <c:v>Weekbaseline</c:v>
                </c:pt>
                <c:pt idx="1">
                  <c:v>Gekozen RF</c:v>
                </c:pt>
              </c:strCache>
            </c:strRef>
          </c:cat>
          <c:val>
            <c:numRef>
              <c:f>'Chart Data'!$B$2:$B$3</c:f>
              <c:numCache>
                <c:formatCode>#,##0</c:formatCode>
                <c:ptCount val="2"/>
                <c:pt idx="0">
                  <c:v>2608.78</c:v>
                </c:pt>
                <c:pt idx="1">
                  <c:v>1979.51</c:v>
                </c:pt>
              </c:numCache>
            </c:numRef>
          </c:val>
        </c:ser>
        <c:dLbls>
          <c:numFmt formatCode="0" sourceLinked="0"/>
          <c:txPr>
            <a:bodyPr anchorCtr="1"/>
            <a:lstStyle/>
            <a:p>
              <a:pPr>
                <a:defRPr sz="1950" b="1">
                  <a:solidFill>
                    <a:srgbClr val="000000"/>
                  </a:solidFill>
                  <a:latin typeface="Aptos"/>
                  <a:ea typeface="Aptos"/>
                  <a:cs typeface="Aptos"/>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0"/>
        <c:majorTickMark val="none"/>
        <c:minorTickMark val="none"/>
        <c:spPr>
          <a:ln w="9525">
            <a:solidFill>
              <a:srgbClr val="D8E1DB"/>
            </a:solidFill>
          </a:ln>
        </c:spPr>
        <c:txPr>
          <a:bodyPr anchorCtr="1"/>
          <a:lstStyle/>
          <a:p>
            <a:pPr>
              <a:defRPr sz="1650">
                <a:solidFill>
                  <a:srgbClr val="000000"/>
                </a:solidFill>
                <a:latin typeface="Aptos"/>
                <a:ea typeface="Aptos"/>
                <a:cs typeface="Aptos"/>
              </a:defRPr>
            </a:pPr>
          </a:p>
        </c:txPr>
        <c:crossAx val="48672768"/>
      </c:catAx>
      <c:valAx>
        <c:axId val="48672768"/>
        <c:scaling>
          <c:orientation val="minMax"/>
          <c:max val="3000"/>
          <c:min val="0"/>
        </c:scaling>
        <c:delete val="0"/>
        <c:axPos val="l"/>
        <c:majorGridlines>
          <c:spPr>
            <a:ln w="9525">
              <a:solidFill>
                <a:srgbClr val="D8E1DB"/>
              </a:solidFill>
            </a:ln>
          </c:spPr>
        </c:majorGridlines>
        <c:numFmt formatCode="#,##0"/>
        <c:majorTickMark val="none"/>
        <c:minorTickMark val="none"/>
        <c:spPr>
          <a:ln w="9525">
            <a:solidFill>
              <a:srgbClr val="D8E1DB"/>
            </a:solidFill>
          </a:ln>
        </c:spPr>
        <c:txPr>
          <a:bodyPr anchorCtr="1"/>
          <a:lstStyle/>
          <a:p>
            <a:pPr>
              <a:defRPr sz="1650">
                <a:solidFill>
                  <a:srgbClr val="000000"/>
                </a:solidFill>
                <a:latin typeface="Aptos"/>
                <a:ea typeface="Aptos"/>
                <a:cs typeface="Aptos"/>
              </a:defRPr>
            </a:pPr>
          </a:p>
        </c:txPr>
        <c:crossAx val="48650112"/>
        <c:crossBetween val="between"/>
        <c:majorUnit val="1000"/>
      </c:valAx>
      <c:spPr>
        <a:noFill/>
      </c:spPr>
    </c:plotArea>
    <c:plotVisOnly val="1"/>
  </c:chart>
  <c:spPr>
    <a:noFill/>
  </c:spPr>
  <c:externalData r:id="rIdChartSnapshot1">
    <c:autoUpdate val="0"/>
  </c:externalData>
</c:chartSpace>
</file>

<file path=ppt/slides/charts/chart6.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1650">
                <a:latin typeface="Aptos"/>
                <a:ea typeface="Aptos"/>
                <a:cs typeface="Aptos"/>
              </a:rPr>
              <a:t>Validatie-MAE per lokaal uur</a:t>
            </a:r>
          </a:p>
        </c:rich>
      </c:tx>
      <c:overlay val="0"/>
      <c:txPr>
        <a:bodyPr anchorCtr="1"/>
        <a:lstStyle/>
        <a:p>
          <a:pPr>
            <a:defRPr sz="1650">
              <a:latin typeface="Aptos"/>
              <a:ea typeface="Aptos"/>
              <a:cs typeface="Aptos"/>
            </a:defRPr>
          </a:pPr>
        </a:p>
      </c:txPr>
    </c:title>
    <c:plotArea>
      <c:barChart>
        <c:barDir val="col"/>
        <c:varyColors val="0"/>
        <c:ser>
          <c:idx val="0"/>
          <c:order val="0"/>
          <c:tx>
            <c:v>Validatie-MAE</c:v>
          </c:tx>
          <c:spPr>
            <a:solidFill>
              <a:srgbClr val="0F9ED5"/>
            </a:solidFill>
          </c:spPr>
          <c:invertIfNegative val="0"/>
          <c:cat>
            <c:numRef>
              <c:f>'Chart Data'!$A$2:$A$25</c:f>
              <c:numCache>
                <c:formatCode>#,##0</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c:formatCode>
                <c:ptCount val="24"/>
                <c:pt idx="0">
                  <c:v>1275</c:v>
                </c:pt>
                <c:pt idx="1">
                  <c:v>628.62</c:v>
                </c:pt>
                <c:pt idx="2">
                  <c:v>341.41</c:v>
                </c:pt>
                <c:pt idx="3">
                  <c:v>161.18</c:v>
                </c:pt>
                <c:pt idx="4">
                  <c:v>101.48</c:v>
                </c:pt>
                <c:pt idx="5">
                  <c:v>142.14</c:v>
                </c:pt>
                <c:pt idx="6">
                  <c:v>319.05</c:v>
                </c:pt>
                <c:pt idx="7">
                  <c:v>676.26</c:v>
                </c:pt>
                <c:pt idx="8">
                  <c:v>1151.54</c:v>
                </c:pt>
                <c:pt idx="9">
                  <c:v>807.3</c:v>
                </c:pt>
                <c:pt idx="10">
                  <c:v>700.89</c:v>
                </c:pt>
                <c:pt idx="11">
                  <c:v>971.18</c:v>
                </c:pt>
                <c:pt idx="12">
                  <c:v>1262.58</c:v>
                </c:pt>
                <c:pt idx="13">
                  <c:v>1395.73</c:v>
                </c:pt>
                <c:pt idx="14">
                  <c:v>1688.46</c:v>
                </c:pt>
                <c:pt idx="15">
                  <c:v>1659.27</c:v>
                </c:pt>
                <c:pt idx="16">
                  <c:v>1926.01</c:v>
                </c:pt>
                <c:pt idx="17">
                  <c:v>2422.61</c:v>
                </c:pt>
                <c:pt idx="18">
                  <c:v>2220.23</c:v>
                </c:pt>
                <c:pt idx="19">
                  <c:v>1960.05</c:v>
                </c:pt>
                <c:pt idx="20">
                  <c:v>1602.58</c:v>
                </c:pt>
                <c:pt idx="21">
                  <c:v>1078.21</c:v>
                </c:pt>
                <c:pt idx="22">
                  <c:v>838.09</c:v>
                </c:pt>
                <c:pt idx="23">
                  <c:v>1417.6</c:v>
                </c:pt>
              </c:numCache>
            </c:numRef>
          </c:val>
        </c:ser>
        <c:dLbls>
          <c:txPr>
            <a:bodyPr anchorCtr="1"/>
            <a:lstStyle/>
            <a:p>
              <a:pPr>
                <a:defRPr>
                  <a:latin typeface="Aptos"/>
                  <a:ea typeface="Aptos"/>
                  <a:cs typeface="Aptos"/>
                </a:defRPr>
              </a:pPr>
            </a:p>
          </c:txPr>
          <c:showLegendKey val="0"/>
          <c:showVal val="0"/>
          <c:showCatName val="0"/>
          <c:showSerName val="0"/>
          <c:showPercent val="0"/>
          <c:showBubbleSize val="0"/>
          <c:showLeaderLines val="0"/>
        </c:dLbls>
        <c:gapWidth val="40"/>
        <c:axId val="48650112"/>
        <c:axId val="48672768"/>
      </c:barChart>
      <c:catAx>
        <c:axId val="48650112"/>
        <c:scaling>
          <c:orientation val="minMax"/>
        </c:scaling>
        <c:delete val="0"/>
        <c:axPos val="b"/>
        <c:title>
          <c:tx>
            <c:rich>
              <a:bodyPr/>
              <a:lstStyle/>
              <a:p>
                <a:r>
                  <a:rPr>
                    <a:latin typeface="Aptos"/>
                    <a:ea typeface="Aptos"/>
                    <a:cs typeface="Aptos"/>
                  </a:rPr>
                  <a:t>Lokaal uur</a:t>
                </a:r>
              </a:p>
            </c:rich>
          </c:tx>
          <c:overlay val="0"/>
          <c:txPr>
            <a:bodyPr anchorCtr="1"/>
            <a:lstStyle/>
            <a:p>
              <a:pPr>
                <a:defRPr>
                  <a:latin typeface="Aptos"/>
                  <a:ea typeface="Aptos"/>
                  <a:cs typeface="Aptos"/>
                </a:defRPr>
              </a:pPr>
            </a:p>
          </c:txPr>
        </c:title>
        <c:numFmt formatCode="#,##0"/>
        <c:majorTickMark val="none"/>
        <c:minorTickMark val="none"/>
        <c:spPr>
          <a:ln w="9525">
            <a:solidFill>
              <a:srgbClr val="D8E1DB"/>
            </a:solidFill>
          </a:ln>
        </c:spPr>
        <c:txPr>
          <a:bodyPr anchorCtr="1"/>
          <a:lstStyle/>
          <a:p>
            <a:pPr>
              <a:defRPr sz="1650">
                <a:solidFill>
                  <a:srgbClr val="000000"/>
                </a:solidFill>
                <a:latin typeface="Aptos"/>
                <a:ea typeface="Aptos"/>
                <a:cs typeface="Aptos"/>
              </a:defRPr>
            </a:pPr>
          </a:p>
        </c:txPr>
        <c:crossAx val="48672768"/>
      </c:catAx>
      <c:valAx>
        <c:axId val="48672768"/>
        <c:scaling>
          <c:orientation val="minMax"/>
          <c:min val="0"/>
        </c:scaling>
        <c:delete val="0"/>
        <c:axPos val="l"/>
        <c:majorGridlines>
          <c:spPr>
            <a:ln w="9525">
              <a:solidFill>
                <a:srgbClr val="D8E1DB"/>
              </a:solidFill>
            </a:ln>
          </c:spPr>
        </c:majorGridlines>
        <c:title>
          <c:tx>
            <c:rich>
              <a:bodyPr/>
              <a:lstStyle/>
              <a:p>
                <a:r>
                  <a:rPr>
                    <a:latin typeface="Aptos"/>
                    <a:ea typeface="Aptos"/>
                    <a:cs typeface="Aptos"/>
                  </a:rPr>
                  <a:t>MAE in ritten/uurvak</a:t>
                </a:r>
              </a:p>
            </c:rich>
          </c:tx>
          <c:overlay val="0"/>
          <c:txPr>
            <a:bodyPr anchorCtr="1"/>
            <a:lstStyle/>
            <a:p>
              <a:pPr>
                <a:defRPr>
                  <a:latin typeface="Aptos"/>
                  <a:ea typeface="Aptos"/>
                  <a:cs typeface="Aptos"/>
                </a:defRPr>
              </a:pPr>
            </a:p>
          </c:txPr>
        </c:title>
        <c:numFmt formatCode="#,##0"/>
        <c:majorTickMark val="none"/>
        <c:minorTickMark val="none"/>
        <c:spPr>
          <a:ln w="9525">
            <a:solidFill>
              <a:srgbClr val="D8E1DB"/>
            </a:solidFill>
          </a:ln>
        </c:spPr>
        <c:txPr>
          <a:bodyPr anchorCtr="1"/>
          <a:lstStyle/>
          <a:p>
            <a:pPr>
              <a:defRPr sz="1650">
                <a:solidFill>
                  <a:srgbClr val="000000"/>
                </a:solidFill>
                <a:latin typeface="Aptos"/>
                <a:ea typeface="Aptos"/>
                <a:cs typeface="Aptos"/>
              </a:defRPr>
            </a:pPr>
          </a:p>
        </c:txPr>
        <c:crossAx val="48650112"/>
        <c:crossBetween val="between"/>
      </c:valAx>
      <c:spPr>
        <a:noFill/>
      </c:spPr>
    </c:plotArea>
    <c:plotVisOnly val="1"/>
  </c:chart>
  <c:spPr>
    <a:no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useBgFill="1">
        <p:nvSpPr>
          <p:cNvPr id="8" name="Rectangle 7">
            <a:extLst xmlns:a="http://schemas.openxmlformats.org/drawingml/2006/main">
              <a:ext uri="{FF2B5EF4-FFF2-40B4-BE49-F238E27FC236}">
                <a16:creationId xmlns:a16="http://schemas.microsoft.com/office/drawing/2014/main" id="{A7895A40-19A4-42D6-9D30-DBC1E8002635}"/>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Rectangle 9">
            <a:extLst xmlns:a="http://schemas.openxmlformats.org/drawingml/2006/main">
              <a:ext uri="{FF2B5EF4-FFF2-40B4-BE49-F238E27FC236}">
                <a16:creationId xmlns:a16="http://schemas.microsoft.com/office/drawing/2014/main" id="{02F429C4-ABC9-46FC-818A-B5429CDE4A96}"/>
              </a:ext>
            </a:extLst>
          </p:cNvPr>
          <p:cNvSpPr>
            <a:spLocks xmlns:a="http://schemas.openxmlformats.org/drawingml/2006/main" noGrp="1"/>
          </p:cNvSpPr>
          <p:nvPr/>
        </p:nvSpPr>
        <p:spPr>
          <a:xfrm xmlns:a="http://schemas.openxmlformats.org/drawingml/2006/main" rot="5400000">
            <a:off x="-1270325" y="3369273"/>
            <a:ext cx="3200400" cy="1523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2CEF98E4-3709-4952-8F42-2305CCE34FA3}"/>
              </a:ext>
            </a:extLst>
          </p:cNvPr>
          <p:cNvSpPr>
            <a:spLocks xmlns:a="http://schemas.openxmlformats.org/drawingml/2006/main" noGrp="1"/>
          </p:cNvSpPr>
          <p:nvPr/>
        </p:nvSpPr>
        <p:spPr>
          <a:xfrm xmlns:a="http://schemas.openxmlformats.org/drawingml/2006/main" rot="16200000">
            <a:off x="6374475" y="1040470"/>
            <a:ext cx="6858003" cy="4777047"/>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F10BCCF5-D685-47FF-B675-647EAEB72C8E}"/>
              </a:ext>
            </a:extLst>
          </p:cNvPr>
          <p:cNvSpPr>
            <a:spLocks xmlns:a="http://schemas.openxmlformats.org/drawingml/2006/main" noGrp="1"/>
          </p:cNvSpPr>
          <p:nvPr/>
        </p:nvSpPr>
        <p:spPr>
          <a:xfrm xmlns:a="http://schemas.openxmlformats.org/drawingml/2006/main">
            <a:off x="387914" y="857786"/>
            <a:ext cx="11067024" cy="5208932"/>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B0EE8A42-107A-4D4C-8D56-BBAE95C7FC0D}"/>
              </a:ext>
            </a:extLst>
          </p:cNvPr>
          <p:cNvSpPr>
            <a:spLocks xmlns:a="http://schemas.openxmlformats.org/drawingml/2006/main" noGrp="1"/>
          </p:cNvSpPr>
          <p:nvPr/>
        </p:nvSpPr>
        <p:spPr>
          <a:xfrm xmlns:a="http://schemas.openxmlformats.org/drawingml/2006/main" rot="5400000">
            <a:off x="-1524009" y="3366125"/>
            <a:ext cx="3200400" cy="1523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content-5">
            <a:extLst xmlns:a="http://schemas.openxmlformats.org/drawingml/2006/main">
              <a:ext uri="{FF2B5EF4-FFF2-40B4-BE49-F238E27FC236}">
                <a16:creationId xmlns:a16="http://schemas.microsoft.com/office/drawing/2014/main" id="{128EF8DC-6ACA-4579-8EE1-7B1AC21CA3AB}"/>
              </a:ext>
            </a:extLst>
          </p:cNvPr>
          <p:cNvSpPr>
            <a:spLocks xmlns:a="http://schemas.openxmlformats.org/drawingml/2006/main" noGrp="1"/>
          </p:cNvSpPr>
          <p:nvPr/>
        </p:nvSpPr>
        <p:spPr>
          <a:xfrm xmlns:a="http://schemas.openxmlformats.org/drawingml/2006/main">
            <a:off x="1047750" y="1476375"/>
            <a:ext cx="9810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450" b="0">
                <a:solidFill>
                  <a:srgbClr val="000000"/>
                </a:solidFill>
                <a:latin typeface="Aptos Display"/>
                <a:ea typeface="Aptos Display"/>
                <a:cs typeface="Aptos Display"/>
              </a:defRPr>
            </a:defPPr>
          </a:lstStyle>
          <a:p xmlns:a="http://schemas.openxmlformats.org/drawingml/2006/main">
            <a:pPr>
              <a:buNone/>
              <a:defRPr sz="6450" b="0">
                <a:solidFill>
                  <a:srgbClr val="000000"/>
                </a:solidFill>
                <a:latin typeface="Aptos Display"/>
                <a:ea typeface="Aptos Display"/>
                <a:cs typeface="Aptos Display"/>
              </a:defRPr>
            </a:pPr>
            <a:r>
              <a:rPr sz="6450" b="0">
                <a:solidFill>
                  <a:srgbClr val="000000"/>
                </a:solidFill>
                <a:latin typeface="Aptos Display"/>
                <a:ea typeface="Aptos Display"/>
                <a:cs typeface="Aptos Display"/>
              </a:rPr>
              <a:t>Machine Learning /</a:t>
            </a:r>
          </a:p>
          <a:p xmlns:a="http://schemas.openxmlformats.org/drawingml/2006/main">
            <a:pPr>
              <a:buNone/>
              <a:defRPr sz="6450" b="0">
                <a:solidFill>
                  <a:srgbClr val="000000"/>
                </a:solidFill>
                <a:latin typeface="Aptos Display"/>
                <a:ea typeface="Aptos Display"/>
                <a:cs typeface="Aptos Display"/>
              </a:defRPr>
            </a:pPr>
            <a:r>
              <a:rPr sz="6450" b="0">
                <a:solidFill>
                  <a:srgbClr val="000000"/>
                </a:solidFill>
                <a:latin typeface="Aptos Display"/>
                <a:ea typeface="Aptos Display"/>
                <a:cs typeface="Aptos Display"/>
              </a:rPr>
              <a:t>Cloud AI Challenge</a:t>
            </a:r>
          </a:p>
        </p:txBody>
      </p:sp>
      <p:sp>
        <p:nvSpPr>
          <p:cNvPr id="18" name="content-6">
            <a:extLst xmlns:a="http://schemas.openxmlformats.org/drawingml/2006/main">
              <a:ext uri="{FF2B5EF4-FFF2-40B4-BE49-F238E27FC236}">
                <a16:creationId xmlns:a16="http://schemas.microsoft.com/office/drawing/2014/main" id="{CA91B837-FABA-4407-A232-9467B10616A4}"/>
              </a:ext>
            </a:extLst>
          </p:cNvPr>
          <p:cNvSpPr>
            <a:spLocks xmlns:a="http://schemas.openxmlformats.org/drawingml/2006/main" noGrp="1"/>
          </p:cNvSpPr>
          <p:nvPr/>
        </p:nvSpPr>
        <p:spPr>
          <a:xfrm xmlns:a="http://schemas.openxmlformats.org/drawingml/2006/main">
            <a:off x="1066800" y="418147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000000"/>
                </a:solidFill>
                <a:latin typeface="Aptos"/>
                <a:ea typeface="Aptos"/>
                <a:cs typeface="Aptos"/>
              </a:defRPr>
            </a:defPPr>
          </a:lstStyle>
          <a:p xmlns:a="http://schemas.openxmlformats.org/drawingml/2006/main">
            <a:pPr>
              <a:buNone/>
              <a:defRPr sz="2550" b="0">
                <a:solidFill>
                  <a:srgbClr val="000000"/>
                </a:solidFill>
                <a:latin typeface="Aptos"/>
                <a:ea typeface="Aptos"/>
                <a:cs typeface="Aptos"/>
              </a:defRPr>
            </a:pPr>
            <a:r>
              <a:rPr sz="2550" b="0">
                <a:solidFill>
                  <a:srgbClr val="000000"/>
                </a:solidFill>
                <a:latin typeface="Aptos"/>
                <a:ea typeface="Aptos"/>
                <a:cs typeface="Aptos"/>
              </a:rPr>
              <a:t>Team 10</a:t>
            </a:r>
          </a:p>
        </p:txBody>
      </p:sp>
      <p:sp>
        <p:nvSpPr>
          <p:cNvPr id="19" name="content-7">
            <a:extLst xmlns:a="http://schemas.openxmlformats.org/drawingml/2006/main">
              <a:ext uri="{FF2B5EF4-FFF2-40B4-BE49-F238E27FC236}">
                <a16:creationId xmlns:a16="http://schemas.microsoft.com/office/drawing/2014/main" id="{53D8070D-A750-45AD-B4DF-9BD0F5888D4D}"/>
              </a:ext>
            </a:extLst>
          </p:cNvPr>
          <p:cNvSpPr>
            <a:spLocks xmlns:a="http://schemas.openxmlformats.org/drawingml/2006/main" noGrp="1"/>
          </p:cNvSpPr>
          <p:nvPr/>
        </p:nvSpPr>
        <p:spPr>
          <a:xfrm xmlns:a="http://schemas.openxmlformats.org/drawingml/2006/main">
            <a:off x="1066800" y="4752975"/>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Raoul Buffels, Jorre Van Dyck, Andrew Noeyens, Milan Wouters</a:t>
            </a:r>
          </a:p>
        </p:txBody>
      </p:sp>
    </p:spTree>
    <p:extLst>
      <p:ext uri="{BB962C8B-B14F-4D97-AF65-F5344CB8AC3E}">
        <p14:creationId xmlns:p14="http://schemas.microsoft.com/office/powerpoint/2010/main" val="41085762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useBgFill="1">
        <p:nvSpPr>
          <p:cNvPr id="10" name="Rectangle 9">
            <a:extLst xmlns:a="http://schemas.openxmlformats.org/drawingml/2006/main">
              <a:ext uri="{FF2B5EF4-FFF2-40B4-BE49-F238E27FC236}">
                <a16:creationId xmlns:a16="http://schemas.microsoft.com/office/drawing/2014/main" id="{DBC6133C-0615-4CE4-9132-37E609A9BDFA}"/>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169CC832-2974-4E8D-90ED-3E2941BA7336}"/>
              </a:ext>
            </a:extLst>
          </p:cNvPr>
          <p:cNvSpPr>
            <a:spLocks xmlns:a="http://schemas.openxmlformats.org/drawingml/2006/main" noGrp="1"/>
          </p:cNvSpPr>
          <p:nvPr/>
        </p:nvSpPr>
        <p:spPr>
          <a:xfrm xmlns:a="http://schemas.openxmlformats.org/drawingml/2006/main" flipH="1">
            <a:off x="616533" y="1944913"/>
            <a:ext cx="4023360" cy="2743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55222F96-971A-4F90-B841-6BAB416C7AC1}"/>
              </a:ext>
            </a:extLst>
          </p:cNvPr>
          <p:cNvSpPr>
            <a:spLocks xmlns:a="http://schemas.openxmlformats.org/drawingml/2006/main" noGrp="1"/>
          </p:cNvSpPr>
          <p:nvPr/>
        </p:nvSpPr>
        <p:spPr>
          <a:xfrm xmlns:a="http://schemas.openxmlformats.org/drawingml/2006/main" rot="5400000">
            <a:off x="-225843" y="6053360"/>
            <a:ext cx="740664" cy="154124"/>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08980754-6F4B-43C9-B9BE-127B6BED6586}"/>
              </a:ext>
            </a:extLst>
          </p:cNvPr>
          <p:cNvSpPr>
            <a:spLocks xmlns:a="http://schemas.openxmlformats.org/drawingml/2006/main" noGrp="1"/>
          </p:cNvSpPr>
          <p:nvPr/>
        </p:nvSpPr>
        <p:spPr>
          <a:xfrm xmlns:a="http://schemas.openxmlformats.org/drawingml/2006/main" rot="5400000">
            <a:off x="5904923" y="215201"/>
            <a:ext cx="740664" cy="11833491"/>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2C1BBA94-3F40-40AA-8BB9-E69E25E537C1}"/>
              </a:ext>
            </a:extLst>
          </p:cNvPr>
          <p:cNvSpPr>
            <a:spLocks xmlns:a="http://schemas.openxmlformats.org/drawingml/2006/main" noGrp="1"/>
          </p:cNvSpPr>
          <p:nvPr/>
        </p:nvSpPr>
        <p:spPr>
          <a:xfrm xmlns:a="http://schemas.openxmlformats.org/drawingml/2006/main">
            <a:off x="5696793" y="354959"/>
            <a:ext cx="6184973" cy="5915212"/>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content-5">
            <a:extLst xmlns:a="http://schemas.openxmlformats.org/drawingml/2006/main">
              <a:ext uri="{FF2B5EF4-FFF2-40B4-BE49-F238E27FC236}">
                <a16:creationId xmlns:a16="http://schemas.microsoft.com/office/drawing/2014/main" id="{2B5E0527-35C2-4E07-B344-5892B622FD11}"/>
              </a:ext>
            </a:extLst>
          </p:cNvPr>
          <p:cNvSpPr>
            <a:spLocks xmlns:a="http://schemas.openxmlformats.org/drawingml/2006/main" noGrp="1"/>
          </p:cNvSpPr>
          <p:nvPr/>
        </p:nvSpPr>
        <p:spPr>
          <a:xfrm xmlns:a="http://schemas.openxmlformats.org/drawingml/2006/main">
            <a:off x="666750" y="914400"/>
            <a:ext cx="4429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Table of contents</a:t>
            </a:r>
          </a:p>
        </p:txBody>
      </p:sp>
      <p:sp>
        <p:nvSpPr>
          <p:cNvPr id="20" name="content-6">
            <a:extLst xmlns:a="http://schemas.openxmlformats.org/drawingml/2006/main">
              <a:ext uri="{FF2B5EF4-FFF2-40B4-BE49-F238E27FC236}">
                <a16:creationId xmlns:a16="http://schemas.microsoft.com/office/drawing/2014/main" id="{6ABB727D-98C1-41B2-9160-2E2FE0454A83}"/>
              </a:ext>
            </a:extLst>
          </p:cNvPr>
          <p:cNvSpPr>
            <a:spLocks xmlns:a="http://schemas.openxmlformats.org/drawingml/2006/main" noGrp="1"/>
          </p:cNvSpPr>
          <p:nvPr/>
        </p:nvSpPr>
        <p:spPr>
          <a:xfrm xmlns:a="http://schemas.openxmlformats.org/drawingml/2006/main">
            <a:off x="723900" y="24288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000000"/>
                </a:solidFill>
                <a:latin typeface="Aptos"/>
                <a:ea typeface="Aptos"/>
                <a:cs typeface="Aptos"/>
              </a:defRPr>
            </a:defPPr>
          </a:lstStyle>
          <a:p xmlns:a="http://schemas.openxmlformats.org/drawingml/2006/main">
            <a:pPr>
              <a:buNone/>
              <a:defRPr sz="1875" b="0">
                <a:solidFill>
                  <a:srgbClr val="000000"/>
                </a:solidFill>
                <a:latin typeface="Aptos"/>
                <a:ea typeface="Aptos"/>
                <a:cs typeface="Aptos"/>
              </a:defRPr>
            </a:pPr>
            <a:r>
              <a:rPr sz="1875" b="0">
                <a:solidFill>
                  <a:srgbClr val="000000"/>
                </a:solidFill>
                <a:latin typeface="Aptos"/>
                <a:ea typeface="Aptos"/>
                <a:cs typeface="Aptos"/>
              </a:rPr>
              <a:t>Introduction</a:t>
            </a:r>
          </a:p>
        </p:txBody>
      </p:sp>
      <p:sp>
        <p:nvSpPr>
          <p:cNvPr id="21" name="content-7">
            <a:extLst xmlns:a="http://schemas.openxmlformats.org/drawingml/2006/main">
              <a:ext uri="{FF2B5EF4-FFF2-40B4-BE49-F238E27FC236}">
                <a16:creationId xmlns:a16="http://schemas.microsoft.com/office/drawing/2014/main" id="{98AC404A-E788-4E8F-B682-EB04ACDADE60}"/>
              </a:ext>
            </a:extLst>
          </p:cNvPr>
          <p:cNvSpPr>
            <a:spLocks xmlns:a="http://schemas.openxmlformats.org/drawingml/2006/main" noGrp="1"/>
          </p:cNvSpPr>
          <p:nvPr/>
        </p:nvSpPr>
        <p:spPr>
          <a:xfrm xmlns:a="http://schemas.openxmlformats.org/drawingml/2006/main">
            <a:off x="723900" y="28860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000000"/>
                </a:solidFill>
                <a:latin typeface="Aptos"/>
                <a:ea typeface="Aptos"/>
                <a:cs typeface="Aptos"/>
              </a:defRPr>
            </a:defPPr>
          </a:lstStyle>
          <a:p xmlns:a="http://schemas.openxmlformats.org/drawingml/2006/main">
            <a:pPr>
              <a:buNone/>
              <a:defRPr sz="1875" b="0">
                <a:solidFill>
                  <a:srgbClr val="000000"/>
                </a:solidFill>
                <a:latin typeface="Aptos"/>
                <a:ea typeface="Aptos"/>
                <a:cs typeface="Aptos"/>
              </a:defRPr>
            </a:pPr>
            <a:r>
              <a:rPr sz="1875" b="0">
                <a:solidFill>
                  <a:srgbClr val="000000"/>
                </a:solidFill>
                <a:latin typeface="Aptos"/>
                <a:ea typeface="Aptos"/>
                <a:cs typeface="Aptos"/>
              </a:rPr>
              <a:t>Mushroom: EDA and models</a:t>
            </a:r>
          </a:p>
        </p:txBody>
      </p:sp>
      <p:sp>
        <p:nvSpPr>
          <p:cNvPr id="22" name="content-8">
            <a:extLst xmlns:a="http://schemas.openxmlformats.org/drawingml/2006/main">
              <a:ext uri="{FF2B5EF4-FFF2-40B4-BE49-F238E27FC236}">
                <a16:creationId xmlns:a16="http://schemas.microsoft.com/office/drawing/2014/main" id="{EF5A7E78-6832-4ED4-95BA-66B009B5A91E}"/>
              </a:ext>
            </a:extLst>
          </p:cNvPr>
          <p:cNvSpPr>
            <a:spLocks xmlns:a="http://schemas.openxmlformats.org/drawingml/2006/main" noGrp="1"/>
          </p:cNvSpPr>
          <p:nvPr/>
        </p:nvSpPr>
        <p:spPr>
          <a:xfrm xmlns:a="http://schemas.openxmlformats.org/drawingml/2006/main">
            <a:off x="723900" y="33432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000000"/>
                </a:solidFill>
                <a:latin typeface="Aptos"/>
                <a:ea typeface="Aptos"/>
                <a:cs typeface="Aptos"/>
              </a:defRPr>
            </a:defPPr>
          </a:lstStyle>
          <a:p xmlns:a="http://schemas.openxmlformats.org/drawingml/2006/main">
            <a:pPr>
              <a:buNone/>
              <a:defRPr sz="1875" b="0">
                <a:solidFill>
                  <a:srgbClr val="000000"/>
                </a:solidFill>
                <a:latin typeface="Aptos"/>
                <a:ea typeface="Aptos"/>
                <a:cs typeface="Aptos"/>
              </a:defRPr>
            </a:pPr>
            <a:r>
              <a:rPr sz="1875" b="0">
                <a:solidFill>
                  <a:srgbClr val="000000"/>
                </a:solidFill>
                <a:latin typeface="Aptos"/>
                <a:ea typeface="Aptos"/>
                <a:cs typeface="Aptos"/>
              </a:rPr>
              <a:t>AWS training and tuning</a:t>
            </a:r>
          </a:p>
        </p:txBody>
      </p:sp>
      <p:sp>
        <p:nvSpPr>
          <p:cNvPr id="23" name="content-9">
            <a:extLst xmlns:a="http://schemas.openxmlformats.org/drawingml/2006/main">
              <a:ext uri="{FF2B5EF4-FFF2-40B4-BE49-F238E27FC236}">
                <a16:creationId xmlns:a16="http://schemas.microsoft.com/office/drawing/2014/main" id="{6B152EBC-4742-403C-89AA-D2DAB3266A76}"/>
              </a:ext>
            </a:extLst>
          </p:cNvPr>
          <p:cNvSpPr>
            <a:spLocks xmlns:a="http://schemas.openxmlformats.org/drawingml/2006/main" noGrp="1"/>
          </p:cNvSpPr>
          <p:nvPr/>
        </p:nvSpPr>
        <p:spPr>
          <a:xfrm xmlns:a="http://schemas.openxmlformats.org/drawingml/2006/main">
            <a:off x="723900" y="38004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000000"/>
                </a:solidFill>
                <a:latin typeface="Aptos"/>
                <a:ea typeface="Aptos"/>
                <a:cs typeface="Aptos"/>
              </a:defRPr>
            </a:defPPr>
          </a:lstStyle>
          <a:p xmlns:a="http://schemas.openxmlformats.org/drawingml/2006/main">
            <a:pPr>
              <a:buNone/>
              <a:defRPr sz="1875" b="0">
                <a:solidFill>
                  <a:srgbClr val="000000"/>
                </a:solidFill>
                <a:latin typeface="Aptos"/>
                <a:ea typeface="Aptos"/>
                <a:cs typeface="Aptos"/>
              </a:defRPr>
            </a:pPr>
            <a:r>
              <a:rPr sz="1875" b="0">
                <a:solidFill>
                  <a:srgbClr val="000000"/>
                </a:solidFill>
                <a:latin typeface="Aptos"/>
                <a:ea typeface="Aptos"/>
                <a:cs typeface="Aptos"/>
              </a:rPr>
              <a:t>Citi Bike: EDA and models</a:t>
            </a:r>
          </a:p>
        </p:txBody>
      </p:sp>
      <p:sp>
        <p:nvSpPr>
          <p:cNvPr id="24" name="content-10">
            <a:extLst xmlns:a="http://schemas.openxmlformats.org/drawingml/2006/main">
              <a:ext uri="{FF2B5EF4-FFF2-40B4-BE49-F238E27FC236}">
                <a16:creationId xmlns:a16="http://schemas.microsoft.com/office/drawing/2014/main" id="{2C870719-BFEF-4FE7-9B49-328232D64AC0}"/>
              </a:ext>
            </a:extLst>
          </p:cNvPr>
          <p:cNvSpPr>
            <a:spLocks xmlns:a="http://schemas.openxmlformats.org/drawingml/2006/main" noGrp="1"/>
          </p:cNvSpPr>
          <p:nvPr/>
        </p:nvSpPr>
        <p:spPr>
          <a:xfrm xmlns:a="http://schemas.openxmlformats.org/drawingml/2006/main">
            <a:off x="723900" y="42576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000000"/>
                </a:solidFill>
                <a:latin typeface="Aptos"/>
                <a:ea typeface="Aptos"/>
                <a:cs typeface="Aptos"/>
              </a:defRPr>
            </a:defPPr>
          </a:lstStyle>
          <a:p xmlns:a="http://schemas.openxmlformats.org/drawingml/2006/main">
            <a:pPr>
              <a:buNone/>
              <a:defRPr sz="1875" b="0">
                <a:solidFill>
                  <a:srgbClr val="000000"/>
                </a:solidFill>
                <a:latin typeface="Aptos"/>
                <a:ea typeface="Aptos"/>
                <a:cs typeface="Aptos"/>
              </a:defRPr>
            </a:pPr>
            <a:r>
              <a:rPr sz="1875" b="0">
                <a:solidFill>
                  <a:srgbClr val="000000"/>
                </a:solidFill>
                <a:latin typeface="Aptos"/>
                <a:ea typeface="Aptos"/>
                <a:cs typeface="Aptos"/>
              </a:rPr>
              <a:t>API, website and automation</a:t>
            </a:r>
          </a:p>
        </p:txBody>
      </p:sp>
      <p:sp>
        <p:nvSpPr>
          <p:cNvPr id="25" name="content-11">
            <a:extLst xmlns:a="http://schemas.openxmlformats.org/drawingml/2006/main">
              <a:ext uri="{FF2B5EF4-FFF2-40B4-BE49-F238E27FC236}">
                <a16:creationId xmlns:a16="http://schemas.microsoft.com/office/drawing/2014/main" id="{0B839305-FE36-4B26-80E9-E1F4BC808278}"/>
              </a:ext>
            </a:extLst>
          </p:cNvPr>
          <p:cNvSpPr>
            <a:spLocks xmlns:a="http://schemas.openxmlformats.org/drawingml/2006/main" noGrp="1"/>
          </p:cNvSpPr>
          <p:nvPr/>
        </p:nvSpPr>
        <p:spPr>
          <a:xfrm xmlns:a="http://schemas.openxmlformats.org/drawingml/2006/main">
            <a:off x="723900" y="47148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000000"/>
                </a:solidFill>
                <a:latin typeface="Aptos"/>
                <a:ea typeface="Aptos"/>
                <a:cs typeface="Aptos"/>
              </a:defRPr>
            </a:defPPr>
          </a:lstStyle>
          <a:p xmlns:a="http://schemas.openxmlformats.org/drawingml/2006/main">
            <a:pPr>
              <a:buNone/>
              <a:defRPr sz="1875" b="0">
                <a:solidFill>
                  <a:srgbClr val="000000"/>
                </a:solidFill>
                <a:latin typeface="Aptos"/>
                <a:ea typeface="Aptos"/>
                <a:cs typeface="Aptos"/>
              </a:defRPr>
            </a:pPr>
            <a:r>
              <a:rPr sz="1875" b="0">
                <a:solidFill>
                  <a:srgbClr val="000000"/>
                </a:solidFill>
                <a:latin typeface="Aptos"/>
                <a:ea typeface="Aptos"/>
                <a:cs typeface="Aptos"/>
              </a:rPr>
              <a:t>Conclusion and demo</a:t>
            </a:r>
          </a:p>
        </p:txBody>
      </p:sp>
      <p:pic>
        <p:nvPicPr>
          <p:cNvPr id="26" name="">
            <a:extLst xmlns:a="http://schemas.openxmlformats.org/drawingml/2006/main">
              <a:ext uri="{FF2B5EF4-FFF2-40B4-BE49-F238E27FC236}">
                <a16:creationId xmlns:a16="http://schemas.microsoft.com/office/drawing/2014/main" id="{23703B52-550F-49A8-B59D-A7CAD38599AC}"/>
              </a:ext>
            </a:extLst>
          </p:cNvPr>
          <p:cNvPicPr>
            <a:picLocks xmlns:a="http://schemas.openxmlformats.org/drawingml/2006/main" noChangeAspect="1"/>
          </p:cNvPicPr>
          <p:nvPr/>
        </p:nvPicPr>
        <p:blipFill>
          <a:blip xmlns:r="http://schemas.openxmlformats.org/officeDocument/2006/relationships" xmlns:a="http://schemas.openxmlformats.org/drawingml/2006/main" r:embed="Rd695453a00454ad8"/>
          <a:stretch xmlns:a="http://schemas.openxmlformats.org/drawingml/2006/main"/>
        </p:blipFill>
        <p:spPr>
          <a:xfrm xmlns:a="http://schemas.openxmlformats.org/drawingml/2006/main">
            <a:off x="6334125" y="1047750"/>
            <a:ext cx="2286000" cy="2286000"/>
          </a:xfrm>
          <a:prstGeom xmlns:a="http://schemas.openxmlformats.org/drawingml/2006/main" prst="rect">
            <a:avLst/>
          </a:prstGeom>
        </p:spPr>
      </p:pic>
      <p:pic>
        <p:nvPicPr>
          <p:cNvPr id="27" name="">
            <a:extLst xmlns:a="http://schemas.openxmlformats.org/drawingml/2006/main">
              <a:ext uri="{FF2B5EF4-FFF2-40B4-BE49-F238E27FC236}">
                <a16:creationId xmlns:a16="http://schemas.microsoft.com/office/drawing/2014/main" id="{8087B358-0FC7-4BBE-BE37-768B923F4DF9}"/>
              </a:ext>
            </a:extLst>
          </p:cNvPr>
          <p:cNvPicPr>
            <a:picLocks xmlns:a="http://schemas.openxmlformats.org/drawingml/2006/main" noChangeAspect="1"/>
          </p:cNvPicPr>
          <p:nvPr/>
        </p:nvPicPr>
        <p:blipFill>
          <a:blip xmlns:r="http://schemas.openxmlformats.org/officeDocument/2006/relationships" xmlns:a="http://schemas.openxmlformats.org/drawingml/2006/main" r:embed="Rbf9d5c2c14b945c6"/>
          <a:stretch xmlns:a="http://schemas.openxmlformats.org/drawingml/2006/main"/>
        </p:blipFill>
        <p:spPr>
          <a:xfrm xmlns:a="http://schemas.openxmlformats.org/drawingml/2006/main">
            <a:off x="8596313" y="3381375"/>
            <a:ext cx="2571750" cy="2571750"/>
          </a:xfrm>
          <a:prstGeom xmlns:a="http://schemas.openxmlformats.org/drawingml/2006/main" prst="rect">
            <a:avLst/>
          </a:prstGeom>
        </p:spPr>
      </p:pic>
    </p:spTree>
    <p:extLst>
      <p:ext uri="{BB962C8B-B14F-4D97-AF65-F5344CB8AC3E}">
        <p14:creationId xmlns:p14="http://schemas.microsoft.com/office/powerpoint/2010/main" val="2887659951"/>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useBgFill="1">
        <p:nvSpPr>
          <p:cNvPr id="17" name="Rectangle 16">
            <a:extLst>
              <a:ext uri="{FF2B5EF4-FFF2-40B4-BE49-F238E27FC236}">
                <ns2:creationId id="{524E9777-DF7E-45E5-B387-86C306DA64AB}"/>
              </a:ext>
            </a:extLst>
          </p:cNvPr>
          <p:cNvSpPr>
            <a:spLocks noGrp="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Rectangle 18">
            <a:extLst>
              <a:ext uri="{FF2B5EF4-FFF2-40B4-BE49-F238E27FC236}">
                <ns2:creationId id="{90464369-70FA-42AF-948F-80664CA7BFE5}"/>
              </a:ext>
            </a:extLst>
          </p:cNvPr>
          <p:cNvSpPr>
            <a:spLocks noGrp="1"/>
          </p:cNvSpPr>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el 1">
            <a:extLst>
              <a:ext uri="{FF2B5EF4-FFF2-40B4-BE49-F238E27FC236}">
                <ns2:creationId id="{5CDD633E-700B-64B4-449A-C81426CCA393}"/>
              </a:ext>
            </a:extLst>
          </p:cNvPr>
          <p:cNvSpPr>
            <a:spLocks noGrp="1"/>
          </p:cNvSpPr>
          <p:nvPr>
            <p:ph type="title" idx="0"/>
          </p:nvPr>
        </p:nvSpPr>
        <p:spPr>
          <a:xfrm>
            <a:off x="581646" y="573896"/>
            <a:ext cx="3639746" cy="1414145"/>
          </a:xfrm>
        </p:spPr>
        <p:txBody>
          <a:bodyPr anchor="b">
            <a:normAutofit/>
          </a:bodyPr>
          <a:lstStyle/>
          <a:p>
            <a:r>
              <a:rPr sz="3600"/>
              <a:t>Team 10</a:t>
            </a:r>
            <a:endParaRPr sz="3600"/>
          </a:p>
        </p:txBody>
      </p:sp>
      <p:sp>
        <p:nvSpPr>
          <p:cNvPr id="3" name="Tijdelijke aanduiding voor inhoud 2">
            <a:extLst>
              <a:ext uri="{FF2B5EF4-FFF2-40B4-BE49-F238E27FC236}">
                <ns2:creationId id="{11624857-CF52-1B85-A97F-31F834DE85FF}"/>
              </a:ext>
            </a:extLst>
          </p:cNvPr>
          <p:cNvSpPr>
            <a:spLocks noGrp="1"/>
          </p:cNvSpPr>
          <p:nvPr>
            <p:ph idx="1"/>
          </p:nvPr>
        </p:nvSpPr>
        <p:spPr>
          <a:xfrm>
            <a:off x="587987" y="2620641"/>
            <a:ext cx="3634877" cy="3023702"/>
          </a:xfrm>
        </p:spPr>
        <p:txBody>
          <a:bodyPr anchor="ctr">
            <a:normAutofit/>
          </a:bodyPr>
          <a:lstStyle/>
          <a:p>
            <a:r>
              <a:rPr sz="1800"/>
              <a:t>Raoul Buffels</a:t>
            </a:r>
          </a:p>
          <a:p>
            <a:r>
              <a:rPr sz="1800"/>
              <a:t>Jorre</a:t>
            </a:r>
            <a:r>
              <a:rPr sz="1800"/>
              <a:t> Van </a:t>
            </a:r>
            <a:r>
              <a:rPr sz="1800"/>
              <a:t>Dyck</a:t>
            </a:r>
            <a:endParaRPr sz="1800"/>
          </a:p>
          <a:p>
            <a:r>
              <a:rPr sz="1800"/>
              <a:t>Andrew Noeyens</a:t>
            </a:r>
          </a:p>
          <a:p>
            <a:r>
              <a:rPr sz="1800"/>
              <a:t>Milan Wouters</a:t>
            </a:r>
            <a:endParaRPr sz="1800"/>
          </a:p>
        </p:txBody>
      </p:sp>
      <p:sp>
        <p:nvSpPr>
          <p:cNvPr id="21" name="Rectangle 20">
            <a:extLst>
              <a:ext uri="{FF2B5EF4-FFF2-40B4-BE49-F238E27FC236}">
                <ns2:creationId id="{A6604B49-AD5C-4590-B051-06C8222ECD99}"/>
              </a:ext>
            </a:extLst>
          </p:cNvPr>
          <p:cNvSpPr>
            <a:spLocks noGrp="1"/>
          </p:cNvSpPr>
          <p:nvPr/>
        </p:nvSpPr>
        <p:spPr>
          <a:xfrm rot="16200000" flipH="1">
            <a:off x="5669568"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Rectangle 22">
            <a:extLst>
              <a:ext uri="{FF2B5EF4-FFF2-40B4-BE49-F238E27FC236}">
                <ns2:creationId id="{A648176E-454C-437C-B0FC-9B82FCF32B24}"/>
              </a:ext>
            </a:extLst>
          </p:cNvPr>
          <p:cNvSpPr>
            <a:spLocks noGrp="1"/>
          </p:cNvSpPr>
          <p:nvPr/>
        </p:nvSpPr>
        <p:spPr>
          <a:xfrm rot="5400000">
            <a:off x="11771105"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 name="Rectangle 24">
            <a:extLst>
              <a:ext uri="{FF2B5EF4-FFF2-40B4-BE49-F238E27FC236}">
                <ns2:creationId id="{4335D5A6-AB7A-4677-8D44-034515D66C4B}"/>
              </a:ext>
            </a:extLst>
          </p:cNvPr>
          <p:cNvSpPr>
            <a:spLocks noGrp="1"/>
          </p:cNvSpPr>
          <p:nvPr/>
        </p:nvSpPr>
        <p:spPr>
          <a:xfrm>
            <a:off x="4804757" y="703666"/>
            <a:ext cx="7168911" cy="563811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8" name="Afbeelding 7">
            <a:extLst>
              <a:ext uri="{FF2B5EF4-FFF2-40B4-BE49-F238E27FC236}">
                <ns2:creationId id="{2D33DD7A-3AD2-41CC-959F-8646596DE537}"/>
              </a:ext>
            </a:extLst>
          </p:cNvPr>
          <p:cNvPicPr>
            <a:picLocks noChangeAspect="1"/>
          </p:cNvPicPr>
          <p:nvPr/>
        </p:nvPicPr>
        <p:blipFill>
          <a:blip r:embed="Rb12b8a73e55d4fbb"/>
          <a:stretch>
            <a:fillRect l="0" t="0" r="0" b="0"/>
          </a:stretch>
        </p:blipFill>
        <p:spPr>
          <a:xfrm>
            <a:off x="5943173" y="650786"/>
            <a:ext cx="2379748" cy="2379748"/>
          </a:xfrm>
          <a:prstGeom prst="rect">
            <a:avLst/>
          </a:prstGeom>
          <a:ln>
            <a:noFill/>
          </a:ln>
          <a:effectLst>
            <a:outerShdw blurRad="292100" dist="139700" dir="2700000" algn="tl" rotWithShape="0">
              <a:srgbClr val="333333">
                <a:alpha val="65000"/>
              </a:srgbClr>
            </a:outerShdw>
          </a:effectLst>
        </p:spPr>
      </p:pic>
      <p:pic>
        <p:nvPicPr>
          <p:cNvPr id="6" name="Afbeelding 5">
            <a:extLst>
              <a:ext uri="{FF2B5EF4-FFF2-40B4-BE49-F238E27FC236}">
                <ns2:creationId id="{8CCB430F-AB2D-4A9D-981F-C4B7C8A4D100}"/>
              </a:ext>
            </a:extLst>
          </p:cNvPr>
          <p:cNvPicPr>
            <a:picLocks noChangeAspect="1"/>
          </p:cNvPicPr>
          <p:nvPr/>
        </p:nvPicPr>
        <p:blipFill>
          <a:blip r:embed="Rb12b8a73e55d4fbb"/>
          <a:stretch>
            <a:fillRect l="0" t="0" r="0" b="0"/>
          </a:stretch>
        </p:blipFill>
        <p:spPr>
          <a:xfrm>
            <a:off x="8322921" y="3437775"/>
            <a:ext cx="2379748" cy="2379748"/>
          </a:xfrm>
          <a:prstGeom prst="rect">
            <a:avLst/>
          </a:prstGeom>
          <a:ln>
            <a:noFill/>
          </a:ln>
          <a:effectLst>
            <a:outerShdw blurRad="292100" dist="139700" dir="2700000" algn="tl" rotWithShape="0">
              <a:srgbClr val="333333">
                <a:alpha val="65000"/>
              </a:srgbClr>
            </a:outerShdw>
          </a:effectLst>
        </p:spPr>
      </p:pic>
      <p:pic>
        <p:nvPicPr>
          <p:cNvPr id="10" name="Afbeelding 9">
            <a:extLst>
              <a:ext uri="{FF2B5EF4-FFF2-40B4-BE49-F238E27FC236}">
                <ns2:creationId id="{CE02806E-4A9A-4D8F-9445-D46D233D9AA6}"/>
              </a:ext>
            </a:extLst>
          </p:cNvPr>
          <p:cNvPicPr>
            <a:picLocks noChangeAspect="1"/>
          </p:cNvPicPr>
          <p:nvPr/>
        </p:nvPicPr>
        <p:blipFill>
          <a:blip r:embed="rIdProvidedTeamPhoto"/>
          <a:srcRect l="35000" t="4000" r="25000" b="24889"/>
          <a:stretch>
            <a:fillRect l="0" t="0" r="0" b="0"/>
          </a:stretch>
        </p:blipFill>
        <p:spPr>
          <a:xfrm>
            <a:off x="8958420" y="672397"/>
            <a:ext cx="2379748" cy="2379748"/>
          </a:xfrm>
          <a:prstGeom prst="rect">
            <a:avLst/>
          </a:prstGeom>
          <a:ln>
            <a:noFill/>
          </a:ln>
          <a:effectLst>
            <a:outerShdw blurRad="292100" dist="139700" dir="2700000" algn="tl" rotWithShape="0">
              <a:srgbClr val="333333">
                <a:alpha val="65000"/>
              </a:srgbClr>
            </a:outerShdw>
          </a:effectLst>
        </p:spPr>
      </p:pic>
      <p:pic>
        <p:nvPicPr>
          <p:cNvPr id="12" name="Afbeelding 11">
            <a:extLst>
              <a:ext uri="{FF2B5EF4-FFF2-40B4-BE49-F238E27FC236}">
                <ns2:creationId id="{91E0BDD3-F91A-480E-B685-557A504FBBA5}"/>
              </a:ext>
            </a:extLst>
          </p:cNvPr>
          <p:cNvPicPr>
            <a:picLocks noChangeAspect="1"/>
          </p:cNvPicPr>
          <p:nvPr/>
        </p:nvPicPr>
        <p:blipFill>
          <a:blip r:embed="Rf3f1c383a6604897"/>
          <a:stretch>
            <a:fillRect l="0" t="0" r="0" b="0"/>
          </a:stretch>
        </p:blipFill>
        <p:spPr>
          <a:xfrm>
            <a:off x="5334469" y="3416163"/>
            <a:ext cx="2379748" cy="2379748"/>
          </a:xfrm>
          <a:prstGeom prst="rect">
            <a:avLst/>
          </a:prstGeom>
          <a:ln>
            <a:noFill/>
          </a:ln>
          <a:effectLst>
            <a:outerShdw blurRad="292100" dist="139700" dir="2700000" algn="tl" rotWithShape="0">
              <a:srgbClr val="333333">
                <a:alpha val="65000"/>
              </a:srgbClr>
            </a:outerShdw>
          </a:effectLst>
        </p:spPr>
      </p:pic>
      <p:sp>
        <p:nvSpPr>
          <p:cNvPr id="26" name="jorre-credit-title">
            <a:extLst>
              <a:ext uri="{FF2B5EF4-FFF2-40B4-BE49-F238E27FC236}">
                <ns2:creationId id="{88781705-A0BF-466F-80EA-EF69C07E76BF}"/>
              </a:ext>
            </a:extLst>
          </p:cNvPr>
          <p:cNvSpPr>
            <a:spLocks noGrp="1"/>
          </p:cNvSpPr>
          <p:nvPr/>
        </p:nvSpPr>
        <p:spPr>
          <a:xfrm>
            <a:off x="666750" y="4953000"/>
            <a:ext cx="4095750" cy="333375"/>
          </a:xfrm>
          <a:prstGeom prst="rect">
            <a:avLst/>
          </a:prstGeom>
          <a:noFill/>
          <a:ln w="0">
            <a:noFill/>
          </a:ln>
        </p:spPr>
        <p:txBody>
          <a:bodyPr lIns="0" tIns="0" rIns="0" bIns="0"/>
          <a:lstStyle>
            <a:defPPr>
              <a:defRPr sz="1800" b="1">
                <a:solidFill>
                  <a:srgbClr val="000000"/>
                </a:solidFill>
                <a:latin typeface="Aptos"/>
                <a:ea typeface="Aptos"/>
                <a:cs typeface="Aptos"/>
              </a:defRPr>
            </a:defPPr>
          </a:lstStyle>
          <a:p>
            <a:pPr>
              <a:defRPr sz="1800" b="1">
                <a:solidFill>
                  <a:srgbClr val="000000"/>
                </a:solidFill>
                <a:latin typeface="Aptos"/>
                <a:ea typeface="Aptos"/>
                <a:cs typeface="Aptos"/>
              </a:defRPr>
            </a:pPr>
            <a:r>
              <a:rPr sz="1800" b="1">
                <a:solidFill>
                  <a:srgbClr val="000000"/>
                </a:solidFill>
                <a:latin typeface="Aptos"/>
                <a:ea typeface="Aptos"/>
                <a:cs typeface="Aptos"/>
              </a:rPr>
              <a:t>Bijdrage Jorre</a:t>
            </a:r>
          </a:p>
        </p:txBody>
      </p:sp>
      <p:sp>
        <p:nvSpPr>
          <p:cNvPr id="27" name="jorre-credit-body">
            <a:extLst>
              <a:ext uri="{FF2B5EF4-FFF2-40B4-BE49-F238E27FC236}">
                <ns2:creationId id="{E41E023E-D47A-498B-B171-1957E80CADCD}"/>
              </a:ext>
            </a:extLst>
          </p:cNvPr>
          <p:cNvSpPr>
            <a:spLocks noGrp="1"/>
          </p:cNvSpPr>
          <p:nvPr/>
        </p:nvSpPr>
        <p:spPr>
          <a:xfrm>
            <a:off x="666750" y="5334000"/>
            <a:ext cx="4095750" cy="619125"/>
          </a:xfrm>
          <a:prstGeom prst="rect">
            <a:avLst/>
          </a:prstGeom>
          <a:noFill/>
          <a:ln w="0">
            <a:noFill/>
          </a:ln>
        </p:spPr>
        <p:txBody>
          <a:bodyPr lIns="0" tIns="0" rIns="0" bIns="0"/>
          <a:lstStyle>
            <a:defPPr>
              <a:defRPr sz="1725" b="0">
                <a:solidFill>
                  <a:srgbClr val="000000"/>
                </a:solidFill>
                <a:latin typeface="Aptos"/>
                <a:ea typeface="Aptos"/>
                <a:cs typeface="Aptos"/>
              </a:defRPr>
            </a:defPPr>
          </a:lstStyle>
          <a:p>
            <a:pPr>
              <a:defRPr sz="1725" b="0">
                <a:solidFill>
                  <a:srgbClr val="000000"/>
                </a:solidFill>
                <a:latin typeface="Aptos"/>
                <a:ea typeface="Aptos"/>
                <a:cs typeface="Aptos"/>
              </a:defRPr>
            </a:pPr>
            <a:r>
              <a:rPr sz="1725" b="0">
                <a:solidFill>
                  <a:srgbClr val="000000"/>
                </a:solidFill>
                <a:latin typeface="Aptos"/>
                <a:ea typeface="Aptos"/>
                <a:cs typeface="Aptos"/>
              </a:rPr>
              <a:t>Pipeline, backend en UI</a:t>
            </a:r>
          </a:p>
          <a:p>
            <a:pPr>
              <a:defRPr sz="1725" b="0">
                <a:solidFill>
                  <a:srgbClr val="000000"/>
                </a:solidFill>
                <a:latin typeface="Aptos"/>
                <a:ea typeface="Aptos"/>
                <a:cs typeface="Aptos"/>
              </a:defRPr>
            </a:pPr>
            <a:r>
              <a:rPr sz="1725" b="0">
                <a:solidFill>
                  <a:srgbClr val="000000"/>
                </a:solidFill>
                <a:latin typeface="Aptos"/>
                <a:ea typeface="Aptos"/>
                <a:cs typeface="Aptos"/>
              </a:rPr>
              <a:t>AWS-model getraind (SageMaker)</a:t>
            </a:r>
          </a:p>
        </p:txBody>
      </p:sp>
    </p:spTree>
    <p:extLst>
      <p:ext uri="{BB962C8B-B14F-4D97-AF65-F5344CB8AC3E}">
        <ns4:creationId val="39799661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useBgFill="1">
        <p:nvSpPr>
          <p:cNvPr id="25" name="Rectangle 24">
            <a:extLst xmlns:a="http://schemas.openxmlformats.org/drawingml/2006/main">
              <a:ext uri="{FF2B5EF4-FFF2-40B4-BE49-F238E27FC236}">
                <a16:creationId xmlns:a16="http://schemas.microsoft.com/office/drawing/2014/main" id="{AAAE94E3-A7DB-4868-B1E3-E49703488BBC}"/>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Rectangle 27">
            <a:extLst xmlns:a="http://schemas.openxmlformats.org/drawingml/2006/main">
              <a:ext uri="{FF2B5EF4-FFF2-40B4-BE49-F238E27FC236}">
                <a16:creationId xmlns:a16="http://schemas.microsoft.com/office/drawing/2014/main" id="{F399A70F-F8CD-4992-9EF5-6CF15472E73F}"/>
              </a:ext>
            </a:extLst>
          </p:cNvPr>
          <p:cNvSpPr>
            <a:spLocks xmlns:a="http://schemas.openxmlformats.org/drawingml/2006/main" noGrp="1"/>
          </p:cNvSpPr>
          <p:nvPr/>
        </p:nvSpPr>
        <p:spPr>
          <a:xfrm xmlns:a="http://schemas.openxmlformats.org/drawingml/2006/main" rot="0" flipH="0" flipV="0">
            <a:off x="0" y="1083484"/>
            <a:ext cx="87363" cy="67346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Rectangle 28">
            <a:extLst xmlns:a="http://schemas.openxmlformats.org/drawingml/2006/main">
              <a:ext uri="{FF2B5EF4-FFF2-40B4-BE49-F238E27FC236}">
                <a16:creationId xmlns:a16="http://schemas.microsoft.com/office/drawing/2014/main" id="{48F4FEDC-6D80-458C-A665-075D9B9500FD}"/>
              </a:ext>
            </a:extLst>
          </p:cNvPr>
          <p:cNvSpPr>
            <a:spLocks xmlns:a="http://schemas.openxmlformats.org/drawingml/2006/main" noGrp="1"/>
          </p:cNvSpPr>
          <p:nvPr/>
        </p:nvSpPr>
        <p:spPr>
          <a:xfrm xmlns:a="http://schemas.openxmlformats.org/drawingml/2006/main" rot="0" flipH="0" flipV="0">
            <a:off x="159341" y="1083484"/>
            <a:ext cx="195855" cy="67346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Rectangle 30">
            <a:extLst xmlns:a="http://schemas.openxmlformats.org/drawingml/2006/main">
              <a:ext uri="{FF2B5EF4-FFF2-40B4-BE49-F238E27FC236}">
                <a16:creationId xmlns:a16="http://schemas.microsoft.com/office/drawing/2014/main" id="{3873B707-463F-40B0-8227-E8CC6C67EB25}"/>
              </a:ext>
            </a:extLst>
          </p:cNvPr>
          <p:cNvSpPr>
            <a:spLocks xmlns:a="http://schemas.openxmlformats.org/drawingml/2006/main" noGrp="1"/>
          </p:cNvSpPr>
          <p:nvPr/>
        </p:nvSpPr>
        <p:spPr>
          <a:xfrm xmlns:a="http://schemas.openxmlformats.org/drawingml/2006/main" flipH="1">
            <a:off x="665085" y="2123821"/>
            <a:ext cx="4975066" cy="2743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Rectangle 32">
            <a:extLst xmlns:a="http://schemas.openxmlformats.org/drawingml/2006/main">
              <a:ext uri="{FF2B5EF4-FFF2-40B4-BE49-F238E27FC236}">
                <a16:creationId xmlns:a16="http://schemas.microsoft.com/office/drawing/2014/main" id="{C13237C8-E62C-4F0D-A318-BD6FB6C2D138}"/>
              </a:ext>
            </a:extLst>
          </p:cNvPr>
          <p:cNvSpPr>
            <a:spLocks xmlns:a="http://schemas.openxmlformats.org/drawingml/2006/main" noGrp="1"/>
          </p:cNvSpPr>
          <p:nvPr/>
        </p:nvSpPr>
        <p:spPr>
          <a:xfrm xmlns:a="http://schemas.openxmlformats.org/drawingml/2006/main" flipH="1">
            <a:off x="10697670" y="0"/>
            <a:ext cx="1494330" cy="685800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Rectangle 34">
            <a:extLst xmlns:a="http://schemas.openxmlformats.org/drawingml/2006/main">
              <a:ext uri="{FF2B5EF4-FFF2-40B4-BE49-F238E27FC236}">
                <a16:creationId xmlns:a16="http://schemas.microsoft.com/office/drawing/2014/main" id="{19C9EAEA-39D0-4B0E-A0EB-51E7B26740B1}"/>
              </a:ext>
            </a:extLst>
          </p:cNvPr>
          <p:cNvSpPr>
            <a:spLocks xmlns:a="http://schemas.openxmlformats.org/drawingml/2006/main" noGrp="1"/>
          </p:cNvSpPr>
          <p:nvPr/>
        </p:nvSpPr>
        <p:spPr>
          <a:xfrm xmlns:a="http://schemas.openxmlformats.org/drawingml/2006/main">
            <a:off x="6849687" y="357447"/>
            <a:ext cx="4845488" cy="2923587"/>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Rectangle 36">
            <a:extLst xmlns:a="http://schemas.openxmlformats.org/drawingml/2006/main">
              <a:ext uri="{FF2B5EF4-FFF2-40B4-BE49-F238E27FC236}">
                <a16:creationId xmlns:a16="http://schemas.microsoft.com/office/drawing/2014/main" id="{8CB5D2D7-DF65-4E86-BFBA-FFB9B5ACEB64}"/>
              </a:ext>
            </a:extLst>
          </p:cNvPr>
          <p:cNvSpPr>
            <a:spLocks xmlns:a="http://schemas.openxmlformats.org/drawingml/2006/main" noGrp="1"/>
          </p:cNvSpPr>
          <p:nvPr/>
        </p:nvSpPr>
        <p:spPr>
          <a:xfrm xmlns:a="http://schemas.openxmlformats.org/drawingml/2006/main">
            <a:off x="6849687" y="3505479"/>
            <a:ext cx="4845488" cy="2923587"/>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content-7">
            <a:extLst xmlns:a="http://schemas.openxmlformats.org/drawingml/2006/main">
              <a:ext uri="{FF2B5EF4-FFF2-40B4-BE49-F238E27FC236}">
                <a16:creationId xmlns:a16="http://schemas.microsoft.com/office/drawing/2014/main" id="{5D449489-833D-46A0-91A6-67ED26C906A7}"/>
              </a:ext>
            </a:extLst>
          </p:cNvPr>
          <p:cNvSpPr>
            <a:spLocks xmlns:a="http://schemas.openxmlformats.org/drawingml/2006/main" noGrp="1"/>
          </p:cNvSpPr>
          <p:nvPr/>
        </p:nvSpPr>
        <p:spPr>
          <a:xfrm xmlns:a="http://schemas.openxmlformats.org/drawingml/2006/main">
            <a:off x="666750" y="914400"/>
            <a:ext cx="4429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Mushroom Challenge</a:t>
            </a:r>
          </a:p>
        </p:txBody>
      </p:sp>
      <p:sp>
        <p:nvSpPr>
          <p:cNvPr id="39" name="content-8">
            <a:extLst xmlns:a="http://schemas.openxmlformats.org/drawingml/2006/main">
              <a:ext uri="{FF2B5EF4-FFF2-40B4-BE49-F238E27FC236}">
                <a16:creationId xmlns:a16="http://schemas.microsoft.com/office/drawing/2014/main" id="{501BEBF2-ECE6-4810-B030-DFC5C3CEAD6B}"/>
              </a:ext>
            </a:extLst>
          </p:cNvPr>
          <p:cNvSpPr>
            <a:spLocks xmlns:a="http://schemas.openxmlformats.org/drawingml/2006/main" noGrp="1"/>
          </p:cNvSpPr>
          <p:nvPr/>
        </p:nvSpPr>
        <p:spPr>
          <a:xfrm xmlns:a="http://schemas.openxmlformats.org/drawingml/2006/main">
            <a:off x="666750" y="28194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5,000 course records</a:t>
            </a:r>
          </a:p>
        </p:txBody>
      </p:sp>
      <p:sp>
        <p:nvSpPr>
          <p:cNvPr id="40" name="content-9">
            <a:extLst xmlns:a="http://schemas.openxmlformats.org/drawingml/2006/main">
              <a:ext uri="{FF2B5EF4-FFF2-40B4-BE49-F238E27FC236}">
                <a16:creationId xmlns:a16="http://schemas.microsoft.com/office/drawing/2014/main" id="{C42DF576-629B-4E41-9D1A-390DCFCC33DA}"/>
              </a:ext>
            </a:extLst>
          </p:cNvPr>
          <p:cNvSpPr>
            <a:spLocks xmlns:a="http://schemas.openxmlformats.org/drawingml/2006/main" noGrp="1"/>
          </p:cNvSpPr>
          <p:nvPr/>
        </p:nvSpPr>
        <p:spPr>
          <a:xfrm xmlns:a="http://schemas.openxmlformats.org/drawingml/2006/main">
            <a:off x="666750" y="35052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Target: edible (e) / poisonous (p)</a:t>
            </a:r>
          </a:p>
        </p:txBody>
      </p:sp>
      <p:sp>
        <p:nvSpPr>
          <p:cNvPr id="41" name="content-10">
            <a:extLst xmlns:a="http://schemas.openxmlformats.org/drawingml/2006/main">
              <a:ext uri="{FF2B5EF4-FFF2-40B4-BE49-F238E27FC236}">
                <a16:creationId xmlns:a16="http://schemas.microsoft.com/office/drawing/2014/main" id="{62FE09E7-E240-488F-8B2A-4EEB040D8133}"/>
              </a:ext>
            </a:extLst>
          </p:cNvPr>
          <p:cNvSpPr>
            <a:spLocks xmlns:a="http://schemas.openxmlformats.org/drawingml/2006/main" noGrp="1"/>
          </p:cNvSpPr>
          <p:nvPr/>
        </p:nvSpPr>
        <p:spPr>
          <a:xfrm xmlns:a="http://schemas.openxmlformats.org/drawingml/2006/main">
            <a:off x="666750" y="41910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11 input features</a:t>
            </a:r>
          </a:p>
        </p:txBody>
      </p:sp>
      <p:sp>
        <p:nvSpPr>
          <p:cNvPr id="42" name="content-11">
            <a:extLst xmlns:a="http://schemas.openxmlformats.org/drawingml/2006/main">
              <a:ext uri="{FF2B5EF4-FFF2-40B4-BE49-F238E27FC236}">
                <a16:creationId xmlns:a16="http://schemas.microsoft.com/office/drawing/2014/main" id="{4DF0CC83-A693-43D5-A69B-7FDE6484E4E3}"/>
              </a:ext>
            </a:extLst>
          </p:cNvPr>
          <p:cNvSpPr>
            <a:spLocks xmlns:a="http://schemas.openxmlformats.org/drawingml/2006/main" noGrp="1"/>
          </p:cNvSpPr>
          <p:nvPr/>
        </p:nvSpPr>
        <p:spPr>
          <a:xfrm xmlns:a="http://schemas.openxmlformats.org/drawingml/2006/main">
            <a:off x="666750" y="487680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jumbled_noise_0 removed</a:t>
            </a:r>
          </a:p>
        </p:txBody>
      </p:sp>
      <p:pic>
        <p:nvPicPr>
          <p:cNvPr id="43" name="">
            <a:extLst xmlns:a="http://schemas.openxmlformats.org/drawingml/2006/main">
              <a:ext uri="{FF2B5EF4-FFF2-40B4-BE49-F238E27FC236}">
                <a16:creationId xmlns:a16="http://schemas.microsoft.com/office/drawing/2014/main" id="{8A23B272-7709-4A28-ADAA-396DE4049C36}"/>
              </a:ext>
            </a:extLst>
          </p:cNvPr>
          <p:cNvPicPr>
            <a:picLocks xmlns:a="http://schemas.openxmlformats.org/drawingml/2006/main" noChangeAspect="1"/>
          </p:cNvPicPr>
          <p:nvPr/>
        </p:nvPicPr>
        <p:blipFill>
          <a:blip xmlns:r="http://schemas.openxmlformats.org/officeDocument/2006/relationships" xmlns:a="http://schemas.openxmlformats.org/drawingml/2006/main" r:embed="R0770a0c184a041db"/>
          <a:stretch xmlns:a="http://schemas.openxmlformats.org/drawingml/2006/main"/>
        </p:blipFill>
        <p:spPr>
          <a:xfrm xmlns:a="http://schemas.openxmlformats.org/drawingml/2006/main">
            <a:off x="7929563" y="571500"/>
            <a:ext cx="2524125" cy="2524125"/>
          </a:xfrm>
          <a:prstGeom xmlns:a="http://schemas.openxmlformats.org/drawingml/2006/main" prst="rect">
            <a:avLst/>
          </a:prstGeom>
        </p:spPr>
      </p:pic>
      <p:pic>
        <p:nvPicPr>
          <p:cNvPr id="44" name="">
            <a:extLst xmlns:a="http://schemas.openxmlformats.org/drawingml/2006/main">
              <a:ext uri="{FF2B5EF4-FFF2-40B4-BE49-F238E27FC236}">
                <a16:creationId xmlns:a16="http://schemas.microsoft.com/office/drawing/2014/main" id="{A4A9C1BC-359A-4B0F-A4A0-E45B39A33C3E}"/>
              </a:ext>
            </a:extLst>
          </p:cNvPr>
          <p:cNvPicPr>
            <a:picLocks xmlns:a="http://schemas.openxmlformats.org/drawingml/2006/main" noChangeAspect="1"/>
          </p:cNvPicPr>
          <p:nvPr/>
        </p:nvPicPr>
        <p:blipFill>
          <a:blip xmlns:r="http://schemas.openxmlformats.org/officeDocument/2006/relationships" xmlns:a="http://schemas.openxmlformats.org/drawingml/2006/main" r:embed="R5c35e6b5f03f494f"/>
          <a:stretch xmlns:a="http://schemas.openxmlformats.org/drawingml/2006/main"/>
        </p:blipFill>
        <p:spPr>
          <a:xfrm xmlns:a="http://schemas.openxmlformats.org/drawingml/2006/main">
            <a:off x="7953375" y="3714750"/>
            <a:ext cx="2476500" cy="2476500"/>
          </a:xfrm>
          <a:prstGeom xmlns:a="http://schemas.openxmlformats.org/drawingml/2006/main" prst="rect">
            <a:avLst/>
          </a:prstGeom>
        </p:spPr>
      </p:pic>
    </p:spTree>
    <p:extLst>
      <p:ext uri="{BB962C8B-B14F-4D97-AF65-F5344CB8AC3E}">
        <p14:creationId xmlns:p14="http://schemas.microsoft.com/office/powerpoint/2010/main" val="3333968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useBgFill="1">
        <p:nvSpPr>
          <p:cNvPr id="37" name="Rectangle 36">
            <a:extLst xmlns:a="http://schemas.openxmlformats.org/drawingml/2006/main">
              <a:ext uri="{FF2B5EF4-FFF2-40B4-BE49-F238E27FC236}">
                <a16:creationId xmlns:a16="http://schemas.microsoft.com/office/drawing/2014/main" id="{201CC55D-ED54-4C5C-95E6-10947BD1103B}"/>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Rectangle 39">
            <a:extLst xmlns:a="http://schemas.openxmlformats.org/drawingml/2006/main">
              <a:ext uri="{FF2B5EF4-FFF2-40B4-BE49-F238E27FC236}">
                <a16:creationId xmlns:a16="http://schemas.microsoft.com/office/drawing/2014/main" id="{F399A70F-F8CD-4992-9EF5-6CF15472E73F}"/>
              </a:ext>
            </a:extLst>
          </p:cNvPr>
          <p:cNvSpPr>
            <a:spLocks xmlns:a="http://schemas.openxmlformats.org/drawingml/2006/main" noGrp="1"/>
          </p:cNvSpPr>
          <p:nvPr/>
        </p:nvSpPr>
        <p:spPr>
          <a:xfrm xmlns:a="http://schemas.openxmlformats.org/drawingml/2006/main" rot="0" flipH="0" flipV="0">
            <a:off x="0" y="1083484"/>
            <a:ext cx="87363" cy="67346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Rectangle 40">
            <a:extLst xmlns:a="http://schemas.openxmlformats.org/drawingml/2006/main">
              <a:ext uri="{FF2B5EF4-FFF2-40B4-BE49-F238E27FC236}">
                <a16:creationId xmlns:a16="http://schemas.microsoft.com/office/drawing/2014/main" id="{48F4FEDC-6D80-458C-A665-075D9B9500FD}"/>
              </a:ext>
            </a:extLst>
          </p:cNvPr>
          <p:cNvSpPr>
            <a:spLocks xmlns:a="http://schemas.openxmlformats.org/drawingml/2006/main" noGrp="1"/>
          </p:cNvSpPr>
          <p:nvPr/>
        </p:nvSpPr>
        <p:spPr>
          <a:xfrm xmlns:a="http://schemas.openxmlformats.org/drawingml/2006/main" rot="0" flipH="0" flipV="0">
            <a:off x="159341" y="1083484"/>
            <a:ext cx="195855" cy="67346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Rectangle 42">
            <a:extLst xmlns:a="http://schemas.openxmlformats.org/drawingml/2006/main">
              <a:ext uri="{FF2B5EF4-FFF2-40B4-BE49-F238E27FC236}">
                <a16:creationId xmlns:a16="http://schemas.microsoft.com/office/drawing/2014/main" id="{3873B707-463F-40B0-8227-E8CC6C67EB25}"/>
              </a:ext>
            </a:extLst>
          </p:cNvPr>
          <p:cNvSpPr>
            <a:spLocks xmlns:a="http://schemas.openxmlformats.org/drawingml/2006/main" noGrp="1"/>
          </p:cNvSpPr>
          <p:nvPr/>
        </p:nvSpPr>
        <p:spPr>
          <a:xfrm xmlns:a="http://schemas.openxmlformats.org/drawingml/2006/main" flipH="1">
            <a:off x="665085" y="2090569"/>
            <a:ext cx="4297680" cy="2743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Rectangle 44">
            <a:extLst xmlns:a="http://schemas.openxmlformats.org/drawingml/2006/main">
              <a:ext uri="{FF2B5EF4-FFF2-40B4-BE49-F238E27FC236}">
                <a16:creationId xmlns:a16="http://schemas.microsoft.com/office/drawing/2014/main" id="{C13237C8-E62C-4F0D-A318-BD6FB6C2D138}"/>
              </a:ext>
            </a:extLst>
          </p:cNvPr>
          <p:cNvSpPr>
            <a:spLocks xmlns:a="http://schemas.openxmlformats.org/drawingml/2006/main" noGrp="1"/>
          </p:cNvSpPr>
          <p:nvPr/>
        </p:nvSpPr>
        <p:spPr>
          <a:xfrm xmlns:a="http://schemas.openxmlformats.org/drawingml/2006/main" flipH="1">
            <a:off x="10697670" y="0"/>
            <a:ext cx="1494330" cy="685800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Rectangle 46">
            <a:extLst xmlns:a="http://schemas.openxmlformats.org/drawingml/2006/main">
              <a:ext uri="{FF2B5EF4-FFF2-40B4-BE49-F238E27FC236}">
                <a16:creationId xmlns:a16="http://schemas.microsoft.com/office/drawing/2014/main" id="{19C9EAEA-39D0-4B0E-A0EB-51E7B26740B1}"/>
              </a:ext>
            </a:extLst>
          </p:cNvPr>
          <p:cNvSpPr>
            <a:spLocks xmlns:a="http://schemas.openxmlformats.org/drawingml/2006/main" noGrp="1"/>
          </p:cNvSpPr>
          <p:nvPr/>
        </p:nvSpPr>
        <p:spPr>
          <a:xfrm xmlns:a="http://schemas.openxmlformats.org/drawingml/2006/main">
            <a:off x="5685810" y="513853"/>
            <a:ext cx="6009366" cy="5834577"/>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content-6">
            <a:extLst xmlns:a="http://schemas.openxmlformats.org/drawingml/2006/main">
              <a:ext uri="{FF2B5EF4-FFF2-40B4-BE49-F238E27FC236}">
                <a16:creationId xmlns:a16="http://schemas.microsoft.com/office/drawing/2014/main" id="{34BF0A27-FFE5-4FD9-9096-9C611A3B2421}"/>
              </a:ext>
            </a:extLst>
          </p:cNvPr>
          <p:cNvSpPr>
            <a:spLocks xmlns:a="http://schemas.openxmlformats.org/drawingml/2006/main" noGrp="1"/>
          </p:cNvSpPr>
          <p:nvPr/>
        </p:nvSpPr>
        <p:spPr>
          <a:xfrm xmlns:a="http://schemas.openxmlformats.org/drawingml/2006/main">
            <a:off x="666750" y="914400"/>
            <a:ext cx="4429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Mushroom Challenge -</a:t>
            </a:r>
          </a:p>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Distribution</a:t>
            </a:r>
          </a:p>
        </p:txBody>
      </p:sp>
      <p:sp>
        <p:nvSpPr>
          <p:cNvPr id="49" name="content-7">
            <a:extLst xmlns:a="http://schemas.openxmlformats.org/drawingml/2006/main">
              <a:ext uri="{FF2B5EF4-FFF2-40B4-BE49-F238E27FC236}">
                <a16:creationId xmlns:a16="http://schemas.microsoft.com/office/drawing/2014/main" id="{FFC24CEC-3104-4EE5-97E6-2D9833294214}"/>
              </a:ext>
            </a:extLst>
          </p:cNvPr>
          <p:cNvSpPr>
            <a:spLocks xmlns:a="http://schemas.openxmlformats.org/drawingml/2006/main" noGrp="1"/>
          </p:cNvSpPr>
          <p:nvPr/>
        </p:nvSpPr>
        <p:spPr>
          <a:xfrm xmlns:a="http://schemas.openxmlformats.org/drawingml/2006/main">
            <a:off x="666750" y="2809875"/>
            <a:ext cx="447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Edible: 3,107 records</a:t>
            </a:r>
          </a:p>
        </p:txBody>
      </p:sp>
      <p:sp>
        <p:nvSpPr>
          <p:cNvPr id="50" name="content-8">
            <a:extLst xmlns:a="http://schemas.openxmlformats.org/drawingml/2006/main">
              <a:ext uri="{FF2B5EF4-FFF2-40B4-BE49-F238E27FC236}">
                <a16:creationId xmlns:a16="http://schemas.microsoft.com/office/drawing/2014/main" id="{7D50A7CB-A7F1-46B2-BC94-8F8EEACA8F36}"/>
              </a:ext>
            </a:extLst>
          </p:cNvPr>
          <p:cNvSpPr>
            <a:spLocks xmlns:a="http://schemas.openxmlformats.org/drawingml/2006/main" noGrp="1"/>
          </p:cNvSpPr>
          <p:nvPr/>
        </p:nvSpPr>
        <p:spPr>
          <a:xfrm xmlns:a="http://schemas.openxmlformats.org/drawingml/2006/main">
            <a:off x="666750" y="3514725"/>
            <a:ext cx="447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Poisonous: 1,893 records</a:t>
            </a:r>
          </a:p>
        </p:txBody>
      </p:sp>
      <p:sp>
        <p:nvSpPr>
          <p:cNvPr id="51" name="content-9">
            <a:extLst xmlns:a="http://schemas.openxmlformats.org/drawingml/2006/main">
              <a:ext uri="{FF2B5EF4-FFF2-40B4-BE49-F238E27FC236}">
                <a16:creationId xmlns:a16="http://schemas.microsoft.com/office/drawing/2014/main" id="{6F652F62-FEAE-4A82-BE47-2973C29C5826}"/>
              </a:ext>
            </a:extLst>
          </p:cNvPr>
          <p:cNvSpPr>
            <a:spLocks xmlns:a="http://schemas.openxmlformats.org/drawingml/2006/main" noGrp="1"/>
          </p:cNvSpPr>
          <p:nvPr/>
        </p:nvSpPr>
        <p:spPr>
          <a:xfrm xmlns:a="http://schemas.openxmlformats.org/drawingml/2006/main">
            <a:off x="666750" y="4219575"/>
            <a:ext cx="447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Majority baseline: about 62%</a:t>
            </a:r>
          </a:p>
        </p:txBody>
      </p:sp>
      <p:sp>
        <p:nvSpPr>
          <p:cNvPr id="52" name="content-10">
            <a:extLst xmlns:a="http://schemas.openxmlformats.org/drawingml/2006/main">
              <a:ext uri="{FF2B5EF4-FFF2-40B4-BE49-F238E27FC236}">
                <a16:creationId xmlns:a16="http://schemas.microsoft.com/office/drawing/2014/main" id="{E6D85B84-4857-4E46-9A39-5F618541708E}"/>
              </a:ext>
            </a:extLst>
          </p:cNvPr>
          <p:cNvSpPr>
            <a:spLocks xmlns:a="http://schemas.openxmlformats.org/drawingml/2006/main" noGrp="1"/>
          </p:cNvSpPr>
          <p:nvPr/>
        </p:nvSpPr>
        <p:spPr>
          <a:xfrm xmlns:a="http://schemas.openxmlformats.org/drawingml/2006/main">
            <a:off x="666750" y="4924425"/>
            <a:ext cx="447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Accuracy alone is insufficient</a:t>
            </a:r>
          </a:p>
        </p:txBody>
      </p:sp>
      <p:graphicFrame>
        <p:nvGraphicFramePr>
          <p:cNvPr id="53" name="Chart">
            <a:extLst xmlns:a="http://schemas.openxmlformats.org/drawingml/2006/main">
              <a:ext uri="{FF2B5EF4-FFF2-40B4-BE49-F238E27FC236}">
                <a16:creationId xmlns:a16="http://schemas.microsoft.com/office/drawing/2014/main" id="{65FE2574-44D5-43CE-9F42-EE1C965BD2E2}"/>
              </a:ext>
            </a:extLst>
          </p:cNvPr>
          <p:cNvGraphicFramePr/>
          <p:nvPr/>
        </p:nvGraphicFramePr>
        <p:xfrm>
          <a:off xmlns:a="http://schemas.openxmlformats.org/drawingml/2006/main" x="6000750" y="1381125"/>
          <a:ext xmlns:a="http://schemas.openxmlformats.org/drawingml/2006/main" cx="5286375" cy="4143375"/>
        </p:xfrm>
        <a:graphic xmlns:a="http://schemas.openxmlformats.org/drawingml/2006/main">
          <a:graphicData uri="http://schemas.openxmlformats.org/drawingml/2006/chart">
            <c:chart xmlns:r="http://schemas.openxmlformats.org/officeDocument/2006/relationships" xmlns:c="http://schemas.openxmlformats.org/drawingml/2006/chart" r:id="R5fca5e78863f44a5"/>
          </a:graphicData>
        </a:graphic>
      </p:graphicFrame>
    </p:spTree>
    <p:extLst>
      <p:ext uri="{BB962C8B-B14F-4D97-AF65-F5344CB8AC3E}">
        <p14:creationId xmlns:p14="http://schemas.microsoft.com/office/powerpoint/2010/main" val="4813024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useBgFill="1">
        <p:nvSpPr>
          <p:cNvPr id="67" name="Rectangle 55">
            <a:extLst xmlns:a="http://schemas.openxmlformats.org/drawingml/2006/main">
              <a:ext uri="{FF2B5EF4-FFF2-40B4-BE49-F238E27FC236}">
                <a16:creationId xmlns:a16="http://schemas.microsoft.com/office/drawing/2014/main" id="{201CC55D-ED54-4C5C-95E6-10947BD1103B}"/>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Rectangle 58">
            <a:extLst xmlns:a="http://schemas.openxmlformats.org/drawingml/2006/main">
              <a:ext uri="{FF2B5EF4-FFF2-40B4-BE49-F238E27FC236}">
                <a16:creationId xmlns:a16="http://schemas.microsoft.com/office/drawing/2014/main" id="{F399A70F-F8CD-4992-9EF5-6CF15472E73F}"/>
              </a:ext>
            </a:extLst>
          </p:cNvPr>
          <p:cNvSpPr>
            <a:spLocks xmlns:a="http://schemas.openxmlformats.org/drawingml/2006/main" noGrp="1"/>
          </p:cNvSpPr>
          <p:nvPr/>
        </p:nvSpPr>
        <p:spPr>
          <a:xfrm xmlns:a="http://schemas.openxmlformats.org/drawingml/2006/main" rot="0" flipH="0" flipV="0">
            <a:off x="0" y="1083484"/>
            <a:ext cx="87363" cy="67346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9" name="Rectangle 59">
            <a:extLst xmlns:a="http://schemas.openxmlformats.org/drawingml/2006/main">
              <a:ext uri="{FF2B5EF4-FFF2-40B4-BE49-F238E27FC236}">
                <a16:creationId xmlns:a16="http://schemas.microsoft.com/office/drawing/2014/main" id="{48F4FEDC-6D80-458C-A665-075D9B9500FD}"/>
              </a:ext>
            </a:extLst>
          </p:cNvPr>
          <p:cNvSpPr>
            <a:spLocks xmlns:a="http://schemas.openxmlformats.org/drawingml/2006/main" noGrp="1"/>
          </p:cNvSpPr>
          <p:nvPr/>
        </p:nvSpPr>
        <p:spPr>
          <a:xfrm xmlns:a="http://schemas.openxmlformats.org/drawingml/2006/main" rot="0" flipH="0" flipV="0">
            <a:off x="159341" y="1083484"/>
            <a:ext cx="195855" cy="67346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0" name="Rectangle 61">
            <a:extLst xmlns:a="http://schemas.openxmlformats.org/drawingml/2006/main">
              <a:ext uri="{FF2B5EF4-FFF2-40B4-BE49-F238E27FC236}">
                <a16:creationId xmlns:a16="http://schemas.microsoft.com/office/drawing/2014/main" id="{3873B707-463F-40B0-8227-E8CC6C67EB25}"/>
              </a:ext>
            </a:extLst>
          </p:cNvPr>
          <p:cNvSpPr>
            <a:spLocks xmlns:a="http://schemas.openxmlformats.org/drawingml/2006/main" noGrp="1"/>
          </p:cNvSpPr>
          <p:nvPr/>
        </p:nvSpPr>
        <p:spPr>
          <a:xfrm xmlns:a="http://schemas.openxmlformats.org/drawingml/2006/main" flipH="1">
            <a:off x="665085" y="2090569"/>
            <a:ext cx="4297680" cy="2743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Rectangle 63">
            <a:extLst xmlns:a="http://schemas.openxmlformats.org/drawingml/2006/main">
              <a:ext uri="{FF2B5EF4-FFF2-40B4-BE49-F238E27FC236}">
                <a16:creationId xmlns:a16="http://schemas.microsoft.com/office/drawing/2014/main" id="{C13237C8-E62C-4F0D-A318-BD6FB6C2D138}"/>
              </a:ext>
            </a:extLst>
          </p:cNvPr>
          <p:cNvSpPr>
            <a:spLocks xmlns:a="http://schemas.openxmlformats.org/drawingml/2006/main" noGrp="1"/>
          </p:cNvSpPr>
          <p:nvPr/>
        </p:nvSpPr>
        <p:spPr>
          <a:xfrm xmlns:a="http://schemas.openxmlformats.org/drawingml/2006/main" flipH="1">
            <a:off x="10697670" y="0"/>
            <a:ext cx="1494330" cy="685800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6" name="Rectangle 65">
            <a:extLst xmlns:a="http://schemas.openxmlformats.org/drawingml/2006/main">
              <a:ext uri="{FF2B5EF4-FFF2-40B4-BE49-F238E27FC236}">
                <a16:creationId xmlns:a16="http://schemas.microsoft.com/office/drawing/2014/main" id="{19C9EAEA-39D0-4B0E-A0EB-51E7B26740B1}"/>
              </a:ext>
            </a:extLst>
          </p:cNvPr>
          <p:cNvSpPr>
            <a:spLocks xmlns:a="http://schemas.openxmlformats.org/drawingml/2006/main" noGrp="1"/>
          </p:cNvSpPr>
          <p:nvPr/>
        </p:nvSpPr>
        <p:spPr>
          <a:xfrm xmlns:a="http://schemas.openxmlformats.org/drawingml/2006/main">
            <a:off x="5685810" y="513853"/>
            <a:ext cx="6009366" cy="5834577"/>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2" name="content-6">
            <a:extLst xmlns:a="http://schemas.openxmlformats.org/drawingml/2006/main">
              <a:ext uri="{FF2B5EF4-FFF2-40B4-BE49-F238E27FC236}">
                <a16:creationId xmlns:a16="http://schemas.microsoft.com/office/drawing/2014/main" id="{1CDD75AF-9DE3-4ECD-AD82-2E2941997932}"/>
              </a:ext>
            </a:extLst>
          </p:cNvPr>
          <p:cNvSpPr>
            <a:spLocks xmlns:a="http://schemas.openxmlformats.org/drawingml/2006/main" noGrp="1"/>
          </p:cNvSpPr>
          <p:nvPr/>
        </p:nvSpPr>
        <p:spPr>
          <a:xfrm xmlns:a="http://schemas.openxmlformats.org/drawingml/2006/main">
            <a:off x="666750" y="914400"/>
            <a:ext cx="4429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Mushroom Challenge -</a:t>
            </a:r>
          </a:p>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Missing values</a:t>
            </a:r>
          </a:p>
        </p:txBody>
      </p:sp>
      <p:sp>
        <p:nvSpPr>
          <p:cNvPr id="73" name="content-7">
            <a:extLst xmlns:a="http://schemas.openxmlformats.org/drawingml/2006/main">
              <a:ext uri="{FF2B5EF4-FFF2-40B4-BE49-F238E27FC236}">
                <a16:creationId xmlns:a16="http://schemas.microsoft.com/office/drawing/2014/main" id="{0B3533B3-6D07-4BCF-AB19-9A27515B6BDC}"/>
              </a:ext>
            </a:extLst>
          </p:cNvPr>
          <p:cNvSpPr>
            <a:spLocks xmlns:a="http://schemas.openxmlformats.org/drawingml/2006/main" noGrp="1"/>
          </p:cNvSpPr>
          <p:nvPr/>
        </p:nvSpPr>
        <p:spPr>
          <a:xfrm xmlns:a="http://schemas.openxmlformats.org/drawingml/2006/main">
            <a:off x="666750" y="28098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Spore print: 94.8% missing</a:t>
            </a:r>
          </a:p>
        </p:txBody>
      </p:sp>
      <p:sp>
        <p:nvSpPr>
          <p:cNvPr id="74" name="content-8">
            <a:extLst xmlns:a="http://schemas.openxmlformats.org/drawingml/2006/main">
              <a:ext uri="{FF2B5EF4-FFF2-40B4-BE49-F238E27FC236}">
                <a16:creationId xmlns:a16="http://schemas.microsoft.com/office/drawing/2014/main" id="{8EBDA809-EF48-4656-9C90-68D0410830D1}"/>
              </a:ext>
            </a:extLst>
          </p:cNvPr>
          <p:cNvSpPr>
            <a:spLocks xmlns:a="http://schemas.openxmlformats.org/drawingml/2006/main" noGrp="1"/>
          </p:cNvSpPr>
          <p:nvPr/>
        </p:nvSpPr>
        <p:spPr>
          <a:xfrm xmlns:a="http://schemas.openxmlformats.org/drawingml/2006/main">
            <a:off x="666750" y="35052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Stem surface: 67.2% missing</a:t>
            </a:r>
          </a:p>
        </p:txBody>
      </p:sp>
      <p:sp>
        <p:nvSpPr>
          <p:cNvPr id="75" name="content-9">
            <a:extLst xmlns:a="http://schemas.openxmlformats.org/drawingml/2006/main">
              <a:ext uri="{FF2B5EF4-FFF2-40B4-BE49-F238E27FC236}">
                <a16:creationId xmlns:a16="http://schemas.microsoft.com/office/drawing/2014/main" id="{739E7770-AC99-4BC1-AFA6-1779C5771071}"/>
              </a:ext>
            </a:extLst>
          </p:cNvPr>
          <p:cNvSpPr>
            <a:spLocks xmlns:a="http://schemas.openxmlformats.org/drawingml/2006/main" noGrp="1"/>
          </p:cNvSpPr>
          <p:nvPr/>
        </p:nvSpPr>
        <p:spPr>
          <a:xfrm xmlns:a="http://schemas.openxmlformats.org/drawingml/2006/main">
            <a:off x="666750" y="420052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Median / mode imputation</a:t>
            </a:r>
          </a:p>
        </p:txBody>
      </p:sp>
      <p:sp>
        <p:nvSpPr>
          <p:cNvPr id="76" name="content-10">
            <a:extLst xmlns:a="http://schemas.openxmlformats.org/drawingml/2006/main">
              <a:ext uri="{FF2B5EF4-FFF2-40B4-BE49-F238E27FC236}">
                <a16:creationId xmlns:a16="http://schemas.microsoft.com/office/drawing/2014/main" id="{AF717748-5A4C-4EC1-A36A-7F5DCC2129C2}"/>
              </a:ext>
            </a:extLst>
          </p:cNvPr>
          <p:cNvSpPr>
            <a:spLocks xmlns:a="http://schemas.openxmlformats.org/drawingml/2006/main" noGrp="1"/>
          </p:cNvSpPr>
          <p:nvPr/>
        </p:nvSpPr>
        <p:spPr>
          <a:xfrm xmlns:a="http://schemas.openxmlformats.org/drawingml/2006/main">
            <a:off x="666750" y="48958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Fit preprocessing per fold</a:t>
            </a:r>
          </a:p>
        </p:txBody>
      </p:sp>
      <p:graphicFrame>
        <p:nvGraphicFramePr>
          <p:cNvPr id="77" name="Chart">
            <a:extLst xmlns:a="http://schemas.openxmlformats.org/drawingml/2006/main">
              <a:ext uri="{FF2B5EF4-FFF2-40B4-BE49-F238E27FC236}">
                <a16:creationId xmlns:a16="http://schemas.microsoft.com/office/drawing/2014/main" id="{3C3B731C-45AD-487A-A640-16E2745D5111}"/>
              </a:ext>
            </a:extLst>
          </p:cNvPr>
          <p:cNvGraphicFramePr/>
          <p:nvPr/>
        </p:nvGraphicFramePr>
        <p:xfrm>
          <a:off xmlns:a="http://schemas.openxmlformats.org/drawingml/2006/main" x="6000750" y="1381125"/>
          <a:ext xmlns:a="http://schemas.openxmlformats.org/drawingml/2006/main" cx="5286375" cy="4143375"/>
        </p:xfrm>
        <a:graphic xmlns:a="http://schemas.openxmlformats.org/drawingml/2006/main">
          <a:graphicData uri="http://schemas.openxmlformats.org/drawingml/2006/chart">
            <c:chart xmlns:r="http://schemas.openxmlformats.org/officeDocument/2006/relationships" xmlns:c="http://schemas.openxmlformats.org/drawingml/2006/chart" r:id="R956252ff506847df"/>
          </a:graphicData>
        </a:graphic>
      </p:graphicFrame>
    </p:spTree>
    <p:extLst>
      <p:ext uri="{BB962C8B-B14F-4D97-AF65-F5344CB8AC3E}">
        <p14:creationId xmlns:p14="http://schemas.microsoft.com/office/powerpoint/2010/main" val="2941600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useBgFill="1">
        <p:nvSpPr>
          <p:cNvPr id="11" name="Rectangle 10">
            <a:extLst xmlns:a="http://schemas.openxmlformats.org/drawingml/2006/main">
              <a:ext uri="{FF2B5EF4-FFF2-40B4-BE49-F238E27FC236}">
                <a16:creationId xmlns:a16="http://schemas.microsoft.com/office/drawing/2014/main" id="{201CC55D-ED54-4C5C-95E6-10947BD1103B}"/>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F399A70F-F8CD-4992-9EF5-6CF15472E73F}"/>
              </a:ext>
            </a:extLst>
          </p:cNvPr>
          <p:cNvSpPr>
            <a:spLocks xmlns:a="http://schemas.openxmlformats.org/drawingml/2006/main" noGrp="1"/>
          </p:cNvSpPr>
          <p:nvPr/>
        </p:nvSpPr>
        <p:spPr>
          <a:xfrm xmlns:a="http://schemas.openxmlformats.org/drawingml/2006/main" rot="0" flipH="0" flipV="0">
            <a:off x="0" y="1083484"/>
            <a:ext cx="87363" cy="67346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Rectangle 14">
            <a:extLst xmlns:a="http://schemas.openxmlformats.org/drawingml/2006/main">
              <a:ext uri="{FF2B5EF4-FFF2-40B4-BE49-F238E27FC236}">
                <a16:creationId xmlns:a16="http://schemas.microsoft.com/office/drawing/2014/main" id="{48F4FEDC-6D80-458C-A665-075D9B9500FD}"/>
              </a:ext>
            </a:extLst>
          </p:cNvPr>
          <p:cNvSpPr>
            <a:spLocks xmlns:a="http://schemas.openxmlformats.org/drawingml/2006/main" noGrp="1"/>
          </p:cNvSpPr>
          <p:nvPr/>
        </p:nvSpPr>
        <p:spPr>
          <a:xfrm xmlns:a="http://schemas.openxmlformats.org/drawingml/2006/main" rot="0" flipH="0" flipV="0">
            <a:off x="159341" y="1083484"/>
            <a:ext cx="195855" cy="67346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ectangle 16">
            <a:extLst xmlns:a="http://schemas.openxmlformats.org/drawingml/2006/main">
              <a:ext uri="{FF2B5EF4-FFF2-40B4-BE49-F238E27FC236}">
                <a16:creationId xmlns:a16="http://schemas.microsoft.com/office/drawing/2014/main" id="{3873B707-463F-40B0-8227-E8CC6C67EB25}"/>
              </a:ext>
            </a:extLst>
          </p:cNvPr>
          <p:cNvSpPr>
            <a:spLocks xmlns:a="http://schemas.openxmlformats.org/drawingml/2006/main" noGrp="1"/>
          </p:cNvSpPr>
          <p:nvPr/>
        </p:nvSpPr>
        <p:spPr>
          <a:xfrm xmlns:a="http://schemas.openxmlformats.org/drawingml/2006/main" flipH="1">
            <a:off x="665085" y="2090569"/>
            <a:ext cx="4297680" cy="2743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ectangle 18">
            <a:extLst xmlns:a="http://schemas.openxmlformats.org/drawingml/2006/main">
              <a:ext uri="{FF2B5EF4-FFF2-40B4-BE49-F238E27FC236}">
                <a16:creationId xmlns:a16="http://schemas.microsoft.com/office/drawing/2014/main" id="{C13237C8-E62C-4F0D-A318-BD6FB6C2D138}"/>
              </a:ext>
            </a:extLst>
          </p:cNvPr>
          <p:cNvSpPr>
            <a:spLocks xmlns:a="http://schemas.openxmlformats.org/drawingml/2006/main" noGrp="1"/>
          </p:cNvSpPr>
          <p:nvPr/>
        </p:nvSpPr>
        <p:spPr>
          <a:xfrm xmlns:a="http://schemas.openxmlformats.org/drawingml/2006/main" flipH="1">
            <a:off x="10697670" y="0"/>
            <a:ext cx="1494330" cy="685800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19C9EAEA-39D0-4B0E-A0EB-51E7B26740B1}"/>
              </a:ext>
            </a:extLst>
          </p:cNvPr>
          <p:cNvSpPr>
            <a:spLocks xmlns:a="http://schemas.openxmlformats.org/drawingml/2006/main" noGrp="1"/>
          </p:cNvSpPr>
          <p:nvPr/>
        </p:nvSpPr>
        <p:spPr>
          <a:xfrm xmlns:a="http://schemas.openxmlformats.org/drawingml/2006/main">
            <a:off x="5685810" y="513853"/>
            <a:ext cx="6009366" cy="5834577"/>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content-6">
            <a:extLst xmlns:a="http://schemas.openxmlformats.org/drawingml/2006/main">
              <a:ext uri="{FF2B5EF4-FFF2-40B4-BE49-F238E27FC236}">
                <a16:creationId xmlns:a16="http://schemas.microsoft.com/office/drawing/2014/main" id="{AB321D3C-965D-4B03-B9AF-F63C6EDFE3B2}"/>
              </a:ext>
            </a:extLst>
          </p:cNvPr>
          <p:cNvSpPr>
            <a:spLocks xmlns:a="http://schemas.openxmlformats.org/drawingml/2006/main" noGrp="1"/>
          </p:cNvSpPr>
          <p:nvPr/>
        </p:nvSpPr>
        <p:spPr>
          <a:xfrm xmlns:a="http://schemas.openxmlformats.org/drawingml/2006/main">
            <a:off x="666750" y="914400"/>
            <a:ext cx="4429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Mushroom Challenge -</a:t>
            </a:r>
          </a:p>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Outliers</a:t>
            </a:r>
          </a:p>
        </p:txBody>
      </p:sp>
      <p:sp>
        <p:nvSpPr>
          <p:cNvPr id="23" name="content-7">
            <a:extLst xmlns:a="http://schemas.openxmlformats.org/drawingml/2006/main">
              <a:ext uri="{FF2B5EF4-FFF2-40B4-BE49-F238E27FC236}">
                <a16:creationId xmlns:a16="http://schemas.microsoft.com/office/drawing/2014/main" id="{A6D28FA1-B7F4-4675-8864-43756DE30F16}"/>
              </a:ext>
            </a:extLst>
          </p:cNvPr>
          <p:cNvSpPr>
            <a:spLocks xmlns:a="http://schemas.openxmlformats.org/drawingml/2006/main" noGrp="1"/>
          </p:cNvSpPr>
          <p:nvPr/>
        </p:nvSpPr>
        <p:spPr>
          <a:xfrm xmlns:a="http://schemas.openxmlformats.org/drawingml/2006/main">
            <a:off x="666750" y="28098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Class distributions overlap</a:t>
            </a:r>
          </a:p>
        </p:txBody>
      </p:sp>
      <p:sp>
        <p:nvSpPr>
          <p:cNvPr id="24" name="content-8">
            <a:extLst xmlns:a="http://schemas.openxmlformats.org/drawingml/2006/main">
              <a:ext uri="{FF2B5EF4-FFF2-40B4-BE49-F238E27FC236}">
                <a16:creationId xmlns:a16="http://schemas.microsoft.com/office/drawing/2014/main" id="{CBF5A617-BF8E-49D2-8CC1-9B38D60207CE}"/>
              </a:ext>
            </a:extLst>
          </p:cNvPr>
          <p:cNvSpPr>
            <a:spLocks xmlns:a="http://schemas.openxmlformats.org/drawingml/2006/main" noGrp="1"/>
          </p:cNvSpPr>
          <p:nvPr/>
        </p:nvSpPr>
        <p:spPr>
          <a:xfrm xmlns:a="http://schemas.openxmlformats.org/drawingml/2006/main">
            <a:off x="666750" y="35052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One feature cannot decide</a:t>
            </a:r>
          </a:p>
        </p:txBody>
      </p:sp>
      <p:sp>
        <p:nvSpPr>
          <p:cNvPr id="25" name="content-9">
            <a:extLst xmlns:a="http://schemas.openxmlformats.org/drawingml/2006/main">
              <a:ext uri="{FF2B5EF4-FFF2-40B4-BE49-F238E27FC236}">
                <a16:creationId xmlns:a16="http://schemas.microsoft.com/office/drawing/2014/main" id="{42E3F8EB-80C2-4EF5-BAC4-0401F28D24AD}"/>
              </a:ext>
            </a:extLst>
          </p:cNvPr>
          <p:cNvSpPr>
            <a:spLocks xmlns:a="http://schemas.openxmlformats.org/drawingml/2006/main" noGrp="1"/>
          </p:cNvSpPr>
          <p:nvPr/>
        </p:nvSpPr>
        <p:spPr>
          <a:xfrm xmlns:a="http://schemas.openxmlformats.org/drawingml/2006/main">
            <a:off x="666750" y="420052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Inspect extreme measurements</a:t>
            </a:r>
          </a:p>
        </p:txBody>
      </p:sp>
      <p:sp>
        <p:nvSpPr>
          <p:cNvPr id="26" name="content-10">
            <a:extLst xmlns:a="http://schemas.openxmlformats.org/drawingml/2006/main">
              <a:ext uri="{FF2B5EF4-FFF2-40B4-BE49-F238E27FC236}">
                <a16:creationId xmlns:a16="http://schemas.microsoft.com/office/drawing/2014/main" id="{6107355B-0721-4C94-9D53-4B9EE5F8CFD3}"/>
              </a:ext>
            </a:extLst>
          </p:cNvPr>
          <p:cNvSpPr>
            <a:spLocks xmlns:a="http://schemas.openxmlformats.org/drawingml/2006/main" noGrp="1"/>
          </p:cNvSpPr>
          <p:nvPr/>
        </p:nvSpPr>
        <p:spPr>
          <a:xfrm xmlns:a="http://schemas.openxmlformats.org/drawingml/2006/main">
            <a:off x="666750" y="48958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No automatic outlier removal</a:t>
            </a:r>
          </a:p>
        </p:txBody>
      </p:sp>
      <p:pic>
        <p:nvPicPr>
          <p:cNvPr id="27" name="">
            <a:extLst xmlns:a="http://schemas.openxmlformats.org/drawingml/2006/main">
              <a:ext uri="{FF2B5EF4-FFF2-40B4-BE49-F238E27FC236}">
                <a16:creationId xmlns:a16="http://schemas.microsoft.com/office/drawing/2014/main" id="{1E3D41AA-4A1B-4F86-820A-915B094B2079}"/>
              </a:ext>
            </a:extLst>
          </p:cNvPr>
          <p:cNvPicPr>
            <a:picLocks xmlns:a="http://schemas.openxmlformats.org/drawingml/2006/main" noChangeAspect="1"/>
          </p:cNvPicPr>
          <p:nvPr/>
        </p:nvPicPr>
        <p:blipFill>
          <a:blip xmlns:r="http://schemas.openxmlformats.org/officeDocument/2006/relationships" xmlns:a="http://schemas.openxmlformats.org/drawingml/2006/main" r:embed="Rabe9d16b61f74bcc"/>
          <a:stretch xmlns:a="http://schemas.openxmlformats.org/drawingml/2006/main"/>
        </p:blipFill>
        <p:spPr>
          <a:xfrm xmlns:a="http://schemas.openxmlformats.org/drawingml/2006/main">
            <a:off x="5953125" y="1965993"/>
            <a:ext cx="5381625" cy="3021263"/>
          </a:xfrm>
          <a:prstGeom xmlns:a="http://schemas.openxmlformats.org/drawingml/2006/main" prst="rect">
            <a:avLst/>
          </a:prstGeom>
        </p:spPr>
      </p:pic>
    </p:spTree>
    <p:extLst>
      <p:ext uri="{BB962C8B-B14F-4D97-AF65-F5344CB8AC3E}">
        <p14:creationId xmlns:p14="http://schemas.microsoft.com/office/powerpoint/2010/main" val="34959888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useBgFill="1">
        <p:nvSpPr>
          <p:cNvPr id="71" name="Rectangle 70">
            <a:extLst xmlns:a="http://schemas.openxmlformats.org/drawingml/2006/main">
              <a:ext uri="{FF2B5EF4-FFF2-40B4-BE49-F238E27FC236}">
                <a16:creationId xmlns:a16="http://schemas.microsoft.com/office/drawing/2014/main" id="{74B0B678-CD10-4371-96E5-2706F4579FAD}"/>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Rectangle 73">
            <a:extLst xmlns:a="http://schemas.openxmlformats.org/drawingml/2006/main">
              <a:ext uri="{FF2B5EF4-FFF2-40B4-BE49-F238E27FC236}">
                <a16:creationId xmlns:a16="http://schemas.microsoft.com/office/drawing/2014/main" id="{8A3838D5-9565-4601-BAC3-D1B5BDB803ED}"/>
              </a:ext>
            </a:extLst>
          </p:cNvPr>
          <p:cNvSpPr>
            <a:spLocks xmlns:a="http://schemas.openxmlformats.org/drawingml/2006/main" noGrp="1"/>
          </p:cNvSpPr>
          <p:nvPr/>
        </p:nvSpPr>
        <p:spPr>
          <a:xfrm xmlns:a="http://schemas.openxmlformats.org/drawingml/2006/main" rot="5400000" flipH="0" flipV="0">
            <a:off x="3032052" y="2878474"/>
            <a:ext cx="816039" cy="102807"/>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Rectangle 74">
            <a:extLst xmlns:a="http://schemas.openxmlformats.org/drawingml/2006/main">
              <a:ext uri="{FF2B5EF4-FFF2-40B4-BE49-F238E27FC236}">
                <a16:creationId xmlns:a16="http://schemas.microsoft.com/office/drawing/2014/main" id="{3349A4B8-3246-4579-922E-FE1155C7F08C}"/>
              </a:ext>
            </a:extLst>
          </p:cNvPr>
          <p:cNvSpPr>
            <a:spLocks xmlns:a="http://schemas.openxmlformats.org/drawingml/2006/main" noGrp="1"/>
          </p:cNvSpPr>
          <p:nvPr/>
        </p:nvSpPr>
        <p:spPr>
          <a:xfrm xmlns:a="http://schemas.openxmlformats.org/drawingml/2006/main" rot="0" flipH="1" flipV="1">
            <a:off x="-2340441" y="2666504"/>
            <a:ext cx="5608997" cy="52739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Rectangle 76">
            <a:extLst xmlns:a="http://schemas.openxmlformats.org/drawingml/2006/main">
              <a:ext uri="{FF2B5EF4-FFF2-40B4-BE49-F238E27FC236}">
                <a16:creationId xmlns:a16="http://schemas.microsoft.com/office/drawing/2014/main" id="{CBC4F608-B4B8-48C3-9572-C0F061B1CD99}"/>
              </a:ext>
            </a:extLst>
          </p:cNvPr>
          <p:cNvSpPr>
            <a:spLocks xmlns:a="http://schemas.openxmlformats.org/drawingml/2006/main" noGrp="1"/>
          </p:cNvSpPr>
          <p:nvPr/>
        </p:nvSpPr>
        <p:spPr>
          <a:xfrm xmlns:a="http://schemas.openxmlformats.org/drawingml/2006/main">
            <a:off x="579528" y="517897"/>
            <a:ext cx="11111729" cy="5857966"/>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Rectangle 78">
            <a:extLst xmlns:a="http://schemas.openxmlformats.org/drawingml/2006/main">
              <a:ext uri="{FF2B5EF4-FFF2-40B4-BE49-F238E27FC236}">
                <a16:creationId xmlns:a16="http://schemas.microsoft.com/office/drawing/2014/main" id="{1382A32C-5B0C-4B1C-A074-76C6DBCC9F87}"/>
              </a:ext>
            </a:extLst>
          </p:cNvPr>
          <p:cNvSpPr>
            <a:spLocks xmlns:a="http://schemas.openxmlformats.org/drawingml/2006/main" noGrp="1"/>
          </p:cNvSpPr>
          <p:nvPr/>
        </p:nvSpPr>
        <p:spPr>
          <a:xfrm xmlns:a="http://schemas.openxmlformats.org/drawingml/2006/main" flipH="1">
            <a:off x="5957331" y="2188548"/>
            <a:ext cx="5041025" cy="2743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content-5">
            <a:extLst xmlns:a="http://schemas.openxmlformats.org/drawingml/2006/main">
              <a:ext uri="{FF2B5EF4-FFF2-40B4-BE49-F238E27FC236}">
                <a16:creationId xmlns:a16="http://schemas.microsoft.com/office/drawing/2014/main" id="{225261BC-7647-4D55-A136-D30960761048}"/>
              </a:ext>
            </a:extLst>
          </p:cNvPr>
          <p:cNvSpPr>
            <a:spLocks xmlns:a="http://schemas.openxmlformats.org/drawingml/2006/main" noGrp="1"/>
          </p:cNvSpPr>
          <p:nvPr/>
        </p:nvSpPr>
        <p:spPr>
          <a:xfrm xmlns:a="http://schemas.openxmlformats.org/drawingml/2006/main">
            <a:off x="5953125" y="9715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Mushroom Challenge -</a:t>
            </a:r>
          </a:p>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Validation</a:t>
            </a:r>
          </a:p>
        </p:txBody>
      </p:sp>
      <p:graphicFrame>
        <p:nvGraphicFramePr>
          <p:cNvPr id="81" name="">
            <a:extLst xmlns:a="http://schemas.openxmlformats.org/drawingml/2006/main">
              <a:ext uri="{FF2B5EF4-FFF2-40B4-BE49-F238E27FC236}">
                <a16:creationId xmlns:a16="http://schemas.microsoft.com/office/drawing/2014/main" id="{C8FF1840-6C5C-4CB2-86C3-CB66D39C8410}"/>
              </a:ext>
            </a:extLst>
          </p:cNvPr>
          <p:cNvGraphicFramePr/>
          <p:nvPr/>
        </p:nvGraphicFramePr>
        <p:xfrm>
          <a:off xmlns:a="http://schemas.openxmlformats.org/drawingml/2006/main" x="1028700" y="1619250"/>
          <a:ext xmlns:a="http://schemas.openxmlformats.org/drawingml/2006/main" cx="4286250" cy="2714625"/>
        </p:xfrm>
        <a:graphic xmlns:a="http://schemas.openxmlformats.org/drawingml/2006/main">
          <a:graphicData uri="http://schemas.openxmlformats.org/drawingml/2006/table">
            <a:tbl>
              <a:tblPr/>
              <a:tblGrid>
                <a:gridCol w="2667000"/>
                <a:gridCol w="1619250"/>
              </a:tblGrid>
              <a:tr h="678656">
                <a:tc>
                  <a:txBody>
                    <a:bodyPr/>
                    <a:lstStyle/>
                    <a:p>
                      <a:r>
                        <a:rPr sz="2025" b="1">
                          <a:solidFill>
                            <a:srgbClr val="FFFFFF"/>
                          </a:solidFill>
                          <a:latin typeface="Aptos"/>
                          <a:ea typeface="Aptos"/>
                          <a:cs typeface="Aptos"/>
                        </a:rPr>
                        <a:t>Stage</a:t>
                      </a:r>
                    </a:p>
                  </a:txBody>
                  <a:tcPr marL="91440" marR="91440" marT="45720" marB="45720">
                    <a:lnL w="5715">
                      <a:solidFill>
                        <a:srgbClr val="D1DDE2"/>
                      </a:solidFill>
                      <a:prstDash val="solid"/>
                    </a:lnL>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c>
                  <a:txBody>
                    <a:bodyPr/>
                    <a:lstStyle/>
                    <a:p>
                      <a:r>
                        <a:rPr sz="2025" b="1">
                          <a:solidFill>
                            <a:srgbClr val="FFFFFF"/>
                          </a:solidFill>
                          <a:latin typeface="Aptos"/>
                          <a:ea typeface="Aptos"/>
                          <a:cs typeface="Aptos"/>
                        </a:rPr>
                        <a:t>Rows</a:t>
                      </a:r>
                    </a:p>
                  </a:txBody>
                  <a:tcPr marL="91440" marR="91440" marT="45720" marB="45720">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r>
              <a:tr h="678656">
                <a:tc>
                  <a:txBody>
                    <a:bodyPr/>
                    <a:lstStyle/>
                    <a:p>
                      <a:r>
                        <a:rPr sz="2025" b="0">
                          <a:solidFill>
                            <a:srgbClr val="000000"/>
                          </a:solidFill>
                          <a:latin typeface="Aptos"/>
                          <a:ea typeface="Aptos"/>
                          <a:cs typeface="Aptos"/>
                        </a:rPr>
                        <a:t>Training</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FFFFF"/>
                    </a:solidFill>
                  </a:tcPr>
                </a:tc>
                <a:tc>
                  <a:txBody>
                    <a:bodyPr/>
                    <a:lstStyle/>
                    <a:p>
                      <a:r>
                        <a:rPr sz="2025" b="0">
                          <a:solidFill>
                            <a:srgbClr val="000000"/>
                          </a:solidFill>
                          <a:latin typeface="Aptos"/>
                          <a:ea typeface="Aptos"/>
                          <a:cs typeface="Aptos"/>
                        </a:rPr>
                        <a:t>4,100</a:t>
                      </a:r>
                    </a:p>
                  </a:txBody>
                  <a:tcPr marL="91440" marR="91440" marT="45720" marB="45720">
                    <a:lnR w="5715">
                      <a:solidFill>
                        <a:srgbClr val="D1DDE2"/>
                      </a:solidFill>
                      <a:prstDash val="solid"/>
                    </a:lnR>
                    <a:lnB w="5715">
                      <a:solidFill>
                        <a:srgbClr val="D1DDE2"/>
                      </a:solidFill>
                      <a:prstDash val="solid"/>
                    </a:lnB>
                    <a:solidFill>
                      <a:srgbClr val="FFFFFF"/>
                    </a:solidFill>
                  </a:tcPr>
                </a:tc>
              </a:tr>
              <a:tr h="678656">
                <a:tc>
                  <a:txBody>
                    <a:bodyPr/>
                    <a:lstStyle/>
                    <a:p>
                      <a:r>
                        <a:rPr sz="2025" b="0">
                          <a:solidFill>
                            <a:srgbClr val="000000"/>
                          </a:solidFill>
                          <a:latin typeface="Aptos"/>
                          <a:ea typeface="Aptos"/>
                          <a:cs typeface="Aptos"/>
                        </a:rPr>
                        <a:t>Development test</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1F7FA"/>
                    </a:solidFill>
                  </a:tcPr>
                </a:tc>
                <a:tc>
                  <a:txBody>
                    <a:bodyPr/>
                    <a:lstStyle/>
                    <a:p>
                      <a:r>
                        <a:rPr sz="2025" b="0">
                          <a:solidFill>
                            <a:srgbClr val="000000"/>
                          </a:solidFill>
                          <a:latin typeface="Aptos"/>
                          <a:ea typeface="Aptos"/>
                          <a:cs typeface="Aptos"/>
                        </a:rPr>
                        <a:t>900</a:t>
                      </a:r>
                    </a:p>
                  </a:txBody>
                  <a:tcPr marL="91440" marR="91440" marT="45720" marB="45720">
                    <a:lnR w="5715">
                      <a:solidFill>
                        <a:srgbClr val="D1DDE2"/>
                      </a:solidFill>
                      <a:prstDash val="solid"/>
                    </a:lnR>
                    <a:lnB w="5715">
                      <a:solidFill>
                        <a:srgbClr val="D1DDE2"/>
                      </a:solidFill>
                      <a:prstDash val="solid"/>
                    </a:lnB>
                    <a:solidFill>
                      <a:srgbClr val="F1F7FA"/>
                    </a:solidFill>
                  </a:tcPr>
                </a:tc>
              </a:tr>
              <a:tr h="678656">
                <a:tc>
                  <a:txBody>
                    <a:bodyPr/>
                    <a:lstStyle/>
                    <a:p>
                      <a:r>
                        <a:rPr sz="2025" b="0">
                          <a:solidFill>
                            <a:srgbClr val="000000"/>
                          </a:solidFill>
                          <a:latin typeface="Aptos"/>
                          <a:ea typeface="Aptos"/>
                          <a:cs typeface="Aptos"/>
                        </a:rPr>
                        <a:t>Training folds</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FFFFF"/>
                    </a:solidFill>
                  </a:tcPr>
                </a:tc>
                <a:tc>
                  <a:txBody>
                    <a:bodyPr/>
                    <a:lstStyle/>
                    <a:p>
                      <a:r>
                        <a:rPr sz="2025" b="0">
                          <a:solidFill>
                            <a:srgbClr val="000000"/>
                          </a:solidFill>
                          <a:latin typeface="Aptos"/>
                          <a:ea typeface="Aptos"/>
                          <a:cs typeface="Aptos"/>
                        </a:rPr>
                        <a:t>5</a:t>
                      </a:r>
                    </a:p>
                  </a:txBody>
                  <a:tcPr marL="91440" marR="91440" marT="45720" marB="45720">
                    <a:lnR w="5715">
                      <a:solidFill>
                        <a:srgbClr val="D1DDE2"/>
                      </a:solidFill>
                      <a:prstDash val="solid"/>
                    </a:lnR>
                    <a:lnB w="5715">
                      <a:solidFill>
                        <a:srgbClr val="D1DDE2"/>
                      </a:solidFill>
                      <a:prstDash val="solid"/>
                    </a:lnB>
                    <a:solidFill>
                      <a:srgbClr val="FFFFFF"/>
                    </a:solidFill>
                  </a:tcPr>
                </a:tc>
              </a:tr>
            </a:tbl>
          </a:graphicData>
        </a:graphic>
      </p:graphicFrame>
      <p:sp>
        <p:nvSpPr>
          <p:cNvPr id="82" name="content-6">
            <a:extLst xmlns:a="http://schemas.openxmlformats.org/drawingml/2006/main">
              <a:ext uri="{FF2B5EF4-FFF2-40B4-BE49-F238E27FC236}">
                <a16:creationId xmlns:a16="http://schemas.microsoft.com/office/drawing/2014/main" id="{572FEAD1-D997-45B7-8B6E-5BC0122373B2}"/>
              </a:ext>
            </a:extLst>
          </p:cNvPr>
          <p:cNvSpPr>
            <a:spLocks xmlns:a="http://schemas.openxmlformats.org/drawingml/2006/main" noGrp="1"/>
          </p:cNvSpPr>
          <p:nvPr/>
        </p:nvSpPr>
        <p:spPr>
          <a:xfrm xmlns:a="http://schemas.openxmlformats.org/drawingml/2006/main">
            <a:off x="1047750" y="4762500"/>
            <a:ext cx="4238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55555"/>
                </a:solidFill>
                <a:latin typeface="Aptos"/>
                <a:ea typeface="Aptos"/>
                <a:cs typeface="Aptos"/>
              </a:defRPr>
            </a:defPPr>
          </a:lstStyle>
          <a:p xmlns:a="http://schemas.openxmlformats.org/drawingml/2006/main">
            <a:pPr>
              <a:buNone/>
              <a:defRPr sz="1875" b="0">
                <a:solidFill>
                  <a:srgbClr val="555555"/>
                </a:solidFill>
                <a:latin typeface="Aptos"/>
                <a:ea typeface="Aptos"/>
                <a:cs typeface="Aptos"/>
              </a:defRPr>
            </a:pPr>
            <a:r>
              <a:rPr sz="1875" b="0">
                <a:solidFill>
                  <a:srgbClr val="555555"/>
                </a:solidFill>
                <a:latin typeface="Aptos"/>
                <a:ea typeface="Aptos"/>
                <a:cs typeface="Aptos"/>
              </a:rPr>
              <a:t>Same rows and folds for every candidate</a:t>
            </a:r>
          </a:p>
        </p:txBody>
      </p:sp>
      <p:sp>
        <p:nvSpPr>
          <p:cNvPr id="83" name="content-7">
            <a:extLst xmlns:a="http://schemas.openxmlformats.org/drawingml/2006/main">
              <a:ext uri="{FF2B5EF4-FFF2-40B4-BE49-F238E27FC236}">
                <a16:creationId xmlns:a16="http://schemas.microsoft.com/office/drawing/2014/main" id="{5332B100-2960-472B-8B91-D0A9AF12AC92}"/>
              </a:ext>
            </a:extLst>
          </p:cNvPr>
          <p:cNvSpPr>
            <a:spLocks xmlns:a="http://schemas.openxmlformats.org/drawingml/2006/main" noGrp="1"/>
          </p:cNvSpPr>
          <p:nvPr/>
        </p:nvSpPr>
        <p:spPr>
          <a:xfrm xmlns:a="http://schemas.openxmlformats.org/drawingml/2006/main">
            <a:off x="5953125" y="2781300"/>
            <a:ext cx="5143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Preprocessing inside each fold</a:t>
            </a:r>
          </a:p>
        </p:txBody>
      </p:sp>
      <p:sp>
        <p:nvSpPr>
          <p:cNvPr id="84" name="content-8">
            <a:extLst xmlns:a="http://schemas.openxmlformats.org/drawingml/2006/main">
              <a:ext uri="{FF2B5EF4-FFF2-40B4-BE49-F238E27FC236}">
                <a16:creationId xmlns:a16="http://schemas.microsoft.com/office/drawing/2014/main" id="{FD7483EA-80F2-4A67-9428-13D57CB24589}"/>
              </a:ext>
            </a:extLst>
          </p:cNvPr>
          <p:cNvSpPr>
            <a:spLocks xmlns:a="http://schemas.openxmlformats.org/drawingml/2006/main" noGrp="1"/>
          </p:cNvSpPr>
          <p:nvPr/>
        </p:nvSpPr>
        <p:spPr>
          <a:xfrm xmlns:a="http://schemas.openxmlformats.org/drawingml/2006/main">
            <a:off x="5953125" y="3514725"/>
            <a:ext cx="5143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Select by CV macro F1</a:t>
            </a:r>
          </a:p>
        </p:txBody>
      </p:sp>
      <p:sp>
        <p:nvSpPr>
          <p:cNvPr id="85" name="content-9">
            <a:extLst xmlns:a="http://schemas.openxmlformats.org/drawingml/2006/main">
              <a:ext uri="{FF2B5EF4-FFF2-40B4-BE49-F238E27FC236}">
                <a16:creationId xmlns:a16="http://schemas.microsoft.com/office/drawing/2014/main" id="{614CE162-C10B-450F-98BA-85E89FBDEECE}"/>
              </a:ext>
            </a:extLst>
          </p:cNvPr>
          <p:cNvSpPr>
            <a:spLocks xmlns:a="http://schemas.openxmlformats.org/drawingml/2006/main" noGrp="1"/>
          </p:cNvSpPr>
          <p:nvPr/>
        </p:nvSpPr>
        <p:spPr>
          <a:xfrm xmlns:a="http://schemas.openxmlformats.org/drawingml/2006/main">
            <a:off x="5953125" y="4248150"/>
            <a:ext cx="5143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Report poisonous-class recall</a:t>
            </a:r>
          </a:p>
        </p:txBody>
      </p:sp>
      <p:sp>
        <p:nvSpPr>
          <p:cNvPr id="86" name="content-10">
            <a:extLst xmlns:a="http://schemas.openxmlformats.org/drawingml/2006/main">
              <a:ext uri="{FF2B5EF4-FFF2-40B4-BE49-F238E27FC236}">
                <a16:creationId xmlns:a16="http://schemas.microsoft.com/office/drawing/2014/main" id="{46B520E8-6DAB-4233-A66E-43FD260F02F0}"/>
              </a:ext>
            </a:extLst>
          </p:cNvPr>
          <p:cNvSpPr>
            <a:spLocks xmlns:a="http://schemas.openxmlformats.org/drawingml/2006/main" noGrp="1"/>
          </p:cNvSpPr>
          <p:nvPr/>
        </p:nvSpPr>
        <p:spPr>
          <a:xfrm xmlns:a="http://schemas.openxmlformats.org/drawingml/2006/main">
            <a:off x="5953125" y="4981575"/>
            <a:ext cx="5143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900 records already inspected</a:t>
            </a:r>
          </a:p>
        </p:txBody>
      </p:sp>
    </p:spTree>
    <p:extLst>
      <p:ext uri="{BB962C8B-B14F-4D97-AF65-F5344CB8AC3E}">
        <p14:creationId xmlns:p14="http://schemas.microsoft.com/office/powerpoint/2010/main" val="30760030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useBgFill="1">
        <p:nvSpPr>
          <p:cNvPr id="50" name="Rectangle 49">
            <a:extLst xmlns:a="http://schemas.openxmlformats.org/drawingml/2006/main">
              <a:ext uri="{FF2B5EF4-FFF2-40B4-BE49-F238E27FC236}">
                <a16:creationId xmlns:a16="http://schemas.microsoft.com/office/drawing/2014/main" id="{74B0B678-CD10-4371-96E5-2706F4579FAD}"/>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Rectangle 52">
            <a:extLst xmlns:a="http://schemas.openxmlformats.org/drawingml/2006/main">
              <a:ext uri="{FF2B5EF4-FFF2-40B4-BE49-F238E27FC236}">
                <a16:creationId xmlns:a16="http://schemas.microsoft.com/office/drawing/2014/main" id="{8A3838D5-9565-4601-BAC3-D1B5BDB803ED}"/>
              </a:ext>
            </a:extLst>
          </p:cNvPr>
          <p:cNvSpPr>
            <a:spLocks xmlns:a="http://schemas.openxmlformats.org/drawingml/2006/main" noGrp="1"/>
          </p:cNvSpPr>
          <p:nvPr/>
        </p:nvSpPr>
        <p:spPr>
          <a:xfrm xmlns:a="http://schemas.openxmlformats.org/drawingml/2006/main" rot="5400000" flipH="0" flipV="0">
            <a:off x="3032052" y="2878474"/>
            <a:ext cx="816039" cy="102807"/>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Rectangle 53">
            <a:extLst xmlns:a="http://schemas.openxmlformats.org/drawingml/2006/main">
              <a:ext uri="{FF2B5EF4-FFF2-40B4-BE49-F238E27FC236}">
                <a16:creationId xmlns:a16="http://schemas.microsoft.com/office/drawing/2014/main" id="{3349A4B8-3246-4579-922E-FE1155C7F08C}"/>
              </a:ext>
            </a:extLst>
          </p:cNvPr>
          <p:cNvSpPr>
            <a:spLocks xmlns:a="http://schemas.openxmlformats.org/drawingml/2006/main" noGrp="1"/>
          </p:cNvSpPr>
          <p:nvPr/>
        </p:nvSpPr>
        <p:spPr>
          <a:xfrm xmlns:a="http://schemas.openxmlformats.org/drawingml/2006/main" rot="0" flipH="1" flipV="1">
            <a:off x="-2340441" y="2666504"/>
            <a:ext cx="5608997" cy="52739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Rectangle 55">
            <a:extLst xmlns:a="http://schemas.openxmlformats.org/drawingml/2006/main">
              <a:ext uri="{FF2B5EF4-FFF2-40B4-BE49-F238E27FC236}">
                <a16:creationId xmlns:a16="http://schemas.microsoft.com/office/drawing/2014/main" id="{CBC4F608-B4B8-48C3-9572-C0F061B1CD99}"/>
              </a:ext>
            </a:extLst>
          </p:cNvPr>
          <p:cNvSpPr>
            <a:spLocks xmlns:a="http://schemas.openxmlformats.org/drawingml/2006/main" noGrp="1"/>
          </p:cNvSpPr>
          <p:nvPr/>
        </p:nvSpPr>
        <p:spPr>
          <a:xfrm xmlns:a="http://schemas.openxmlformats.org/drawingml/2006/main">
            <a:off x="579528" y="517897"/>
            <a:ext cx="11111729" cy="5857966"/>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8" name="Rectangle 57">
            <a:extLst xmlns:a="http://schemas.openxmlformats.org/drawingml/2006/main">
              <a:ext uri="{FF2B5EF4-FFF2-40B4-BE49-F238E27FC236}">
                <a16:creationId xmlns:a16="http://schemas.microsoft.com/office/drawing/2014/main" id="{1382A32C-5B0C-4B1C-A074-76C6DBCC9F87}"/>
              </a:ext>
            </a:extLst>
          </p:cNvPr>
          <p:cNvSpPr>
            <a:spLocks xmlns:a="http://schemas.openxmlformats.org/drawingml/2006/main" noGrp="1"/>
          </p:cNvSpPr>
          <p:nvPr/>
        </p:nvSpPr>
        <p:spPr>
          <a:xfrm xmlns:a="http://schemas.openxmlformats.org/drawingml/2006/main" flipH="1">
            <a:off x="5957331" y="2188548"/>
            <a:ext cx="5041025" cy="2743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content-5">
            <a:extLst xmlns:a="http://schemas.openxmlformats.org/drawingml/2006/main">
              <a:ext uri="{FF2B5EF4-FFF2-40B4-BE49-F238E27FC236}">
                <a16:creationId xmlns:a16="http://schemas.microsoft.com/office/drawing/2014/main" id="{7D8C2DCA-5F06-46D4-B7D2-561F9815B67C}"/>
              </a:ext>
            </a:extLst>
          </p:cNvPr>
          <p:cNvSpPr>
            <a:spLocks xmlns:a="http://schemas.openxmlformats.org/drawingml/2006/main" noGrp="1"/>
          </p:cNvSpPr>
          <p:nvPr/>
        </p:nvSpPr>
        <p:spPr>
          <a:xfrm xmlns:a="http://schemas.openxmlformats.org/drawingml/2006/main">
            <a:off x="5953125" y="9715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Mushroom Challenge -</a:t>
            </a:r>
          </a:p>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Random Forest</a:t>
            </a:r>
          </a:p>
        </p:txBody>
      </p:sp>
      <p:graphicFrame>
        <p:nvGraphicFramePr>
          <p:cNvPr id="60" name="">
            <a:extLst xmlns:a="http://schemas.openxmlformats.org/drawingml/2006/main">
              <a:ext uri="{FF2B5EF4-FFF2-40B4-BE49-F238E27FC236}">
                <a16:creationId xmlns:a16="http://schemas.microsoft.com/office/drawing/2014/main" id="{6A424F1F-B61E-4731-89B8-08C1328F2212}"/>
              </a:ext>
            </a:extLst>
          </p:cNvPr>
          <p:cNvGraphicFramePr/>
          <p:nvPr/>
        </p:nvGraphicFramePr>
        <p:xfrm>
          <a:off xmlns:a="http://schemas.openxmlformats.org/drawingml/2006/main" x="1000125" y="1857375"/>
          <a:ext xmlns:a="http://schemas.openxmlformats.org/drawingml/2006/main" cx="4429125" cy="2381250"/>
        </p:xfrm>
        <a:graphic xmlns:a="http://schemas.openxmlformats.org/drawingml/2006/main">
          <a:graphicData uri="http://schemas.openxmlformats.org/drawingml/2006/table">
            <a:tbl>
              <a:tblPr/>
              <a:tblGrid>
                <a:gridCol w="2143125"/>
                <a:gridCol w="1095375"/>
                <a:gridCol w="1190625"/>
              </a:tblGrid>
              <a:tr h="793750">
                <a:tc>
                  <a:txBody>
                    <a:bodyPr/>
                    <a:lstStyle/>
                    <a:p>
                      <a:r>
                        <a:rPr sz="1875" b="1">
                          <a:solidFill>
                            <a:srgbClr val="FFFFFF"/>
                          </a:solidFill>
                          <a:latin typeface="Aptos"/>
                          <a:ea typeface="Aptos"/>
                          <a:cs typeface="Aptos"/>
                        </a:rPr>
                        <a:t>Actual / predicted</a:t>
                      </a:r>
                    </a:p>
                  </a:txBody>
                  <a:tcPr marL="91440" marR="91440" marT="45720" marB="45720">
                    <a:lnL w="5715">
                      <a:solidFill>
                        <a:srgbClr val="D1DDE2"/>
                      </a:solidFill>
                      <a:prstDash val="solid"/>
                    </a:lnL>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c>
                  <a:txBody>
                    <a:bodyPr/>
                    <a:lstStyle/>
                    <a:p>
                      <a:r>
                        <a:rPr sz="1875" b="1">
                          <a:solidFill>
                            <a:srgbClr val="FFFFFF"/>
                          </a:solidFill>
                          <a:latin typeface="Aptos"/>
                          <a:ea typeface="Aptos"/>
                          <a:cs typeface="Aptos"/>
                        </a:rPr>
                        <a:t>e</a:t>
                      </a:r>
                    </a:p>
                  </a:txBody>
                  <a:tcPr marL="91440" marR="91440" marT="45720" marB="45720">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c>
                  <a:txBody>
                    <a:bodyPr/>
                    <a:lstStyle/>
                    <a:p>
                      <a:r>
                        <a:rPr sz="1875" b="1">
                          <a:solidFill>
                            <a:srgbClr val="FFFFFF"/>
                          </a:solidFill>
                          <a:latin typeface="Aptos"/>
                          <a:ea typeface="Aptos"/>
                          <a:cs typeface="Aptos"/>
                        </a:rPr>
                        <a:t>p</a:t>
                      </a:r>
                    </a:p>
                  </a:txBody>
                  <a:tcPr marL="91440" marR="91440" marT="45720" marB="45720">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r>
              <a:tr h="793750">
                <a:tc>
                  <a:txBody>
                    <a:bodyPr/>
                    <a:lstStyle/>
                    <a:p>
                      <a:r>
                        <a:rPr sz="1875" b="0">
                          <a:solidFill>
                            <a:srgbClr val="000000"/>
                          </a:solidFill>
                          <a:latin typeface="Aptos"/>
                          <a:ea typeface="Aptos"/>
                          <a:cs typeface="Aptos"/>
                        </a:rPr>
                        <a:t>Edible (e)</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FFFFF"/>
                    </a:solidFill>
                  </a:tcPr>
                </a:tc>
                <a:tc>
                  <a:txBody>
                    <a:bodyPr/>
                    <a:lstStyle/>
                    <a:p>
                      <a:r>
                        <a:rPr sz="1875" b="0">
                          <a:solidFill>
                            <a:srgbClr val="000000"/>
                          </a:solidFill>
                          <a:latin typeface="Aptos"/>
                          <a:ea typeface="Aptos"/>
                          <a:cs typeface="Aptos"/>
                        </a:rPr>
                        <a:t>512</a:t>
                      </a:r>
                    </a:p>
                  </a:txBody>
                  <a:tcPr marL="91440" marR="91440" marT="45720" marB="45720">
                    <a:lnR w="5715">
                      <a:solidFill>
                        <a:srgbClr val="D1DDE2"/>
                      </a:solidFill>
                      <a:prstDash val="solid"/>
                    </a:lnR>
                    <a:lnB w="5715">
                      <a:solidFill>
                        <a:srgbClr val="D1DDE2"/>
                      </a:solidFill>
                      <a:prstDash val="solid"/>
                    </a:lnB>
                    <a:solidFill>
                      <a:srgbClr val="FFFFFF"/>
                    </a:solidFill>
                  </a:tcPr>
                </a:tc>
                <a:tc>
                  <a:txBody>
                    <a:bodyPr/>
                    <a:lstStyle/>
                    <a:p>
                      <a:r>
                        <a:rPr sz="1875" b="0">
                          <a:solidFill>
                            <a:srgbClr val="000000"/>
                          </a:solidFill>
                          <a:latin typeface="Aptos"/>
                          <a:ea typeface="Aptos"/>
                          <a:cs typeface="Aptos"/>
                        </a:rPr>
                        <a:t>47</a:t>
                      </a:r>
                    </a:p>
                  </a:txBody>
                  <a:tcPr marL="91440" marR="91440" marT="45720" marB="45720">
                    <a:lnR w="5715">
                      <a:solidFill>
                        <a:srgbClr val="D1DDE2"/>
                      </a:solidFill>
                      <a:prstDash val="solid"/>
                    </a:lnR>
                    <a:lnB w="5715">
                      <a:solidFill>
                        <a:srgbClr val="D1DDE2"/>
                      </a:solidFill>
                      <a:prstDash val="solid"/>
                    </a:lnB>
                    <a:solidFill>
                      <a:srgbClr val="FFFFFF"/>
                    </a:solidFill>
                  </a:tcPr>
                </a:tc>
              </a:tr>
              <a:tr h="793750">
                <a:tc>
                  <a:txBody>
                    <a:bodyPr/>
                    <a:lstStyle/>
                    <a:p>
                      <a:r>
                        <a:rPr sz="1875" b="0">
                          <a:solidFill>
                            <a:srgbClr val="000000"/>
                          </a:solidFill>
                          <a:latin typeface="Aptos"/>
                          <a:ea typeface="Aptos"/>
                          <a:cs typeface="Aptos"/>
                        </a:rPr>
                        <a:t>Poisonous (p)</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1F7FA"/>
                    </a:solidFill>
                  </a:tcPr>
                </a:tc>
                <a:tc>
                  <a:txBody>
                    <a:bodyPr/>
                    <a:lstStyle/>
                    <a:p>
                      <a:r>
                        <a:rPr sz="1875" b="0">
                          <a:solidFill>
                            <a:srgbClr val="000000"/>
                          </a:solidFill>
                          <a:latin typeface="Aptos"/>
                          <a:ea typeface="Aptos"/>
                          <a:cs typeface="Aptos"/>
                        </a:rPr>
                        <a:t>121</a:t>
                      </a:r>
                    </a:p>
                  </a:txBody>
                  <a:tcPr marL="91440" marR="91440" marT="45720" marB="45720">
                    <a:lnR w="5715">
                      <a:solidFill>
                        <a:srgbClr val="D1DDE2"/>
                      </a:solidFill>
                      <a:prstDash val="solid"/>
                    </a:lnR>
                    <a:lnB w="5715">
                      <a:solidFill>
                        <a:srgbClr val="D1DDE2"/>
                      </a:solidFill>
                      <a:prstDash val="solid"/>
                    </a:lnB>
                    <a:solidFill>
                      <a:srgbClr val="F1F7FA"/>
                    </a:solidFill>
                  </a:tcPr>
                </a:tc>
                <a:tc>
                  <a:txBody>
                    <a:bodyPr/>
                    <a:lstStyle/>
                    <a:p>
                      <a:r>
                        <a:rPr sz="1875" b="0">
                          <a:solidFill>
                            <a:srgbClr val="000000"/>
                          </a:solidFill>
                          <a:latin typeface="Aptos"/>
                          <a:ea typeface="Aptos"/>
                          <a:cs typeface="Aptos"/>
                        </a:rPr>
                        <a:t>220</a:t>
                      </a:r>
                    </a:p>
                  </a:txBody>
                  <a:tcPr marL="91440" marR="91440" marT="45720" marB="45720">
                    <a:lnR w="5715">
                      <a:solidFill>
                        <a:srgbClr val="D1DDE2"/>
                      </a:solidFill>
                      <a:prstDash val="solid"/>
                    </a:lnR>
                    <a:lnB w="5715">
                      <a:solidFill>
                        <a:srgbClr val="D1DDE2"/>
                      </a:solidFill>
                      <a:prstDash val="solid"/>
                    </a:lnB>
                    <a:solidFill>
                      <a:srgbClr val="F1F7FA"/>
                    </a:solidFill>
                  </a:tcPr>
                </a:tc>
              </a:tr>
            </a:tbl>
          </a:graphicData>
        </a:graphic>
      </p:graphicFrame>
      <p:sp>
        <p:nvSpPr>
          <p:cNvPr id="61" name="content-6">
            <a:extLst xmlns:a="http://schemas.openxmlformats.org/drawingml/2006/main">
              <a:ext uri="{FF2B5EF4-FFF2-40B4-BE49-F238E27FC236}">
                <a16:creationId xmlns:a16="http://schemas.microsoft.com/office/drawing/2014/main" id="{DFD67EDE-6918-4FB5-822B-5C5490013EC8}"/>
              </a:ext>
            </a:extLst>
          </p:cNvPr>
          <p:cNvSpPr>
            <a:spLocks xmlns:a="http://schemas.openxmlformats.org/drawingml/2006/main" noGrp="1"/>
          </p:cNvSpPr>
          <p:nvPr/>
        </p:nvSpPr>
        <p:spPr>
          <a:xfrm xmlns:a="http://schemas.openxmlformats.org/drawingml/2006/main">
            <a:off x="1028700" y="457200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55555"/>
                </a:solidFill>
                <a:latin typeface="Aptos"/>
                <a:ea typeface="Aptos"/>
                <a:cs typeface="Aptos"/>
              </a:defRPr>
            </a:defPPr>
          </a:lstStyle>
          <a:p xmlns:a="http://schemas.openxmlformats.org/drawingml/2006/main">
            <a:pPr>
              <a:buNone/>
              <a:defRPr sz="1875" b="0">
                <a:solidFill>
                  <a:srgbClr val="555555"/>
                </a:solidFill>
                <a:latin typeface="Aptos"/>
                <a:ea typeface="Aptos"/>
                <a:cs typeface="Aptos"/>
              </a:defRPr>
            </a:pPr>
            <a:r>
              <a:rPr sz="1875" b="0">
                <a:solidFill>
                  <a:srgbClr val="555555"/>
                </a:solidFill>
                <a:latin typeface="Aptos"/>
                <a:ea typeface="Aptos"/>
                <a:cs typeface="Aptos"/>
              </a:rPr>
              <a:t>Development test: 900 records</a:t>
            </a:r>
          </a:p>
        </p:txBody>
      </p:sp>
      <p:sp>
        <p:nvSpPr>
          <p:cNvPr id="62" name="content-7">
            <a:extLst xmlns:a="http://schemas.openxmlformats.org/drawingml/2006/main">
              <a:ext uri="{FF2B5EF4-FFF2-40B4-BE49-F238E27FC236}">
                <a16:creationId xmlns:a16="http://schemas.microsoft.com/office/drawing/2014/main" id="{3BACDED6-E67E-40BE-94D9-A384C403A1CD}"/>
              </a:ext>
            </a:extLst>
          </p:cNvPr>
          <p:cNvSpPr>
            <a:spLocks xmlns:a="http://schemas.openxmlformats.org/drawingml/2006/main" noGrp="1"/>
          </p:cNvSpPr>
          <p:nvPr/>
        </p:nvSpPr>
        <p:spPr>
          <a:xfrm xmlns:a="http://schemas.openxmlformats.org/drawingml/2006/main">
            <a:off x="5953125" y="2667000"/>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300 trees; max depth 20</a:t>
            </a:r>
          </a:p>
        </p:txBody>
      </p:sp>
      <p:sp>
        <p:nvSpPr>
          <p:cNvPr id="63" name="content-8">
            <a:extLst xmlns:a="http://schemas.openxmlformats.org/drawingml/2006/main">
              <a:ext uri="{FF2B5EF4-FFF2-40B4-BE49-F238E27FC236}">
                <a16:creationId xmlns:a16="http://schemas.microsoft.com/office/drawing/2014/main" id="{AC497436-D946-4061-A173-1ADC5345721A}"/>
              </a:ext>
            </a:extLst>
          </p:cNvPr>
          <p:cNvSpPr>
            <a:spLocks xmlns:a="http://schemas.openxmlformats.org/drawingml/2006/main" noGrp="1"/>
          </p:cNvSpPr>
          <p:nvPr/>
        </p:nvSpPr>
        <p:spPr>
          <a:xfrm xmlns:a="http://schemas.openxmlformats.org/drawingml/2006/main">
            <a:off x="5953125" y="3276600"/>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CV macro F1: 0.762</a:t>
            </a:r>
          </a:p>
        </p:txBody>
      </p:sp>
      <p:sp>
        <p:nvSpPr>
          <p:cNvPr id="64" name="content-9">
            <a:extLst xmlns:a="http://schemas.openxmlformats.org/drawingml/2006/main">
              <a:ext uri="{FF2B5EF4-FFF2-40B4-BE49-F238E27FC236}">
                <a16:creationId xmlns:a16="http://schemas.microsoft.com/office/drawing/2014/main" id="{7F39D1C6-2B1A-41BD-82DD-860216302E32}"/>
              </a:ext>
            </a:extLst>
          </p:cNvPr>
          <p:cNvSpPr>
            <a:spLocks xmlns:a="http://schemas.openxmlformats.org/drawingml/2006/main" noGrp="1"/>
          </p:cNvSpPr>
          <p:nvPr/>
        </p:nvSpPr>
        <p:spPr>
          <a:xfrm xmlns:a="http://schemas.openxmlformats.org/drawingml/2006/main">
            <a:off x="5953125" y="3886200"/>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Accuracy: 81.33%</a:t>
            </a:r>
          </a:p>
        </p:txBody>
      </p:sp>
      <p:sp>
        <p:nvSpPr>
          <p:cNvPr id="65" name="content-10">
            <a:extLst xmlns:a="http://schemas.openxmlformats.org/drawingml/2006/main">
              <a:ext uri="{FF2B5EF4-FFF2-40B4-BE49-F238E27FC236}">
                <a16:creationId xmlns:a16="http://schemas.microsoft.com/office/drawing/2014/main" id="{5ADE1183-4DF8-4F7A-943C-B2BA0AF02A9D}"/>
              </a:ext>
            </a:extLst>
          </p:cNvPr>
          <p:cNvSpPr>
            <a:spLocks xmlns:a="http://schemas.openxmlformats.org/drawingml/2006/main" noGrp="1"/>
          </p:cNvSpPr>
          <p:nvPr/>
        </p:nvSpPr>
        <p:spPr>
          <a:xfrm xmlns:a="http://schemas.openxmlformats.org/drawingml/2006/main">
            <a:off x="5953125" y="4495800"/>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Poisonous recall: 64.52%</a:t>
            </a:r>
          </a:p>
        </p:txBody>
      </p:sp>
      <p:sp>
        <p:nvSpPr>
          <p:cNvPr id="66" name="content-11">
            <a:extLst xmlns:a="http://schemas.openxmlformats.org/drawingml/2006/main">
              <a:ext uri="{FF2B5EF4-FFF2-40B4-BE49-F238E27FC236}">
                <a16:creationId xmlns:a16="http://schemas.microsoft.com/office/drawing/2014/main" id="{D48F65C6-2427-49D3-B120-065D7F00555A}"/>
              </a:ext>
            </a:extLst>
          </p:cNvPr>
          <p:cNvSpPr>
            <a:spLocks xmlns:a="http://schemas.openxmlformats.org/drawingml/2006/main" noGrp="1"/>
          </p:cNvSpPr>
          <p:nvPr/>
        </p:nvSpPr>
        <p:spPr>
          <a:xfrm xmlns:a="http://schemas.openxmlformats.org/drawingml/2006/main">
            <a:off x="5953125" y="5105400"/>
            <a:ext cx="5143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121 poisonous cases missed</a:t>
            </a:r>
          </a:p>
        </p:txBody>
      </p:sp>
    </p:spTree>
    <p:extLst>
      <p:ext uri="{BB962C8B-B14F-4D97-AF65-F5344CB8AC3E}">
        <p14:creationId xmlns:p14="http://schemas.microsoft.com/office/powerpoint/2010/main" val="26771014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useBgFill="1">
        <p:nvSpPr>
          <p:cNvPr id="30" name="Rectangle 29">
            <a:extLst xmlns:a="http://schemas.openxmlformats.org/drawingml/2006/main">
              <a:ext uri="{FF2B5EF4-FFF2-40B4-BE49-F238E27FC236}">
                <a16:creationId xmlns:a16="http://schemas.microsoft.com/office/drawing/2014/main" id="{149FB5C3-7336-4FE0-A30C-CC0A3646D499}"/>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Rectangle 32">
            <a:extLst xmlns:a="http://schemas.openxmlformats.org/drawingml/2006/main">
              <a:ext uri="{FF2B5EF4-FFF2-40B4-BE49-F238E27FC236}">
                <a16:creationId xmlns:a16="http://schemas.microsoft.com/office/drawing/2014/main" id="{E3F3EAA5-4E15-400B-BBA3-82B3F49A2178}"/>
              </a:ext>
            </a:extLst>
          </p:cNvPr>
          <p:cNvSpPr>
            <a:spLocks xmlns:a="http://schemas.openxmlformats.org/drawingml/2006/main" noGrp="1"/>
          </p:cNvSpPr>
          <p:nvPr/>
        </p:nvSpPr>
        <p:spPr>
          <a:xfrm xmlns:a="http://schemas.openxmlformats.org/drawingml/2006/main" rot="5400000" flipH="0" flipV="0">
            <a:off x="3032052" y="2878474"/>
            <a:ext cx="816039" cy="102807"/>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Rectangle 33">
            <a:extLst xmlns:a="http://schemas.openxmlformats.org/drawingml/2006/main">
              <a:ext uri="{FF2B5EF4-FFF2-40B4-BE49-F238E27FC236}">
                <a16:creationId xmlns:a16="http://schemas.microsoft.com/office/drawing/2014/main" id="{72BA2E40-BE9B-4C54-9CDD-40EE804CCE64}"/>
              </a:ext>
            </a:extLst>
          </p:cNvPr>
          <p:cNvSpPr>
            <a:spLocks xmlns:a="http://schemas.openxmlformats.org/drawingml/2006/main" noGrp="1"/>
          </p:cNvSpPr>
          <p:nvPr/>
        </p:nvSpPr>
        <p:spPr>
          <a:xfrm xmlns:a="http://schemas.openxmlformats.org/drawingml/2006/main" rot="0" flipH="1" flipV="1">
            <a:off x="-2340441" y="2666504"/>
            <a:ext cx="5608997" cy="52739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Rectangle 35">
            <a:extLst xmlns:a="http://schemas.openxmlformats.org/drawingml/2006/main">
              <a:ext uri="{FF2B5EF4-FFF2-40B4-BE49-F238E27FC236}">
                <a16:creationId xmlns:a16="http://schemas.microsoft.com/office/drawing/2014/main" id="{0DA909B4-15FF-46A6-8A7F-7AEF977FE9ED}"/>
              </a:ext>
            </a:extLst>
          </p:cNvPr>
          <p:cNvSpPr>
            <a:spLocks xmlns:a="http://schemas.openxmlformats.org/drawingml/2006/main" noGrp="1"/>
          </p:cNvSpPr>
          <p:nvPr/>
        </p:nvSpPr>
        <p:spPr>
          <a:xfrm xmlns:a="http://schemas.openxmlformats.org/drawingml/2006/main">
            <a:off x="579528" y="517897"/>
            <a:ext cx="11111729" cy="5857966"/>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Rectangle 37">
            <a:extLst xmlns:a="http://schemas.openxmlformats.org/drawingml/2006/main">
              <a:ext uri="{FF2B5EF4-FFF2-40B4-BE49-F238E27FC236}">
                <a16:creationId xmlns:a16="http://schemas.microsoft.com/office/drawing/2014/main" id="{1382A32C-5B0C-4B1C-A074-76C6DBCC9F87}"/>
              </a:ext>
            </a:extLst>
          </p:cNvPr>
          <p:cNvSpPr>
            <a:spLocks xmlns:a="http://schemas.openxmlformats.org/drawingml/2006/main" noGrp="1"/>
          </p:cNvSpPr>
          <p:nvPr/>
        </p:nvSpPr>
        <p:spPr>
          <a:xfrm xmlns:a="http://schemas.openxmlformats.org/drawingml/2006/main" flipH="1">
            <a:off x="1055714" y="2263365"/>
            <a:ext cx="4937760" cy="2743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content-5">
            <a:extLst xmlns:a="http://schemas.openxmlformats.org/drawingml/2006/main">
              <a:ext uri="{FF2B5EF4-FFF2-40B4-BE49-F238E27FC236}">
                <a16:creationId xmlns:a16="http://schemas.microsoft.com/office/drawing/2014/main" id="{F09FFC55-4F3D-4AB3-94AC-34EA94C8EE99}"/>
              </a:ext>
            </a:extLst>
          </p:cNvPr>
          <p:cNvSpPr>
            <a:spLocks xmlns:a="http://schemas.openxmlformats.org/drawingml/2006/main" noGrp="1"/>
          </p:cNvSpPr>
          <p:nvPr/>
        </p:nvSpPr>
        <p:spPr>
          <a:xfrm xmlns:a="http://schemas.openxmlformats.org/drawingml/2006/main">
            <a:off x="1143000" y="9810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Mushroom Challenge -</a:t>
            </a:r>
          </a:p>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Other models</a:t>
            </a:r>
          </a:p>
        </p:txBody>
      </p:sp>
      <p:sp>
        <p:nvSpPr>
          <p:cNvPr id="40" name="content-6">
            <a:extLst xmlns:a="http://schemas.openxmlformats.org/drawingml/2006/main">
              <a:ext uri="{FF2B5EF4-FFF2-40B4-BE49-F238E27FC236}">
                <a16:creationId xmlns:a16="http://schemas.microsoft.com/office/drawing/2014/main" id="{AA4FD0D3-C227-4239-86DE-E9469CE46B60}"/>
              </a:ext>
            </a:extLst>
          </p:cNvPr>
          <p:cNvSpPr>
            <a:spLocks xmlns:a="http://schemas.openxmlformats.org/drawingml/2006/main" noGrp="1"/>
          </p:cNvSpPr>
          <p:nvPr/>
        </p:nvSpPr>
        <p:spPr>
          <a:xfrm xmlns:a="http://schemas.openxmlformats.org/drawingml/2006/main">
            <a:off x="1143000" y="285750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Gradient Boosting</a:t>
            </a:r>
          </a:p>
        </p:txBody>
      </p:sp>
      <p:sp>
        <p:nvSpPr>
          <p:cNvPr id="41" name="content-7">
            <a:extLst xmlns:a="http://schemas.openxmlformats.org/drawingml/2006/main">
              <a:ext uri="{FF2B5EF4-FFF2-40B4-BE49-F238E27FC236}">
                <a16:creationId xmlns:a16="http://schemas.microsoft.com/office/drawing/2014/main" id="{D699B8E9-4310-464F-B980-00F994761E2E}"/>
              </a:ext>
            </a:extLst>
          </p:cNvPr>
          <p:cNvSpPr>
            <a:spLocks xmlns:a="http://schemas.openxmlformats.org/drawingml/2006/main" noGrp="1"/>
          </p:cNvSpPr>
          <p:nvPr/>
        </p:nvSpPr>
        <p:spPr>
          <a:xfrm xmlns:a="http://schemas.openxmlformats.org/drawingml/2006/main">
            <a:off x="1143000" y="346710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Sequential decision trees</a:t>
            </a:r>
          </a:p>
        </p:txBody>
      </p:sp>
      <p:sp>
        <p:nvSpPr>
          <p:cNvPr id="42" name="content-8">
            <a:extLst xmlns:a="http://schemas.openxmlformats.org/drawingml/2006/main">
              <a:ext uri="{FF2B5EF4-FFF2-40B4-BE49-F238E27FC236}">
                <a16:creationId xmlns:a16="http://schemas.microsoft.com/office/drawing/2014/main" id="{6BAEE175-CC9E-4DFE-9E8F-9BB3871280DB}"/>
              </a:ext>
            </a:extLst>
          </p:cNvPr>
          <p:cNvSpPr>
            <a:spLocks xmlns:a="http://schemas.openxmlformats.org/drawingml/2006/main" noGrp="1"/>
          </p:cNvSpPr>
          <p:nvPr/>
        </p:nvSpPr>
        <p:spPr>
          <a:xfrm xmlns:a="http://schemas.openxmlformats.org/drawingml/2006/main">
            <a:off x="1143000" y="407670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Logistic Regression</a:t>
            </a:r>
          </a:p>
        </p:txBody>
      </p:sp>
      <p:sp>
        <p:nvSpPr>
          <p:cNvPr id="43" name="content-9">
            <a:extLst xmlns:a="http://schemas.openxmlformats.org/drawingml/2006/main">
              <a:ext uri="{FF2B5EF4-FFF2-40B4-BE49-F238E27FC236}">
                <a16:creationId xmlns:a16="http://schemas.microsoft.com/office/drawing/2014/main" id="{FB36201B-F9C9-4997-9884-D2698688A704}"/>
              </a:ext>
            </a:extLst>
          </p:cNvPr>
          <p:cNvSpPr>
            <a:spLocks xmlns:a="http://schemas.openxmlformats.org/drawingml/2006/main" noGrp="1"/>
          </p:cNvSpPr>
          <p:nvPr/>
        </p:nvSpPr>
        <p:spPr>
          <a:xfrm xmlns:a="http://schemas.openxmlformats.org/drawingml/2006/main">
            <a:off x="1143000" y="468630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Scaled linear reference</a:t>
            </a:r>
          </a:p>
        </p:txBody>
      </p:sp>
      <p:graphicFrame>
        <p:nvGraphicFramePr>
          <p:cNvPr id="44" name="">
            <a:extLst xmlns:a="http://schemas.openxmlformats.org/drawingml/2006/main">
              <a:ext uri="{FF2B5EF4-FFF2-40B4-BE49-F238E27FC236}">
                <a16:creationId xmlns:a16="http://schemas.microsoft.com/office/drawing/2014/main" id="{A8B5DC3A-0E17-4ABB-A42F-D020B9B8B6F9}"/>
              </a:ext>
            </a:extLst>
          </p:cNvPr>
          <p:cNvGraphicFramePr/>
          <p:nvPr/>
        </p:nvGraphicFramePr>
        <p:xfrm>
          <a:off xmlns:a="http://schemas.openxmlformats.org/drawingml/2006/main" x="6667500" y="1666875"/>
          <a:ext xmlns:a="http://schemas.openxmlformats.org/drawingml/2006/main" cx="4476750" cy="3143250"/>
        </p:xfrm>
        <a:graphic xmlns:a="http://schemas.openxmlformats.org/drawingml/2006/main">
          <a:graphicData uri="http://schemas.openxmlformats.org/drawingml/2006/table">
            <a:tbl>
              <a:tblPr/>
              <a:tblGrid>
                <a:gridCol w="2095500"/>
                <a:gridCol w="1190625"/>
                <a:gridCol w="1190625"/>
              </a:tblGrid>
              <a:tr h="628650">
                <a:tc>
                  <a:txBody>
                    <a:bodyPr/>
                    <a:lstStyle/>
                    <a:p>
                      <a:r>
                        <a:rPr sz="1725" b="1">
                          <a:solidFill>
                            <a:srgbClr val="FFFFFF"/>
                          </a:solidFill>
                          <a:latin typeface="Aptos"/>
                          <a:ea typeface="Aptos"/>
                          <a:cs typeface="Aptos"/>
                        </a:rPr>
                        <a:t>Metric</a:t>
                      </a:r>
                    </a:p>
                  </a:txBody>
                  <a:tcPr marL="91440" marR="91440" marT="45720" marB="45720">
                    <a:lnL w="5715">
                      <a:solidFill>
                        <a:srgbClr val="D1DDE2"/>
                      </a:solidFill>
                      <a:prstDash val="solid"/>
                    </a:lnL>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c>
                  <a:txBody>
                    <a:bodyPr/>
                    <a:lstStyle/>
                    <a:p>
                      <a:r>
                        <a:rPr sz="1725" b="1">
                          <a:solidFill>
                            <a:srgbClr val="FFFFFF"/>
                          </a:solidFill>
                          <a:latin typeface="Aptos"/>
                          <a:ea typeface="Aptos"/>
                          <a:cs typeface="Aptos"/>
                        </a:rPr>
                        <a:t>GB</a:t>
                      </a:r>
                    </a:p>
                  </a:txBody>
                  <a:tcPr marL="91440" marR="91440" marT="45720" marB="45720">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c>
                  <a:txBody>
                    <a:bodyPr/>
                    <a:lstStyle/>
                    <a:p>
                      <a:r>
                        <a:rPr sz="1725" b="1">
                          <a:solidFill>
                            <a:srgbClr val="FFFFFF"/>
                          </a:solidFill>
                          <a:latin typeface="Aptos"/>
                          <a:ea typeface="Aptos"/>
                          <a:cs typeface="Aptos"/>
                        </a:rPr>
                        <a:t>LR</a:t>
                      </a:r>
                    </a:p>
                  </a:txBody>
                  <a:tcPr marL="91440" marR="91440" marT="45720" marB="45720">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r>
              <a:tr h="628650">
                <a:tc>
                  <a:txBody>
                    <a:bodyPr/>
                    <a:lstStyle/>
                    <a:p>
                      <a:r>
                        <a:rPr sz="1725" b="0">
                          <a:solidFill>
                            <a:srgbClr val="000000"/>
                          </a:solidFill>
                          <a:latin typeface="Aptos"/>
                          <a:ea typeface="Aptos"/>
                          <a:cs typeface="Aptos"/>
                        </a:rPr>
                        <a:t>CV macro F1</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FFFFF"/>
                    </a:solidFill>
                  </a:tcPr>
                </a:tc>
                <a:tc>
                  <a:txBody>
                    <a:bodyPr/>
                    <a:lstStyle/>
                    <a:p>
                      <a:r>
                        <a:rPr sz="1725" b="0">
                          <a:solidFill>
                            <a:srgbClr val="000000"/>
                          </a:solidFill>
                          <a:latin typeface="Aptos"/>
                          <a:ea typeface="Aptos"/>
                          <a:cs typeface="Aptos"/>
                        </a:rPr>
                        <a:t>0.719</a:t>
                      </a:r>
                    </a:p>
                  </a:txBody>
                  <a:tcPr marL="91440" marR="91440" marT="45720" marB="45720">
                    <a:lnR w="5715">
                      <a:solidFill>
                        <a:srgbClr val="D1DDE2"/>
                      </a:solidFill>
                      <a:prstDash val="solid"/>
                    </a:lnR>
                    <a:lnB w="5715">
                      <a:solidFill>
                        <a:srgbClr val="D1DDE2"/>
                      </a:solidFill>
                      <a:prstDash val="solid"/>
                    </a:lnB>
                    <a:solidFill>
                      <a:srgbClr val="FFFFFF"/>
                    </a:solidFill>
                  </a:tcPr>
                </a:tc>
                <a:tc>
                  <a:txBody>
                    <a:bodyPr/>
                    <a:lstStyle/>
                    <a:p>
                      <a:r>
                        <a:rPr sz="1725" b="0">
                          <a:solidFill>
                            <a:srgbClr val="000000"/>
                          </a:solidFill>
                          <a:latin typeface="Aptos"/>
                          <a:ea typeface="Aptos"/>
                          <a:cs typeface="Aptos"/>
                        </a:rPr>
                        <a:t>0.626</a:t>
                      </a:r>
                    </a:p>
                  </a:txBody>
                  <a:tcPr marL="91440" marR="91440" marT="45720" marB="45720">
                    <a:lnR w="5715">
                      <a:solidFill>
                        <a:srgbClr val="D1DDE2"/>
                      </a:solidFill>
                      <a:prstDash val="solid"/>
                    </a:lnR>
                    <a:lnB w="5715">
                      <a:solidFill>
                        <a:srgbClr val="D1DDE2"/>
                      </a:solidFill>
                      <a:prstDash val="solid"/>
                    </a:lnB>
                    <a:solidFill>
                      <a:srgbClr val="FFFFFF"/>
                    </a:solidFill>
                  </a:tcPr>
                </a:tc>
              </a:tr>
              <a:tr h="628650">
                <a:tc>
                  <a:txBody>
                    <a:bodyPr/>
                    <a:lstStyle/>
                    <a:p>
                      <a:r>
                        <a:rPr sz="1725" b="0">
                          <a:solidFill>
                            <a:srgbClr val="000000"/>
                          </a:solidFill>
                          <a:latin typeface="Aptos"/>
                          <a:ea typeface="Aptos"/>
                          <a:cs typeface="Aptos"/>
                        </a:rPr>
                        <a:t>Accuracy</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1F7FA"/>
                    </a:solidFill>
                  </a:tcPr>
                </a:tc>
                <a:tc>
                  <a:txBody>
                    <a:bodyPr/>
                    <a:lstStyle/>
                    <a:p>
                      <a:r>
                        <a:rPr sz="1725" b="0">
                          <a:solidFill>
                            <a:srgbClr val="000000"/>
                          </a:solidFill>
                          <a:latin typeface="Aptos"/>
                          <a:ea typeface="Aptos"/>
                          <a:cs typeface="Aptos"/>
                        </a:rPr>
                        <a:t>78.44%</a:t>
                      </a:r>
                    </a:p>
                  </a:txBody>
                  <a:tcPr marL="91440" marR="91440" marT="45720" marB="45720">
                    <a:lnR w="5715">
                      <a:solidFill>
                        <a:srgbClr val="D1DDE2"/>
                      </a:solidFill>
                      <a:prstDash val="solid"/>
                    </a:lnR>
                    <a:lnB w="5715">
                      <a:solidFill>
                        <a:srgbClr val="D1DDE2"/>
                      </a:solidFill>
                      <a:prstDash val="solid"/>
                    </a:lnB>
                    <a:solidFill>
                      <a:srgbClr val="F1F7FA"/>
                    </a:solidFill>
                  </a:tcPr>
                </a:tc>
                <a:tc>
                  <a:txBody>
                    <a:bodyPr/>
                    <a:lstStyle/>
                    <a:p>
                      <a:r>
                        <a:rPr sz="1725" b="0">
                          <a:solidFill>
                            <a:srgbClr val="000000"/>
                          </a:solidFill>
                          <a:latin typeface="Aptos"/>
                          <a:ea typeface="Aptos"/>
                          <a:cs typeface="Aptos"/>
                        </a:rPr>
                        <a:t>68.33%</a:t>
                      </a:r>
                    </a:p>
                  </a:txBody>
                  <a:tcPr marL="91440" marR="91440" marT="45720" marB="45720">
                    <a:lnR w="5715">
                      <a:solidFill>
                        <a:srgbClr val="D1DDE2"/>
                      </a:solidFill>
                      <a:prstDash val="solid"/>
                    </a:lnR>
                    <a:lnB w="5715">
                      <a:solidFill>
                        <a:srgbClr val="D1DDE2"/>
                      </a:solidFill>
                      <a:prstDash val="solid"/>
                    </a:lnB>
                    <a:solidFill>
                      <a:srgbClr val="F1F7FA"/>
                    </a:solidFill>
                  </a:tcPr>
                </a:tc>
              </a:tr>
              <a:tr h="628650">
                <a:tc>
                  <a:txBody>
                    <a:bodyPr/>
                    <a:lstStyle/>
                    <a:p>
                      <a:r>
                        <a:rPr sz="1725" b="0">
                          <a:solidFill>
                            <a:srgbClr val="000000"/>
                          </a:solidFill>
                          <a:latin typeface="Aptos"/>
                          <a:ea typeface="Aptos"/>
                          <a:cs typeface="Aptos"/>
                        </a:rPr>
                        <a:t>Poison recall</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FFFFF"/>
                    </a:solidFill>
                  </a:tcPr>
                </a:tc>
                <a:tc>
                  <a:txBody>
                    <a:bodyPr/>
                    <a:lstStyle/>
                    <a:p>
                      <a:r>
                        <a:rPr sz="1725" b="0">
                          <a:solidFill>
                            <a:srgbClr val="000000"/>
                          </a:solidFill>
                          <a:latin typeface="Aptos"/>
                          <a:ea typeface="Aptos"/>
                          <a:cs typeface="Aptos"/>
                        </a:rPr>
                        <a:t>49.85%</a:t>
                      </a:r>
                    </a:p>
                  </a:txBody>
                  <a:tcPr marL="91440" marR="91440" marT="45720" marB="45720">
                    <a:lnR w="5715">
                      <a:solidFill>
                        <a:srgbClr val="D1DDE2"/>
                      </a:solidFill>
                      <a:prstDash val="solid"/>
                    </a:lnR>
                    <a:lnB w="5715">
                      <a:solidFill>
                        <a:srgbClr val="D1DDE2"/>
                      </a:solidFill>
                      <a:prstDash val="solid"/>
                    </a:lnB>
                    <a:solidFill>
                      <a:srgbClr val="FFFFFF"/>
                    </a:solidFill>
                  </a:tcPr>
                </a:tc>
                <a:tc>
                  <a:txBody>
                    <a:bodyPr/>
                    <a:lstStyle/>
                    <a:p>
                      <a:r>
                        <a:rPr sz="1725" b="0">
                          <a:solidFill>
                            <a:srgbClr val="000000"/>
                          </a:solidFill>
                          <a:latin typeface="Aptos"/>
                          <a:ea typeface="Aptos"/>
                          <a:cs typeface="Aptos"/>
                        </a:rPr>
                        <a:t>60.12%</a:t>
                      </a:r>
                    </a:p>
                  </a:txBody>
                  <a:tcPr marL="91440" marR="91440" marT="45720" marB="45720">
                    <a:lnR w="5715">
                      <a:solidFill>
                        <a:srgbClr val="D1DDE2"/>
                      </a:solidFill>
                      <a:prstDash val="solid"/>
                    </a:lnR>
                    <a:lnB w="5715">
                      <a:solidFill>
                        <a:srgbClr val="D1DDE2"/>
                      </a:solidFill>
                      <a:prstDash val="solid"/>
                    </a:lnB>
                    <a:solidFill>
                      <a:srgbClr val="FFFFFF"/>
                    </a:solidFill>
                  </a:tcPr>
                </a:tc>
              </a:tr>
              <a:tr h="628650">
                <a:tc>
                  <a:txBody>
                    <a:bodyPr/>
                    <a:lstStyle/>
                    <a:p>
                      <a:r>
                        <a:rPr sz="1725" b="0">
                          <a:solidFill>
                            <a:srgbClr val="000000"/>
                          </a:solidFill>
                          <a:latin typeface="Aptos"/>
                          <a:ea typeface="Aptos"/>
                          <a:cs typeface="Aptos"/>
                        </a:rPr>
                        <a:t>Missed poison</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1F7FA"/>
                    </a:solidFill>
                  </a:tcPr>
                </a:tc>
                <a:tc>
                  <a:txBody>
                    <a:bodyPr/>
                    <a:lstStyle/>
                    <a:p>
                      <a:r>
                        <a:rPr sz="1725" b="0">
                          <a:solidFill>
                            <a:srgbClr val="000000"/>
                          </a:solidFill>
                          <a:latin typeface="Aptos"/>
                          <a:ea typeface="Aptos"/>
                          <a:cs typeface="Aptos"/>
                        </a:rPr>
                        <a:t>171</a:t>
                      </a:r>
                    </a:p>
                  </a:txBody>
                  <a:tcPr marL="91440" marR="91440" marT="45720" marB="45720">
                    <a:lnR w="5715">
                      <a:solidFill>
                        <a:srgbClr val="D1DDE2"/>
                      </a:solidFill>
                      <a:prstDash val="solid"/>
                    </a:lnR>
                    <a:lnB w="5715">
                      <a:solidFill>
                        <a:srgbClr val="D1DDE2"/>
                      </a:solidFill>
                      <a:prstDash val="solid"/>
                    </a:lnB>
                    <a:solidFill>
                      <a:srgbClr val="F1F7FA"/>
                    </a:solidFill>
                  </a:tcPr>
                </a:tc>
                <a:tc>
                  <a:txBody>
                    <a:bodyPr/>
                    <a:lstStyle/>
                    <a:p>
                      <a:r>
                        <a:rPr sz="1725" b="0">
                          <a:solidFill>
                            <a:srgbClr val="000000"/>
                          </a:solidFill>
                          <a:latin typeface="Aptos"/>
                          <a:ea typeface="Aptos"/>
                          <a:cs typeface="Aptos"/>
                        </a:rPr>
                        <a:t>136</a:t>
                      </a:r>
                    </a:p>
                  </a:txBody>
                  <a:tcPr marL="91440" marR="91440" marT="45720" marB="45720">
                    <a:lnR w="5715">
                      <a:solidFill>
                        <a:srgbClr val="D1DDE2"/>
                      </a:solidFill>
                      <a:prstDash val="solid"/>
                    </a:lnR>
                    <a:lnB w="5715">
                      <a:solidFill>
                        <a:srgbClr val="D1DDE2"/>
                      </a:solidFill>
                      <a:prstDash val="solid"/>
                    </a:lnB>
                    <a:solidFill>
                      <a:srgbClr val="F1F7FA"/>
                    </a:solidFill>
                  </a:tcPr>
                </a:tc>
              </a:tr>
            </a:tbl>
          </a:graphicData>
        </a:graphic>
      </p:graphicFrame>
      <p:sp>
        <p:nvSpPr>
          <p:cNvPr id="45" name="content-10">
            <a:extLst xmlns:a="http://schemas.openxmlformats.org/drawingml/2006/main">
              <a:ext uri="{FF2B5EF4-FFF2-40B4-BE49-F238E27FC236}">
                <a16:creationId xmlns:a16="http://schemas.microsoft.com/office/drawing/2014/main" id="{CFF2CC4D-FF55-4C13-B421-4AF08B596D47}"/>
              </a:ext>
            </a:extLst>
          </p:cNvPr>
          <p:cNvSpPr>
            <a:spLocks xmlns:a="http://schemas.openxmlformats.org/drawingml/2006/main" noGrp="1"/>
          </p:cNvSpPr>
          <p:nvPr/>
        </p:nvSpPr>
        <p:spPr>
          <a:xfrm xmlns:a="http://schemas.openxmlformats.org/drawingml/2006/main">
            <a:off x="6715125" y="5143500"/>
            <a:ext cx="4429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55555"/>
                </a:solidFill>
                <a:latin typeface="Aptos"/>
                <a:ea typeface="Aptos"/>
                <a:cs typeface="Aptos"/>
              </a:defRPr>
            </a:defPPr>
          </a:lstStyle>
          <a:p xmlns:a="http://schemas.openxmlformats.org/drawingml/2006/main">
            <a:pPr>
              <a:buNone/>
              <a:defRPr sz="1725" b="0">
                <a:solidFill>
                  <a:srgbClr val="555555"/>
                </a:solidFill>
                <a:latin typeface="Aptos"/>
                <a:ea typeface="Aptos"/>
                <a:cs typeface="Aptos"/>
              </a:defRPr>
            </a:pPr>
            <a:r>
              <a:rPr sz="1725" b="0">
                <a:solidFill>
                  <a:srgbClr val="555555"/>
                </a:solidFill>
                <a:latin typeface="Aptos"/>
                <a:ea typeface="Aptos"/>
                <a:cs typeface="Aptos"/>
              </a:rPr>
              <a:t>Mean fit/fold: LR 0.31s, GB 3.07s</a:t>
            </a:r>
          </a:p>
          <a:p xmlns:a="http://schemas.openxmlformats.org/drawingml/2006/main">
            <a:pPr>
              <a:buNone/>
              <a:defRPr sz="1725" b="0">
                <a:solidFill>
                  <a:srgbClr val="555555"/>
                </a:solidFill>
                <a:latin typeface="Aptos"/>
                <a:ea typeface="Aptos"/>
                <a:cs typeface="Aptos"/>
              </a:defRPr>
            </a:pPr>
            <a:r>
              <a:rPr sz="1725" b="0">
                <a:solidFill>
                  <a:srgbClr val="555555"/>
                </a:solidFill>
                <a:latin typeface="Aptos"/>
                <a:ea typeface="Aptos"/>
                <a:cs typeface="Aptos"/>
              </a:rPr>
              <a:t>RF300: 6.36s; strongest CV score</a:t>
            </a:r>
          </a:p>
        </p:txBody>
      </p:sp>
    </p:spTree>
    <p:extLst>
      <p:ext uri="{BB962C8B-B14F-4D97-AF65-F5344CB8AC3E}">
        <p14:creationId xmlns:p14="http://schemas.microsoft.com/office/powerpoint/2010/main" val="11644855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useBgFill="1">
        <p:nvSpPr>
          <p:cNvPr id="10" name="Rectangle 9">
            <a:extLst xmlns:a="http://schemas.openxmlformats.org/drawingml/2006/main">
              <a:ext uri="{FF2B5EF4-FFF2-40B4-BE49-F238E27FC236}">
                <a16:creationId xmlns:a16="http://schemas.microsoft.com/office/drawing/2014/main" id="{FFB60E8C-7224-44A4-87A0-46A1711DD2ED}"/>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5DA32751-37A2-45C0-BE94-63D375E27003}"/>
              </a:ext>
            </a:extLst>
          </p:cNvPr>
          <p:cNvSpPr>
            <a:spLocks xmlns:a="http://schemas.openxmlformats.org/drawingml/2006/main" noGrp="1"/>
          </p:cNvSpPr>
          <p:nvPr/>
        </p:nvSpPr>
        <p:spPr>
          <a:xfrm xmlns:a="http://schemas.openxmlformats.org/drawingml/2006/main" flipH="1" flipV="1">
            <a:off x="-2" y="1998845"/>
            <a:ext cx="11454595" cy="781699"/>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E659831F-0D9A-4C63-9EBB-8435B85A440F}"/>
              </a:ext>
            </a:extLst>
          </p:cNvPr>
          <p:cNvSpPr>
            <a:spLocks xmlns:a="http://schemas.openxmlformats.org/drawingml/2006/main" noGrp="1"/>
          </p:cNvSpPr>
          <p:nvPr/>
        </p:nvSpPr>
        <p:spPr>
          <a:xfrm xmlns:a="http://schemas.openxmlformats.org/drawingml/2006/main">
            <a:off x="0" y="2203079"/>
            <a:ext cx="11383362" cy="4267991"/>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5A55FBCD-CD42-40F5-8A1B-3203F9CAEEAA}"/>
              </a:ext>
            </a:extLst>
          </p:cNvPr>
          <p:cNvSpPr>
            <a:spLocks xmlns:a="http://schemas.openxmlformats.org/drawingml/2006/main" noGrp="1"/>
          </p:cNvSpPr>
          <p:nvPr/>
        </p:nvSpPr>
        <p:spPr>
          <a:xfrm xmlns:a="http://schemas.openxmlformats.org/drawingml/2006/main" rot="5400000">
            <a:off x="11228040" y="2313027"/>
            <a:ext cx="781700" cy="1523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content-4">
            <a:extLst xmlns:a="http://schemas.openxmlformats.org/drawingml/2006/main">
              <a:ext uri="{FF2B5EF4-FFF2-40B4-BE49-F238E27FC236}">
                <a16:creationId xmlns:a16="http://schemas.microsoft.com/office/drawing/2014/main" id="{7C05798D-ED3A-4E7B-BE01-ADC941C7555B}"/>
              </a:ext>
            </a:extLst>
          </p:cNvPr>
          <p:cNvSpPr>
            <a:spLocks xmlns:a="http://schemas.openxmlformats.org/drawingml/2006/main" noGrp="1"/>
          </p:cNvSpPr>
          <p:nvPr/>
        </p:nvSpPr>
        <p:spPr>
          <a:xfrm xmlns:a="http://schemas.openxmlformats.org/drawingml/2006/main">
            <a:off x="809625" y="666750"/>
            <a:ext cx="1028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0">
                <a:solidFill>
                  <a:srgbClr val="000000"/>
                </a:solidFill>
                <a:latin typeface="Aptos Display"/>
                <a:ea typeface="Aptos Display"/>
                <a:cs typeface="Aptos Display"/>
              </a:defRPr>
            </a:defPPr>
          </a:lstStyle>
          <a:p xmlns:a="http://schemas.openxmlformats.org/drawingml/2006/main">
            <a:pPr>
              <a:buNone/>
              <a:defRPr sz="3600" b="0">
                <a:solidFill>
                  <a:srgbClr val="000000"/>
                </a:solidFill>
                <a:latin typeface="Aptos Display"/>
                <a:ea typeface="Aptos Display"/>
                <a:cs typeface="Aptos Display"/>
              </a:defRPr>
            </a:pPr>
            <a:r>
              <a:rPr sz="3600" b="0">
                <a:solidFill>
                  <a:srgbClr val="000000"/>
                </a:solidFill>
                <a:latin typeface="Aptos Display"/>
                <a:ea typeface="Aptos Display"/>
                <a:cs typeface="Aptos Display"/>
              </a:rPr>
              <a:t>Mushroom Challenge - AutoML</a:t>
            </a:r>
          </a:p>
        </p:txBody>
      </p:sp>
      <p:graphicFrame>
        <p:nvGraphicFramePr>
          <p:cNvPr id="18" name="">
            <a:extLst xmlns:a="http://schemas.openxmlformats.org/drawingml/2006/main">
              <a:ext uri="{FF2B5EF4-FFF2-40B4-BE49-F238E27FC236}">
                <a16:creationId xmlns:a16="http://schemas.microsoft.com/office/drawing/2014/main" id="{FAF0B56F-1651-41D7-BEB2-F2C2CC1B8F80}"/>
              </a:ext>
            </a:extLst>
          </p:cNvPr>
          <p:cNvGraphicFramePr/>
          <p:nvPr/>
        </p:nvGraphicFramePr>
        <p:xfrm>
          <a:off xmlns:a="http://schemas.openxmlformats.org/drawingml/2006/main" x="809625" y="2619375"/>
          <a:ext xmlns:a="http://schemas.openxmlformats.org/drawingml/2006/main" cx="9906000" cy="2476500"/>
        </p:xfrm>
        <a:graphic xmlns:a="http://schemas.openxmlformats.org/drawingml/2006/main">
          <a:graphicData uri="http://schemas.openxmlformats.org/drawingml/2006/table">
            <a:tbl>
              <a:tblPr/>
              <a:tblGrid>
                <a:gridCol w="4572000"/>
                <a:gridCol w="2667000"/>
                <a:gridCol w="2667000"/>
              </a:tblGrid>
              <a:tr h="619125">
                <a:tc>
                  <a:txBody>
                    <a:bodyPr/>
                    <a:lstStyle/>
                    <a:p>
                      <a:r>
                        <a:rPr sz="2025" b="1">
                          <a:solidFill>
                            <a:srgbClr val="FFFFFF"/>
                          </a:solidFill>
                          <a:latin typeface="Aptos"/>
                          <a:ea typeface="Aptos"/>
                          <a:cs typeface="Aptos"/>
                        </a:rPr>
                        <a:t>PyCaret default model</a:t>
                      </a:r>
                    </a:p>
                  </a:txBody>
                  <a:tcPr marL="91440" marR="91440" marT="45720" marB="45720">
                    <a:lnL w="5715">
                      <a:solidFill>
                        <a:srgbClr val="D1DDE2"/>
                      </a:solidFill>
                      <a:prstDash val="solid"/>
                    </a:lnL>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c>
                  <a:txBody>
                    <a:bodyPr/>
                    <a:lstStyle/>
                    <a:p>
                      <a:r>
                        <a:rPr sz="2025" b="1">
                          <a:solidFill>
                            <a:srgbClr val="FFFFFF"/>
                          </a:solidFill>
                          <a:latin typeface="Aptos"/>
                          <a:ea typeface="Aptos"/>
                          <a:cs typeface="Aptos"/>
                        </a:rPr>
                        <a:t>CV macro F1</a:t>
                      </a:r>
                    </a:p>
                  </a:txBody>
                  <a:tcPr marL="91440" marR="91440" marT="45720" marB="45720">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c>
                  <a:txBody>
                    <a:bodyPr/>
                    <a:lstStyle/>
                    <a:p>
                      <a:r>
                        <a:rPr sz="2025" b="1">
                          <a:solidFill>
                            <a:srgbClr val="FFFFFF"/>
                          </a:solidFill>
                          <a:latin typeface="Aptos"/>
                          <a:ea typeface="Aptos"/>
                          <a:cs typeface="Aptos"/>
                        </a:rPr>
                        <a:t>CV poison recall</a:t>
                      </a:r>
                    </a:p>
                  </a:txBody>
                  <a:tcPr marL="91440" marR="91440" marT="45720" marB="45720">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r>
              <a:tr h="619125">
                <a:tc>
                  <a:txBody>
                    <a:bodyPr/>
                    <a:lstStyle/>
                    <a:p>
                      <a:r>
                        <a:rPr sz="2025" b="0">
                          <a:solidFill>
                            <a:srgbClr val="000000"/>
                          </a:solidFill>
                          <a:latin typeface="Aptos"/>
                          <a:ea typeface="Aptos"/>
                          <a:cs typeface="Aptos"/>
                        </a:rPr>
                        <a:t>Random Forest</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FFFFF"/>
                    </a:solidFill>
                  </a:tcPr>
                </a:tc>
                <a:tc>
                  <a:txBody>
                    <a:bodyPr/>
                    <a:lstStyle/>
                    <a:p>
                      <a:r>
                        <a:rPr sz="2025" b="0">
                          <a:solidFill>
                            <a:srgbClr val="000000"/>
                          </a:solidFill>
                          <a:latin typeface="Aptos"/>
                          <a:ea typeface="Aptos"/>
                          <a:cs typeface="Aptos"/>
                        </a:rPr>
                        <a:t>0.743</a:t>
                      </a:r>
                    </a:p>
                  </a:txBody>
                  <a:tcPr marL="91440" marR="91440" marT="45720" marB="45720">
                    <a:lnR w="5715">
                      <a:solidFill>
                        <a:srgbClr val="D1DDE2"/>
                      </a:solidFill>
                      <a:prstDash val="solid"/>
                    </a:lnR>
                    <a:lnB w="5715">
                      <a:solidFill>
                        <a:srgbClr val="D1DDE2"/>
                      </a:solidFill>
                      <a:prstDash val="solid"/>
                    </a:lnB>
                    <a:solidFill>
                      <a:srgbClr val="FFFFFF"/>
                    </a:solidFill>
                  </a:tcPr>
                </a:tc>
                <a:tc>
                  <a:txBody>
                    <a:bodyPr/>
                    <a:lstStyle/>
                    <a:p>
                      <a:r>
                        <a:rPr sz="2025" b="0">
                          <a:solidFill>
                            <a:srgbClr val="000000"/>
                          </a:solidFill>
                          <a:latin typeface="Aptos"/>
                          <a:ea typeface="Aptos"/>
                          <a:cs typeface="Aptos"/>
                        </a:rPr>
                        <a:t>57.02%</a:t>
                      </a:r>
                    </a:p>
                  </a:txBody>
                  <a:tcPr marL="91440" marR="91440" marT="45720" marB="45720">
                    <a:lnR w="5715">
                      <a:solidFill>
                        <a:srgbClr val="D1DDE2"/>
                      </a:solidFill>
                      <a:prstDash val="solid"/>
                    </a:lnR>
                    <a:lnB w="5715">
                      <a:solidFill>
                        <a:srgbClr val="D1DDE2"/>
                      </a:solidFill>
                      <a:prstDash val="solid"/>
                    </a:lnB>
                    <a:solidFill>
                      <a:srgbClr val="FFFFFF"/>
                    </a:solidFill>
                  </a:tcPr>
                </a:tc>
              </a:tr>
              <a:tr h="619125">
                <a:tc>
                  <a:txBody>
                    <a:bodyPr/>
                    <a:lstStyle/>
                    <a:p>
                      <a:r>
                        <a:rPr sz="2025" b="0">
                          <a:solidFill>
                            <a:srgbClr val="000000"/>
                          </a:solidFill>
                          <a:latin typeface="Aptos"/>
                          <a:ea typeface="Aptos"/>
                          <a:cs typeface="Aptos"/>
                        </a:rPr>
                        <a:t>Gradient Boosting</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1F7FA"/>
                    </a:solidFill>
                  </a:tcPr>
                </a:tc>
                <a:tc>
                  <a:txBody>
                    <a:bodyPr/>
                    <a:lstStyle/>
                    <a:p>
                      <a:r>
                        <a:rPr sz="2025" b="0">
                          <a:solidFill>
                            <a:srgbClr val="000000"/>
                          </a:solidFill>
                          <a:latin typeface="Aptos"/>
                          <a:ea typeface="Aptos"/>
                          <a:cs typeface="Aptos"/>
                        </a:rPr>
                        <a:t>0.672</a:t>
                      </a:r>
                    </a:p>
                  </a:txBody>
                  <a:tcPr marL="91440" marR="91440" marT="45720" marB="45720">
                    <a:lnR w="5715">
                      <a:solidFill>
                        <a:srgbClr val="D1DDE2"/>
                      </a:solidFill>
                      <a:prstDash val="solid"/>
                    </a:lnR>
                    <a:lnB w="5715">
                      <a:solidFill>
                        <a:srgbClr val="D1DDE2"/>
                      </a:solidFill>
                      <a:prstDash val="solid"/>
                    </a:lnB>
                    <a:solidFill>
                      <a:srgbClr val="F1F7FA"/>
                    </a:solidFill>
                  </a:tcPr>
                </a:tc>
                <a:tc>
                  <a:txBody>
                    <a:bodyPr/>
                    <a:lstStyle/>
                    <a:p>
                      <a:r>
                        <a:rPr sz="2025" b="0">
                          <a:solidFill>
                            <a:srgbClr val="000000"/>
                          </a:solidFill>
                          <a:latin typeface="Aptos"/>
                          <a:ea typeface="Aptos"/>
                          <a:cs typeface="Aptos"/>
                        </a:rPr>
                        <a:t>39.95%</a:t>
                      </a:r>
                    </a:p>
                  </a:txBody>
                  <a:tcPr marL="91440" marR="91440" marT="45720" marB="45720">
                    <a:lnR w="5715">
                      <a:solidFill>
                        <a:srgbClr val="D1DDE2"/>
                      </a:solidFill>
                      <a:prstDash val="solid"/>
                    </a:lnR>
                    <a:lnB w="5715">
                      <a:solidFill>
                        <a:srgbClr val="D1DDE2"/>
                      </a:solidFill>
                      <a:prstDash val="solid"/>
                    </a:lnB>
                    <a:solidFill>
                      <a:srgbClr val="F1F7FA"/>
                    </a:solidFill>
                  </a:tcPr>
                </a:tc>
              </a:tr>
              <a:tr h="619125">
                <a:tc>
                  <a:txBody>
                    <a:bodyPr/>
                    <a:lstStyle/>
                    <a:p>
                      <a:r>
                        <a:rPr sz="2025" b="0">
                          <a:solidFill>
                            <a:srgbClr val="000000"/>
                          </a:solidFill>
                          <a:latin typeface="Aptos"/>
                          <a:ea typeface="Aptos"/>
                          <a:cs typeface="Aptos"/>
                        </a:rPr>
                        <a:t>Logistic Regression</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FFFFF"/>
                    </a:solidFill>
                  </a:tcPr>
                </a:tc>
                <a:tc>
                  <a:txBody>
                    <a:bodyPr/>
                    <a:lstStyle/>
                    <a:p>
                      <a:r>
                        <a:rPr sz="2025" b="0">
                          <a:solidFill>
                            <a:srgbClr val="000000"/>
                          </a:solidFill>
                          <a:latin typeface="Aptos"/>
                          <a:ea typeface="Aptos"/>
                          <a:cs typeface="Aptos"/>
                        </a:rPr>
                        <a:t>0.620</a:t>
                      </a:r>
                    </a:p>
                  </a:txBody>
                  <a:tcPr marL="91440" marR="91440" marT="45720" marB="45720">
                    <a:lnR w="5715">
                      <a:solidFill>
                        <a:srgbClr val="D1DDE2"/>
                      </a:solidFill>
                      <a:prstDash val="solid"/>
                    </a:lnR>
                    <a:lnB w="5715">
                      <a:solidFill>
                        <a:srgbClr val="D1DDE2"/>
                      </a:solidFill>
                      <a:prstDash val="solid"/>
                    </a:lnB>
                    <a:solidFill>
                      <a:srgbClr val="FFFFFF"/>
                    </a:solidFill>
                  </a:tcPr>
                </a:tc>
                <a:tc>
                  <a:txBody>
                    <a:bodyPr/>
                    <a:lstStyle/>
                    <a:p>
                      <a:r>
                        <a:rPr sz="2025" b="0">
                          <a:solidFill>
                            <a:srgbClr val="000000"/>
                          </a:solidFill>
                          <a:latin typeface="Aptos"/>
                          <a:ea typeface="Aptos"/>
                          <a:cs typeface="Aptos"/>
                        </a:rPr>
                        <a:t>34.02%</a:t>
                      </a:r>
                    </a:p>
                  </a:txBody>
                  <a:tcPr marL="91440" marR="91440" marT="45720" marB="45720">
                    <a:lnR w="5715">
                      <a:solidFill>
                        <a:srgbClr val="D1DDE2"/>
                      </a:solidFill>
                      <a:prstDash val="solid"/>
                    </a:lnR>
                    <a:lnB w="5715">
                      <a:solidFill>
                        <a:srgbClr val="D1DDE2"/>
                      </a:solidFill>
                      <a:prstDash val="solid"/>
                    </a:lnB>
                    <a:solidFill>
                      <a:srgbClr val="FFFFFF"/>
                    </a:solidFill>
                  </a:tcPr>
                </a:tc>
              </a:tr>
            </a:tbl>
          </a:graphicData>
        </a:graphic>
      </p:graphicFrame>
      <p:sp>
        <p:nvSpPr>
          <p:cNvPr id="19" name="content-5">
            <a:extLst xmlns:a="http://schemas.openxmlformats.org/drawingml/2006/main">
              <a:ext uri="{FF2B5EF4-FFF2-40B4-BE49-F238E27FC236}">
                <a16:creationId xmlns:a16="http://schemas.microsoft.com/office/drawing/2014/main" id="{A7B4C59A-5D92-4BC2-84C6-ED67DF7A9292}"/>
              </a:ext>
            </a:extLst>
          </p:cNvPr>
          <p:cNvSpPr>
            <a:spLocks xmlns:a="http://schemas.openxmlformats.org/drawingml/2006/main" noGrp="1"/>
          </p:cNvSpPr>
          <p:nvPr/>
        </p:nvSpPr>
        <p:spPr>
          <a:xfrm xmlns:a="http://schemas.openxmlformats.org/drawingml/2006/main">
            <a:off x="809625" y="5381625"/>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13 models returned in the wider AutoML comparison</a:t>
            </a:r>
          </a:p>
        </p:txBody>
      </p:sp>
      <p:sp>
        <p:nvSpPr>
          <p:cNvPr id="20" name="content-6">
            <a:extLst xmlns:a="http://schemas.openxmlformats.org/drawingml/2006/main">
              <a:ext uri="{FF2B5EF4-FFF2-40B4-BE49-F238E27FC236}">
                <a16:creationId xmlns:a16="http://schemas.microsoft.com/office/drawing/2014/main" id="{B80169AC-61D7-47DD-8F8F-5C00C33248BF}"/>
              </a:ext>
            </a:extLst>
          </p:cNvPr>
          <p:cNvSpPr>
            <a:spLocks xmlns:a="http://schemas.openxmlformats.org/drawingml/2006/main" noGrp="1"/>
          </p:cNvSpPr>
          <p:nvPr/>
        </p:nvSpPr>
        <p:spPr>
          <a:xfrm xmlns:a="http://schemas.openxmlformats.org/drawingml/2006/main">
            <a:off x="809625" y="59055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55555"/>
                </a:solidFill>
                <a:latin typeface="Aptos"/>
                <a:ea typeface="Aptos"/>
                <a:cs typeface="Aptos"/>
              </a:defRPr>
            </a:defPPr>
          </a:lstStyle>
          <a:p xmlns:a="http://schemas.openxmlformats.org/drawingml/2006/main">
            <a:pPr>
              <a:buNone/>
              <a:defRPr sz="1725" b="0">
                <a:solidFill>
                  <a:srgbClr val="555555"/>
                </a:solidFill>
                <a:latin typeface="Aptos"/>
                <a:ea typeface="Aptos"/>
                <a:cs typeface="Aptos"/>
              </a:defRPr>
            </a:pPr>
            <a:r>
              <a:rPr sz="1725" b="0">
                <a:solidFill>
                  <a:srgbClr val="555555"/>
                </a:solidFill>
                <a:latin typeface="Aptos"/>
                <a:ea typeface="Aptos"/>
                <a:cs typeface="Aptos"/>
              </a:rPr>
              <a:t>Default-model screening; final tuned fits are compared separately</a:t>
            </a:r>
          </a:p>
        </p:txBody>
      </p:sp>
    </p:spTree>
    <p:extLst>
      <p:ext uri="{BB962C8B-B14F-4D97-AF65-F5344CB8AC3E}">
        <p14:creationId xmlns:p14="http://schemas.microsoft.com/office/powerpoint/2010/main" val="2603541586"/>
      </p:ext>
    </p:extLst>
  </p:cSld>
</p:sld>
</file>

<file path=ppt/slides/slide1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10" name="Rectangle 9">
            <a:extLst xmlns:a="http://schemas.openxmlformats.org/drawingml/2006/main">
              <a:ext uri="{FF2B5EF4-FFF2-40B4-BE49-F238E27FC236}">
                <a16:creationId xmlns:a16="http://schemas.microsoft.com/office/drawing/2014/main" id="{FFB60E8C-7224-44A4-87A0-46A1711DD2ED}"/>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5DA32751-37A2-45C0-BE94-63D375E27003}"/>
              </a:ext>
            </a:extLst>
          </p:cNvPr>
          <p:cNvSpPr>
            <a:spLocks xmlns:a="http://schemas.openxmlformats.org/drawingml/2006/main" noGrp="1"/>
          </p:cNvSpPr>
          <p:nvPr/>
        </p:nvSpPr>
        <p:spPr>
          <a:xfrm xmlns:a="http://schemas.openxmlformats.org/drawingml/2006/main" flipH="1" flipV="1">
            <a:off x="-2" y="1998845"/>
            <a:ext cx="11454595" cy="781699"/>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E659831F-0D9A-4C63-9EBB-8435B85A440F}"/>
              </a:ext>
            </a:extLst>
          </p:cNvPr>
          <p:cNvSpPr>
            <a:spLocks xmlns:a="http://schemas.openxmlformats.org/drawingml/2006/main" noGrp="1"/>
          </p:cNvSpPr>
          <p:nvPr/>
        </p:nvSpPr>
        <p:spPr>
          <a:xfrm xmlns:a="http://schemas.openxmlformats.org/drawingml/2006/main">
            <a:off x="0" y="2203079"/>
            <a:ext cx="11383362" cy="4267991"/>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5A55FBCD-CD42-40F5-8A1B-3203F9CAEEAA}"/>
              </a:ext>
            </a:extLst>
          </p:cNvPr>
          <p:cNvSpPr>
            <a:spLocks xmlns:a="http://schemas.openxmlformats.org/drawingml/2006/main" noGrp="1"/>
          </p:cNvSpPr>
          <p:nvPr/>
        </p:nvSpPr>
        <p:spPr>
          <a:xfrm xmlns:a="http://schemas.openxmlformats.org/drawingml/2006/main" rot="5400000">
            <a:off x="11228040" y="2313027"/>
            <a:ext cx="781700" cy="1523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content-4">
            <a:extLst xmlns:a="http://schemas.openxmlformats.org/drawingml/2006/main">
              <a:ext uri="{FF2B5EF4-FFF2-40B4-BE49-F238E27FC236}">
                <a16:creationId xmlns:a16="http://schemas.microsoft.com/office/drawing/2014/main" id="{19D3E43D-5FA5-4FDB-93E5-EE3A57DBDE10}"/>
              </a:ext>
            </a:extLst>
          </p:cNvPr>
          <p:cNvSpPr>
            <a:spLocks xmlns:a="http://schemas.openxmlformats.org/drawingml/2006/main" noGrp="1"/>
          </p:cNvSpPr>
          <p:nvPr/>
        </p:nvSpPr>
        <p:spPr>
          <a:xfrm xmlns:a="http://schemas.openxmlformats.org/drawingml/2006/main">
            <a:off x="809625" y="666750"/>
            <a:ext cx="1028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0">
                <a:solidFill>
                  <a:srgbClr val="000000"/>
                </a:solidFill>
                <a:latin typeface="Aptos Display"/>
                <a:ea typeface="Aptos Display"/>
                <a:cs typeface="Aptos Display"/>
              </a:defRPr>
            </a:defPPr>
          </a:lstStyle>
          <a:p xmlns:a="http://schemas.openxmlformats.org/drawingml/2006/main">
            <a:pPr>
              <a:buNone/>
              <a:defRPr sz="3600" b="0">
                <a:solidFill>
                  <a:srgbClr val="000000"/>
                </a:solidFill>
                <a:latin typeface="Aptos Display"/>
                <a:ea typeface="Aptos Display"/>
                <a:cs typeface="Aptos Display"/>
              </a:defRPr>
            </a:pPr>
            <a:r>
              <a:rPr sz="3600" b="0">
                <a:solidFill>
                  <a:srgbClr val="000000"/>
                </a:solidFill>
                <a:latin typeface="Aptos Display"/>
                <a:ea typeface="Aptos Display"/>
                <a:cs typeface="Aptos Display"/>
              </a:rPr>
              <a:t>Mushroom Challenge - Final comparison</a:t>
            </a:r>
          </a:p>
        </p:txBody>
      </p:sp>
      <p:graphicFrame>
        <p:nvGraphicFramePr>
          <p:cNvPr id="18" name="">
            <a:extLst xmlns:a="http://schemas.openxmlformats.org/drawingml/2006/main">
              <a:ext uri="{FF2B5EF4-FFF2-40B4-BE49-F238E27FC236}">
                <a16:creationId xmlns:a16="http://schemas.microsoft.com/office/drawing/2014/main" id="{AED90904-94F3-4111-990E-3510A7755B51}"/>
              </a:ext>
            </a:extLst>
          </p:cNvPr>
          <p:cNvGraphicFramePr/>
          <p:nvPr/>
        </p:nvGraphicFramePr>
        <p:xfrm>
          <a:off xmlns:a="http://schemas.openxmlformats.org/drawingml/2006/main" x="762000" y="2524125"/>
          <a:ext xmlns:a="http://schemas.openxmlformats.org/drawingml/2006/main" cx="10001250" cy="3333750"/>
        </p:xfrm>
        <a:graphic xmlns:a="http://schemas.openxmlformats.org/drawingml/2006/main">
          <a:graphicData uri="http://schemas.openxmlformats.org/drawingml/2006/table">
            <a:tbl>
              <a:tblPr/>
              <a:tblGrid>
                <a:gridCol w="4000500"/>
                <a:gridCol w="2000250"/>
                <a:gridCol w="2000250"/>
                <a:gridCol w="2000250"/>
              </a:tblGrid>
              <a:tr h="476250">
                <a:tc>
                  <a:txBody>
                    <a:bodyPr/>
                    <a:lstStyle/>
                    <a:p>
                      <a:r>
                        <a:rPr sz="1800" b="1">
                          <a:solidFill>
                            <a:srgbClr val="FFFFFF"/>
                          </a:solidFill>
                          <a:latin typeface="Aptos"/>
                          <a:ea typeface="Aptos"/>
                          <a:cs typeface="Aptos"/>
                        </a:rPr>
                        <a:t>Model</a:t>
                      </a:r>
                    </a:p>
                  </a:txBody>
                  <a:tcPr marL="91440" marR="91440" marT="45720" marB="45720">
                    <a:lnL w="5715">
                      <a:solidFill>
                        <a:srgbClr val="D1DDE2"/>
                      </a:solidFill>
                      <a:prstDash val="solid"/>
                    </a:lnL>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c>
                  <a:txBody>
                    <a:bodyPr/>
                    <a:lstStyle/>
                    <a:p>
                      <a:r>
                        <a:rPr sz="1800" b="1">
                          <a:solidFill>
                            <a:srgbClr val="FFFFFF"/>
                          </a:solidFill>
                          <a:latin typeface="Aptos"/>
                          <a:ea typeface="Aptos"/>
                          <a:cs typeface="Aptos"/>
                        </a:rPr>
                        <a:t>CV macro F1</a:t>
                      </a:r>
                    </a:p>
                  </a:txBody>
                  <a:tcPr marL="91440" marR="91440" marT="45720" marB="45720">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c>
                  <a:txBody>
                    <a:bodyPr/>
                    <a:lstStyle/>
                    <a:p>
                      <a:r>
                        <a:rPr sz="1800" b="1">
                          <a:solidFill>
                            <a:srgbClr val="FFFFFF"/>
                          </a:solidFill>
                          <a:latin typeface="Aptos"/>
                          <a:ea typeface="Aptos"/>
                          <a:cs typeface="Aptos"/>
                        </a:rPr>
                        <a:t>Dev. accuracy</a:t>
                      </a:r>
                    </a:p>
                  </a:txBody>
                  <a:tcPr marL="91440" marR="91440" marT="45720" marB="45720">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c>
                  <a:txBody>
                    <a:bodyPr/>
                    <a:lstStyle/>
                    <a:p>
                      <a:r>
                        <a:rPr sz="1800" b="1">
                          <a:solidFill>
                            <a:srgbClr val="FFFFFF"/>
                          </a:solidFill>
                          <a:latin typeface="Aptos"/>
                          <a:ea typeface="Aptos"/>
                          <a:cs typeface="Aptos"/>
                        </a:rPr>
                        <a:t>Poison recall</a:t>
                      </a:r>
                    </a:p>
                  </a:txBody>
                  <a:tcPr marL="91440" marR="91440" marT="45720" marB="45720">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r>
              <a:tr h="476250">
                <a:tc>
                  <a:txBody>
                    <a:bodyPr/>
                    <a:lstStyle/>
                    <a:p>
                      <a:r>
                        <a:rPr sz="1800" b="0">
                          <a:solidFill>
                            <a:srgbClr val="000000"/>
                          </a:solidFill>
                          <a:latin typeface="Aptos"/>
                          <a:ea typeface="Aptos"/>
                          <a:cs typeface="Aptos"/>
                        </a:rPr>
                        <a:t>Random Forest 300</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FFFFF"/>
                    </a:solidFill>
                  </a:tcPr>
                </a:tc>
                <a:tc>
                  <a:txBody>
                    <a:bodyPr/>
                    <a:lstStyle/>
                    <a:p>
                      <a:r>
                        <a:rPr sz="1800" b="0">
                          <a:solidFill>
                            <a:srgbClr val="000000"/>
                          </a:solidFill>
                          <a:latin typeface="Aptos"/>
                          <a:ea typeface="Aptos"/>
                          <a:cs typeface="Aptos"/>
                        </a:rPr>
                        <a:t>0.762</a:t>
                      </a:r>
                    </a:p>
                  </a:txBody>
                  <a:tcPr marL="91440" marR="91440" marT="45720" marB="45720">
                    <a:lnR w="5715">
                      <a:solidFill>
                        <a:srgbClr val="D1DDE2"/>
                      </a:solidFill>
                      <a:prstDash val="solid"/>
                    </a:lnR>
                    <a:lnB w="5715">
                      <a:solidFill>
                        <a:srgbClr val="D1DDE2"/>
                      </a:solidFill>
                      <a:prstDash val="solid"/>
                    </a:lnB>
                    <a:solidFill>
                      <a:srgbClr val="FFFFFF"/>
                    </a:solidFill>
                  </a:tcPr>
                </a:tc>
                <a:tc>
                  <a:txBody>
                    <a:bodyPr/>
                    <a:lstStyle/>
                    <a:p>
                      <a:r>
                        <a:rPr sz="1800" b="0">
                          <a:solidFill>
                            <a:srgbClr val="000000"/>
                          </a:solidFill>
                          <a:latin typeface="Aptos"/>
                          <a:ea typeface="Aptos"/>
                          <a:cs typeface="Aptos"/>
                        </a:rPr>
                        <a:t>81.33%</a:t>
                      </a:r>
                    </a:p>
                  </a:txBody>
                  <a:tcPr marL="91440" marR="91440" marT="45720" marB="45720">
                    <a:lnR w="5715">
                      <a:solidFill>
                        <a:srgbClr val="D1DDE2"/>
                      </a:solidFill>
                      <a:prstDash val="solid"/>
                    </a:lnR>
                    <a:lnB w="5715">
                      <a:solidFill>
                        <a:srgbClr val="D1DDE2"/>
                      </a:solidFill>
                      <a:prstDash val="solid"/>
                    </a:lnB>
                    <a:solidFill>
                      <a:srgbClr val="FFFFFF"/>
                    </a:solidFill>
                  </a:tcPr>
                </a:tc>
                <a:tc>
                  <a:txBody>
                    <a:bodyPr/>
                    <a:lstStyle/>
                    <a:p>
                      <a:r>
                        <a:rPr sz="1800" b="0">
                          <a:solidFill>
                            <a:srgbClr val="000000"/>
                          </a:solidFill>
                          <a:latin typeface="Aptos"/>
                          <a:ea typeface="Aptos"/>
                          <a:cs typeface="Aptos"/>
                        </a:rPr>
                        <a:t>64.52%</a:t>
                      </a:r>
                    </a:p>
                  </a:txBody>
                  <a:tcPr marL="91440" marR="91440" marT="45720" marB="45720">
                    <a:lnR w="5715">
                      <a:solidFill>
                        <a:srgbClr val="D1DDE2"/>
                      </a:solidFill>
                      <a:prstDash val="solid"/>
                    </a:lnR>
                    <a:lnB w="5715">
                      <a:solidFill>
                        <a:srgbClr val="D1DDE2"/>
                      </a:solidFill>
                      <a:prstDash val="solid"/>
                    </a:lnB>
                    <a:solidFill>
                      <a:srgbClr val="FFFFFF"/>
                    </a:solidFill>
                  </a:tcPr>
                </a:tc>
              </a:tr>
              <a:tr h="476250">
                <a:tc>
                  <a:txBody>
                    <a:bodyPr/>
                    <a:lstStyle/>
                    <a:p>
                      <a:r>
                        <a:rPr sz="1800" b="0">
                          <a:solidFill>
                            <a:srgbClr val="000000"/>
                          </a:solidFill>
                          <a:latin typeface="Aptos"/>
                          <a:ea typeface="Aptos"/>
                          <a:cs typeface="Aptos"/>
                        </a:rPr>
                        <a:t>AWS Random Forest</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1F7FA"/>
                    </a:solidFill>
                  </a:tcPr>
                </a:tc>
                <a:tc>
                  <a:txBody>
                    <a:bodyPr/>
                    <a:lstStyle/>
                    <a:p>
                      <a:r>
                        <a:rPr sz="1800" b="0">
                          <a:solidFill>
                            <a:srgbClr val="000000"/>
                          </a:solidFill>
                          <a:latin typeface="Aptos"/>
                          <a:ea typeface="Aptos"/>
                          <a:cs typeface="Aptos"/>
                        </a:rPr>
                        <a:t>0.753</a:t>
                      </a:r>
                    </a:p>
                  </a:txBody>
                  <a:tcPr marL="91440" marR="91440" marT="45720" marB="45720">
                    <a:lnR w="5715">
                      <a:solidFill>
                        <a:srgbClr val="D1DDE2"/>
                      </a:solidFill>
                      <a:prstDash val="solid"/>
                    </a:lnR>
                    <a:lnB w="5715">
                      <a:solidFill>
                        <a:srgbClr val="D1DDE2"/>
                      </a:solidFill>
                      <a:prstDash val="solid"/>
                    </a:lnB>
                    <a:solidFill>
                      <a:srgbClr val="F1F7FA"/>
                    </a:solidFill>
                  </a:tcPr>
                </a:tc>
                <a:tc>
                  <a:txBody>
                    <a:bodyPr/>
                    <a:lstStyle/>
                    <a:p>
                      <a:r>
                        <a:rPr sz="1800" b="0">
                          <a:solidFill>
                            <a:srgbClr val="000000"/>
                          </a:solidFill>
                          <a:latin typeface="Aptos"/>
                          <a:ea typeface="Aptos"/>
                          <a:cs typeface="Aptos"/>
                        </a:rPr>
                        <a:t>80.11%</a:t>
                      </a:r>
                    </a:p>
                  </a:txBody>
                  <a:tcPr marL="91440" marR="91440" marT="45720" marB="45720">
                    <a:lnR w="5715">
                      <a:solidFill>
                        <a:srgbClr val="D1DDE2"/>
                      </a:solidFill>
                      <a:prstDash val="solid"/>
                    </a:lnR>
                    <a:lnB w="5715">
                      <a:solidFill>
                        <a:srgbClr val="D1DDE2"/>
                      </a:solidFill>
                      <a:prstDash val="solid"/>
                    </a:lnB>
                    <a:solidFill>
                      <a:srgbClr val="F1F7FA"/>
                    </a:solidFill>
                  </a:tcPr>
                </a:tc>
                <a:tc>
                  <a:txBody>
                    <a:bodyPr/>
                    <a:lstStyle/>
                    <a:p>
                      <a:r>
                        <a:rPr sz="1800" b="0">
                          <a:solidFill>
                            <a:srgbClr val="000000"/>
                          </a:solidFill>
                          <a:latin typeface="Aptos"/>
                          <a:ea typeface="Aptos"/>
                          <a:cs typeface="Aptos"/>
                        </a:rPr>
                        <a:t>58.94%</a:t>
                      </a:r>
                    </a:p>
                  </a:txBody>
                  <a:tcPr marL="91440" marR="91440" marT="45720" marB="45720">
                    <a:lnR w="5715">
                      <a:solidFill>
                        <a:srgbClr val="D1DDE2"/>
                      </a:solidFill>
                      <a:prstDash val="solid"/>
                    </a:lnR>
                    <a:lnB w="5715">
                      <a:solidFill>
                        <a:srgbClr val="D1DDE2"/>
                      </a:solidFill>
                      <a:prstDash val="solid"/>
                    </a:lnB>
                    <a:solidFill>
                      <a:srgbClr val="F1F7FA"/>
                    </a:solidFill>
                  </a:tcPr>
                </a:tc>
              </a:tr>
              <a:tr h="476250">
                <a:tc>
                  <a:txBody>
                    <a:bodyPr/>
                    <a:lstStyle/>
                    <a:p>
                      <a:r>
                        <a:rPr sz="1800" b="0">
                          <a:solidFill>
                            <a:srgbClr val="000000"/>
                          </a:solidFill>
                          <a:latin typeface="Aptos"/>
                          <a:ea typeface="Aptos"/>
                          <a:cs typeface="Aptos"/>
                        </a:rPr>
                        <a:t>Gradient Boosting</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FFFFF"/>
                    </a:solidFill>
                  </a:tcPr>
                </a:tc>
                <a:tc>
                  <a:txBody>
                    <a:bodyPr/>
                    <a:lstStyle/>
                    <a:p>
                      <a:r>
                        <a:rPr sz="1800" b="0">
                          <a:solidFill>
                            <a:srgbClr val="000000"/>
                          </a:solidFill>
                          <a:latin typeface="Aptos"/>
                          <a:ea typeface="Aptos"/>
                          <a:cs typeface="Aptos"/>
                        </a:rPr>
                        <a:t>0.719</a:t>
                      </a:r>
                    </a:p>
                  </a:txBody>
                  <a:tcPr marL="91440" marR="91440" marT="45720" marB="45720">
                    <a:lnR w="5715">
                      <a:solidFill>
                        <a:srgbClr val="D1DDE2"/>
                      </a:solidFill>
                      <a:prstDash val="solid"/>
                    </a:lnR>
                    <a:lnB w="5715">
                      <a:solidFill>
                        <a:srgbClr val="D1DDE2"/>
                      </a:solidFill>
                      <a:prstDash val="solid"/>
                    </a:lnB>
                    <a:solidFill>
                      <a:srgbClr val="FFFFFF"/>
                    </a:solidFill>
                  </a:tcPr>
                </a:tc>
                <a:tc>
                  <a:txBody>
                    <a:bodyPr/>
                    <a:lstStyle/>
                    <a:p>
                      <a:r>
                        <a:rPr sz="1800" b="0">
                          <a:solidFill>
                            <a:srgbClr val="000000"/>
                          </a:solidFill>
                          <a:latin typeface="Aptos"/>
                          <a:ea typeface="Aptos"/>
                          <a:cs typeface="Aptos"/>
                        </a:rPr>
                        <a:t>78.44%</a:t>
                      </a:r>
                    </a:p>
                  </a:txBody>
                  <a:tcPr marL="91440" marR="91440" marT="45720" marB="45720">
                    <a:lnR w="5715">
                      <a:solidFill>
                        <a:srgbClr val="D1DDE2"/>
                      </a:solidFill>
                      <a:prstDash val="solid"/>
                    </a:lnR>
                    <a:lnB w="5715">
                      <a:solidFill>
                        <a:srgbClr val="D1DDE2"/>
                      </a:solidFill>
                      <a:prstDash val="solid"/>
                    </a:lnB>
                    <a:solidFill>
                      <a:srgbClr val="FFFFFF"/>
                    </a:solidFill>
                  </a:tcPr>
                </a:tc>
                <a:tc>
                  <a:txBody>
                    <a:bodyPr/>
                    <a:lstStyle/>
                    <a:p>
                      <a:r>
                        <a:rPr sz="1800" b="0">
                          <a:solidFill>
                            <a:srgbClr val="000000"/>
                          </a:solidFill>
                          <a:latin typeface="Aptos"/>
                          <a:ea typeface="Aptos"/>
                          <a:cs typeface="Aptos"/>
                        </a:rPr>
                        <a:t>49.85%</a:t>
                      </a:r>
                    </a:p>
                  </a:txBody>
                  <a:tcPr marL="91440" marR="91440" marT="45720" marB="45720">
                    <a:lnR w="5715">
                      <a:solidFill>
                        <a:srgbClr val="D1DDE2"/>
                      </a:solidFill>
                      <a:prstDash val="solid"/>
                    </a:lnR>
                    <a:lnB w="5715">
                      <a:solidFill>
                        <a:srgbClr val="D1DDE2"/>
                      </a:solidFill>
                      <a:prstDash val="solid"/>
                    </a:lnB>
                    <a:solidFill>
                      <a:srgbClr val="FFFFFF"/>
                    </a:solidFill>
                  </a:tcPr>
                </a:tc>
              </a:tr>
              <a:tr h="476250">
                <a:tc>
                  <a:txBody>
                    <a:bodyPr/>
                    <a:lstStyle/>
                    <a:p>
                      <a:r>
                        <a:rPr sz="1800" b="0">
                          <a:solidFill>
                            <a:srgbClr val="000000"/>
                          </a:solidFill>
                          <a:latin typeface="Aptos"/>
                          <a:ea typeface="Aptos"/>
                          <a:cs typeface="Aptos"/>
                        </a:rPr>
                        <a:t>Logistic Regression</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1F7FA"/>
                    </a:solidFill>
                  </a:tcPr>
                </a:tc>
                <a:tc>
                  <a:txBody>
                    <a:bodyPr/>
                    <a:lstStyle/>
                    <a:p>
                      <a:r>
                        <a:rPr sz="1800" b="0">
                          <a:solidFill>
                            <a:srgbClr val="000000"/>
                          </a:solidFill>
                          <a:latin typeface="Aptos"/>
                          <a:ea typeface="Aptos"/>
                          <a:cs typeface="Aptos"/>
                        </a:rPr>
                        <a:t>0.626</a:t>
                      </a:r>
                    </a:p>
                  </a:txBody>
                  <a:tcPr marL="91440" marR="91440" marT="45720" marB="45720">
                    <a:lnR w="5715">
                      <a:solidFill>
                        <a:srgbClr val="D1DDE2"/>
                      </a:solidFill>
                      <a:prstDash val="solid"/>
                    </a:lnR>
                    <a:lnB w="5715">
                      <a:solidFill>
                        <a:srgbClr val="D1DDE2"/>
                      </a:solidFill>
                      <a:prstDash val="solid"/>
                    </a:lnB>
                    <a:solidFill>
                      <a:srgbClr val="F1F7FA"/>
                    </a:solidFill>
                  </a:tcPr>
                </a:tc>
                <a:tc>
                  <a:txBody>
                    <a:bodyPr/>
                    <a:lstStyle/>
                    <a:p>
                      <a:r>
                        <a:rPr sz="1800" b="0">
                          <a:solidFill>
                            <a:srgbClr val="000000"/>
                          </a:solidFill>
                          <a:latin typeface="Aptos"/>
                          <a:ea typeface="Aptos"/>
                          <a:cs typeface="Aptos"/>
                        </a:rPr>
                        <a:t>68.33%</a:t>
                      </a:r>
                    </a:p>
                  </a:txBody>
                  <a:tcPr marL="91440" marR="91440" marT="45720" marB="45720">
                    <a:lnR w="5715">
                      <a:solidFill>
                        <a:srgbClr val="D1DDE2"/>
                      </a:solidFill>
                      <a:prstDash val="solid"/>
                    </a:lnR>
                    <a:lnB w="5715">
                      <a:solidFill>
                        <a:srgbClr val="D1DDE2"/>
                      </a:solidFill>
                      <a:prstDash val="solid"/>
                    </a:lnB>
                    <a:solidFill>
                      <a:srgbClr val="F1F7FA"/>
                    </a:solidFill>
                  </a:tcPr>
                </a:tc>
                <a:tc>
                  <a:txBody>
                    <a:bodyPr/>
                    <a:lstStyle/>
                    <a:p>
                      <a:r>
                        <a:rPr sz="1800" b="0">
                          <a:solidFill>
                            <a:srgbClr val="000000"/>
                          </a:solidFill>
                          <a:latin typeface="Aptos"/>
                          <a:ea typeface="Aptos"/>
                          <a:cs typeface="Aptos"/>
                        </a:rPr>
                        <a:t>60.12%</a:t>
                      </a:r>
                    </a:p>
                  </a:txBody>
                  <a:tcPr marL="91440" marR="91440" marT="45720" marB="45720">
                    <a:lnR w="5715">
                      <a:solidFill>
                        <a:srgbClr val="D1DDE2"/>
                      </a:solidFill>
                      <a:prstDash val="solid"/>
                    </a:lnR>
                    <a:lnB w="5715">
                      <a:solidFill>
                        <a:srgbClr val="D1DDE2"/>
                      </a:solidFill>
                      <a:prstDash val="solid"/>
                    </a:lnB>
                    <a:solidFill>
                      <a:srgbClr val="F1F7FA"/>
                    </a:solidFill>
                  </a:tcPr>
                </a:tc>
              </a:tr>
              <a:tr h="476250">
                <a:tc>
                  <a:txBody>
                    <a:bodyPr/>
                    <a:lstStyle/>
                    <a:p>
                      <a:r>
                        <a:rPr sz="1800" b="0">
                          <a:solidFill>
                            <a:srgbClr val="000000"/>
                          </a:solidFill>
                          <a:latin typeface="Aptos"/>
                          <a:ea typeface="Aptos"/>
                          <a:cs typeface="Aptos"/>
                        </a:rPr>
                        <a:t>Decision-tree baseline</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FFFFF"/>
                    </a:solidFill>
                  </a:tcPr>
                </a:tc>
                <a:tc>
                  <a:txBody>
                    <a:bodyPr/>
                    <a:lstStyle/>
                    <a:p>
                      <a:r>
                        <a:rPr sz="1800" b="0">
                          <a:solidFill>
                            <a:srgbClr val="000000"/>
                          </a:solidFill>
                          <a:latin typeface="Aptos"/>
                          <a:ea typeface="Aptos"/>
                          <a:cs typeface="Aptos"/>
                        </a:rPr>
                        <a:t>0.581</a:t>
                      </a:r>
                    </a:p>
                  </a:txBody>
                  <a:tcPr marL="91440" marR="91440" marT="45720" marB="45720">
                    <a:lnR w="5715">
                      <a:solidFill>
                        <a:srgbClr val="D1DDE2"/>
                      </a:solidFill>
                      <a:prstDash val="solid"/>
                    </a:lnR>
                    <a:lnB w="5715">
                      <a:solidFill>
                        <a:srgbClr val="D1DDE2"/>
                      </a:solidFill>
                      <a:prstDash val="solid"/>
                    </a:lnB>
                    <a:solidFill>
                      <a:srgbClr val="FFFFFF"/>
                    </a:solidFill>
                  </a:tcPr>
                </a:tc>
                <a:tc>
                  <a:txBody>
                    <a:bodyPr/>
                    <a:lstStyle/>
                    <a:p>
                      <a:r>
                        <a:rPr sz="1800" b="0">
                          <a:solidFill>
                            <a:srgbClr val="000000"/>
                          </a:solidFill>
                          <a:latin typeface="Aptos"/>
                          <a:ea typeface="Aptos"/>
                          <a:cs typeface="Aptos"/>
                        </a:rPr>
                        <a:t>70.00%</a:t>
                      </a:r>
                    </a:p>
                  </a:txBody>
                  <a:tcPr marL="91440" marR="91440" marT="45720" marB="45720">
                    <a:lnR w="5715">
                      <a:solidFill>
                        <a:srgbClr val="D1DDE2"/>
                      </a:solidFill>
                      <a:prstDash val="solid"/>
                    </a:lnR>
                    <a:lnB w="5715">
                      <a:solidFill>
                        <a:srgbClr val="D1DDE2"/>
                      </a:solidFill>
                      <a:prstDash val="solid"/>
                    </a:lnB>
                    <a:solidFill>
                      <a:srgbClr val="FFFFFF"/>
                    </a:solidFill>
                  </a:tcPr>
                </a:tc>
                <a:tc>
                  <a:txBody>
                    <a:bodyPr/>
                    <a:lstStyle/>
                    <a:p>
                      <a:r>
                        <a:rPr sz="1800" b="0">
                          <a:solidFill>
                            <a:srgbClr val="000000"/>
                          </a:solidFill>
                          <a:latin typeface="Aptos"/>
                          <a:ea typeface="Aptos"/>
                          <a:cs typeface="Aptos"/>
                        </a:rPr>
                        <a:t>23.75%</a:t>
                      </a:r>
                    </a:p>
                  </a:txBody>
                  <a:tcPr marL="91440" marR="91440" marT="45720" marB="45720">
                    <a:lnR w="5715">
                      <a:solidFill>
                        <a:srgbClr val="D1DDE2"/>
                      </a:solidFill>
                      <a:prstDash val="solid"/>
                    </a:lnR>
                    <a:lnB w="5715">
                      <a:solidFill>
                        <a:srgbClr val="D1DDE2"/>
                      </a:solidFill>
                      <a:prstDash val="solid"/>
                    </a:lnB>
                    <a:solidFill>
                      <a:srgbClr val="FFFFFF"/>
                    </a:solidFill>
                  </a:tcPr>
                </a:tc>
              </a:tr>
              <a:tr h="476250">
                <a:tc>
                  <a:txBody>
                    <a:bodyPr/>
                    <a:lstStyle/>
                    <a:p>
                      <a:r>
                        <a:rPr sz="1800" b="0">
                          <a:solidFill>
                            <a:srgbClr val="000000"/>
                          </a:solidFill>
                          <a:latin typeface="Aptos"/>
                          <a:ea typeface="Aptos"/>
                          <a:cs typeface="Aptos"/>
                        </a:rPr>
                        <a:t>Majority baseline</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1F7FA"/>
                    </a:solidFill>
                  </a:tcPr>
                </a:tc>
                <a:tc>
                  <a:txBody>
                    <a:bodyPr/>
                    <a:lstStyle/>
                    <a:p>
                      <a:r>
                        <a:rPr sz="1800" b="0">
                          <a:solidFill>
                            <a:srgbClr val="000000"/>
                          </a:solidFill>
                          <a:latin typeface="Aptos"/>
                          <a:ea typeface="Aptos"/>
                          <a:cs typeface="Aptos"/>
                        </a:rPr>
                        <a:t>0.383</a:t>
                      </a:r>
                    </a:p>
                  </a:txBody>
                  <a:tcPr marL="91440" marR="91440" marT="45720" marB="45720">
                    <a:lnR w="5715">
                      <a:solidFill>
                        <a:srgbClr val="D1DDE2"/>
                      </a:solidFill>
                      <a:prstDash val="solid"/>
                    </a:lnR>
                    <a:lnB w="5715">
                      <a:solidFill>
                        <a:srgbClr val="D1DDE2"/>
                      </a:solidFill>
                      <a:prstDash val="solid"/>
                    </a:lnB>
                    <a:solidFill>
                      <a:srgbClr val="F1F7FA"/>
                    </a:solidFill>
                  </a:tcPr>
                </a:tc>
                <a:tc>
                  <a:txBody>
                    <a:bodyPr/>
                    <a:lstStyle/>
                    <a:p>
                      <a:r>
                        <a:rPr sz="1800" b="0">
                          <a:solidFill>
                            <a:srgbClr val="000000"/>
                          </a:solidFill>
                          <a:latin typeface="Aptos"/>
                          <a:ea typeface="Aptos"/>
                          <a:cs typeface="Aptos"/>
                        </a:rPr>
                        <a:t>62.11%</a:t>
                      </a:r>
                    </a:p>
                  </a:txBody>
                  <a:tcPr marL="91440" marR="91440" marT="45720" marB="45720">
                    <a:lnR w="5715">
                      <a:solidFill>
                        <a:srgbClr val="D1DDE2"/>
                      </a:solidFill>
                      <a:prstDash val="solid"/>
                    </a:lnR>
                    <a:lnB w="5715">
                      <a:solidFill>
                        <a:srgbClr val="D1DDE2"/>
                      </a:solidFill>
                      <a:prstDash val="solid"/>
                    </a:lnB>
                    <a:solidFill>
                      <a:srgbClr val="F1F7FA"/>
                    </a:solidFill>
                  </a:tcPr>
                </a:tc>
                <a:tc>
                  <a:txBody>
                    <a:bodyPr/>
                    <a:lstStyle/>
                    <a:p>
                      <a:r>
                        <a:rPr sz="1800" b="0">
                          <a:solidFill>
                            <a:srgbClr val="000000"/>
                          </a:solidFill>
                          <a:latin typeface="Aptos"/>
                          <a:ea typeface="Aptos"/>
                          <a:cs typeface="Aptos"/>
                        </a:rPr>
                        <a:t>0.00%</a:t>
                      </a:r>
                    </a:p>
                  </a:txBody>
                  <a:tcPr marL="91440" marR="91440" marT="45720" marB="45720">
                    <a:lnR w="5715">
                      <a:solidFill>
                        <a:srgbClr val="D1DDE2"/>
                      </a:solidFill>
                      <a:prstDash val="solid"/>
                    </a:lnR>
                    <a:lnB w="5715">
                      <a:solidFill>
                        <a:srgbClr val="D1DDE2"/>
                      </a:solidFill>
                      <a:prstDash val="solid"/>
                    </a:lnB>
                    <a:solidFill>
                      <a:srgbClr val="F1F7FA"/>
                    </a:solidFill>
                  </a:tcPr>
                </a:tc>
              </a:tr>
            </a:tbl>
          </a:graphicData>
        </a:graphic>
      </p:graphicFrame>
      <p:sp>
        <p:nvSpPr>
          <p:cNvPr id="19" name="content-5">
            <a:extLst xmlns:a="http://schemas.openxmlformats.org/drawingml/2006/main">
              <a:ext uri="{FF2B5EF4-FFF2-40B4-BE49-F238E27FC236}">
                <a16:creationId xmlns:a16="http://schemas.microsoft.com/office/drawing/2014/main" id="{E9678A04-7F35-4E7D-B01E-A90070F0325A}"/>
              </a:ext>
            </a:extLst>
          </p:cNvPr>
          <p:cNvSpPr>
            <a:spLocks xmlns:a="http://schemas.openxmlformats.org/drawingml/2006/main" noGrp="1"/>
          </p:cNvSpPr>
          <p:nvPr/>
        </p:nvSpPr>
        <p:spPr>
          <a:xfrm xmlns:a="http://schemas.openxmlformats.org/drawingml/2006/main">
            <a:off x="809625" y="6019800"/>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55555"/>
                </a:solidFill>
                <a:latin typeface="Aptos"/>
                <a:ea typeface="Aptos"/>
                <a:cs typeface="Aptos"/>
              </a:defRPr>
            </a:defPPr>
          </a:lstStyle>
          <a:p xmlns:a="http://schemas.openxmlformats.org/drawingml/2006/main">
            <a:pPr>
              <a:buNone/>
              <a:defRPr sz="1725" b="0">
                <a:solidFill>
                  <a:srgbClr val="555555"/>
                </a:solidFill>
                <a:latin typeface="Aptos"/>
                <a:ea typeface="Aptos"/>
                <a:cs typeface="Aptos"/>
              </a:defRPr>
            </a:pPr>
            <a:r>
              <a:rPr sz="1725" b="0">
                <a:solidFill>
                  <a:srgbClr val="555555"/>
                </a:solidFill>
                <a:latin typeface="Aptos"/>
                <a:ea typeface="Aptos"/>
                <a:cs typeface="Aptos"/>
              </a:rPr>
              <a:t>Selected: RF300 by training CV; no tuning on development-test scores</a:t>
            </a:r>
          </a:p>
        </p:txBody>
      </p:sp>
    </p:spTree>
    <p:extLst>
      <p:ext uri="{BB962C8B-B14F-4D97-AF65-F5344CB8AC3E}">
        <p14:creationId xmlns:p14="http://schemas.microsoft.com/office/powerpoint/2010/main" val="2603541586"/>
      </p:ext>
    </p:extLst>
  </p:cSld>
</p:sld>
</file>

<file path=ppt/slides/slide1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71" name="Rectangle 70">
            <a:extLst xmlns:a="http://schemas.openxmlformats.org/drawingml/2006/main">
              <a:ext uri="{FF2B5EF4-FFF2-40B4-BE49-F238E27FC236}">
                <a16:creationId xmlns:a16="http://schemas.microsoft.com/office/drawing/2014/main" id="{74B0B678-CD10-4371-96E5-2706F4579FAD}"/>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Rectangle 73">
            <a:extLst xmlns:a="http://schemas.openxmlformats.org/drawingml/2006/main">
              <a:ext uri="{FF2B5EF4-FFF2-40B4-BE49-F238E27FC236}">
                <a16:creationId xmlns:a16="http://schemas.microsoft.com/office/drawing/2014/main" id="{8A3838D5-9565-4601-BAC3-D1B5BDB803ED}"/>
              </a:ext>
            </a:extLst>
          </p:cNvPr>
          <p:cNvSpPr>
            <a:spLocks xmlns:a="http://schemas.openxmlformats.org/drawingml/2006/main" noGrp="1"/>
          </p:cNvSpPr>
          <p:nvPr/>
        </p:nvSpPr>
        <p:spPr>
          <a:xfrm xmlns:a="http://schemas.openxmlformats.org/drawingml/2006/main" rot="5400000" flipH="0" flipV="0">
            <a:off x="3032052" y="2878474"/>
            <a:ext cx="816039" cy="102807"/>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Rectangle 74">
            <a:extLst xmlns:a="http://schemas.openxmlformats.org/drawingml/2006/main">
              <a:ext uri="{FF2B5EF4-FFF2-40B4-BE49-F238E27FC236}">
                <a16:creationId xmlns:a16="http://schemas.microsoft.com/office/drawing/2014/main" id="{3349A4B8-3246-4579-922E-FE1155C7F08C}"/>
              </a:ext>
            </a:extLst>
          </p:cNvPr>
          <p:cNvSpPr>
            <a:spLocks xmlns:a="http://schemas.openxmlformats.org/drawingml/2006/main" noGrp="1"/>
          </p:cNvSpPr>
          <p:nvPr/>
        </p:nvSpPr>
        <p:spPr>
          <a:xfrm xmlns:a="http://schemas.openxmlformats.org/drawingml/2006/main" rot="0" flipH="1" flipV="1">
            <a:off x="-2340441" y="2666504"/>
            <a:ext cx="5608997" cy="52739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Rectangle 76">
            <a:extLst xmlns:a="http://schemas.openxmlformats.org/drawingml/2006/main">
              <a:ext uri="{FF2B5EF4-FFF2-40B4-BE49-F238E27FC236}">
                <a16:creationId xmlns:a16="http://schemas.microsoft.com/office/drawing/2014/main" id="{CBC4F608-B4B8-48C3-9572-C0F061B1CD99}"/>
              </a:ext>
            </a:extLst>
          </p:cNvPr>
          <p:cNvSpPr>
            <a:spLocks xmlns:a="http://schemas.openxmlformats.org/drawingml/2006/main" noGrp="1"/>
          </p:cNvSpPr>
          <p:nvPr/>
        </p:nvSpPr>
        <p:spPr>
          <a:xfrm xmlns:a="http://schemas.openxmlformats.org/drawingml/2006/main">
            <a:off x="579528" y="517897"/>
            <a:ext cx="11111729" cy="5857966"/>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Rectangle 78">
            <a:extLst xmlns:a="http://schemas.openxmlformats.org/drawingml/2006/main">
              <a:ext uri="{FF2B5EF4-FFF2-40B4-BE49-F238E27FC236}">
                <a16:creationId xmlns:a16="http://schemas.microsoft.com/office/drawing/2014/main" id="{1382A32C-5B0C-4B1C-A074-76C6DBCC9F87}"/>
              </a:ext>
            </a:extLst>
          </p:cNvPr>
          <p:cNvSpPr>
            <a:spLocks xmlns:a="http://schemas.openxmlformats.org/drawingml/2006/main" noGrp="1"/>
          </p:cNvSpPr>
          <p:nvPr/>
        </p:nvSpPr>
        <p:spPr>
          <a:xfrm xmlns:a="http://schemas.openxmlformats.org/drawingml/2006/main" flipH="1">
            <a:off x="5957331" y="2188548"/>
            <a:ext cx="5041025" cy="2743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content-5">
            <a:extLst xmlns:a="http://schemas.openxmlformats.org/drawingml/2006/main">
              <a:ext uri="{FF2B5EF4-FFF2-40B4-BE49-F238E27FC236}">
                <a16:creationId xmlns:a16="http://schemas.microsoft.com/office/drawing/2014/main" id="{32415D46-8853-4C13-8829-261BAAD396C4}"/>
              </a:ext>
            </a:extLst>
          </p:cNvPr>
          <p:cNvSpPr>
            <a:spLocks xmlns:a="http://schemas.openxmlformats.org/drawingml/2006/main" noGrp="1"/>
          </p:cNvSpPr>
          <p:nvPr/>
        </p:nvSpPr>
        <p:spPr>
          <a:xfrm xmlns:a="http://schemas.openxmlformats.org/drawingml/2006/main">
            <a:off x="5953125" y="9715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AWS SageMaker -</a:t>
            </a:r>
          </a:p>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Training and tuning</a:t>
            </a:r>
          </a:p>
        </p:txBody>
      </p:sp>
      <p:graphicFrame>
        <p:nvGraphicFramePr>
          <p:cNvPr id="81" name="">
            <a:extLst xmlns:a="http://schemas.openxmlformats.org/drawingml/2006/main">
              <a:ext uri="{FF2B5EF4-FFF2-40B4-BE49-F238E27FC236}">
                <a16:creationId xmlns:a16="http://schemas.microsoft.com/office/drawing/2014/main" id="{AE83EE9A-BF79-40FE-95F7-DBE33611E774}"/>
              </a:ext>
            </a:extLst>
          </p:cNvPr>
          <p:cNvGraphicFramePr/>
          <p:nvPr/>
        </p:nvGraphicFramePr>
        <p:xfrm>
          <a:off xmlns:a="http://schemas.openxmlformats.org/drawingml/2006/main" x="1028700" y="1809750"/>
          <a:ext xmlns:a="http://schemas.openxmlformats.org/drawingml/2006/main" cx="4286250" cy="2667000"/>
        </p:xfrm>
        <a:graphic xmlns:a="http://schemas.openxmlformats.org/drawingml/2006/main">
          <a:graphicData uri="http://schemas.openxmlformats.org/drawingml/2006/table">
            <a:tbl>
              <a:tblPr/>
              <a:tblGrid>
                <a:gridCol w="2667000"/>
                <a:gridCol w="1619250"/>
              </a:tblGrid>
              <a:tr h="666750">
                <a:tc>
                  <a:txBody>
                    <a:bodyPr/>
                    <a:lstStyle/>
                    <a:p>
                      <a:r>
                        <a:rPr sz="1875" b="1">
                          <a:solidFill>
                            <a:srgbClr val="FFFFFF"/>
                          </a:solidFill>
                          <a:latin typeface="Aptos"/>
                          <a:ea typeface="Aptos"/>
                          <a:cs typeface="Aptos"/>
                        </a:rPr>
                        <a:t>Checked AWS artifact</a:t>
                      </a:r>
                    </a:p>
                  </a:txBody>
                  <a:tcPr marL="91440" marR="91440" marT="45720" marB="45720">
                    <a:lnL w="5715">
                      <a:solidFill>
                        <a:srgbClr val="D1DDE2"/>
                      </a:solidFill>
                      <a:prstDash val="solid"/>
                    </a:lnL>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c>
                  <a:txBody>
                    <a:bodyPr/>
                    <a:lstStyle/>
                    <a:p>
                      <a:r>
                        <a:rPr sz="1875" b="1">
                          <a:solidFill>
                            <a:srgbClr val="FFFFFF"/>
                          </a:solidFill>
                          <a:latin typeface="Aptos"/>
                          <a:ea typeface="Aptos"/>
                          <a:cs typeface="Aptos"/>
                        </a:rPr>
                        <a:t>Result</a:t>
                      </a:r>
                    </a:p>
                  </a:txBody>
                  <a:tcPr marL="91440" marR="91440" marT="45720" marB="45720">
                    <a:lnR w="5715">
                      <a:solidFill>
                        <a:srgbClr val="D1DDE2"/>
                      </a:solidFill>
                      <a:prstDash val="solid"/>
                    </a:lnR>
                    <a:lnT w="5715">
                      <a:solidFill>
                        <a:srgbClr val="D1DDE2"/>
                      </a:solidFill>
                      <a:prstDash val="solid"/>
                    </a:lnT>
                    <a:lnB w="5715">
                      <a:solidFill>
                        <a:srgbClr val="D1DDE2"/>
                      </a:solidFill>
                      <a:prstDash val="solid"/>
                    </a:lnB>
                    <a:solidFill>
                      <a:srgbClr val="0F9ED5"/>
                    </a:solidFill>
                  </a:tcPr>
                </a:tc>
              </a:tr>
              <a:tr h="666750">
                <a:tc>
                  <a:txBody>
                    <a:bodyPr/>
                    <a:lstStyle/>
                    <a:p>
                      <a:r>
                        <a:rPr sz="1875" b="0">
                          <a:solidFill>
                            <a:srgbClr val="000000"/>
                          </a:solidFill>
                          <a:latin typeface="Aptos"/>
                          <a:ea typeface="Aptos"/>
                          <a:cs typeface="Aptos"/>
                        </a:rPr>
                        <a:t>Accuracy</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FFFFF"/>
                    </a:solidFill>
                  </a:tcPr>
                </a:tc>
                <a:tc>
                  <a:txBody>
                    <a:bodyPr/>
                    <a:lstStyle/>
                    <a:p>
                      <a:r>
                        <a:rPr sz="1875" b="0">
                          <a:solidFill>
                            <a:srgbClr val="000000"/>
                          </a:solidFill>
                          <a:latin typeface="Aptos"/>
                          <a:ea typeface="Aptos"/>
                          <a:cs typeface="Aptos"/>
                        </a:rPr>
                        <a:t>80.11%</a:t>
                      </a:r>
                    </a:p>
                  </a:txBody>
                  <a:tcPr marL="91440" marR="91440" marT="45720" marB="45720">
                    <a:lnR w="5715">
                      <a:solidFill>
                        <a:srgbClr val="D1DDE2"/>
                      </a:solidFill>
                      <a:prstDash val="solid"/>
                    </a:lnR>
                    <a:lnB w="5715">
                      <a:solidFill>
                        <a:srgbClr val="D1DDE2"/>
                      </a:solidFill>
                      <a:prstDash val="solid"/>
                    </a:lnB>
                    <a:solidFill>
                      <a:srgbClr val="FFFFFF"/>
                    </a:solidFill>
                  </a:tcPr>
                </a:tc>
              </a:tr>
              <a:tr h="666750">
                <a:tc>
                  <a:txBody>
                    <a:bodyPr/>
                    <a:lstStyle/>
                    <a:p>
                      <a:r>
                        <a:rPr sz="1875" b="0">
                          <a:solidFill>
                            <a:srgbClr val="000000"/>
                          </a:solidFill>
                          <a:latin typeface="Aptos"/>
                          <a:ea typeface="Aptos"/>
                          <a:cs typeface="Aptos"/>
                        </a:rPr>
                        <a:t>Poisonous recall</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1F7FA"/>
                    </a:solidFill>
                  </a:tcPr>
                </a:tc>
                <a:tc>
                  <a:txBody>
                    <a:bodyPr/>
                    <a:lstStyle/>
                    <a:p>
                      <a:r>
                        <a:rPr sz="1875" b="0">
                          <a:solidFill>
                            <a:srgbClr val="000000"/>
                          </a:solidFill>
                          <a:latin typeface="Aptos"/>
                          <a:ea typeface="Aptos"/>
                          <a:cs typeface="Aptos"/>
                        </a:rPr>
                        <a:t>58.94%</a:t>
                      </a:r>
                    </a:p>
                  </a:txBody>
                  <a:tcPr marL="91440" marR="91440" marT="45720" marB="45720">
                    <a:lnR w="5715">
                      <a:solidFill>
                        <a:srgbClr val="D1DDE2"/>
                      </a:solidFill>
                      <a:prstDash val="solid"/>
                    </a:lnR>
                    <a:lnB w="5715">
                      <a:solidFill>
                        <a:srgbClr val="D1DDE2"/>
                      </a:solidFill>
                      <a:prstDash val="solid"/>
                    </a:lnB>
                    <a:solidFill>
                      <a:srgbClr val="F1F7FA"/>
                    </a:solidFill>
                  </a:tcPr>
                </a:tc>
              </a:tr>
              <a:tr h="666750">
                <a:tc>
                  <a:txBody>
                    <a:bodyPr/>
                    <a:lstStyle/>
                    <a:p>
                      <a:r>
                        <a:rPr sz="1875" b="0">
                          <a:solidFill>
                            <a:srgbClr val="000000"/>
                          </a:solidFill>
                          <a:latin typeface="Aptos"/>
                          <a:ea typeface="Aptos"/>
                          <a:cs typeface="Aptos"/>
                        </a:rPr>
                        <a:t>CV macro F1</a:t>
                      </a:r>
                    </a:p>
                  </a:txBody>
                  <a:tcPr marL="91440" marR="91440" marT="45720" marB="45720">
                    <a:lnL w="5715">
                      <a:solidFill>
                        <a:srgbClr val="D1DDE2"/>
                      </a:solidFill>
                      <a:prstDash val="solid"/>
                    </a:lnL>
                    <a:lnR w="5715">
                      <a:solidFill>
                        <a:srgbClr val="D1DDE2"/>
                      </a:solidFill>
                      <a:prstDash val="solid"/>
                    </a:lnR>
                    <a:lnB w="5715">
                      <a:solidFill>
                        <a:srgbClr val="D1DDE2"/>
                      </a:solidFill>
                      <a:prstDash val="solid"/>
                    </a:lnB>
                    <a:solidFill>
                      <a:srgbClr val="FFFFFF"/>
                    </a:solidFill>
                  </a:tcPr>
                </a:tc>
                <a:tc>
                  <a:txBody>
                    <a:bodyPr/>
                    <a:lstStyle/>
                    <a:p>
                      <a:r>
                        <a:rPr sz="1875" b="0">
                          <a:solidFill>
                            <a:srgbClr val="000000"/>
                          </a:solidFill>
                          <a:latin typeface="Aptos"/>
                          <a:ea typeface="Aptos"/>
                          <a:cs typeface="Aptos"/>
                        </a:rPr>
                        <a:t>0.753</a:t>
                      </a:r>
                    </a:p>
                  </a:txBody>
                  <a:tcPr marL="91440" marR="91440" marT="45720" marB="45720">
                    <a:lnR w="5715">
                      <a:solidFill>
                        <a:srgbClr val="D1DDE2"/>
                      </a:solidFill>
                      <a:prstDash val="solid"/>
                    </a:lnR>
                    <a:lnB w="5715">
                      <a:solidFill>
                        <a:srgbClr val="D1DDE2"/>
                      </a:solidFill>
                      <a:prstDash val="solid"/>
                    </a:lnB>
                    <a:solidFill>
                      <a:srgbClr val="FFFFFF"/>
                    </a:solidFill>
                  </a:tcPr>
                </a:tc>
              </a:tr>
            </a:tbl>
          </a:graphicData>
        </a:graphic>
      </p:graphicFrame>
      <p:sp>
        <p:nvSpPr>
          <p:cNvPr id="82" name="content-6">
            <a:extLst xmlns:a="http://schemas.openxmlformats.org/drawingml/2006/main">
              <a:ext uri="{FF2B5EF4-FFF2-40B4-BE49-F238E27FC236}">
                <a16:creationId xmlns:a16="http://schemas.microsoft.com/office/drawing/2014/main" id="{B11AE8A5-B08D-4D1E-8FF4-9A8D6ED5E320}"/>
              </a:ext>
            </a:extLst>
          </p:cNvPr>
          <p:cNvSpPr>
            <a:spLocks xmlns:a="http://schemas.openxmlformats.org/drawingml/2006/main" noGrp="1"/>
          </p:cNvSpPr>
          <p:nvPr/>
        </p:nvSpPr>
        <p:spPr>
          <a:xfrm xmlns:a="http://schemas.openxmlformats.org/drawingml/2006/main">
            <a:off x="1047750" y="4857750"/>
            <a:ext cx="423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55555"/>
                </a:solidFill>
                <a:latin typeface="Aptos"/>
                <a:ea typeface="Aptos"/>
                <a:cs typeface="Aptos"/>
              </a:defRPr>
            </a:defPPr>
          </a:lstStyle>
          <a:p xmlns:a="http://schemas.openxmlformats.org/drawingml/2006/main">
            <a:pPr>
              <a:buNone/>
              <a:defRPr sz="1875" b="0">
                <a:solidFill>
                  <a:srgbClr val="555555"/>
                </a:solidFill>
                <a:latin typeface="Aptos"/>
                <a:ea typeface="Aptos"/>
                <a:cs typeface="Aptos"/>
              </a:defRPr>
            </a:pPr>
            <a:r>
              <a:rPr sz="1875" b="0">
                <a:solidFill>
                  <a:srgbClr val="555555"/>
                </a:solidFill>
                <a:latin typeface="Aptos"/>
                <a:ea typeface="Aptos"/>
                <a:cs typeface="Aptos"/>
              </a:rPr>
              <a:t>Notebook + trained pipeline saved in GitHub</a:t>
            </a:r>
          </a:p>
        </p:txBody>
      </p:sp>
      <p:sp>
        <p:nvSpPr>
          <p:cNvPr id="83" name="content-7">
            <a:extLst xmlns:a="http://schemas.openxmlformats.org/drawingml/2006/main">
              <a:ext uri="{FF2B5EF4-FFF2-40B4-BE49-F238E27FC236}">
                <a16:creationId xmlns:a16="http://schemas.microsoft.com/office/drawing/2014/main" id="{E8A408F6-EC66-4BBE-98AC-FC44BAB0253E}"/>
              </a:ext>
            </a:extLst>
          </p:cNvPr>
          <p:cNvSpPr>
            <a:spLocks xmlns:a="http://schemas.openxmlformats.org/drawingml/2006/main" noGrp="1"/>
          </p:cNvSpPr>
          <p:nvPr/>
        </p:nvSpPr>
        <p:spPr>
          <a:xfrm xmlns:a="http://schemas.openxmlformats.org/drawingml/2006/main">
            <a:off x="5953125" y="27622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Same 5,000 course records</a:t>
            </a:r>
          </a:p>
        </p:txBody>
      </p:sp>
      <p:sp>
        <p:nvSpPr>
          <p:cNvPr id="84" name="content-8">
            <a:extLst xmlns:a="http://schemas.openxmlformats.org/drawingml/2006/main">
              <a:ext uri="{FF2B5EF4-FFF2-40B4-BE49-F238E27FC236}">
                <a16:creationId xmlns:a16="http://schemas.microsoft.com/office/drawing/2014/main" id="{9892F39C-FAAE-4AF8-B99C-4F258199EF29}"/>
              </a:ext>
            </a:extLst>
          </p:cNvPr>
          <p:cNvSpPr>
            <a:spLocks xmlns:a="http://schemas.openxmlformats.org/drawingml/2006/main" noGrp="1"/>
          </p:cNvSpPr>
          <p:nvPr/>
        </p:nvSpPr>
        <p:spPr>
          <a:xfrm xmlns:a="http://schemas.openxmlformats.org/drawingml/2006/main">
            <a:off x="5953125" y="34861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Four candidate configurations</a:t>
            </a:r>
          </a:p>
        </p:txBody>
      </p:sp>
      <p:sp>
        <p:nvSpPr>
          <p:cNvPr id="85" name="content-9">
            <a:extLst xmlns:a="http://schemas.openxmlformats.org/drawingml/2006/main">
              <a:ext uri="{FF2B5EF4-FFF2-40B4-BE49-F238E27FC236}">
                <a16:creationId xmlns:a16="http://schemas.microsoft.com/office/drawing/2014/main" id="{0CA2FD67-BB0F-4DB4-A1E7-415963C44C3C}"/>
              </a:ext>
            </a:extLst>
          </p:cNvPr>
          <p:cNvSpPr>
            <a:spLocks xmlns:a="http://schemas.openxmlformats.org/drawingml/2006/main" noGrp="1"/>
          </p:cNvSpPr>
          <p:nvPr/>
        </p:nvSpPr>
        <p:spPr>
          <a:xfrm xmlns:a="http://schemas.openxmlformats.org/drawingml/2006/main">
            <a:off x="5953125" y="42100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Downloaded artifact verified</a:t>
            </a:r>
          </a:p>
        </p:txBody>
      </p:sp>
      <p:sp>
        <p:nvSpPr>
          <p:cNvPr id="86" name="content-10">
            <a:extLst xmlns:a="http://schemas.openxmlformats.org/drawingml/2006/main">
              <a:ext uri="{FF2B5EF4-FFF2-40B4-BE49-F238E27FC236}">
                <a16:creationId xmlns:a16="http://schemas.microsoft.com/office/drawing/2014/main" id="{9774FFB4-3969-4623-8FCB-E434A6529C0E}"/>
              </a:ext>
            </a:extLst>
          </p:cNvPr>
          <p:cNvSpPr>
            <a:spLocks xmlns:a="http://schemas.openxmlformats.org/drawingml/2006/main" noGrp="1"/>
          </p:cNvSpPr>
          <p:nvPr/>
        </p:nvSpPr>
        <p:spPr>
          <a:xfrm xmlns:a="http://schemas.openxmlformats.org/drawingml/2006/main">
            <a:off x="5953125" y="49339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RF300 remains the final choice</a:t>
            </a:r>
          </a:p>
        </p:txBody>
      </p:sp>
    </p:spTree>
    <p:extLst>
      <p:ext uri="{BB962C8B-B14F-4D97-AF65-F5344CB8AC3E}">
        <p14:creationId xmlns:p14="http://schemas.microsoft.com/office/powerpoint/2010/main" val="30760030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F79191-3C66-4006-A706-F3CAEF133E8B}"/>
              </a:ext>
            </a:extLst>
          </p:cNvPr>
          <p:cNvSpPr>
            <a:spLocks xmlns:a="http://schemas.openxmlformats.org/drawingml/2006/main" noGrp="1"/>
          </p:cNvSpPr>
          <p:nvPr/>
        </p:nvSpPr>
        <p:spPr>
          <a:xfrm xmlns:a="http://schemas.openxmlformats.org/drawingml/2006/main">
            <a:off x="685800" y="59055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00000"/>
                </a:solidFill>
                <a:latin typeface="Aptos"/>
                <a:ea typeface="Aptos"/>
                <a:cs typeface="Aptos"/>
              </a:defRPr>
            </a:defPPr>
          </a:lstStyle>
          <a:p xmlns:a="http://schemas.openxmlformats.org/drawingml/2006/main">
            <a:pPr>
              <a:buNone/>
              <a:defRPr sz="2250" b="1">
                <a:solidFill>
                  <a:srgbClr val="000000"/>
                </a:solidFill>
                <a:latin typeface="Aptos"/>
                <a:ea typeface="Aptos"/>
                <a:cs typeface="Aptos"/>
              </a:defRPr>
            </a:pPr>
            <a:r>
              <a:rPr sz="2250" b="1">
                <a:solidFill>
                  <a:srgbClr val="000000"/>
                </a:solidFill>
                <a:latin typeface="Aptos"/>
                <a:ea typeface="Aptos"/>
                <a:cs typeface="Aptos"/>
              </a:rPr>
              <a:t>MESSI10</a:t>
            </a:r>
          </a:p>
        </p:txBody>
      </p:sp>
      <p:sp>
        <p:nvSpPr>
          <p:cNvPr id="2" name="">
            <a:extLst xmlns:a="http://schemas.openxmlformats.org/drawingml/2006/main">
              <a:ext uri="{FF2B5EF4-FFF2-40B4-BE49-F238E27FC236}">
                <a16:creationId xmlns:a16="http://schemas.microsoft.com/office/drawing/2014/main" id="{56D82844-20EA-4B05-B61B-A2F6A852EFC1}"/>
              </a:ext>
            </a:extLst>
          </p:cNvPr>
          <p:cNvSpPr>
            <a:spLocks xmlns:a="http://schemas.openxmlformats.org/drawingml/2006/main" noGrp="1"/>
          </p:cNvSpPr>
          <p:nvPr/>
        </p:nvSpPr>
        <p:spPr>
          <a:xfrm xmlns:a="http://schemas.openxmlformats.org/drawingml/2006/main">
            <a:off x="685800" y="1524000"/>
            <a:ext cx="1028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000000"/>
                </a:solidFill>
                <a:latin typeface="Aptos"/>
                <a:ea typeface="Aptos"/>
                <a:cs typeface="Aptos"/>
              </a:defRPr>
            </a:defPPr>
          </a:lstStyle>
          <a:p xmlns:a="http://schemas.openxmlformats.org/drawingml/2006/main">
            <a:pPr>
              <a:buNone/>
              <a:defRPr sz="6000" b="1">
                <a:solidFill>
                  <a:srgbClr val="000000"/>
                </a:solidFill>
                <a:latin typeface="Aptos"/>
                <a:ea typeface="Aptos"/>
                <a:cs typeface="Aptos"/>
              </a:defRPr>
            </a:pPr>
            <a:r>
              <a:rPr sz="6000" b="1">
                <a:solidFill>
                  <a:srgbClr val="000000"/>
                </a:solidFill>
                <a:latin typeface="Aptos"/>
                <a:ea typeface="Aptos"/>
                <a:cs typeface="Aptos"/>
              </a:rPr>
              <a:t>Citi Bike</a:t>
            </a:r>
            <a:br>
              <a:rPr sz="6000" b="1">
                <a:solidFill>
                  <a:srgbClr val="000000"/>
                </a:solidFill>
                <a:latin typeface="Aptos"/>
                <a:ea typeface="Aptos"/>
                <a:cs typeface="Aptos"/>
              </a:rPr>
            </a:br>
            <a:r>
              <a:rPr sz="6000" b="1">
                <a:solidFill>
                  <a:srgbClr val="000000"/>
                </a:solidFill>
                <a:latin typeface="Aptos"/>
                <a:ea typeface="Aptos"/>
                <a:cs typeface="Aptos"/>
              </a:rPr>
              <a:t>mijn deel</a:t>
            </a:r>
          </a:p>
        </p:txBody>
      </p:sp>
      <p:sp>
        <p:nvSpPr>
          <p:cNvPr id="3" name="">
            <a:extLst xmlns:a="http://schemas.openxmlformats.org/drawingml/2006/main">
              <a:ext uri="{FF2B5EF4-FFF2-40B4-BE49-F238E27FC236}">
                <a16:creationId xmlns:a16="http://schemas.microsoft.com/office/drawing/2014/main" id="{A670E45B-280A-4EA1-B752-6CBD4EE78CCE}"/>
              </a:ext>
            </a:extLst>
          </p:cNvPr>
          <p:cNvSpPr>
            <a:spLocks xmlns:a="http://schemas.openxmlformats.org/drawingml/2006/main" noGrp="1"/>
          </p:cNvSpPr>
          <p:nvPr/>
        </p:nvSpPr>
        <p:spPr>
          <a:xfrm xmlns:a="http://schemas.openxmlformats.org/drawingml/2006/main">
            <a:off x="723900" y="40576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000000"/>
                </a:solidFill>
                <a:latin typeface="Aptos"/>
                <a:ea typeface="Aptos"/>
                <a:cs typeface="Aptos"/>
              </a:defRPr>
            </a:defPPr>
          </a:lstStyle>
          <a:p xmlns:a="http://schemas.openxmlformats.org/drawingml/2006/main">
            <a:pPr>
              <a:buNone/>
              <a:defRPr sz="2850" b="1">
                <a:solidFill>
                  <a:srgbClr val="000000"/>
                </a:solidFill>
                <a:latin typeface="Aptos"/>
                <a:ea typeface="Aptos"/>
                <a:cs typeface="Aptos"/>
              </a:defRPr>
            </a:pPr>
            <a:r>
              <a:rPr sz="2850" b="1">
                <a:solidFill>
                  <a:srgbClr val="000000"/>
                </a:solidFill>
                <a:latin typeface="Aptos"/>
                <a:ea typeface="Aptos"/>
                <a:cs typeface="Aptos"/>
              </a:rPr>
              <a:t>Raoul Buffels</a:t>
            </a:r>
          </a:p>
        </p:txBody>
      </p:sp>
      <p:sp>
        <p:nvSpPr>
          <p:cNvPr id="4" name="">
            <a:extLst xmlns:a="http://schemas.openxmlformats.org/drawingml/2006/main">
              <a:ext uri="{FF2B5EF4-FFF2-40B4-BE49-F238E27FC236}">
                <a16:creationId xmlns:a16="http://schemas.microsoft.com/office/drawing/2014/main" id="{17A47801-55EF-4CE5-BBD9-628C623DAF47}"/>
              </a:ext>
            </a:extLst>
          </p:cNvPr>
          <p:cNvSpPr>
            <a:spLocks xmlns:a="http://schemas.openxmlformats.org/drawingml/2006/main" noGrp="1"/>
          </p:cNvSpPr>
          <p:nvPr/>
        </p:nvSpPr>
        <p:spPr>
          <a:xfrm xmlns:a="http://schemas.openxmlformats.org/drawingml/2006/main">
            <a:off x="723900" y="4657725"/>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000000"/>
                </a:solidFill>
                <a:latin typeface="Aptos"/>
                <a:ea typeface="Aptos"/>
                <a:cs typeface="Aptos"/>
              </a:defRPr>
            </a:defPPr>
          </a:lstStyle>
          <a:p xmlns:a="http://schemas.openxmlformats.org/drawingml/2006/main">
            <a:pPr>
              <a:buNone/>
              <a:defRPr sz="2100" b="0">
                <a:solidFill>
                  <a:srgbClr val="000000"/>
                </a:solidFill>
                <a:latin typeface="Aptos"/>
                <a:ea typeface="Aptos"/>
                <a:cs typeface="Aptos"/>
              </a:defRPr>
            </a:pPr>
            <a:r>
              <a:rPr sz="2100" b="0">
                <a:solidFill>
                  <a:srgbClr val="000000"/>
                </a:solidFill>
                <a:latin typeface="Aptos"/>
                <a:ea typeface="Aptos"/>
                <a:cs typeface="Aptos"/>
              </a:rPr>
              <a:t>Dataonderzoek, modellen en de Citi Bike-applicatie</a:t>
            </a:r>
          </a:p>
        </p:txBody>
      </p:sp>
      <p:sp>
        <p:nvSpPr>
          <p:cNvPr id="5" name="">
            <a:extLst xmlns:a="http://schemas.openxmlformats.org/drawingml/2006/main">
              <a:ext uri="{FF2B5EF4-FFF2-40B4-BE49-F238E27FC236}">
                <a16:creationId xmlns:a16="http://schemas.microsoft.com/office/drawing/2014/main" id="{43A7B75E-1295-4F70-BF21-A7436AEF43CD}"/>
              </a:ext>
            </a:extLst>
          </p:cNvPr>
          <p:cNvSpPr>
            <a:spLocks xmlns:a="http://schemas.openxmlformats.org/drawingml/2006/main" noGrp="1"/>
          </p:cNvSpPr>
          <p:nvPr/>
        </p:nvSpPr>
        <p:spPr>
          <a:xfrm xmlns:a="http://schemas.openxmlformats.org/drawingml/2006/main">
            <a:off x="723900" y="5648325"/>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000000"/>
                </a:solidFill>
                <a:latin typeface="Aptos"/>
                <a:ea typeface="Aptos"/>
                <a:cs typeface="Aptos"/>
              </a:defRPr>
            </a:defPPr>
          </a:lstStyle>
          <a:p xmlns:a="http://schemas.openxmlformats.org/drawingml/2006/main">
            <a:pPr>
              <a:buNone/>
              <a:defRPr sz="1800" b="0">
                <a:solidFill>
                  <a:srgbClr val="000000"/>
                </a:solidFill>
                <a:latin typeface="Aptos"/>
                <a:ea typeface="Aptos"/>
                <a:cs typeface="Aptos"/>
              </a:defRPr>
            </a:pPr>
            <a:r>
              <a:rPr sz="1800" b="0">
                <a:solidFill>
                  <a:srgbClr val="000000"/>
                </a:solidFill>
                <a:latin typeface="Aptos"/>
                <a:ea typeface="Aptos"/>
                <a:cs typeface="Aptos"/>
              </a:rPr>
              <a:t>Team: Jorre Van Dyck, Milan Wouters,</a:t>
            </a:r>
            <a:br>
              <a:rPr sz="1800" b="0">
                <a:solidFill>
                  <a:srgbClr val="000000"/>
                </a:solidFill>
                <a:latin typeface="Aptos"/>
                <a:ea typeface="Aptos"/>
                <a:cs typeface="Aptos"/>
              </a:rPr>
            </a:br>
            <a:r>
              <a:rPr sz="1800" b="0">
                <a:solidFill>
                  <a:srgbClr val="000000"/>
                </a:solidFill>
                <a:latin typeface="Aptos"/>
                <a:ea typeface="Aptos"/>
                <a:cs typeface="Aptos"/>
              </a:rPr>
              <a:t>Andrew Noeyens en Raoul Buffels</a:t>
            </a:r>
          </a:p>
        </p:txBody>
      </p:sp>
    </p:spTree>
    <p:extLst>
      <p:ext uri="{BB962C8B-B14F-4D97-AF65-F5344CB8AC3E}">
        <p14:creationId xmlns:p14="http://schemas.microsoft.com/office/powerpoint/2010/main" val="17607788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38C404-7E17-4E5F-9191-C610AFD236BB}"/>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0F9ED5"/>
                </a:solidFill>
                <a:latin typeface="Aptos"/>
                <a:ea typeface="Aptos"/>
                <a:cs typeface="Aptos"/>
              </a:defRPr>
            </a:defPPr>
          </a:lstStyle>
          <a:p xmlns:a="http://schemas.openxmlformats.org/drawingml/2006/main">
            <a:pPr>
              <a:buNone/>
              <a:defRPr sz="1425" b="1">
                <a:solidFill>
                  <a:srgbClr val="0F9ED5"/>
                </a:solidFill>
                <a:latin typeface="Aptos"/>
                <a:ea typeface="Aptos"/>
                <a:cs typeface="Aptos"/>
              </a:defRPr>
            </a:pPr>
            <a:r>
              <a:rPr sz="1425" b="1">
                <a:solidFill>
                  <a:srgbClr val="0F9ED5"/>
                </a:solidFill>
                <a:latin typeface="Aptos"/>
                <a:ea typeface="Aptos"/>
                <a:cs typeface="Aptos"/>
              </a:rPr>
              <a:t>EDA</a:t>
            </a:r>
          </a:p>
        </p:txBody>
      </p:sp>
      <p:sp>
        <p:nvSpPr>
          <p:cNvPr id="2" name="">
            <a:extLst xmlns:a="http://schemas.openxmlformats.org/drawingml/2006/main">
              <a:ext uri="{FF2B5EF4-FFF2-40B4-BE49-F238E27FC236}">
                <a16:creationId xmlns:a16="http://schemas.microsoft.com/office/drawing/2014/main" id="{026535E0-93FA-498B-A816-C8CB390263D6}"/>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00000"/>
                </a:solidFill>
                <a:latin typeface="Aptos"/>
                <a:ea typeface="Aptos"/>
                <a:cs typeface="Aptos"/>
              </a:defRPr>
            </a:defPPr>
          </a:lstStyle>
          <a:p xmlns:a="http://schemas.openxmlformats.org/drawingml/2006/main">
            <a:pPr>
              <a:buNone/>
              <a:defRPr sz="3300" b="1">
                <a:solidFill>
                  <a:srgbClr val="000000"/>
                </a:solidFill>
                <a:latin typeface="Aptos"/>
                <a:ea typeface="Aptos"/>
                <a:cs typeface="Aptos"/>
              </a:defRPr>
            </a:pPr>
            <a:r>
              <a:rPr sz="3300" b="1">
                <a:solidFill>
                  <a:srgbClr val="000000"/>
                </a:solidFill>
                <a:latin typeface="Aptos"/>
                <a:ea typeface="Aptos"/>
                <a:cs typeface="Aptos"/>
              </a:rPr>
              <a:t>Wat ik in de brondata tegenkwam</a:t>
            </a:r>
          </a:p>
        </p:txBody>
      </p:sp>
      <p:sp>
        <p:nvSpPr>
          <p:cNvPr id="3" name="">
            <a:extLst xmlns:a="http://schemas.openxmlformats.org/drawingml/2006/main">
              <a:ext uri="{FF2B5EF4-FFF2-40B4-BE49-F238E27FC236}">
                <a16:creationId xmlns:a16="http://schemas.microsoft.com/office/drawing/2014/main" id="{559A915E-F801-4B38-8211-EB5E8178E3F8}"/>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ptos"/>
                <a:ea typeface="Aptos"/>
                <a:cs typeface="Aptos"/>
              </a:defRPr>
            </a:defPPr>
          </a:lstStyle>
          <a:p xmlns:a="http://schemas.openxmlformats.org/drawingml/2006/main">
            <a:pPr>
              <a:buNone/>
              <a:defRPr sz="1350" b="0">
                <a:solidFill>
                  <a:srgbClr val="62766E"/>
                </a:solidFill>
                <a:latin typeface="Aptos"/>
                <a:ea typeface="Aptos"/>
                <a:cs typeface="Aptos"/>
              </a:defRPr>
            </a:pPr>
            <a:r>
              <a:rPr sz="1350" b="0">
                <a:solidFill>
                  <a:srgbClr val="62766E"/>
                </a:solidFill>
                <a:latin typeface="Aptos"/>
                <a:ea typeface="Aptos"/>
                <a:cs typeface="Aptos"/>
              </a:rPr>
              <a:t>2</a:t>
            </a:r>
          </a:p>
        </p:txBody>
      </p:sp>
      <p:sp>
        <p:nvSpPr>
          <p:cNvPr id="4" name="">
            <a:extLst xmlns:a="http://schemas.openxmlformats.org/drawingml/2006/main">
              <a:ext uri="{FF2B5EF4-FFF2-40B4-BE49-F238E27FC236}">
                <a16:creationId xmlns:a16="http://schemas.microsoft.com/office/drawing/2014/main" id="{2568CBD3-0AC0-4782-A7A0-AF92575AF456}"/>
              </a:ext>
            </a:extLst>
          </p:cNvPr>
          <p:cNvSpPr>
            <a:spLocks xmlns:a="http://schemas.openxmlformats.org/drawingml/2006/main" noGrp="1"/>
          </p:cNvSpPr>
          <p:nvPr/>
        </p:nvSpPr>
        <p:spPr>
          <a:xfrm xmlns:a="http://schemas.openxmlformats.org/drawingml/2006/main">
            <a:off x="685800" y="169545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0F9ED5"/>
                </a:solidFill>
                <a:latin typeface="Aptos"/>
                <a:ea typeface="Aptos"/>
                <a:cs typeface="Aptos"/>
              </a:defRPr>
            </a:defPPr>
          </a:lstStyle>
          <a:p xmlns:a="http://schemas.openxmlformats.org/drawingml/2006/main">
            <a:pPr>
              <a:buNone/>
              <a:defRPr sz="3225" b="1">
                <a:solidFill>
                  <a:srgbClr val="0F9ED5"/>
                </a:solidFill>
                <a:latin typeface="Aptos"/>
                <a:ea typeface="Aptos"/>
                <a:cs typeface="Aptos"/>
              </a:defRPr>
            </a:pPr>
            <a:r>
              <a:rPr sz="3225" b="1">
                <a:solidFill>
                  <a:srgbClr val="0F9ED5"/>
                </a:solidFill>
                <a:latin typeface="Aptos"/>
                <a:ea typeface="Aptos"/>
                <a:cs typeface="Aptos"/>
              </a:rPr>
              <a:t>175 ZIP-bronnen</a:t>
            </a:r>
          </a:p>
        </p:txBody>
      </p:sp>
      <p:sp>
        <p:nvSpPr>
          <p:cNvPr id="5" name="">
            <a:extLst xmlns:a="http://schemas.openxmlformats.org/drawingml/2006/main">
              <a:ext uri="{FF2B5EF4-FFF2-40B4-BE49-F238E27FC236}">
                <a16:creationId xmlns:a16="http://schemas.microsoft.com/office/drawing/2014/main" id="{802702A5-9354-4645-990E-5D90C67EE728}"/>
              </a:ext>
            </a:extLst>
          </p:cNvPr>
          <p:cNvSpPr>
            <a:spLocks xmlns:a="http://schemas.openxmlformats.org/drawingml/2006/main" noGrp="1"/>
          </p:cNvSpPr>
          <p:nvPr/>
        </p:nvSpPr>
        <p:spPr>
          <a:xfrm xmlns:a="http://schemas.openxmlformats.org/drawingml/2006/main">
            <a:off x="685800" y="235267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NYC en Jersey City, apart verwerkt</a:t>
            </a:r>
          </a:p>
        </p:txBody>
      </p:sp>
      <p:sp>
        <p:nvSpPr>
          <p:cNvPr id="6" name="">
            <a:extLst xmlns:a="http://schemas.openxmlformats.org/drawingml/2006/main">
              <a:ext uri="{FF2B5EF4-FFF2-40B4-BE49-F238E27FC236}">
                <a16:creationId xmlns:a16="http://schemas.microsoft.com/office/drawing/2014/main" id="{33F32547-2AE8-4593-A702-00894887FF72}"/>
              </a:ext>
            </a:extLst>
          </p:cNvPr>
          <p:cNvSpPr>
            <a:spLocks xmlns:a="http://schemas.openxmlformats.org/drawingml/2006/main" noGrp="1"/>
          </p:cNvSpPr>
          <p:nvPr/>
        </p:nvSpPr>
        <p:spPr>
          <a:xfrm xmlns:a="http://schemas.openxmlformats.org/drawingml/2006/main">
            <a:off x="685800" y="3409950"/>
            <a:ext cx="552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000000"/>
                </a:solidFill>
                <a:latin typeface="Aptos"/>
                <a:ea typeface="Aptos"/>
                <a:cs typeface="Aptos"/>
              </a:defRPr>
            </a:defPPr>
          </a:lstStyle>
          <a:p xmlns:a="http://schemas.openxmlformats.org/drawingml/2006/main">
            <a:pPr>
              <a:buNone/>
              <a:defRPr sz="2850" b="1">
                <a:solidFill>
                  <a:srgbClr val="000000"/>
                </a:solidFill>
                <a:latin typeface="Aptos"/>
                <a:ea typeface="Aptos"/>
                <a:cs typeface="Aptos"/>
              </a:defRPr>
            </a:pPr>
            <a:r>
              <a:rPr sz="2850" b="1">
                <a:solidFill>
                  <a:srgbClr val="000000"/>
                </a:solidFill>
                <a:latin typeface="Aptos"/>
                <a:ea typeface="Aptos"/>
                <a:cs typeface="Aptos"/>
              </a:rPr>
              <a:t>323,8 miljoen NYC-records</a:t>
            </a:r>
          </a:p>
        </p:txBody>
      </p:sp>
      <p:sp>
        <p:nvSpPr>
          <p:cNvPr id="7" name="">
            <a:extLst xmlns:a="http://schemas.openxmlformats.org/drawingml/2006/main">
              <a:ext uri="{FF2B5EF4-FFF2-40B4-BE49-F238E27FC236}">
                <a16:creationId xmlns:a16="http://schemas.microsoft.com/office/drawing/2014/main" id="{599C1990-96DC-49C0-A44B-E429C95CF247}"/>
              </a:ext>
            </a:extLst>
          </p:cNvPr>
          <p:cNvSpPr>
            <a:spLocks xmlns:a="http://schemas.openxmlformats.org/drawingml/2006/main" noGrp="1"/>
          </p:cNvSpPr>
          <p:nvPr/>
        </p:nvSpPr>
        <p:spPr>
          <a:xfrm xmlns:a="http://schemas.openxmlformats.org/drawingml/2006/main">
            <a:off x="685800" y="4095750"/>
            <a:ext cx="5334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2766E"/>
                </a:solidFill>
                <a:latin typeface="Aptos"/>
                <a:ea typeface="Aptos"/>
                <a:cs typeface="Aptos"/>
              </a:defRPr>
            </a:defPPr>
          </a:lstStyle>
          <a:p xmlns:a="http://schemas.openxmlformats.org/drawingml/2006/main">
            <a:pPr>
              <a:buNone/>
              <a:defRPr sz="1875" b="0">
                <a:solidFill>
                  <a:srgbClr val="62766E"/>
                </a:solidFill>
                <a:latin typeface="Aptos"/>
                <a:ea typeface="Aptos"/>
                <a:cs typeface="Aptos"/>
              </a:defRPr>
            </a:pPr>
            <a:r>
              <a:rPr sz="1875" b="0">
                <a:solidFill>
                  <a:srgbClr val="62766E"/>
                </a:solidFill>
                <a:latin typeface="Aptos"/>
                <a:ea typeface="Aptos"/>
                <a:cs typeface="Aptos"/>
              </a:rPr>
              <a:t>Technische dekking: juni 2013–augustus 2026</a:t>
            </a:r>
            <a:br>
              <a:rPr sz="1875" b="0">
                <a:solidFill>
                  <a:srgbClr val="62766E"/>
                </a:solidFill>
                <a:latin typeface="Aptos"/>
                <a:ea typeface="Aptos"/>
                <a:cs typeface="Aptos"/>
              </a:rPr>
            </a:br>
            <a:r>
              <a:rPr sz="1875" b="0">
                <a:solidFill>
                  <a:srgbClr val="62766E"/>
                </a:solidFill>
                <a:latin typeface="Aptos"/>
                <a:ea typeface="Aptos"/>
                <a:cs typeface="Aptos"/>
              </a:rPr>
              <a:t>EDA: uitsluitend vóór mei 2026</a:t>
            </a:r>
          </a:p>
        </p:txBody>
      </p:sp>
      <p:sp>
        <p:nvSpPr>
          <p:cNvPr id="8" name="">
            <a:extLst xmlns:a="http://schemas.openxmlformats.org/drawingml/2006/main">
              <a:ext uri="{FF2B5EF4-FFF2-40B4-BE49-F238E27FC236}">
                <a16:creationId xmlns:a16="http://schemas.microsoft.com/office/drawing/2014/main" id="{011E33A8-8C7C-4E58-BB76-4659F58A52F1}"/>
              </a:ext>
            </a:extLst>
          </p:cNvPr>
          <p:cNvSpPr>
            <a:spLocks xmlns:a="http://schemas.openxmlformats.org/drawingml/2006/main" noGrp="1"/>
          </p:cNvSpPr>
          <p:nvPr/>
        </p:nvSpPr>
        <p:spPr>
          <a:xfrm xmlns:a="http://schemas.openxmlformats.org/drawingml/2006/main">
            <a:off x="6858000" y="1714500"/>
            <a:ext cx="457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00000"/>
                </a:solidFill>
                <a:latin typeface="Aptos"/>
                <a:ea typeface="Aptos"/>
                <a:cs typeface="Aptos"/>
              </a:defRPr>
            </a:defPPr>
          </a:lstStyle>
          <a:p xmlns:a="http://schemas.openxmlformats.org/drawingml/2006/main">
            <a:pPr>
              <a:buNone/>
              <a:defRPr sz="2400" b="1">
                <a:solidFill>
                  <a:srgbClr val="000000"/>
                </a:solidFill>
                <a:latin typeface="Aptos"/>
                <a:ea typeface="Aptos"/>
                <a:cs typeface="Aptos"/>
              </a:defRPr>
            </a:pPr>
            <a:r>
              <a:rPr sz="2400" b="1">
                <a:solidFill>
                  <a:srgbClr val="000000"/>
                </a:solidFill>
                <a:latin typeface="Aptos"/>
                <a:ea typeface="Aptos"/>
                <a:cs typeface="Aptos"/>
              </a:rPr>
              <a:t>Wat mij opviel</a:t>
            </a:r>
          </a:p>
        </p:txBody>
      </p:sp>
      <p:sp>
        <p:nvSpPr>
          <p:cNvPr id="9" name="">
            <a:extLst xmlns:a="http://schemas.openxmlformats.org/drawingml/2006/main">
              <a:ext uri="{FF2B5EF4-FFF2-40B4-BE49-F238E27FC236}">
                <a16:creationId xmlns:a16="http://schemas.microsoft.com/office/drawing/2014/main" id="{10D4739A-4992-41B8-A273-15B1B4F52DD5}"/>
              </a:ext>
            </a:extLst>
          </p:cNvPr>
          <p:cNvSpPr>
            <a:spLocks xmlns:a="http://schemas.openxmlformats.org/drawingml/2006/main" noGrp="1"/>
          </p:cNvSpPr>
          <p:nvPr/>
        </p:nvSpPr>
        <p:spPr>
          <a:xfrm xmlns:a="http://schemas.openxmlformats.org/drawingml/2006/main">
            <a:off x="6858000" y="2352675"/>
            <a:ext cx="4524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Bronarchieven overlappen</a:t>
            </a:r>
            <a:br>
              <a:rPr sz="2025" b="0">
                <a:solidFill>
                  <a:srgbClr val="000000"/>
                </a:solidFill>
                <a:latin typeface="Aptos"/>
                <a:ea typeface="Aptos"/>
                <a:cs typeface="Aptos"/>
              </a:rPr>
            </a:br>
            <a:br>
              <a:rPr sz="2025" b="0">
                <a:solidFill>
                  <a:srgbClr val="000000"/>
                </a:solidFill>
                <a:latin typeface="Aptos"/>
                <a:ea typeface="Aptos"/>
                <a:cs typeface="Aptos"/>
              </a:rPr>
            </a:br>
            <a:r>
              <a:rPr sz="2025" b="0">
                <a:solidFill>
                  <a:srgbClr val="000000"/>
                </a:solidFill>
                <a:latin typeface="Aptos"/>
                <a:ea typeface="Aptos"/>
                <a:cs typeface="Aptos"/>
              </a:rPr>
              <a:t>Schema’s veranderen door de jaren</a:t>
            </a:r>
            <a:br>
              <a:rPr sz="2025" b="0">
                <a:solidFill>
                  <a:srgbClr val="000000"/>
                </a:solidFill>
                <a:latin typeface="Aptos"/>
                <a:ea typeface="Aptos"/>
                <a:cs typeface="Aptos"/>
              </a:rPr>
            </a:br>
            <a:br>
              <a:rPr sz="2025" b="0">
                <a:solidFill>
                  <a:srgbClr val="000000"/>
                </a:solidFill>
                <a:latin typeface="Aptos"/>
                <a:ea typeface="Aptos"/>
                <a:cs typeface="Aptos"/>
              </a:rPr>
            </a:br>
            <a:r>
              <a:rPr sz="2025" b="0">
                <a:solidFill>
                  <a:srgbClr val="000000"/>
                </a:solidFill>
                <a:latin typeface="Aptos"/>
                <a:ea typeface="Aptos"/>
                <a:cs typeface="Aptos"/>
              </a:rPr>
              <a:t>Lange geregistreerde duur vraagt uitleg</a:t>
            </a:r>
            <a:br>
              <a:rPr sz="2025" b="0">
                <a:solidFill>
                  <a:srgbClr val="000000"/>
                </a:solidFill>
                <a:latin typeface="Aptos"/>
                <a:ea typeface="Aptos"/>
                <a:cs typeface="Aptos"/>
              </a:rPr>
            </a:br>
            <a:br>
              <a:rPr sz="2025" b="0">
                <a:solidFill>
                  <a:srgbClr val="000000"/>
                </a:solidFill>
                <a:latin typeface="Aptos"/>
                <a:ea typeface="Aptos"/>
                <a:cs typeface="Aptos"/>
              </a:rPr>
            </a:br>
            <a:r>
              <a:rPr sz="2025" b="0">
                <a:solidFill>
                  <a:srgbClr val="000000"/>
                </a:solidFill>
                <a:latin typeface="Aptos"/>
                <a:ea typeface="Aptos"/>
                <a:cs typeface="Aptos"/>
              </a:rPr>
              <a:t>Een missing eindstation wist de start niet</a:t>
            </a:r>
          </a:p>
        </p:txBody>
      </p:sp>
    </p:spTree>
    <p:extLst>
      <p:ext uri="{BB962C8B-B14F-4D97-AF65-F5344CB8AC3E}">
        <p14:creationId xmlns:p14="http://schemas.microsoft.com/office/powerpoint/2010/main" val="591375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BBDB37-5A6D-4CEB-8DFA-42EEE576904A}"/>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0F9ED5"/>
                </a:solidFill>
                <a:latin typeface="Aptos"/>
                <a:ea typeface="Aptos"/>
                <a:cs typeface="Aptos"/>
              </a:defRPr>
            </a:defPPr>
          </a:lstStyle>
          <a:p xmlns:a="http://schemas.openxmlformats.org/drawingml/2006/main">
            <a:pPr>
              <a:buNone/>
              <a:defRPr sz="1425" b="1">
                <a:solidFill>
                  <a:srgbClr val="0F9ED5"/>
                </a:solidFill>
                <a:latin typeface="Aptos"/>
                <a:ea typeface="Aptos"/>
                <a:cs typeface="Aptos"/>
              </a:defRPr>
            </a:pPr>
            <a:r>
              <a:rPr sz="1425" b="1">
                <a:solidFill>
                  <a:srgbClr val="0F9ED5"/>
                </a:solidFill>
                <a:latin typeface="Aptos"/>
                <a:ea typeface="Aptos"/>
                <a:cs typeface="Aptos"/>
              </a:rPr>
              <a:t>EDA</a:t>
            </a:r>
          </a:p>
        </p:txBody>
      </p:sp>
      <p:sp>
        <p:nvSpPr>
          <p:cNvPr id="2" name="">
            <a:extLst xmlns:a="http://schemas.openxmlformats.org/drawingml/2006/main">
              <a:ext uri="{FF2B5EF4-FFF2-40B4-BE49-F238E27FC236}">
                <a16:creationId xmlns:a16="http://schemas.microsoft.com/office/drawing/2014/main" id="{C07314A5-E0B7-4388-8C05-03423A24807F}"/>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00000"/>
                </a:solidFill>
                <a:latin typeface="Aptos"/>
                <a:ea typeface="Aptos"/>
                <a:cs typeface="Aptos"/>
              </a:defRPr>
            </a:defPPr>
          </a:lstStyle>
          <a:p xmlns:a="http://schemas.openxmlformats.org/drawingml/2006/main">
            <a:pPr>
              <a:buNone/>
              <a:defRPr sz="3300" b="1">
                <a:solidFill>
                  <a:srgbClr val="000000"/>
                </a:solidFill>
                <a:latin typeface="Aptos"/>
                <a:ea typeface="Aptos"/>
                <a:cs typeface="Aptos"/>
              </a:defRPr>
            </a:pPr>
            <a:r>
              <a:rPr sz="3300" b="1">
                <a:solidFill>
                  <a:srgbClr val="000000"/>
                </a:solidFill>
                <a:latin typeface="Aptos"/>
                <a:ea typeface="Aptos"/>
                <a:cs typeface="Aptos"/>
              </a:rPr>
              <a:t>Gebruik volgt het uur en de weekdag</a:t>
            </a:r>
          </a:p>
        </p:txBody>
      </p:sp>
      <p:sp>
        <p:nvSpPr>
          <p:cNvPr id="3" name="">
            <a:extLst xmlns:a="http://schemas.openxmlformats.org/drawingml/2006/main">
              <a:ext uri="{FF2B5EF4-FFF2-40B4-BE49-F238E27FC236}">
                <a16:creationId xmlns:a16="http://schemas.microsoft.com/office/drawing/2014/main" id="{934EB1EA-13C9-466C-9078-58E724E07055}"/>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ptos"/>
                <a:ea typeface="Aptos"/>
                <a:cs typeface="Aptos"/>
              </a:defRPr>
            </a:defPPr>
          </a:lstStyle>
          <a:p xmlns:a="http://schemas.openxmlformats.org/drawingml/2006/main">
            <a:pPr>
              <a:buNone/>
              <a:defRPr sz="1350" b="0">
                <a:solidFill>
                  <a:srgbClr val="62766E"/>
                </a:solidFill>
                <a:latin typeface="Aptos"/>
                <a:ea typeface="Aptos"/>
                <a:cs typeface="Aptos"/>
              </a:defRPr>
            </a:pPr>
            <a:r>
              <a:rPr sz="1350" b="0">
                <a:solidFill>
                  <a:srgbClr val="62766E"/>
                </a:solidFill>
                <a:latin typeface="Aptos"/>
                <a:ea typeface="Aptos"/>
                <a:cs typeface="Aptos"/>
              </a:rPr>
              <a:t>3</a:t>
            </a:r>
          </a:p>
        </p:txBody>
      </p:sp>
      <p:graphicFrame>
        <p:nvGraphicFramePr>
          <p:cNvPr id="4" name="Chart">
            <a:extLst xmlns:a="http://schemas.openxmlformats.org/drawingml/2006/main">
              <a:ext uri="{FF2B5EF4-FFF2-40B4-BE49-F238E27FC236}">
                <a16:creationId xmlns:a16="http://schemas.microsoft.com/office/drawing/2014/main" id="{DF0712EA-09D3-48DA-AF1E-C74AC751F0A6}"/>
              </a:ext>
            </a:extLst>
          </p:cNvPr>
          <p:cNvGraphicFramePr/>
          <p:nvPr/>
        </p:nvGraphicFramePr>
        <p:xfrm>
          <a:off xmlns:a="http://schemas.openxmlformats.org/drawingml/2006/main" x="723900" y="1619250"/>
          <a:ext xmlns:a="http://schemas.openxmlformats.org/drawingml/2006/main" cx="10668000" cy="3905250"/>
        </p:xfrm>
        <a:graphic xmlns:a="http://schemas.openxmlformats.org/drawingml/2006/main">
          <a:graphicData uri="http://schemas.openxmlformats.org/drawingml/2006/chart">
            <c:chart xmlns:r="http://schemas.openxmlformats.org/officeDocument/2006/relationships" xmlns:c="http://schemas.openxmlformats.org/drawingml/2006/chart" r:id="R1bd63784f3df4a57"/>
          </a:graphicData>
        </a:graphic>
      </p:graphicFrame>
      <p:sp>
        <p:nvSpPr>
          <p:cNvPr id="5" name="">
            <a:extLst xmlns:a="http://schemas.openxmlformats.org/drawingml/2006/main">
              <a:ext uri="{FF2B5EF4-FFF2-40B4-BE49-F238E27FC236}">
                <a16:creationId xmlns:a16="http://schemas.microsoft.com/office/drawing/2014/main" id="{924CC9D0-46D8-4557-A48C-1A59765C91E6}"/>
              </a:ext>
            </a:extLst>
          </p:cNvPr>
          <p:cNvSpPr>
            <a:spLocks xmlns:a="http://schemas.openxmlformats.org/drawingml/2006/main" noGrp="1"/>
          </p:cNvSpPr>
          <p:nvPr/>
        </p:nvSpPr>
        <p:spPr>
          <a:xfrm xmlns:a="http://schemas.openxmlformats.org/drawingml/2006/main">
            <a:off x="762000" y="58769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2766E"/>
                </a:solidFill>
                <a:latin typeface="Aptos"/>
                <a:ea typeface="Aptos"/>
                <a:cs typeface="Aptos"/>
              </a:defRPr>
            </a:defPPr>
          </a:lstStyle>
          <a:p xmlns:a="http://schemas.openxmlformats.org/drawingml/2006/main">
            <a:pPr>
              <a:buNone/>
              <a:defRPr sz="1800" b="0">
                <a:solidFill>
                  <a:srgbClr val="62766E"/>
                </a:solidFill>
                <a:latin typeface="Aptos"/>
                <a:ea typeface="Aptos"/>
                <a:cs typeface="Aptos"/>
              </a:defRPr>
            </a:pPr>
            <a:r>
              <a:rPr sz="1800" b="0">
                <a:solidFill>
                  <a:srgbClr val="62766E"/>
                </a:solidFill>
                <a:latin typeface="Aptos"/>
                <a:ea typeface="Aptos"/>
                <a:cs typeface="Aptos"/>
              </a:rPr>
              <a:t>Ontwikkeling vanaf 2023 tot april 2026. De lijnen tonen geregistreerde ritstarts.</a:t>
            </a:r>
          </a:p>
        </p:txBody>
      </p:sp>
    </p:spTree>
    <p:extLst>
      <p:ext uri="{BB962C8B-B14F-4D97-AF65-F5344CB8AC3E}">
        <p14:creationId xmlns:p14="http://schemas.microsoft.com/office/powerpoint/2010/main" val="9020204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6E5C6C-6C03-491A-9172-24012CACC10A}"/>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0F9ED5"/>
                </a:solidFill>
                <a:latin typeface="Aptos"/>
                <a:ea typeface="Aptos"/>
                <a:cs typeface="Aptos"/>
              </a:defRPr>
            </a:defPPr>
          </a:lstStyle>
          <a:p xmlns:a="http://schemas.openxmlformats.org/drawingml/2006/main">
            <a:pPr>
              <a:buNone/>
              <a:defRPr sz="1425" b="1">
                <a:solidFill>
                  <a:srgbClr val="0F9ED5"/>
                </a:solidFill>
                <a:latin typeface="Aptos"/>
                <a:ea typeface="Aptos"/>
                <a:cs typeface="Aptos"/>
              </a:defRPr>
            </a:pPr>
            <a:r>
              <a:rPr sz="1425" b="1">
                <a:solidFill>
                  <a:srgbClr val="0F9ED5"/>
                </a:solidFill>
                <a:latin typeface="Aptos"/>
                <a:ea typeface="Aptos"/>
                <a:cs typeface="Aptos"/>
              </a:rPr>
              <a:t>EDA</a:t>
            </a:r>
          </a:p>
        </p:txBody>
      </p:sp>
      <p:sp>
        <p:nvSpPr>
          <p:cNvPr id="2" name="">
            <a:extLst xmlns:a="http://schemas.openxmlformats.org/drawingml/2006/main">
              <a:ext uri="{FF2B5EF4-FFF2-40B4-BE49-F238E27FC236}">
                <a16:creationId xmlns:a16="http://schemas.microsoft.com/office/drawing/2014/main" id="{BFEE0D09-F670-478A-A03D-C089C64D3558}"/>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00000"/>
                </a:solidFill>
                <a:latin typeface="Aptos"/>
                <a:ea typeface="Aptos"/>
                <a:cs typeface="Aptos"/>
              </a:defRPr>
            </a:defPPr>
          </a:lstStyle>
          <a:p xmlns:a="http://schemas.openxmlformats.org/drawingml/2006/main">
            <a:pPr>
              <a:buNone/>
              <a:defRPr sz="3300" b="1">
                <a:solidFill>
                  <a:srgbClr val="000000"/>
                </a:solidFill>
                <a:latin typeface="Aptos"/>
                <a:ea typeface="Aptos"/>
                <a:cs typeface="Aptos"/>
              </a:defRPr>
            </a:pPr>
            <a:r>
              <a:rPr sz="3300" b="1">
                <a:solidFill>
                  <a:srgbClr val="000000"/>
                </a:solidFill>
                <a:latin typeface="Aptos"/>
                <a:ea typeface="Aptos"/>
                <a:cs typeface="Aptos"/>
              </a:rPr>
              <a:t>Weekherhaling ondersteunt het uurdoel</a:t>
            </a:r>
          </a:p>
        </p:txBody>
      </p:sp>
      <p:sp>
        <p:nvSpPr>
          <p:cNvPr id="3" name="">
            <a:extLst xmlns:a="http://schemas.openxmlformats.org/drawingml/2006/main">
              <a:ext uri="{FF2B5EF4-FFF2-40B4-BE49-F238E27FC236}">
                <a16:creationId xmlns:a16="http://schemas.microsoft.com/office/drawing/2014/main" id="{D947766C-C692-4434-90B9-CA34A99B97C9}"/>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ptos"/>
                <a:ea typeface="Aptos"/>
                <a:cs typeface="Aptos"/>
              </a:defRPr>
            </a:defPPr>
          </a:lstStyle>
          <a:p xmlns:a="http://schemas.openxmlformats.org/drawingml/2006/main">
            <a:pPr>
              <a:buNone/>
              <a:defRPr sz="1350" b="0">
                <a:solidFill>
                  <a:srgbClr val="62766E"/>
                </a:solidFill>
                <a:latin typeface="Aptos"/>
                <a:ea typeface="Aptos"/>
                <a:cs typeface="Aptos"/>
              </a:defRPr>
            </a:pPr>
            <a:r>
              <a:rPr sz="1350" b="0">
                <a:solidFill>
                  <a:srgbClr val="62766E"/>
                </a:solidFill>
                <a:latin typeface="Aptos"/>
                <a:ea typeface="Aptos"/>
                <a:cs typeface="Aptos"/>
              </a:rPr>
              <a:t>4</a:t>
            </a:r>
          </a:p>
        </p:txBody>
      </p:sp>
      <p:sp>
        <p:nvSpPr>
          <p:cNvPr id="4" name="">
            <a:extLst xmlns:a="http://schemas.openxmlformats.org/drawingml/2006/main">
              <a:ext uri="{FF2B5EF4-FFF2-40B4-BE49-F238E27FC236}">
                <a16:creationId xmlns:a16="http://schemas.microsoft.com/office/drawing/2014/main" id="{DC9F3CFD-365E-46F0-935C-82DD82AB9836}"/>
              </a:ext>
            </a:extLst>
          </p:cNvPr>
          <p:cNvSpPr>
            <a:spLocks xmlns:a="http://schemas.openxmlformats.org/drawingml/2006/main" noGrp="1"/>
          </p:cNvSpPr>
          <p:nvPr/>
        </p:nvSpPr>
        <p:spPr>
          <a:xfrm xmlns:a="http://schemas.openxmlformats.org/drawingml/2006/main">
            <a:off x="685800" y="1752600"/>
            <a:ext cx="400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750" b="1">
                <a:solidFill>
                  <a:srgbClr val="0F9ED5"/>
                </a:solidFill>
                <a:latin typeface="Aptos"/>
                <a:ea typeface="Aptos"/>
                <a:cs typeface="Aptos"/>
              </a:defRPr>
            </a:defPPr>
          </a:lstStyle>
          <a:p xmlns:a="http://schemas.openxmlformats.org/drawingml/2006/main">
            <a:pPr>
              <a:buNone/>
              <a:defRPr sz="6750" b="1">
                <a:solidFill>
                  <a:srgbClr val="0F9ED5"/>
                </a:solidFill>
                <a:latin typeface="Aptos"/>
                <a:ea typeface="Aptos"/>
                <a:cs typeface="Aptos"/>
              </a:defRPr>
            </a:pPr>
            <a:r>
              <a:rPr sz="6750" b="1">
                <a:solidFill>
                  <a:srgbClr val="0F9ED5"/>
                </a:solidFill>
                <a:latin typeface="Aptos"/>
                <a:ea typeface="Aptos"/>
                <a:cs typeface="Aptos"/>
              </a:rPr>
              <a:t>0,856</a:t>
            </a:r>
          </a:p>
        </p:txBody>
      </p:sp>
      <p:sp>
        <p:nvSpPr>
          <p:cNvPr id="5" name="">
            <a:extLst xmlns:a="http://schemas.openxmlformats.org/drawingml/2006/main">
              <a:ext uri="{FF2B5EF4-FFF2-40B4-BE49-F238E27FC236}">
                <a16:creationId xmlns:a16="http://schemas.microsoft.com/office/drawing/2014/main" id="{FB3D93CD-DE52-4787-AE97-0E1A9C35A996}"/>
              </a:ext>
            </a:extLst>
          </p:cNvPr>
          <p:cNvSpPr>
            <a:spLocks xmlns:a="http://schemas.openxmlformats.org/drawingml/2006/main" noGrp="1"/>
          </p:cNvSpPr>
          <p:nvPr/>
        </p:nvSpPr>
        <p:spPr>
          <a:xfrm xmlns:a="http://schemas.openxmlformats.org/drawingml/2006/main">
            <a:off x="742950" y="2924175"/>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gemiddelde weekcorrelatie</a:t>
            </a:r>
          </a:p>
        </p:txBody>
      </p:sp>
      <p:sp>
        <p:nvSpPr>
          <p:cNvPr id="6" name="">
            <a:extLst xmlns:a="http://schemas.openxmlformats.org/drawingml/2006/main">
              <a:ext uri="{FF2B5EF4-FFF2-40B4-BE49-F238E27FC236}">
                <a16:creationId xmlns:a16="http://schemas.microsoft.com/office/drawing/2014/main" id="{036446B6-F767-4823-BCD5-232B82D1BD1A}"/>
              </a:ext>
            </a:extLst>
          </p:cNvPr>
          <p:cNvSpPr>
            <a:spLocks xmlns:a="http://schemas.openxmlformats.org/drawingml/2006/main" noGrp="1"/>
          </p:cNvSpPr>
          <p:nvPr/>
        </p:nvSpPr>
        <p:spPr>
          <a:xfrm xmlns:a="http://schemas.openxmlformats.org/drawingml/2006/main">
            <a:off x="742950" y="3629025"/>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62766E"/>
                </a:solidFill>
                <a:latin typeface="Aptos"/>
                <a:ea typeface="Aptos"/>
                <a:cs typeface="Aptos"/>
              </a:defRPr>
            </a:defPPr>
          </a:lstStyle>
          <a:p xmlns:a="http://schemas.openxmlformats.org/drawingml/2006/main">
            <a:pPr>
              <a:buNone/>
              <a:defRPr sz="2025" b="0">
                <a:solidFill>
                  <a:srgbClr val="62766E"/>
                </a:solidFill>
                <a:latin typeface="Aptos"/>
                <a:ea typeface="Aptos"/>
                <a:cs typeface="Aptos"/>
              </a:defRPr>
            </a:pPr>
            <a:r>
              <a:rPr sz="2025" b="0">
                <a:solidFill>
                  <a:srgbClr val="62766E"/>
                </a:solidFill>
                <a:latin typeface="Aptos"/>
                <a:ea typeface="Aptos"/>
                <a:cs typeface="Aptos"/>
              </a:rPr>
              <a:t>95%-interval: 0,837–0,876</a:t>
            </a:r>
            <a:br>
              <a:rPr sz="2025" b="0">
                <a:solidFill>
                  <a:srgbClr val="62766E"/>
                </a:solidFill>
                <a:latin typeface="Aptos"/>
                <a:ea typeface="Aptos"/>
                <a:cs typeface="Aptos"/>
              </a:rPr>
            </a:br>
            <a:r>
              <a:rPr sz="2025" b="0">
                <a:solidFill>
                  <a:srgbClr val="62766E"/>
                </a:solidFill>
                <a:latin typeface="Aptos"/>
                <a:ea typeface="Aptos"/>
                <a:cs typeface="Aptos"/>
              </a:rPr>
              <a:t>Holm-p ≈ 0,00015</a:t>
            </a:r>
          </a:p>
        </p:txBody>
      </p:sp>
      <p:sp>
        <p:nvSpPr>
          <p:cNvPr id="7" name="">
            <a:extLst xmlns:a="http://schemas.openxmlformats.org/drawingml/2006/main">
              <a:ext uri="{FF2B5EF4-FFF2-40B4-BE49-F238E27FC236}">
                <a16:creationId xmlns:a16="http://schemas.microsoft.com/office/drawing/2014/main" id="{4967A960-82C8-4492-BB03-DFCFE249BDB9}"/>
              </a:ext>
            </a:extLst>
          </p:cNvPr>
          <p:cNvSpPr>
            <a:spLocks xmlns:a="http://schemas.openxmlformats.org/drawingml/2006/main" noGrp="1"/>
          </p:cNvSpPr>
          <p:nvPr/>
        </p:nvSpPr>
        <p:spPr>
          <a:xfrm xmlns:a="http://schemas.openxmlformats.org/drawingml/2006/main">
            <a:off x="6334125" y="17526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00000"/>
                </a:solidFill>
                <a:latin typeface="Aptos"/>
                <a:ea typeface="Aptos"/>
                <a:cs typeface="Aptos"/>
              </a:defRPr>
            </a:defPPr>
          </a:lstStyle>
          <a:p xmlns:a="http://schemas.openxmlformats.org/drawingml/2006/main">
            <a:pPr>
              <a:buNone/>
              <a:defRPr sz="2400" b="1">
                <a:solidFill>
                  <a:srgbClr val="000000"/>
                </a:solidFill>
                <a:latin typeface="Aptos"/>
                <a:ea typeface="Aptos"/>
                <a:cs typeface="Aptos"/>
              </a:defRPr>
            </a:pPr>
            <a:r>
              <a:rPr sz="2400" b="1">
                <a:solidFill>
                  <a:srgbClr val="000000"/>
                </a:solidFill>
                <a:latin typeface="Aptos"/>
                <a:ea typeface="Aptos"/>
                <a:cs typeface="Aptos"/>
              </a:rPr>
              <a:t>De toets</a:t>
            </a:r>
          </a:p>
        </p:txBody>
      </p:sp>
      <p:sp>
        <p:nvSpPr>
          <p:cNvPr id="8" name="">
            <a:extLst xmlns:a="http://schemas.openxmlformats.org/drawingml/2006/main">
              <a:ext uri="{FF2B5EF4-FFF2-40B4-BE49-F238E27FC236}">
                <a16:creationId xmlns:a16="http://schemas.microsoft.com/office/drawing/2014/main" id="{A865E3EA-08B0-4B00-9EDE-537582AD416A}"/>
              </a:ext>
            </a:extLst>
          </p:cNvPr>
          <p:cNvSpPr>
            <a:spLocks xmlns:a="http://schemas.openxmlformats.org/drawingml/2006/main" noGrp="1"/>
          </p:cNvSpPr>
          <p:nvPr/>
        </p:nvSpPr>
        <p:spPr>
          <a:xfrm xmlns:a="http://schemas.openxmlformats.org/drawingml/2006/main">
            <a:off x="6334125" y="2381250"/>
            <a:ext cx="5095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000000"/>
                </a:solidFill>
                <a:latin typeface="Aptos"/>
                <a:ea typeface="Aptos"/>
                <a:cs typeface="Aptos"/>
              </a:defRPr>
            </a:defPPr>
          </a:lstStyle>
          <a:p xmlns:a="http://schemas.openxmlformats.org/drawingml/2006/main">
            <a:pPr>
              <a:buNone/>
              <a:defRPr sz="2100" b="0">
                <a:solidFill>
                  <a:srgbClr val="000000"/>
                </a:solidFill>
                <a:latin typeface="Aptos"/>
                <a:ea typeface="Aptos"/>
                <a:cs typeface="Aptos"/>
              </a:defRPr>
            </a:pPr>
            <a:r>
              <a:rPr sz="2100" b="0">
                <a:solidFill>
                  <a:srgbClr val="000000"/>
                </a:solidFill>
                <a:latin typeface="Aptos"/>
                <a:ea typeface="Aptos"/>
                <a:cs typeface="Aptos"/>
              </a:rPr>
              <a:t>H0: gemiddelde correlatie = 0</a:t>
            </a:r>
            <a:br>
              <a:rPr sz="2100" b="0">
                <a:solidFill>
                  <a:srgbClr val="000000"/>
                </a:solidFill>
                <a:latin typeface="Aptos"/>
                <a:ea typeface="Aptos"/>
                <a:cs typeface="Aptos"/>
              </a:rPr>
            </a:br>
            <a:r>
              <a:rPr sz="2100" b="0">
                <a:solidFill>
                  <a:srgbClr val="000000"/>
                </a:solidFill>
                <a:latin typeface="Aptos"/>
                <a:ea typeface="Aptos"/>
                <a:cs typeface="Aptos"/>
              </a:rPr>
              <a:t>H1: gemiddelde correlatie ≠ 0</a:t>
            </a:r>
            <a:br>
              <a:rPr sz="2100" b="0">
                <a:solidFill>
                  <a:srgbClr val="000000"/>
                </a:solidFill>
                <a:latin typeface="Aptos"/>
                <a:ea typeface="Aptos"/>
                <a:cs typeface="Aptos"/>
              </a:rPr>
            </a:br>
            <a:br>
              <a:rPr sz="2100" b="0">
                <a:solidFill>
                  <a:srgbClr val="000000"/>
                </a:solidFill>
                <a:latin typeface="Aptos"/>
                <a:ea typeface="Aptos"/>
                <a:cs typeface="Aptos"/>
              </a:rPr>
            </a:br>
            <a:r>
              <a:rPr sz="2100" b="0">
                <a:solidFill>
                  <a:srgbClr val="000000"/>
                </a:solidFill>
                <a:latin typeface="Aptos"/>
                <a:ea typeface="Aptos"/>
                <a:cs typeface="Aptos"/>
              </a:rPr>
              <a:t>43 blokken van vier weken</a:t>
            </a:r>
            <a:br>
              <a:rPr sz="2100" b="0">
                <a:solidFill>
                  <a:srgbClr val="000000"/>
                </a:solidFill>
                <a:latin typeface="Aptos"/>
                <a:ea typeface="Aptos"/>
                <a:cs typeface="Aptos"/>
              </a:rPr>
            </a:br>
            <a:r>
              <a:rPr sz="2100" b="0">
                <a:solidFill>
                  <a:srgbClr val="000000"/>
                </a:solidFill>
                <a:latin typeface="Aptos"/>
                <a:ea typeface="Aptos"/>
                <a:cs typeface="Aptos"/>
              </a:rPr>
              <a:t>Alpha = 0,05</a:t>
            </a:r>
          </a:p>
        </p:txBody>
      </p:sp>
      <p:sp>
        <p:nvSpPr>
          <p:cNvPr id="9" name="">
            <a:extLst xmlns:a="http://schemas.openxmlformats.org/drawingml/2006/main">
              <a:ext uri="{FF2B5EF4-FFF2-40B4-BE49-F238E27FC236}">
                <a16:creationId xmlns:a16="http://schemas.microsoft.com/office/drawing/2014/main" id="{EDC5B1B0-BFFA-4905-BEE7-F987ACB08928}"/>
              </a:ext>
            </a:extLst>
          </p:cNvPr>
          <p:cNvSpPr>
            <a:spLocks xmlns:a="http://schemas.openxmlformats.org/drawingml/2006/main" noGrp="1"/>
          </p:cNvSpPr>
          <p:nvPr/>
        </p:nvSpPr>
        <p:spPr>
          <a:xfrm xmlns:a="http://schemas.openxmlformats.org/drawingml/2006/main">
            <a:off x="742950" y="53054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00000"/>
                </a:solidFill>
                <a:latin typeface="Aptos"/>
                <a:ea typeface="Aptos"/>
                <a:cs typeface="Aptos"/>
              </a:defRPr>
            </a:defPPr>
          </a:lstStyle>
          <a:p xmlns:a="http://schemas.openxmlformats.org/drawingml/2006/main">
            <a:pPr>
              <a:buNone/>
              <a:defRPr sz="2400" b="1">
                <a:solidFill>
                  <a:srgbClr val="000000"/>
                </a:solidFill>
                <a:latin typeface="Aptos"/>
                <a:ea typeface="Aptos"/>
                <a:cs typeface="Aptos"/>
              </a:defRPr>
            </a:pPr>
            <a:r>
              <a:rPr sz="2400" b="1">
                <a:solidFill>
                  <a:srgbClr val="000000"/>
                </a:solidFill>
                <a:latin typeface="Aptos"/>
                <a:ea typeface="Aptos"/>
                <a:cs typeface="Aptos"/>
              </a:rPr>
              <a:t>Doel: de 24 uurvakken van morgen</a:t>
            </a:r>
            <a:br>
              <a:rPr sz="2400" b="1">
                <a:solidFill>
                  <a:srgbClr val="000000"/>
                </a:solidFill>
                <a:latin typeface="Aptos"/>
                <a:ea typeface="Aptos"/>
                <a:cs typeface="Aptos"/>
              </a:rPr>
            </a:br>
            <a:r>
              <a:rPr sz="2400" b="1">
                <a:solidFill>
                  <a:srgbClr val="000000"/>
                </a:solidFill>
                <a:latin typeface="Aptos"/>
                <a:ea typeface="Aptos"/>
                <a:cs typeface="Aptos"/>
              </a:rPr>
              <a:t>voorspellen om 00:00 New York-tijd</a:t>
            </a:r>
          </a:p>
        </p:txBody>
      </p:sp>
    </p:spTree>
    <p:extLst>
      <p:ext uri="{BB962C8B-B14F-4D97-AF65-F5344CB8AC3E}">
        <p14:creationId xmlns:p14="http://schemas.microsoft.com/office/powerpoint/2010/main" val="18226193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2542DA-5EB7-4AB3-824F-7E2BC2BA614A}"/>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0F9ED5"/>
                </a:solidFill>
                <a:latin typeface="Aptos"/>
                <a:ea typeface="Aptos"/>
                <a:cs typeface="Aptos"/>
              </a:defRPr>
            </a:defPPr>
          </a:lstStyle>
          <a:p xmlns:a="http://schemas.openxmlformats.org/drawingml/2006/main">
            <a:pPr>
              <a:buNone/>
              <a:defRPr sz="1425" b="1">
                <a:solidFill>
                  <a:srgbClr val="0F9ED5"/>
                </a:solidFill>
                <a:latin typeface="Aptos"/>
                <a:ea typeface="Aptos"/>
                <a:cs typeface="Aptos"/>
              </a:defRPr>
            </a:pPr>
            <a:r>
              <a:rPr sz="1425" b="1">
                <a:solidFill>
                  <a:srgbClr val="0F9ED5"/>
                </a:solidFill>
                <a:latin typeface="Aptos"/>
                <a:ea typeface="Aptos"/>
                <a:cs typeface="Aptos"/>
              </a:rPr>
              <a:t>MODELLEN</a:t>
            </a:r>
          </a:p>
        </p:txBody>
      </p:sp>
      <p:sp>
        <p:nvSpPr>
          <p:cNvPr id="2" name="">
            <a:extLst xmlns:a="http://schemas.openxmlformats.org/drawingml/2006/main">
              <a:ext uri="{FF2B5EF4-FFF2-40B4-BE49-F238E27FC236}">
                <a16:creationId xmlns:a16="http://schemas.microsoft.com/office/drawing/2014/main" id="{CCBFC141-0126-49E5-A584-8BF665CC3382}"/>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00000"/>
                </a:solidFill>
                <a:latin typeface="Aptos"/>
                <a:ea typeface="Aptos"/>
                <a:cs typeface="Aptos"/>
              </a:defRPr>
            </a:defPPr>
          </a:lstStyle>
          <a:p xmlns:a="http://schemas.openxmlformats.org/drawingml/2006/main">
            <a:pPr>
              <a:buNone/>
              <a:defRPr sz="3300" b="1">
                <a:solidFill>
                  <a:srgbClr val="000000"/>
                </a:solidFill>
                <a:latin typeface="Aptos"/>
                <a:ea typeface="Aptos"/>
                <a:cs typeface="Aptos"/>
              </a:defRPr>
            </a:pPr>
            <a:r>
              <a:rPr sz="3300" b="1">
                <a:solidFill>
                  <a:srgbClr val="000000"/>
                </a:solidFill>
                <a:latin typeface="Aptos"/>
                <a:ea typeface="Aptos"/>
                <a:cs typeface="Aptos"/>
              </a:rPr>
              <a:t>Alle modellen krijgen dezelfde modeldata</a:t>
            </a:r>
          </a:p>
        </p:txBody>
      </p:sp>
      <p:sp>
        <p:nvSpPr>
          <p:cNvPr id="3" name="">
            <a:extLst xmlns:a="http://schemas.openxmlformats.org/drawingml/2006/main">
              <a:ext uri="{FF2B5EF4-FFF2-40B4-BE49-F238E27FC236}">
                <a16:creationId xmlns:a16="http://schemas.microsoft.com/office/drawing/2014/main" id="{04F0B5DA-83EB-4792-A8B9-6BE041F35127}"/>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ptos"/>
                <a:ea typeface="Aptos"/>
                <a:cs typeface="Aptos"/>
              </a:defRPr>
            </a:defPPr>
          </a:lstStyle>
          <a:p xmlns:a="http://schemas.openxmlformats.org/drawingml/2006/main">
            <a:pPr>
              <a:buNone/>
              <a:defRPr sz="1350" b="0">
                <a:solidFill>
                  <a:srgbClr val="62766E"/>
                </a:solidFill>
                <a:latin typeface="Aptos"/>
                <a:ea typeface="Aptos"/>
                <a:cs typeface="Aptos"/>
              </a:defRPr>
            </a:pPr>
            <a:r>
              <a:rPr sz="1350" b="0">
                <a:solidFill>
                  <a:srgbClr val="62766E"/>
                </a:solidFill>
                <a:latin typeface="Aptos"/>
                <a:ea typeface="Aptos"/>
                <a:cs typeface="Aptos"/>
              </a:rPr>
              <a:t>5</a:t>
            </a:r>
          </a:p>
        </p:txBody>
      </p:sp>
      <p:sp>
        <p:nvSpPr>
          <p:cNvPr id="4" name="">
            <a:extLst xmlns:a="http://schemas.openxmlformats.org/drawingml/2006/main">
              <a:ext uri="{FF2B5EF4-FFF2-40B4-BE49-F238E27FC236}">
                <a16:creationId xmlns:a16="http://schemas.microsoft.com/office/drawing/2014/main" id="{688CF11E-52CC-4128-8ABE-45E3BA1C8367}"/>
              </a:ext>
            </a:extLst>
          </p:cNvPr>
          <p:cNvSpPr>
            <a:spLocks xmlns:a="http://schemas.openxmlformats.org/drawingml/2006/main" noGrp="1"/>
          </p:cNvSpPr>
          <p:nvPr/>
        </p:nvSpPr>
        <p:spPr>
          <a:xfrm xmlns:a="http://schemas.openxmlformats.org/drawingml/2006/main">
            <a:off x="685800" y="16573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0F9ED5"/>
                </a:solidFill>
                <a:latin typeface="Aptos"/>
                <a:ea typeface="Aptos"/>
                <a:cs typeface="Aptos"/>
              </a:defRPr>
            </a:defPPr>
          </a:lstStyle>
          <a:p xmlns:a="http://schemas.openxmlformats.org/drawingml/2006/main">
            <a:pPr>
              <a:buNone/>
              <a:defRPr sz="2325" b="1">
                <a:solidFill>
                  <a:srgbClr val="0F9ED5"/>
                </a:solidFill>
                <a:latin typeface="Aptos"/>
                <a:ea typeface="Aptos"/>
                <a:cs typeface="Aptos"/>
              </a:defRPr>
            </a:pPr>
            <a:r>
              <a:rPr sz="2325" b="1">
                <a:solidFill>
                  <a:srgbClr val="0F9ED5"/>
                </a:solidFill>
                <a:latin typeface="Aptos"/>
                <a:ea typeface="Aptos"/>
                <a:cs typeface="Aptos"/>
              </a:rPr>
              <a:t>14 features: kalender en afgesloten historie</a:t>
            </a:r>
          </a:p>
        </p:txBody>
      </p:sp>
      <p:sp>
        <p:nvSpPr>
          <p:cNvPr id="5" name="">
            <a:extLst xmlns:a="http://schemas.openxmlformats.org/drawingml/2006/main">
              <a:ext uri="{FF2B5EF4-FFF2-40B4-BE49-F238E27FC236}">
                <a16:creationId xmlns:a16="http://schemas.microsoft.com/office/drawing/2014/main" id="{148A0C38-DAEA-4516-9F94-48E223A4A628}"/>
              </a:ext>
            </a:extLst>
          </p:cNvPr>
          <p:cNvSpPr>
            <a:spLocks xmlns:a="http://schemas.openxmlformats.org/drawingml/2006/main" noGrp="1"/>
          </p:cNvSpPr>
          <p:nvPr/>
        </p:nvSpPr>
        <p:spPr>
          <a:xfrm xmlns:a="http://schemas.openxmlformats.org/drawingml/2006/main">
            <a:off x="685800" y="22383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Daglags en rolling kennen alleen volledige dagen vóór de voorspeldag</a:t>
            </a:r>
          </a:p>
        </p:txBody>
      </p:sp>
      <p:graphicFrame>
        <p:nvGraphicFramePr>
          <p:cNvPr id="6" name="">
            <a:extLst xmlns:a="http://schemas.openxmlformats.org/drawingml/2006/main">
              <a:ext uri="{FF2B5EF4-FFF2-40B4-BE49-F238E27FC236}">
                <a16:creationId xmlns:a16="http://schemas.microsoft.com/office/drawing/2014/main" id="{40F74A84-B60F-42A8-AB70-389157EC3729}"/>
              </a:ext>
            </a:extLst>
          </p:cNvPr>
          <p:cNvGraphicFramePr/>
          <p:nvPr/>
        </p:nvGraphicFramePr>
        <p:xfrm>
          <a:off xmlns:a="http://schemas.openxmlformats.org/drawingml/2006/main" x="685800" y="3181350"/>
          <a:ext xmlns:a="http://schemas.openxmlformats.org/drawingml/2006/main" cx="10820400" cy="2514600"/>
        </p:xfrm>
        <a:graphic xmlns:a="http://schemas.openxmlformats.org/drawingml/2006/main">
          <a:graphicData uri="http://schemas.openxmlformats.org/drawingml/2006/table">
            <a:tbl>
              <a:tblPr firstRow="1" bandRow="0"/>
              <a:tblGrid>
                <a:gridCol w="2428875"/>
                <a:gridCol w="3143250"/>
                <a:gridCol w="5248275"/>
              </a:tblGrid>
              <a:tr h="628650">
                <a:tc>
                  <a:txBody>
                    <a:bodyPr/>
                    <a:lstStyle/>
                    <a:p>
                      <a:r>
                        <a:rPr sz="1800" b="1">
                          <a:solidFill>
                            <a:srgbClr val="FFFFFF"/>
                          </a:solidFill>
                          <a:latin typeface="Aptos"/>
                          <a:ea typeface="Aptos"/>
                          <a:cs typeface="Aptos"/>
                        </a:rPr>
                        <a:t>Deel</a:t>
                      </a:r>
                    </a:p>
                  </a:txBody>
                  <a:tcPr marL="91440" marR="91440" marT="45720" marB="45720">
                    <a:lnL w="7620">
                      <a:solidFill>
                        <a:srgbClr val="D8E1DB"/>
                      </a:solidFill>
                      <a:prstDash val="solid"/>
                    </a:lnL>
                    <a:lnR w="7620">
                      <a:solidFill>
                        <a:srgbClr val="D8E1DB"/>
                      </a:solidFill>
                      <a:prstDash val="solid"/>
                    </a:lnR>
                    <a:lnT w="7620">
                      <a:solidFill>
                        <a:srgbClr val="D8E1DB"/>
                      </a:solidFill>
                      <a:prstDash val="solid"/>
                    </a:lnT>
                    <a:lnB w="7620">
                      <a:solidFill>
                        <a:srgbClr val="D8E1DB"/>
                      </a:solidFill>
                      <a:prstDash val="solid"/>
                    </a:lnB>
                    <a:solidFill>
                      <a:srgbClr val="0F9ED5"/>
                    </a:solidFill>
                  </a:tcPr>
                </a:tc>
                <a:tc>
                  <a:txBody>
                    <a:bodyPr/>
                    <a:lstStyle/>
                    <a:p>
                      <a:r>
                        <a:rPr sz="1800" b="1">
                          <a:solidFill>
                            <a:srgbClr val="FFFFFF"/>
                          </a:solidFill>
                          <a:latin typeface="Aptos"/>
                          <a:ea typeface="Aptos"/>
                          <a:cs typeface="Aptos"/>
                        </a:rPr>
                        <a:t>Periode</a:t>
                      </a:r>
                    </a:p>
                  </a:txBody>
                  <a:tcPr marL="91440" marR="91440" marT="45720" marB="45720">
                    <a:lnR w="7620">
                      <a:solidFill>
                        <a:srgbClr val="D8E1DB"/>
                      </a:solidFill>
                      <a:prstDash val="solid"/>
                    </a:lnR>
                    <a:lnT w="7620">
                      <a:solidFill>
                        <a:srgbClr val="D8E1DB"/>
                      </a:solidFill>
                      <a:prstDash val="solid"/>
                    </a:lnT>
                    <a:lnB w="7620">
                      <a:solidFill>
                        <a:srgbClr val="D8E1DB"/>
                      </a:solidFill>
                      <a:prstDash val="solid"/>
                    </a:lnB>
                    <a:solidFill>
                      <a:srgbClr val="0F9ED5"/>
                    </a:solidFill>
                  </a:tcPr>
                </a:tc>
                <a:tc>
                  <a:txBody>
                    <a:bodyPr/>
                    <a:lstStyle/>
                    <a:p>
                      <a:r>
                        <a:rPr sz="1800" b="1">
                          <a:solidFill>
                            <a:srgbClr val="FFFFFF"/>
                          </a:solidFill>
                          <a:latin typeface="Aptos"/>
                          <a:ea typeface="Aptos"/>
                          <a:cs typeface="Aptos"/>
                        </a:rPr>
                        <a:t>Gebruik</a:t>
                      </a:r>
                    </a:p>
                  </a:txBody>
                  <a:tcPr marL="91440" marR="91440" marT="45720" marB="45720">
                    <a:lnR w="7620">
                      <a:solidFill>
                        <a:srgbClr val="D8E1DB"/>
                      </a:solidFill>
                      <a:prstDash val="solid"/>
                    </a:lnR>
                    <a:lnT w="7620">
                      <a:solidFill>
                        <a:srgbClr val="D8E1DB"/>
                      </a:solidFill>
                      <a:prstDash val="solid"/>
                    </a:lnT>
                    <a:lnB w="7620">
                      <a:solidFill>
                        <a:srgbClr val="D8E1DB"/>
                      </a:solidFill>
                      <a:prstDash val="solid"/>
                    </a:lnB>
                    <a:solidFill>
                      <a:srgbClr val="0F9ED5"/>
                    </a:solidFill>
                  </a:tcPr>
                </a:tc>
              </a:tr>
              <a:tr h="628650">
                <a:tc>
                  <a:txBody>
                    <a:bodyPr/>
                    <a:lstStyle/>
                    <a:p>
                      <a:r>
                        <a:rPr sz="1800" b="0">
                          <a:solidFill>
                            <a:srgbClr val="000000"/>
                          </a:solidFill>
                          <a:latin typeface="Aptos"/>
                          <a:ea typeface="Aptos"/>
                          <a:cs typeface="Aptos"/>
                        </a:rPr>
                        <a:t>Training</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Vóór mei 2026</a:t>
                      </a:r>
                    </a:p>
                  </a:txBody>
                  <a:tcPr marL="91440" marR="91440" marT="45720" marB="45720">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Fit en chronologische CV</a:t>
                      </a:r>
                    </a:p>
                  </a:txBody>
                  <a:tcPr marL="91440" marR="91440" marT="45720" marB="45720">
                    <a:lnR w="7620">
                      <a:solidFill>
                        <a:srgbClr val="D8E1DB"/>
                      </a:solidFill>
                      <a:prstDash val="solid"/>
                    </a:lnR>
                    <a:lnB w="7620">
                      <a:solidFill>
                        <a:srgbClr val="D8E1DB"/>
                      </a:solidFill>
                      <a:prstDash val="solid"/>
                    </a:lnB>
                    <a:solidFill>
                      <a:srgbClr val="FFFFFF"/>
                    </a:solidFill>
                  </a:tcPr>
                </a:tc>
              </a:tr>
              <a:tr h="628650">
                <a:tc>
                  <a:txBody>
                    <a:bodyPr/>
                    <a:lstStyle/>
                    <a:p>
                      <a:r>
                        <a:rPr sz="1800" b="0">
                          <a:solidFill>
                            <a:srgbClr val="000000"/>
                          </a:solidFill>
                          <a:latin typeface="Aptos"/>
                          <a:ea typeface="Aptos"/>
                          <a:cs typeface="Aptos"/>
                        </a:rPr>
                        <a:t>Validatie</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Mei–juni 2026</a:t>
                      </a:r>
                    </a:p>
                  </a:txBody>
                  <a:tcPr marL="91440" marR="91440" marT="45720" marB="45720">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Vergelijking en modelkeuze</a:t>
                      </a:r>
                    </a:p>
                  </a:txBody>
                  <a:tcPr marL="91440" marR="91440" marT="45720" marB="45720">
                    <a:lnR w="7620">
                      <a:solidFill>
                        <a:srgbClr val="D8E1DB"/>
                      </a:solidFill>
                      <a:prstDash val="solid"/>
                    </a:lnR>
                    <a:lnB w="7620">
                      <a:solidFill>
                        <a:srgbClr val="D8E1DB"/>
                      </a:solidFill>
                      <a:prstDash val="solid"/>
                    </a:lnB>
                    <a:solidFill>
                      <a:srgbClr val="FFFFFF"/>
                    </a:solidFill>
                  </a:tcPr>
                </a:tc>
              </a:tr>
              <a:tr h="628650">
                <a:tc>
                  <a:txBody>
                    <a:bodyPr/>
                    <a:lstStyle/>
                    <a:p>
                      <a:r>
                        <a:rPr sz="1800" b="0">
                          <a:solidFill>
                            <a:srgbClr val="000000"/>
                          </a:solidFill>
                          <a:latin typeface="Aptos"/>
                          <a:ea typeface="Aptos"/>
                          <a:cs typeface="Aptos"/>
                        </a:rPr>
                        <a:t>Eindtest</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Juli–augustus 2026</a:t>
                      </a:r>
                    </a:p>
                  </a:txBody>
                  <a:tcPr marL="91440" marR="91440" marT="45720" marB="45720">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Bestaande eindbeoordeling</a:t>
                      </a:r>
                    </a:p>
                  </a:txBody>
                  <a:tcPr marL="91440" marR="91440" marT="45720" marB="45720">
                    <a:lnR w="7620">
                      <a:solidFill>
                        <a:srgbClr val="D8E1DB"/>
                      </a:solidFill>
                      <a:prstDash val="solid"/>
                    </a:lnR>
                    <a:lnB w="7620">
                      <a:solidFill>
                        <a:srgbClr val="D8E1DB"/>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F878FDD-BC7D-4C23-A49A-6031224C67C3}"/>
              </a:ext>
            </a:extLst>
          </p:cNvPr>
          <p:cNvSpPr>
            <a:spLocks xmlns:a="http://schemas.openxmlformats.org/drawingml/2006/main" noGrp="1"/>
          </p:cNvSpPr>
          <p:nvPr/>
        </p:nvSpPr>
        <p:spPr>
          <a:xfrm xmlns:a="http://schemas.openxmlformats.org/drawingml/2006/main">
            <a:off x="704850" y="59245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62766E"/>
                </a:solidFill>
                <a:latin typeface="Aptos"/>
                <a:ea typeface="Aptos"/>
                <a:cs typeface="Aptos"/>
              </a:defRPr>
            </a:defPPr>
          </a:lstStyle>
          <a:p xmlns:a="http://schemas.openxmlformats.org/drawingml/2006/main">
            <a:pPr>
              <a:buNone/>
              <a:defRPr sz="1725" b="0">
                <a:solidFill>
                  <a:srgbClr val="62766E"/>
                </a:solidFill>
                <a:latin typeface="Aptos"/>
                <a:ea typeface="Aptos"/>
                <a:cs typeface="Aptos"/>
              </a:defRPr>
            </a:pPr>
            <a:r>
              <a:rPr sz="1725" b="0">
                <a:solidFill>
                  <a:srgbClr val="62766E"/>
                </a:solidFill>
                <a:latin typeface="Aptos"/>
                <a:ea typeface="Aptos"/>
                <a:cs typeface="Aptos"/>
              </a:rPr>
              <a:t>112.872 trainingsrijen en 1.464 validatierijen. Vijf folds van 28 dagen.</a:t>
            </a:r>
          </a:p>
        </p:txBody>
      </p:sp>
    </p:spTree>
    <p:extLst>
      <p:ext uri="{BB962C8B-B14F-4D97-AF65-F5344CB8AC3E}">
        <p14:creationId xmlns:p14="http://schemas.microsoft.com/office/powerpoint/2010/main" val="14522012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6C33D5-AC24-4A23-A9B9-ED2B09570AEB}"/>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0F9ED5"/>
                </a:solidFill>
                <a:latin typeface="Aptos"/>
                <a:ea typeface="Aptos"/>
                <a:cs typeface="Aptos"/>
              </a:defRPr>
            </a:defPPr>
          </a:lstStyle>
          <a:p xmlns:a="http://schemas.openxmlformats.org/drawingml/2006/main">
            <a:pPr>
              <a:buNone/>
              <a:defRPr sz="1425" b="1">
                <a:solidFill>
                  <a:srgbClr val="0F9ED5"/>
                </a:solidFill>
                <a:latin typeface="Aptos"/>
                <a:ea typeface="Aptos"/>
                <a:cs typeface="Aptos"/>
              </a:defRPr>
            </a:pPr>
            <a:r>
              <a:rPr sz="1425" b="1">
                <a:solidFill>
                  <a:srgbClr val="0F9ED5"/>
                </a:solidFill>
                <a:latin typeface="Aptos"/>
                <a:ea typeface="Aptos"/>
                <a:cs typeface="Aptos"/>
              </a:rPr>
              <a:t>MODELLEN</a:t>
            </a:r>
          </a:p>
        </p:txBody>
      </p:sp>
      <p:sp>
        <p:nvSpPr>
          <p:cNvPr id="2" name="">
            <a:extLst xmlns:a="http://schemas.openxmlformats.org/drawingml/2006/main">
              <a:ext uri="{FF2B5EF4-FFF2-40B4-BE49-F238E27FC236}">
                <a16:creationId xmlns:a16="http://schemas.microsoft.com/office/drawing/2014/main" id="{185BFCA7-273E-47DF-9DCB-49748338023F}"/>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00000"/>
                </a:solidFill>
                <a:latin typeface="Aptos"/>
                <a:ea typeface="Aptos"/>
                <a:cs typeface="Aptos"/>
              </a:defRPr>
            </a:defPPr>
          </a:lstStyle>
          <a:p xmlns:a="http://schemas.openxmlformats.org/drawingml/2006/main">
            <a:pPr>
              <a:buNone/>
              <a:defRPr sz="3300" b="1">
                <a:solidFill>
                  <a:srgbClr val="000000"/>
                </a:solidFill>
                <a:latin typeface="Aptos"/>
                <a:ea typeface="Aptos"/>
                <a:cs typeface="Aptos"/>
              </a:defRPr>
            </a:pPr>
            <a:r>
              <a:rPr sz="3300" b="1">
                <a:solidFill>
                  <a:srgbClr val="000000"/>
                </a:solidFill>
                <a:latin typeface="Aptos"/>
                <a:ea typeface="Aptos"/>
                <a:cs typeface="Aptos"/>
              </a:rPr>
              <a:t>Random Forest valideert het beste</a:t>
            </a:r>
          </a:p>
        </p:txBody>
      </p:sp>
      <p:sp>
        <p:nvSpPr>
          <p:cNvPr id="3" name="">
            <a:extLst xmlns:a="http://schemas.openxmlformats.org/drawingml/2006/main">
              <a:ext uri="{FF2B5EF4-FFF2-40B4-BE49-F238E27FC236}">
                <a16:creationId xmlns:a16="http://schemas.microsoft.com/office/drawing/2014/main" id="{05ABAB37-7240-499D-BCEB-3676384A2E2B}"/>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ptos"/>
                <a:ea typeface="Aptos"/>
                <a:cs typeface="Aptos"/>
              </a:defRPr>
            </a:defPPr>
          </a:lstStyle>
          <a:p xmlns:a="http://schemas.openxmlformats.org/drawingml/2006/main">
            <a:pPr>
              <a:buNone/>
              <a:defRPr sz="1350" b="0">
                <a:solidFill>
                  <a:srgbClr val="62766E"/>
                </a:solidFill>
                <a:latin typeface="Aptos"/>
                <a:ea typeface="Aptos"/>
                <a:cs typeface="Aptos"/>
              </a:defRPr>
            </a:pPr>
            <a:r>
              <a:rPr sz="1350" b="0">
                <a:solidFill>
                  <a:srgbClr val="62766E"/>
                </a:solidFill>
                <a:latin typeface="Aptos"/>
                <a:ea typeface="Aptos"/>
                <a:cs typeface="Aptos"/>
              </a:rPr>
              <a:t>6</a:t>
            </a:r>
          </a:p>
        </p:txBody>
      </p:sp>
      <p:graphicFrame>
        <p:nvGraphicFramePr>
          <p:cNvPr id="4" name="Chart">
            <a:extLst xmlns:a="http://schemas.openxmlformats.org/drawingml/2006/main">
              <a:ext uri="{FF2B5EF4-FFF2-40B4-BE49-F238E27FC236}">
                <a16:creationId xmlns:a16="http://schemas.microsoft.com/office/drawing/2014/main" id="{9D8D5053-B66B-4FC9-BFD1-14B868BA85C7}"/>
              </a:ext>
            </a:extLst>
          </p:cNvPr>
          <p:cNvGraphicFramePr/>
          <p:nvPr/>
        </p:nvGraphicFramePr>
        <p:xfrm>
          <a:off xmlns:a="http://schemas.openxmlformats.org/drawingml/2006/main" x="666750" y="1676400"/>
          <a:ext xmlns:a="http://schemas.openxmlformats.org/drawingml/2006/main" cx="10572750" cy="3752850"/>
        </p:xfrm>
        <a:graphic xmlns:a="http://schemas.openxmlformats.org/drawingml/2006/main">
          <a:graphicData uri="http://schemas.openxmlformats.org/drawingml/2006/chart">
            <c:chart xmlns:r="http://schemas.openxmlformats.org/officeDocument/2006/relationships" xmlns:c="http://schemas.openxmlformats.org/drawingml/2006/chart" r:id="R5f8827aa008b45e2"/>
          </a:graphicData>
        </a:graphic>
      </p:graphicFrame>
      <p:sp>
        <p:nvSpPr>
          <p:cNvPr id="5" name="">
            <a:extLst xmlns:a="http://schemas.openxmlformats.org/drawingml/2006/main">
              <a:ext uri="{FF2B5EF4-FFF2-40B4-BE49-F238E27FC236}">
                <a16:creationId xmlns:a16="http://schemas.microsoft.com/office/drawing/2014/main" id="{38F4606B-F6FB-4955-9B33-DD9BE35D27CF}"/>
              </a:ext>
            </a:extLst>
          </p:cNvPr>
          <p:cNvSpPr>
            <a:spLocks xmlns:a="http://schemas.openxmlformats.org/drawingml/2006/main" noGrp="1"/>
          </p:cNvSpPr>
          <p:nvPr/>
        </p:nvSpPr>
        <p:spPr>
          <a:xfrm xmlns:a="http://schemas.openxmlformats.org/drawingml/2006/main">
            <a:off x="762000" y="57150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F9ED5"/>
                </a:solidFill>
                <a:latin typeface="Aptos"/>
                <a:ea typeface="Aptos"/>
                <a:cs typeface="Aptos"/>
              </a:defRPr>
            </a:defPPr>
          </a:lstStyle>
          <a:p xmlns:a="http://schemas.openxmlformats.org/drawingml/2006/main">
            <a:pPr>
              <a:buNone/>
              <a:defRPr sz="1950" b="1">
                <a:solidFill>
                  <a:srgbClr val="0F9ED5"/>
                </a:solidFill>
                <a:latin typeface="Aptos"/>
                <a:ea typeface="Aptos"/>
                <a:cs typeface="Aptos"/>
              </a:defRPr>
            </a:pPr>
            <a:r>
              <a:rPr sz="1950" b="1">
                <a:solidFill>
                  <a:srgbClr val="0F9ED5"/>
                </a:solidFill>
                <a:latin typeface="Aptos"/>
                <a:ea typeface="Aptos"/>
                <a:cs typeface="Aptos"/>
              </a:rPr>
              <a:t>RF getuned: 1.940,49 ritten/uurvak. 31,34% lagere RMSE dan de weekbaseline.</a:t>
            </a:r>
          </a:p>
        </p:txBody>
      </p:sp>
      <p:sp>
        <p:nvSpPr>
          <p:cNvPr id="6" name="">
            <a:extLst xmlns:a="http://schemas.openxmlformats.org/drawingml/2006/main">
              <a:ext uri="{FF2B5EF4-FFF2-40B4-BE49-F238E27FC236}">
                <a16:creationId xmlns:a16="http://schemas.microsoft.com/office/drawing/2014/main" id="{732661AA-8B3A-49D0-9918-E06BF4C0BAF1}"/>
              </a:ext>
            </a:extLst>
          </p:cNvPr>
          <p:cNvSpPr>
            <a:spLocks xmlns:a="http://schemas.openxmlformats.org/drawingml/2006/main" noGrp="1"/>
          </p:cNvSpPr>
          <p:nvPr/>
        </p:nvSpPr>
        <p:spPr>
          <a:xfrm xmlns:a="http://schemas.openxmlformats.org/drawingml/2006/main">
            <a:off x="762000" y="61722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2766E"/>
                </a:solidFill>
                <a:latin typeface="Aptos"/>
                <a:ea typeface="Aptos"/>
                <a:cs typeface="Aptos"/>
              </a:defRPr>
            </a:defPPr>
          </a:lstStyle>
          <a:p xmlns:a="http://schemas.openxmlformats.org/drawingml/2006/main">
            <a:pPr>
              <a:buNone/>
              <a:defRPr sz="1575" b="0">
                <a:solidFill>
                  <a:srgbClr val="62766E"/>
                </a:solidFill>
                <a:latin typeface="Aptos"/>
                <a:ea typeface="Aptos"/>
                <a:cs typeface="Aptos"/>
              </a:defRPr>
            </a:pPr>
            <a:r>
              <a:rPr sz="1575" b="0">
                <a:solidFill>
                  <a:srgbClr val="62766E"/>
                </a:solidFill>
                <a:latin typeface="Aptos"/>
                <a:ea typeface="Aptos"/>
                <a:cs typeface="Aptos"/>
              </a:rPr>
              <a:t>PyCaret vergelijkt dezelfde basismodellen. Deze rangschikking gebruikt validatie.</a:t>
            </a:r>
          </a:p>
        </p:txBody>
      </p:sp>
    </p:spTree>
    <p:extLst>
      <p:ext uri="{BB962C8B-B14F-4D97-AF65-F5344CB8AC3E}">
        <p14:creationId xmlns:p14="http://schemas.microsoft.com/office/powerpoint/2010/main" val="104100275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7665AD-72BE-45D9-AC17-84C9782AA92C}"/>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0F9ED5"/>
                </a:solidFill>
                <a:latin typeface="Aptos"/>
                <a:ea typeface="Aptos"/>
                <a:cs typeface="Aptos"/>
              </a:defRPr>
            </a:defPPr>
          </a:lstStyle>
          <a:p xmlns:a="http://schemas.openxmlformats.org/drawingml/2006/main">
            <a:pPr>
              <a:buNone/>
              <a:defRPr sz="1425" b="1">
                <a:solidFill>
                  <a:srgbClr val="0F9ED5"/>
                </a:solidFill>
                <a:latin typeface="Aptos"/>
                <a:ea typeface="Aptos"/>
                <a:cs typeface="Aptos"/>
              </a:defRPr>
            </a:pPr>
            <a:r>
              <a:rPr sz="1425" b="1">
                <a:solidFill>
                  <a:srgbClr val="0F9ED5"/>
                </a:solidFill>
                <a:latin typeface="Aptos"/>
                <a:ea typeface="Aptos"/>
                <a:cs typeface="Aptos"/>
              </a:rPr>
              <a:t>MODELLEN</a:t>
            </a:r>
          </a:p>
        </p:txBody>
      </p:sp>
      <p:sp>
        <p:nvSpPr>
          <p:cNvPr id="2" name="">
            <a:extLst xmlns:a="http://schemas.openxmlformats.org/drawingml/2006/main">
              <a:ext uri="{FF2B5EF4-FFF2-40B4-BE49-F238E27FC236}">
                <a16:creationId xmlns:a16="http://schemas.microsoft.com/office/drawing/2014/main" id="{950CEEB3-B69A-4AE9-85AB-D1840FB87A43}"/>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00000"/>
                </a:solidFill>
                <a:latin typeface="Aptos"/>
                <a:ea typeface="Aptos"/>
                <a:cs typeface="Aptos"/>
              </a:defRPr>
            </a:defPPr>
          </a:lstStyle>
          <a:p xmlns:a="http://schemas.openxmlformats.org/drawingml/2006/main">
            <a:pPr>
              <a:buNone/>
              <a:defRPr sz="3300" b="1">
                <a:solidFill>
                  <a:srgbClr val="000000"/>
                </a:solidFill>
                <a:latin typeface="Aptos"/>
                <a:ea typeface="Aptos"/>
                <a:cs typeface="Aptos"/>
              </a:defRPr>
            </a:pPr>
            <a:r>
              <a:rPr sz="3300" b="1">
                <a:solidFill>
                  <a:srgbClr val="000000"/>
                </a:solidFill>
                <a:latin typeface="Aptos"/>
                <a:ea typeface="Aptos"/>
                <a:cs typeface="Aptos"/>
              </a:rPr>
              <a:t>Snelle training en generalisatie verschillen</a:t>
            </a:r>
          </a:p>
        </p:txBody>
      </p:sp>
      <p:sp>
        <p:nvSpPr>
          <p:cNvPr id="3" name="">
            <a:extLst xmlns:a="http://schemas.openxmlformats.org/drawingml/2006/main">
              <a:ext uri="{FF2B5EF4-FFF2-40B4-BE49-F238E27FC236}">
                <a16:creationId xmlns:a16="http://schemas.microsoft.com/office/drawing/2014/main" id="{091EB777-ACCC-4F5F-BC37-E96CA600AE69}"/>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ptos"/>
                <a:ea typeface="Aptos"/>
                <a:cs typeface="Aptos"/>
              </a:defRPr>
            </a:defPPr>
          </a:lstStyle>
          <a:p xmlns:a="http://schemas.openxmlformats.org/drawingml/2006/main">
            <a:pPr>
              <a:buNone/>
              <a:defRPr sz="1350" b="0">
                <a:solidFill>
                  <a:srgbClr val="62766E"/>
                </a:solidFill>
                <a:latin typeface="Aptos"/>
                <a:ea typeface="Aptos"/>
                <a:cs typeface="Aptos"/>
              </a:defRPr>
            </a:pPr>
            <a:r>
              <a:rPr sz="1350" b="0">
                <a:solidFill>
                  <a:srgbClr val="62766E"/>
                </a:solidFill>
                <a:latin typeface="Aptos"/>
                <a:ea typeface="Aptos"/>
                <a:cs typeface="Aptos"/>
              </a:rPr>
              <a:t>7</a:t>
            </a:r>
          </a:p>
        </p:txBody>
      </p:sp>
      <p:graphicFrame>
        <p:nvGraphicFramePr>
          <p:cNvPr id="4" name="">
            <a:extLst xmlns:a="http://schemas.openxmlformats.org/drawingml/2006/main">
              <a:ext uri="{FF2B5EF4-FFF2-40B4-BE49-F238E27FC236}">
                <a16:creationId xmlns:a16="http://schemas.microsoft.com/office/drawing/2014/main" id="{D4FC0206-2312-41AF-83EE-81C64B99BF52}"/>
              </a:ext>
            </a:extLst>
          </p:cNvPr>
          <p:cNvGraphicFramePr/>
          <p:nvPr/>
        </p:nvGraphicFramePr>
        <p:xfrm>
          <a:off xmlns:a="http://schemas.openxmlformats.org/drawingml/2006/main" x="685800" y="1743075"/>
          <a:ext xmlns:a="http://schemas.openxmlformats.org/drawingml/2006/main" cx="10820400" cy="3286125"/>
        </p:xfrm>
        <a:graphic xmlns:a="http://schemas.openxmlformats.org/drawingml/2006/main">
          <a:graphicData uri="http://schemas.openxmlformats.org/drawingml/2006/table">
            <a:tbl>
              <a:tblPr firstRow="1" bandRow="0"/>
              <a:tblGrid>
                <a:gridCol w="3333750"/>
                <a:gridCol w="2238375"/>
                <a:gridCol w="2809875"/>
                <a:gridCol w="2438400"/>
              </a:tblGrid>
              <a:tr h="657225">
                <a:tc>
                  <a:txBody>
                    <a:bodyPr/>
                    <a:lstStyle/>
                    <a:p>
                      <a:r>
                        <a:rPr sz="1800" b="1">
                          <a:solidFill>
                            <a:srgbClr val="FFFFFF"/>
                          </a:solidFill>
                          <a:latin typeface="Aptos"/>
                          <a:ea typeface="Aptos"/>
                          <a:cs typeface="Aptos"/>
                        </a:rPr>
                        <a:t>Model</a:t>
                      </a:r>
                    </a:p>
                  </a:txBody>
                  <a:tcPr marL="91440" marR="91440" marT="45720" marB="45720">
                    <a:lnL w="7620">
                      <a:solidFill>
                        <a:srgbClr val="D8E1DB"/>
                      </a:solidFill>
                      <a:prstDash val="solid"/>
                    </a:lnL>
                    <a:lnR w="7620">
                      <a:solidFill>
                        <a:srgbClr val="D8E1DB"/>
                      </a:solidFill>
                      <a:prstDash val="solid"/>
                    </a:lnR>
                    <a:lnT w="7620">
                      <a:solidFill>
                        <a:srgbClr val="D8E1DB"/>
                      </a:solidFill>
                      <a:prstDash val="solid"/>
                    </a:lnT>
                    <a:lnB w="7620">
                      <a:solidFill>
                        <a:srgbClr val="D8E1DB"/>
                      </a:solidFill>
                      <a:prstDash val="solid"/>
                    </a:lnB>
                    <a:solidFill>
                      <a:srgbClr val="0F9ED5"/>
                    </a:solidFill>
                  </a:tcPr>
                </a:tc>
                <a:tc>
                  <a:txBody>
                    <a:bodyPr/>
                    <a:lstStyle/>
                    <a:p>
                      <a:r>
                        <a:rPr sz="1800" b="1">
                          <a:solidFill>
                            <a:srgbClr val="FFFFFF"/>
                          </a:solidFill>
                          <a:latin typeface="Aptos"/>
                          <a:ea typeface="Aptos"/>
                          <a:cs typeface="Aptos"/>
                        </a:rPr>
                        <a:t>Train-RMSE</a:t>
                      </a:r>
                    </a:p>
                  </a:txBody>
                  <a:tcPr marL="91440" marR="91440" marT="45720" marB="45720">
                    <a:lnR w="7620">
                      <a:solidFill>
                        <a:srgbClr val="D8E1DB"/>
                      </a:solidFill>
                      <a:prstDash val="solid"/>
                    </a:lnR>
                    <a:lnT w="7620">
                      <a:solidFill>
                        <a:srgbClr val="D8E1DB"/>
                      </a:solidFill>
                      <a:prstDash val="solid"/>
                    </a:lnT>
                    <a:lnB w="7620">
                      <a:solidFill>
                        <a:srgbClr val="D8E1DB"/>
                      </a:solidFill>
                      <a:prstDash val="solid"/>
                    </a:lnB>
                    <a:solidFill>
                      <a:srgbClr val="0F9ED5"/>
                    </a:solidFill>
                  </a:tcPr>
                </a:tc>
                <a:tc>
                  <a:txBody>
                    <a:bodyPr/>
                    <a:lstStyle/>
                    <a:p>
                      <a:r>
                        <a:rPr sz="1800" b="1">
                          <a:solidFill>
                            <a:srgbClr val="FFFFFF"/>
                          </a:solidFill>
                          <a:latin typeface="Aptos"/>
                          <a:ea typeface="Aptos"/>
                          <a:cs typeface="Aptos"/>
                        </a:rPr>
                        <a:t>Validatie-RMSE</a:t>
                      </a:r>
                    </a:p>
                  </a:txBody>
                  <a:tcPr marL="91440" marR="91440" marT="45720" marB="45720">
                    <a:lnR w="7620">
                      <a:solidFill>
                        <a:srgbClr val="D8E1DB"/>
                      </a:solidFill>
                      <a:prstDash val="solid"/>
                    </a:lnR>
                    <a:lnT w="7620">
                      <a:solidFill>
                        <a:srgbClr val="D8E1DB"/>
                      </a:solidFill>
                      <a:prstDash val="solid"/>
                    </a:lnT>
                    <a:lnB w="7620">
                      <a:solidFill>
                        <a:srgbClr val="D8E1DB"/>
                      </a:solidFill>
                      <a:prstDash val="solid"/>
                    </a:lnB>
                    <a:solidFill>
                      <a:srgbClr val="0F9ED5"/>
                    </a:solidFill>
                  </a:tcPr>
                </a:tc>
                <a:tc>
                  <a:txBody>
                    <a:bodyPr/>
                    <a:lstStyle/>
                    <a:p>
                      <a:r>
                        <a:rPr sz="1800" b="1">
                          <a:solidFill>
                            <a:srgbClr val="FFFFFF"/>
                          </a:solidFill>
                          <a:latin typeface="Aptos"/>
                          <a:ea typeface="Aptos"/>
                          <a:cs typeface="Aptos"/>
                        </a:rPr>
                        <a:t>Fit op deze pc</a:t>
                      </a:r>
                    </a:p>
                  </a:txBody>
                  <a:tcPr marL="91440" marR="91440" marT="45720" marB="45720">
                    <a:lnR w="7620">
                      <a:solidFill>
                        <a:srgbClr val="D8E1DB"/>
                      </a:solidFill>
                      <a:prstDash val="solid"/>
                    </a:lnR>
                    <a:lnT w="7620">
                      <a:solidFill>
                        <a:srgbClr val="D8E1DB"/>
                      </a:solidFill>
                      <a:prstDash val="solid"/>
                    </a:lnT>
                    <a:lnB w="7620">
                      <a:solidFill>
                        <a:srgbClr val="D8E1DB"/>
                      </a:solidFill>
                      <a:prstDash val="solid"/>
                    </a:lnB>
                    <a:solidFill>
                      <a:srgbClr val="0F9ED5"/>
                    </a:solidFill>
                  </a:tcPr>
                </a:tc>
              </a:tr>
              <a:tr h="657225">
                <a:tc>
                  <a:txBody>
                    <a:bodyPr/>
                    <a:lstStyle/>
                    <a:p>
                      <a:r>
                        <a:rPr sz="1800" b="0">
                          <a:solidFill>
                            <a:srgbClr val="000000"/>
                          </a:solidFill>
                          <a:latin typeface="Aptos"/>
                          <a:ea typeface="Aptos"/>
                          <a:cs typeface="Aptos"/>
                        </a:rPr>
                        <a:t>Ridge</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1.022</a:t>
                      </a:r>
                    </a:p>
                  </a:txBody>
                  <a:tcPr marL="91440" marR="91440" marT="45720" marB="45720">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1.982</a:t>
                      </a:r>
                    </a:p>
                  </a:txBody>
                  <a:tcPr marL="91440" marR="91440" marT="45720" marB="45720">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0,05 s</a:t>
                      </a:r>
                    </a:p>
                  </a:txBody>
                  <a:tcPr marL="91440" marR="91440" marT="45720" marB="45720">
                    <a:lnR w="7620">
                      <a:solidFill>
                        <a:srgbClr val="D8E1DB"/>
                      </a:solidFill>
                      <a:prstDash val="solid"/>
                    </a:lnR>
                    <a:lnB w="7620">
                      <a:solidFill>
                        <a:srgbClr val="D8E1DB"/>
                      </a:solidFill>
                      <a:prstDash val="solid"/>
                    </a:lnB>
                    <a:solidFill>
                      <a:srgbClr val="FFFFFF"/>
                    </a:solidFill>
                  </a:tcPr>
                </a:tc>
              </a:tr>
              <a:tr h="657225">
                <a:tc>
                  <a:txBody>
                    <a:bodyPr/>
                    <a:lstStyle/>
                    <a:p>
                      <a:r>
                        <a:rPr sz="1800" b="0">
                          <a:solidFill>
                            <a:srgbClr val="000000"/>
                          </a:solidFill>
                          <a:latin typeface="Aptos"/>
                          <a:ea typeface="Aptos"/>
                          <a:cs typeface="Aptos"/>
                        </a:rPr>
                        <a:t>LightGBM</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778</a:t>
                      </a:r>
                    </a:p>
                  </a:txBody>
                  <a:tcPr marL="91440" marR="91440" marT="45720" marB="45720">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1.952</a:t>
                      </a:r>
                    </a:p>
                  </a:txBody>
                  <a:tcPr marL="91440" marR="91440" marT="45720" marB="45720">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0,72 s</a:t>
                      </a:r>
                    </a:p>
                  </a:txBody>
                  <a:tcPr marL="91440" marR="91440" marT="45720" marB="45720">
                    <a:lnR w="7620">
                      <a:solidFill>
                        <a:srgbClr val="D8E1DB"/>
                      </a:solidFill>
                      <a:prstDash val="solid"/>
                    </a:lnR>
                    <a:lnB w="7620">
                      <a:solidFill>
                        <a:srgbClr val="D8E1DB"/>
                      </a:solidFill>
                      <a:prstDash val="solid"/>
                    </a:lnB>
                    <a:solidFill>
                      <a:srgbClr val="FFFFFF"/>
                    </a:solidFill>
                  </a:tcPr>
                </a:tc>
              </a:tr>
              <a:tr h="657225">
                <a:tc>
                  <a:txBody>
                    <a:bodyPr/>
                    <a:lstStyle/>
                    <a:p>
                      <a:r>
                        <a:rPr sz="1800" b="0">
                          <a:solidFill>
                            <a:srgbClr val="000000"/>
                          </a:solidFill>
                          <a:latin typeface="Aptos"/>
                          <a:ea typeface="Aptos"/>
                          <a:cs typeface="Aptos"/>
                        </a:rPr>
                        <a:t>Random Forest</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684</a:t>
                      </a:r>
                    </a:p>
                  </a:txBody>
                  <a:tcPr marL="91440" marR="91440" marT="45720" marB="45720">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1.946</a:t>
                      </a:r>
                    </a:p>
                  </a:txBody>
                  <a:tcPr marL="91440" marR="91440" marT="45720" marB="45720">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37,92 s</a:t>
                      </a:r>
                    </a:p>
                  </a:txBody>
                  <a:tcPr marL="91440" marR="91440" marT="45720" marB="45720">
                    <a:lnR w="7620">
                      <a:solidFill>
                        <a:srgbClr val="D8E1DB"/>
                      </a:solidFill>
                      <a:prstDash val="solid"/>
                    </a:lnR>
                    <a:lnB w="7620">
                      <a:solidFill>
                        <a:srgbClr val="D8E1DB"/>
                      </a:solidFill>
                      <a:prstDash val="solid"/>
                    </a:lnB>
                    <a:solidFill>
                      <a:srgbClr val="FFFFFF"/>
                    </a:solidFill>
                  </a:tcPr>
                </a:tc>
              </a:tr>
              <a:tr h="657225">
                <a:tc>
                  <a:txBody>
                    <a:bodyPr/>
                    <a:lstStyle/>
                    <a:p>
                      <a:r>
                        <a:rPr sz="1800" b="0">
                          <a:solidFill>
                            <a:srgbClr val="000000"/>
                          </a:solidFill>
                          <a:latin typeface="Aptos"/>
                          <a:ea typeface="Aptos"/>
                          <a:cs typeface="Aptos"/>
                        </a:rPr>
                        <a:t>RF getuned</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536</a:t>
                      </a:r>
                    </a:p>
                  </a:txBody>
                  <a:tcPr marL="91440" marR="91440" marT="45720" marB="45720">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1.940</a:t>
                      </a:r>
                    </a:p>
                  </a:txBody>
                  <a:tcPr marL="91440" marR="91440" marT="45720" marB="45720">
                    <a:lnR w="7620">
                      <a:solidFill>
                        <a:srgbClr val="D8E1DB"/>
                      </a:solidFill>
                      <a:prstDash val="solid"/>
                    </a:lnR>
                    <a:lnB w="7620">
                      <a:solidFill>
                        <a:srgbClr val="D8E1DB"/>
                      </a:solidFill>
                      <a:prstDash val="solid"/>
                    </a:lnB>
                    <a:solidFill>
                      <a:srgbClr val="FFFFFF"/>
                    </a:solidFill>
                  </a:tcPr>
                </a:tc>
                <a:tc>
                  <a:txBody>
                    <a:bodyPr/>
                    <a:lstStyle/>
                    <a:p>
                      <a:r>
                        <a:rPr sz="1800" b="0">
                          <a:solidFill>
                            <a:srgbClr val="000000"/>
                          </a:solidFill>
                          <a:latin typeface="Aptos"/>
                          <a:ea typeface="Aptos"/>
                          <a:cs typeface="Aptos"/>
                        </a:rPr>
                        <a:t>71,24 s</a:t>
                      </a:r>
                    </a:p>
                  </a:txBody>
                  <a:tcPr marL="91440" marR="91440" marT="45720" marB="45720">
                    <a:lnR w="7620">
                      <a:solidFill>
                        <a:srgbClr val="D8E1DB"/>
                      </a:solidFill>
                      <a:prstDash val="solid"/>
                    </a:lnR>
                    <a:lnB w="7620">
                      <a:solidFill>
                        <a:srgbClr val="D8E1D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DDAA187-83E4-42CE-A8A8-FB95F9266ADF}"/>
              </a:ext>
            </a:extLst>
          </p:cNvPr>
          <p:cNvSpPr>
            <a:spLocks xmlns:a="http://schemas.openxmlformats.org/drawingml/2006/main" noGrp="1"/>
          </p:cNvSpPr>
          <p:nvPr/>
        </p:nvSpPr>
        <p:spPr>
          <a:xfrm xmlns:a="http://schemas.openxmlformats.org/drawingml/2006/main">
            <a:off x="723900" y="5391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0F9ED5"/>
                </a:solidFill>
                <a:latin typeface="Aptos"/>
                <a:ea typeface="Aptos"/>
                <a:cs typeface="Aptos"/>
              </a:defRPr>
            </a:defPPr>
          </a:lstStyle>
          <a:p xmlns:a="http://schemas.openxmlformats.org/drawingml/2006/main">
            <a:pPr>
              <a:buNone/>
              <a:defRPr sz="2325" b="1">
                <a:solidFill>
                  <a:srgbClr val="0F9ED5"/>
                </a:solidFill>
                <a:latin typeface="Aptos"/>
                <a:ea typeface="Aptos"/>
                <a:cs typeface="Aptos"/>
              </a:defRPr>
            </a:pPr>
            <a:r>
              <a:rPr sz="2325" b="1">
                <a:solidFill>
                  <a:srgbClr val="0F9ED5"/>
                </a:solidFill>
                <a:latin typeface="Aptos"/>
                <a:ea typeface="Aptos"/>
                <a:cs typeface="Aptos"/>
              </a:rPr>
              <a:t>RF-tuning: slechts 0,27% extra validatiewinst</a:t>
            </a:r>
          </a:p>
        </p:txBody>
      </p:sp>
      <p:sp>
        <p:nvSpPr>
          <p:cNvPr id="6" name="">
            <a:extLst xmlns:a="http://schemas.openxmlformats.org/drawingml/2006/main">
              <a:ext uri="{FF2B5EF4-FFF2-40B4-BE49-F238E27FC236}">
                <a16:creationId xmlns:a16="http://schemas.microsoft.com/office/drawing/2014/main" id="{AE7CDAC8-34D5-4C77-8881-19F7D524D5DC}"/>
              </a:ext>
            </a:extLst>
          </p:cNvPr>
          <p:cNvSpPr>
            <a:spLocks xmlns:a="http://schemas.openxmlformats.org/drawingml/2006/main" noGrp="1"/>
          </p:cNvSpPr>
          <p:nvPr/>
        </p:nvSpPr>
        <p:spPr>
          <a:xfrm xmlns:a="http://schemas.openxmlformats.org/drawingml/2006/main">
            <a:off x="723900" y="59150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2766E"/>
                </a:solidFill>
                <a:latin typeface="Aptos"/>
                <a:ea typeface="Aptos"/>
                <a:cs typeface="Aptos"/>
              </a:defRPr>
            </a:defPPr>
          </a:lstStyle>
          <a:p xmlns:a="http://schemas.openxmlformats.org/drawingml/2006/main">
            <a:pPr>
              <a:buNone/>
              <a:defRPr sz="1875" b="0">
                <a:solidFill>
                  <a:srgbClr val="62766E"/>
                </a:solidFill>
                <a:latin typeface="Aptos"/>
                <a:ea typeface="Aptos"/>
                <a:cs typeface="Aptos"/>
              </a:defRPr>
            </a:pPr>
            <a:r>
              <a:rPr sz="1875" b="0">
                <a:solidFill>
                  <a:srgbClr val="62766E"/>
                </a:solidFill>
                <a:latin typeface="Aptos"/>
                <a:ea typeface="Aptos"/>
                <a:cs typeface="Aptos"/>
              </a:rPr>
              <a:t>Circa 647 MiB voor het finale oorspronkelijke artefact</a:t>
            </a:r>
          </a:p>
        </p:txBody>
      </p:sp>
    </p:spTree>
    <p:extLst>
      <p:ext uri="{BB962C8B-B14F-4D97-AF65-F5344CB8AC3E}">
        <p14:creationId xmlns:p14="http://schemas.microsoft.com/office/powerpoint/2010/main" val="30601778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AB7923-734A-4C70-9BEA-562B0913AA46}"/>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0F9ED5"/>
                </a:solidFill>
                <a:latin typeface="Aptos"/>
                <a:ea typeface="Aptos"/>
                <a:cs typeface="Aptos"/>
              </a:defRPr>
            </a:defPPr>
          </a:lstStyle>
          <a:p xmlns:a="http://schemas.openxmlformats.org/drawingml/2006/main">
            <a:pPr>
              <a:buNone/>
              <a:defRPr sz="1425" b="1">
                <a:solidFill>
                  <a:srgbClr val="0F9ED5"/>
                </a:solidFill>
                <a:latin typeface="Aptos"/>
                <a:ea typeface="Aptos"/>
                <a:cs typeface="Aptos"/>
              </a:defRPr>
            </a:pPr>
            <a:r>
              <a:rPr sz="1425" b="1">
                <a:solidFill>
                  <a:srgbClr val="0F9ED5"/>
                </a:solidFill>
                <a:latin typeface="Aptos"/>
                <a:ea typeface="Aptos"/>
                <a:cs typeface="Aptos"/>
              </a:rPr>
              <a:t>CONCLUSIE</a:t>
            </a:r>
          </a:p>
        </p:txBody>
      </p:sp>
      <p:sp>
        <p:nvSpPr>
          <p:cNvPr id="2" name="">
            <a:extLst xmlns:a="http://schemas.openxmlformats.org/drawingml/2006/main">
              <a:ext uri="{FF2B5EF4-FFF2-40B4-BE49-F238E27FC236}">
                <a16:creationId xmlns:a16="http://schemas.microsoft.com/office/drawing/2014/main" id="{31D82681-0076-43F2-A33A-3E8ECA3A2E7F}"/>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00000"/>
                </a:solidFill>
                <a:latin typeface="Aptos"/>
                <a:ea typeface="Aptos"/>
                <a:cs typeface="Aptos"/>
              </a:defRPr>
            </a:defPPr>
          </a:lstStyle>
          <a:p xmlns:a="http://schemas.openxmlformats.org/drawingml/2006/main">
            <a:pPr>
              <a:buNone/>
              <a:defRPr sz="3300" b="1">
                <a:solidFill>
                  <a:srgbClr val="000000"/>
                </a:solidFill>
                <a:latin typeface="Aptos"/>
                <a:ea typeface="Aptos"/>
                <a:cs typeface="Aptos"/>
              </a:defRPr>
            </a:pPr>
            <a:r>
              <a:rPr sz="3300" b="1">
                <a:solidFill>
                  <a:srgbClr val="000000"/>
                </a:solidFill>
                <a:latin typeface="Aptos"/>
                <a:ea typeface="Aptos"/>
                <a:cs typeface="Aptos"/>
              </a:rPr>
              <a:t>De bestaande eindtest bevestigt winst</a:t>
            </a:r>
          </a:p>
        </p:txBody>
      </p:sp>
      <p:sp>
        <p:nvSpPr>
          <p:cNvPr id="3" name="">
            <a:extLst xmlns:a="http://schemas.openxmlformats.org/drawingml/2006/main">
              <a:ext uri="{FF2B5EF4-FFF2-40B4-BE49-F238E27FC236}">
                <a16:creationId xmlns:a16="http://schemas.microsoft.com/office/drawing/2014/main" id="{067D5910-6F5C-48E6-9D3E-C4BB2B890918}"/>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ptos"/>
                <a:ea typeface="Aptos"/>
                <a:cs typeface="Aptos"/>
              </a:defRPr>
            </a:defPPr>
          </a:lstStyle>
          <a:p xmlns:a="http://schemas.openxmlformats.org/drawingml/2006/main">
            <a:pPr>
              <a:buNone/>
              <a:defRPr sz="1350" b="0">
                <a:solidFill>
                  <a:srgbClr val="62766E"/>
                </a:solidFill>
                <a:latin typeface="Aptos"/>
                <a:ea typeface="Aptos"/>
                <a:cs typeface="Aptos"/>
              </a:defRPr>
            </a:pPr>
            <a:r>
              <a:rPr sz="1350" b="0">
                <a:solidFill>
                  <a:srgbClr val="62766E"/>
                </a:solidFill>
                <a:latin typeface="Aptos"/>
                <a:ea typeface="Aptos"/>
                <a:cs typeface="Aptos"/>
              </a:rPr>
              <a:t>8</a:t>
            </a:r>
          </a:p>
        </p:txBody>
      </p:sp>
      <p:graphicFrame>
        <p:nvGraphicFramePr>
          <p:cNvPr id="4" name="Chart">
            <a:extLst xmlns:a="http://schemas.openxmlformats.org/drawingml/2006/main">
              <a:ext uri="{FF2B5EF4-FFF2-40B4-BE49-F238E27FC236}">
                <a16:creationId xmlns:a16="http://schemas.microsoft.com/office/drawing/2014/main" id="{5C79FCE7-4457-4CA4-84F2-FF6E48A0659B}"/>
              </a:ext>
            </a:extLst>
          </p:cNvPr>
          <p:cNvGraphicFramePr/>
          <p:nvPr/>
        </p:nvGraphicFramePr>
        <p:xfrm>
          <a:off xmlns:a="http://schemas.openxmlformats.org/drawingml/2006/main" x="685800" y="1828800"/>
          <a:ext xmlns:a="http://schemas.openxmlformats.org/drawingml/2006/main" cx="6810375" cy="3124200"/>
        </p:xfrm>
        <a:graphic xmlns:a="http://schemas.openxmlformats.org/drawingml/2006/main">
          <a:graphicData uri="http://schemas.openxmlformats.org/drawingml/2006/chart">
            <c:chart xmlns:r="http://schemas.openxmlformats.org/officeDocument/2006/relationships" xmlns:c="http://schemas.openxmlformats.org/drawingml/2006/chart" r:id="R25298f1cb1c24cb6"/>
          </a:graphicData>
        </a:graphic>
      </p:graphicFrame>
      <p:sp>
        <p:nvSpPr>
          <p:cNvPr id="5" name="">
            <a:extLst xmlns:a="http://schemas.openxmlformats.org/drawingml/2006/main">
              <a:ext uri="{FF2B5EF4-FFF2-40B4-BE49-F238E27FC236}">
                <a16:creationId xmlns:a16="http://schemas.microsoft.com/office/drawing/2014/main" id="{DEA9EBCA-44EB-45B0-A1BD-C323B54CD67E}"/>
              </a:ext>
            </a:extLst>
          </p:cNvPr>
          <p:cNvSpPr>
            <a:spLocks xmlns:a="http://schemas.openxmlformats.org/drawingml/2006/main" noGrp="1"/>
          </p:cNvSpPr>
          <p:nvPr/>
        </p:nvSpPr>
        <p:spPr>
          <a:xfrm xmlns:a="http://schemas.openxmlformats.org/drawingml/2006/main">
            <a:off x="8191500" y="1790700"/>
            <a:ext cx="338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0F9ED5"/>
                </a:solidFill>
                <a:latin typeface="Aptos"/>
                <a:ea typeface="Aptos"/>
                <a:cs typeface="Aptos"/>
              </a:defRPr>
            </a:defPPr>
          </a:lstStyle>
          <a:p xmlns:a="http://schemas.openxmlformats.org/drawingml/2006/main">
            <a:pPr>
              <a:buNone/>
              <a:defRPr sz="4800" b="1">
                <a:solidFill>
                  <a:srgbClr val="0F9ED5"/>
                </a:solidFill>
                <a:latin typeface="Aptos"/>
                <a:ea typeface="Aptos"/>
                <a:cs typeface="Aptos"/>
              </a:defRPr>
            </a:pPr>
            <a:r>
              <a:rPr sz="4800" b="1">
                <a:solidFill>
                  <a:srgbClr val="0F9ED5"/>
                </a:solidFill>
                <a:latin typeface="Aptos"/>
                <a:ea typeface="Aptos"/>
                <a:cs typeface="Aptos"/>
              </a:rPr>
              <a:t>24,12%</a:t>
            </a:r>
          </a:p>
        </p:txBody>
      </p:sp>
      <p:sp>
        <p:nvSpPr>
          <p:cNvPr id="6" name="">
            <a:extLst xmlns:a="http://schemas.openxmlformats.org/drawingml/2006/main">
              <a:ext uri="{FF2B5EF4-FFF2-40B4-BE49-F238E27FC236}">
                <a16:creationId xmlns:a16="http://schemas.microsoft.com/office/drawing/2014/main" id="{CAB6B751-EFA3-4A0F-A494-EE9B95F4606A}"/>
              </a:ext>
            </a:extLst>
          </p:cNvPr>
          <p:cNvSpPr>
            <a:spLocks xmlns:a="http://schemas.openxmlformats.org/drawingml/2006/main" noGrp="1"/>
          </p:cNvSpPr>
          <p:nvPr/>
        </p:nvSpPr>
        <p:spPr>
          <a:xfrm xmlns:a="http://schemas.openxmlformats.org/drawingml/2006/main">
            <a:off x="8210550" y="27432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lagere RMSE dan de baseline</a:t>
            </a:r>
          </a:p>
        </p:txBody>
      </p:sp>
      <p:sp>
        <p:nvSpPr>
          <p:cNvPr id="7" name="">
            <a:extLst xmlns:a="http://schemas.openxmlformats.org/drawingml/2006/main">
              <a:ext uri="{FF2B5EF4-FFF2-40B4-BE49-F238E27FC236}">
                <a16:creationId xmlns:a16="http://schemas.microsoft.com/office/drawing/2014/main" id="{24E0CC60-E2C4-463E-8188-59AEFEF15E01}"/>
              </a:ext>
            </a:extLst>
          </p:cNvPr>
          <p:cNvSpPr>
            <a:spLocks xmlns:a="http://schemas.openxmlformats.org/drawingml/2006/main" noGrp="1"/>
          </p:cNvSpPr>
          <p:nvPr/>
        </p:nvSpPr>
        <p:spPr>
          <a:xfrm xmlns:a="http://schemas.openxmlformats.org/drawingml/2006/main">
            <a:off x="8210550" y="387667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00000"/>
                </a:solidFill>
                <a:latin typeface="Aptos"/>
                <a:ea typeface="Aptos"/>
                <a:cs typeface="Aptos"/>
              </a:defRPr>
            </a:defPPr>
          </a:lstStyle>
          <a:p xmlns:a="http://schemas.openxmlformats.org/drawingml/2006/main">
            <a:pPr>
              <a:buNone/>
              <a:defRPr sz="2250" b="1">
                <a:solidFill>
                  <a:srgbClr val="000000"/>
                </a:solidFill>
                <a:latin typeface="Aptos"/>
                <a:ea typeface="Aptos"/>
                <a:cs typeface="Aptos"/>
              </a:defRPr>
            </a:pPr>
            <a:r>
              <a:rPr sz="2250" b="1">
                <a:solidFill>
                  <a:srgbClr val="000000"/>
                </a:solidFill>
                <a:latin typeface="Aptos"/>
                <a:ea typeface="Aptos"/>
                <a:cs typeface="Aptos"/>
              </a:rPr>
              <a:t>MAE: 1.076,23</a:t>
            </a:r>
            <a:br>
              <a:rPr sz="2250" b="1">
                <a:solidFill>
                  <a:srgbClr val="000000"/>
                </a:solidFill>
                <a:latin typeface="Aptos"/>
                <a:ea typeface="Aptos"/>
                <a:cs typeface="Aptos"/>
              </a:rPr>
            </a:br>
            <a:r>
              <a:rPr sz="2250" b="1">
                <a:solidFill>
                  <a:srgbClr val="000000"/>
                </a:solidFill>
                <a:latin typeface="Aptos"/>
                <a:ea typeface="Aptos"/>
                <a:cs typeface="Aptos"/>
              </a:rPr>
              <a:t>R²: 0,828</a:t>
            </a:r>
          </a:p>
        </p:txBody>
      </p:sp>
      <p:sp>
        <p:nvSpPr>
          <p:cNvPr id="8" name="">
            <a:extLst xmlns:a="http://schemas.openxmlformats.org/drawingml/2006/main">
              <a:ext uri="{FF2B5EF4-FFF2-40B4-BE49-F238E27FC236}">
                <a16:creationId xmlns:a16="http://schemas.microsoft.com/office/drawing/2014/main" id="{430D3F3F-D42B-4112-A1C7-87B6697A3331}"/>
              </a:ext>
            </a:extLst>
          </p:cNvPr>
          <p:cNvSpPr>
            <a:spLocks xmlns:a="http://schemas.openxmlformats.org/drawingml/2006/main" noGrp="1"/>
          </p:cNvSpPr>
          <p:nvPr/>
        </p:nvSpPr>
        <p:spPr>
          <a:xfrm xmlns:a="http://schemas.openxmlformats.org/drawingml/2006/main">
            <a:off x="723900" y="55530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2766E"/>
                </a:solidFill>
                <a:latin typeface="Aptos"/>
                <a:ea typeface="Aptos"/>
                <a:cs typeface="Aptos"/>
              </a:defRPr>
            </a:defPPr>
          </a:lstStyle>
          <a:p xmlns:a="http://schemas.openxmlformats.org/drawingml/2006/main">
            <a:pPr>
              <a:buNone/>
              <a:defRPr sz="1875" b="0">
                <a:solidFill>
                  <a:srgbClr val="62766E"/>
                </a:solidFill>
                <a:latin typeface="Aptos"/>
                <a:ea typeface="Aptos"/>
                <a:cs typeface="Aptos"/>
              </a:defRPr>
            </a:pPr>
            <a:r>
              <a:rPr sz="1875" b="0">
                <a:solidFill>
                  <a:srgbClr val="62766E"/>
                </a:solidFill>
                <a:latin typeface="Aptos"/>
                <a:ea typeface="Aptos"/>
                <a:cs typeface="Aptos"/>
              </a:rPr>
              <a:t>Juli–augustus 2026. Alleen de vooraf gekozen winnaar en baseline.</a:t>
            </a:r>
          </a:p>
        </p:txBody>
      </p:sp>
      <p:sp>
        <p:nvSpPr>
          <p:cNvPr id="9" name="">
            <a:extLst xmlns:a="http://schemas.openxmlformats.org/drawingml/2006/main">
              <a:ext uri="{FF2B5EF4-FFF2-40B4-BE49-F238E27FC236}">
                <a16:creationId xmlns:a16="http://schemas.microsoft.com/office/drawing/2014/main" id="{3648A9AD-BF5B-469A-BE8B-6577D8DECE5D}"/>
              </a:ext>
            </a:extLst>
          </p:cNvPr>
          <p:cNvSpPr>
            <a:spLocks xmlns:a="http://schemas.openxmlformats.org/drawingml/2006/main" noGrp="1"/>
          </p:cNvSpPr>
          <p:nvPr/>
        </p:nvSpPr>
        <p:spPr>
          <a:xfrm xmlns:a="http://schemas.openxmlformats.org/drawingml/2006/main">
            <a:off x="723900" y="603885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000000"/>
                </a:solidFill>
                <a:latin typeface="Aptos"/>
                <a:ea typeface="Aptos"/>
                <a:cs typeface="Aptos"/>
              </a:defRPr>
            </a:defPPr>
          </a:lstStyle>
          <a:p xmlns:a="http://schemas.openxmlformats.org/drawingml/2006/main">
            <a:pPr>
              <a:buNone/>
              <a:defRPr sz="1725" b="0">
                <a:solidFill>
                  <a:srgbClr val="000000"/>
                </a:solidFill>
                <a:latin typeface="Aptos"/>
                <a:ea typeface="Aptos"/>
                <a:cs typeface="Aptos"/>
              </a:defRPr>
            </a:pPr>
            <a:r>
              <a:rPr sz="1725" b="0">
                <a:solidFill>
                  <a:srgbClr val="000000"/>
                </a:solidFill>
                <a:latin typeface="Aptos"/>
                <a:ea typeface="Aptos"/>
                <a:cs typeface="Aptos"/>
              </a:rPr>
              <a:t>De test blijft een eindrapport. Twee zomermaanden beperken de generalisatieclaim.</a:t>
            </a:r>
          </a:p>
        </p:txBody>
      </p:sp>
    </p:spTree>
    <p:extLst>
      <p:ext uri="{BB962C8B-B14F-4D97-AF65-F5344CB8AC3E}">
        <p14:creationId xmlns:p14="http://schemas.microsoft.com/office/powerpoint/2010/main" val="57399247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0F10A4-FDBD-48E0-B451-31323102B50C}"/>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0F9ED5"/>
                </a:solidFill>
                <a:latin typeface="Aptos"/>
                <a:ea typeface="Aptos"/>
                <a:cs typeface="Aptos"/>
              </a:defRPr>
            </a:defPPr>
          </a:lstStyle>
          <a:p xmlns:a="http://schemas.openxmlformats.org/drawingml/2006/main">
            <a:pPr>
              <a:buNone/>
              <a:defRPr sz="1425" b="1">
                <a:solidFill>
                  <a:srgbClr val="0F9ED5"/>
                </a:solidFill>
                <a:latin typeface="Aptos"/>
                <a:ea typeface="Aptos"/>
                <a:cs typeface="Aptos"/>
              </a:defRPr>
            </a:pPr>
            <a:r>
              <a:rPr sz="1425" b="1">
                <a:solidFill>
                  <a:srgbClr val="0F9ED5"/>
                </a:solidFill>
                <a:latin typeface="Aptos"/>
                <a:ea typeface="Aptos"/>
                <a:cs typeface="Aptos"/>
              </a:rPr>
              <a:t>CONCLUSIE</a:t>
            </a:r>
          </a:p>
        </p:txBody>
      </p:sp>
      <p:sp>
        <p:nvSpPr>
          <p:cNvPr id="2" name="">
            <a:extLst xmlns:a="http://schemas.openxmlformats.org/drawingml/2006/main">
              <a:ext uri="{FF2B5EF4-FFF2-40B4-BE49-F238E27FC236}">
                <a16:creationId xmlns:a16="http://schemas.microsoft.com/office/drawing/2014/main" id="{251781FD-7A68-4C3B-A03B-08845D8DA93B}"/>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000000"/>
                </a:solidFill>
                <a:latin typeface="Aptos"/>
                <a:ea typeface="Aptos"/>
                <a:cs typeface="Aptos"/>
              </a:defRPr>
            </a:defPPr>
          </a:lstStyle>
          <a:p xmlns:a="http://schemas.openxmlformats.org/drawingml/2006/main">
            <a:pPr>
              <a:buNone/>
              <a:defRPr sz="3300" b="1">
                <a:solidFill>
                  <a:srgbClr val="000000"/>
                </a:solidFill>
                <a:latin typeface="Aptos"/>
                <a:ea typeface="Aptos"/>
                <a:cs typeface="Aptos"/>
              </a:defRPr>
            </a:pPr>
            <a:r>
              <a:rPr sz="3300" b="1">
                <a:solidFill>
                  <a:srgbClr val="000000"/>
                </a:solidFill>
                <a:latin typeface="Aptos"/>
                <a:ea typeface="Aptos"/>
                <a:cs typeface="Aptos"/>
              </a:rPr>
              <a:t>Mijn resultaat en de volgende stap</a:t>
            </a:r>
          </a:p>
        </p:txBody>
      </p:sp>
      <p:sp>
        <p:nvSpPr>
          <p:cNvPr id="3" name="">
            <a:extLst xmlns:a="http://schemas.openxmlformats.org/drawingml/2006/main">
              <a:ext uri="{FF2B5EF4-FFF2-40B4-BE49-F238E27FC236}">
                <a16:creationId xmlns:a16="http://schemas.microsoft.com/office/drawing/2014/main" id="{5F25B884-6878-444D-A3A9-349B7DDCDBC8}"/>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ptos"/>
                <a:ea typeface="Aptos"/>
                <a:cs typeface="Aptos"/>
              </a:defRPr>
            </a:defPPr>
          </a:lstStyle>
          <a:p xmlns:a="http://schemas.openxmlformats.org/drawingml/2006/main">
            <a:pPr>
              <a:buNone/>
              <a:defRPr sz="1350" b="0">
                <a:solidFill>
                  <a:srgbClr val="62766E"/>
                </a:solidFill>
                <a:latin typeface="Aptos"/>
                <a:ea typeface="Aptos"/>
                <a:cs typeface="Aptos"/>
              </a:defRPr>
            </a:pPr>
            <a:r>
              <a:rPr sz="1350" b="0">
                <a:solidFill>
                  <a:srgbClr val="62766E"/>
                </a:solidFill>
                <a:latin typeface="Aptos"/>
                <a:ea typeface="Aptos"/>
                <a:cs typeface="Aptos"/>
              </a:rPr>
              <a:t>9</a:t>
            </a:r>
          </a:p>
        </p:txBody>
      </p:sp>
      <p:pic>
        <p:nvPicPr>
          <p:cNvPr id="4" name="">
            <a:extLst xmlns:a="http://schemas.openxmlformats.org/drawingml/2006/main">
              <a:ext uri="{FF2B5EF4-FFF2-40B4-BE49-F238E27FC236}">
                <a16:creationId xmlns:a16="http://schemas.microsoft.com/office/drawing/2014/main" id="{B9EB0C68-E8DA-430F-9C30-0072995DBF77}"/>
              </a:ext>
            </a:extLst>
          </p:cNvPr>
          <p:cNvPicPr>
            <a:picLocks xmlns:a="http://schemas.openxmlformats.org/drawingml/2006/main" noChangeAspect="1"/>
          </p:cNvPicPr>
          <p:nvPr/>
        </p:nvPicPr>
        <p:blipFill>
          <a:blip xmlns:r="http://schemas.openxmlformats.org/officeDocument/2006/relationships" xmlns:a="http://schemas.openxmlformats.org/drawingml/2006/main" r:embed="R764dd8fb09d34ef3"/>
          <a:stretch xmlns:a="http://schemas.openxmlformats.org/drawingml/2006/main"/>
        </p:blipFill>
        <p:spPr>
          <a:xfrm xmlns:a="http://schemas.openxmlformats.org/drawingml/2006/main">
            <a:off x="719349" y="1590675"/>
            <a:ext cx="3266651" cy="457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CE6EFB6-51EB-479D-8E40-83AC05233601}"/>
              </a:ext>
            </a:extLst>
          </p:cNvPr>
          <p:cNvSpPr>
            <a:spLocks xmlns:a="http://schemas.openxmlformats.org/drawingml/2006/main" noGrp="1"/>
          </p:cNvSpPr>
          <p:nvPr/>
        </p:nvSpPr>
        <p:spPr>
          <a:xfrm xmlns:a="http://schemas.openxmlformats.org/drawingml/2006/main">
            <a:off x="4724400" y="171450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F9ED5"/>
                </a:solidFill>
                <a:latin typeface="Aptos"/>
                <a:ea typeface="Aptos"/>
                <a:cs typeface="Aptos"/>
              </a:defRPr>
            </a:defPPr>
          </a:lstStyle>
          <a:p xmlns:a="http://schemas.openxmlformats.org/drawingml/2006/main">
            <a:pPr>
              <a:buNone/>
              <a:defRPr sz="2475" b="1">
                <a:solidFill>
                  <a:srgbClr val="0F9ED5"/>
                </a:solidFill>
                <a:latin typeface="Aptos"/>
                <a:ea typeface="Aptos"/>
                <a:cs typeface="Aptos"/>
              </a:defRPr>
            </a:pPr>
            <a:r>
              <a:rPr sz="2475" b="1">
                <a:solidFill>
                  <a:srgbClr val="0F9ED5"/>
                </a:solidFill>
                <a:latin typeface="Aptos"/>
                <a:ea typeface="Aptos"/>
                <a:cs typeface="Aptos"/>
              </a:rPr>
              <a:t>Werkende frontend en API</a:t>
            </a:r>
          </a:p>
        </p:txBody>
      </p:sp>
      <p:sp>
        <p:nvSpPr>
          <p:cNvPr id="6" name="">
            <a:extLst xmlns:a="http://schemas.openxmlformats.org/drawingml/2006/main">
              <a:ext uri="{FF2B5EF4-FFF2-40B4-BE49-F238E27FC236}">
                <a16:creationId xmlns:a16="http://schemas.microsoft.com/office/drawing/2014/main" id="{331F9F9B-95A6-416E-BDD9-76BCC0F54FDE}"/>
              </a:ext>
            </a:extLst>
          </p:cNvPr>
          <p:cNvSpPr>
            <a:spLocks xmlns:a="http://schemas.openxmlformats.org/drawingml/2006/main" noGrp="1"/>
          </p:cNvSpPr>
          <p:nvPr/>
        </p:nvSpPr>
        <p:spPr>
          <a:xfrm xmlns:a="http://schemas.openxmlformats.org/drawingml/2006/main">
            <a:off x="4724400" y="2457450"/>
            <a:ext cx="666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000000"/>
                </a:solidFill>
                <a:latin typeface="Aptos"/>
                <a:ea typeface="Aptos"/>
                <a:cs typeface="Aptos"/>
              </a:defRPr>
            </a:defPPr>
          </a:lstStyle>
          <a:p xmlns:a="http://schemas.openxmlformats.org/drawingml/2006/main">
            <a:pPr>
              <a:buNone/>
              <a:defRPr sz="2100" b="0">
                <a:solidFill>
                  <a:srgbClr val="000000"/>
                </a:solidFill>
                <a:latin typeface="Aptos"/>
                <a:ea typeface="Aptos"/>
                <a:cs typeface="Aptos"/>
              </a:defRPr>
            </a:pPr>
            <a:r>
              <a:rPr sz="2100" b="0">
                <a:solidFill>
                  <a:srgbClr val="000000"/>
                </a:solidFill>
                <a:latin typeface="Aptos"/>
                <a:ea typeface="Aptos"/>
                <a:cs typeface="Aptos"/>
              </a:rPr>
              <a:t>Dezelfde voorspelfunctie als offline</a:t>
            </a:r>
            <a:br>
              <a:rPr sz="2100" b="0">
                <a:solidFill>
                  <a:srgbClr val="000000"/>
                </a:solidFill>
                <a:latin typeface="Aptos"/>
                <a:ea typeface="Aptos"/>
                <a:cs typeface="Aptos"/>
              </a:rPr>
            </a:br>
            <a:br>
              <a:rPr sz="2100" b="0">
                <a:solidFill>
                  <a:srgbClr val="000000"/>
                </a:solidFill>
                <a:latin typeface="Aptos"/>
                <a:ea typeface="Aptos"/>
                <a:cs typeface="Aptos"/>
              </a:rPr>
            </a:br>
            <a:r>
              <a:rPr sz="2100" b="0">
                <a:solidFill>
                  <a:srgbClr val="000000"/>
                </a:solidFill>
                <a:latin typeface="Aptos"/>
                <a:ea typeface="Aptos"/>
                <a:cs typeface="Aptos"/>
              </a:rPr>
              <a:t>Gecontroleerde lokale RF-hertraining</a:t>
            </a:r>
            <a:br>
              <a:rPr sz="2100" b="0">
                <a:solidFill>
                  <a:srgbClr val="000000"/>
                </a:solidFill>
                <a:latin typeface="Aptos"/>
                <a:ea typeface="Aptos"/>
                <a:cs typeface="Aptos"/>
              </a:rPr>
            </a:br>
            <a:r>
              <a:rPr sz="2100" b="0">
                <a:solidFill>
                  <a:srgbClr val="000000"/>
                </a:solidFill>
                <a:latin typeface="Aptos"/>
                <a:ea typeface="Aptos"/>
                <a:cs typeface="Aptos"/>
              </a:rPr>
              <a:t>met een apart modelartefact</a:t>
            </a:r>
          </a:p>
        </p:txBody>
      </p:sp>
      <p:sp>
        <p:nvSpPr>
          <p:cNvPr id="7" name="">
            <a:extLst xmlns:a="http://schemas.openxmlformats.org/drawingml/2006/main">
              <a:ext uri="{FF2B5EF4-FFF2-40B4-BE49-F238E27FC236}">
                <a16:creationId xmlns:a16="http://schemas.microsoft.com/office/drawing/2014/main" id="{5F6B7D22-A0B9-435C-BA19-01301DA5C1D8}"/>
              </a:ext>
            </a:extLst>
          </p:cNvPr>
          <p:cNvSpPr>
            <a:spLocks xmlns:a="http://schemas.openxmlformats.org/drawingml/2006/main" noGrp="1"/>
          </p:cNvSpPr>
          <p:nvPr/>
        </p:nvSpPr>
        <p:spPr>
          <a:xfrm xmlns:a="http://schemas.openxmlformats.org/drawingml/2006/main">
            <a:off x="4724400" y="4248150"/>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00000"/>
                </a:solidFill>
                <a:latin typeface="Aptos"/>
                <a:ea typeface="Aptos"/>
                <a:cs typeface="Aptos"/>
              </a:defRPr>
            </a:defPPr>
          </a:lstStyle>
          <a:p xmlns:a="http://schemas.openxmlformats.org/drawingml/2006/main">
            <a:pPr>
              <a:buNone/>
              <a:defRPr sz="2250" b="1">
                <a:solidFill>
                  <a:srgbClr val="000000"/>
                </a:solidFill>
                <a:latin typeface="Aptos"/>
                <a:ea typeface="Aptos"/>
                <a:cs typeface="Aptos"/>
              </a:defRPr>
            </a:pPr>
            <a:r>
              <a:rPr sz="2250" b="1">
                <a:solidFill>
                  <a:srgbClr val="000000"/>
                </a:solidFill>
                <a:latin typeface="Aptos"/>
                <a:ea typeface="Aptos"/>
                <a:cs typeface="Aptos"/>
              </a:rPr>
              <a:t>Groepsintegratie</a:t>
            </a:r>
          </a:p>
        </p:txBody>
      </p:sp>
      <p:sp>
        <p:nvSpPr>
          <p:cNvPr id="8" name="">
            <a:extLst xmlns:a="http://schemas.openxmlformats.org/drawingml/2006/main">
              <a:ext uri="{FF2B5EF4-FFF2-40B4-BE49-F238E27FC236}">
                <a16:creationId xmlns:a16="http://schemas.microsoft.com/office/drawing/2014/main" id="{92A48D01-10FC-40AB-8351-2F97F94DA0E0}"/>
              </a:ext>
            </a:extLst>
          </p:cNvPr>
          <p:cNvSpPr>
            <a:spLocks xmlns:a="http://schemas.openxmlformats.org/drawingml/2006/main" noGrp="1"/>
          </p:cNvSpPr>
          <p:nvPr/>
        </p:nvSpPr>
        <p:spPr>
          <a:xfrm xmlns:a="http://schemas.openxmlformats.org/drawingml/2006/main">
            <a:off x="4724400" y="4829175"/>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GitHub Actions: Mushroom getest</a:t>
            </a:r>
          </a:p>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Render + Netlify publiceren</a:t>
            </a:r>
          </a:p>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AWS: Mushroom-run gecontroleerd</a:t>
            </a:r>
          </a:p>
        </p:txBody>
      </p:sp>
    </p:spTree>
    <p:extLst>
      <p:ext uri="{BB962C8B-B14F-4D97-AF65-F5344CB8AC3E}">
        <p14:creationId xmlns:p14="http://schemas.microsoft.com/office/powerpoint/2010/main" val="80768617"/>
      </p:ext>
    </p:extLst>
  </p:cSld>
</p:sld>
</file>

<file path=ppt/slides/slide2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71" name="Rectangle 70">
            <a:extLst xmlns:a="http://schemas.openxmlformats.org/drawingml/2006/main">
              <a:ext uri="{FF2B5EF4-FFF2-40B4-BE49-F238E27FC236}">
                <a16:creationId xmlns:a16="http://schemas.microsoft.com/office/drawing/2014/main" id="{74B0B678-CD10-4371-96E5-2706F4579FAD}"/>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Rectangle 73">
            <a:extLst xmlns:a="http://schemas.openxmlformats.org/drawingml/2006/main">
              <a:ext uri="{FF2B5EF4-FFF2-40B4-BE49-F238E27FC236}">
                <a16:creationId xmlns:a16="http://schemas.microsoft.com/office/drawing/2014/main" id="{8A3838D5-9565-4601-BAC3-D1B5BDB803ED}"/>
              </a:ext>
            </a:extLst>
          </p:cNvPr>
          <p:cNvSpPr>
            <a:spLocks xmlns:a="http://schemas.openxmlformats.org/drawingml/2006/main" noGrp="1"/>
          </p:cNvSpPr>
          <p:nvPr/>
        </p:nvSpPr>
        <p:spPr>
          <a:xfrm xmlns:a="http://schemas.openxmlformats.org/drawingml/2006/main" rot="5400000" flipH="0" flipV="0">
            <a:off x="3032052" y="2878474"/>
            <a:ext cx="816039" cy="102807"/>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Rectangle 74">
            <a:extLst xmlns:a="http://schemas.openxmlformats.org/drawingml/2006/main">
              <a:ext uri="{FF2B5EF4-FFF2-40B4-BE49-F238E27FC236}">
                <a16:creationId xmlns:a16="http://schemas.microsoft.com/office/drawing/2014/main" id="{3349A4B8-3246-4579-922E-FE1155C7F08C}"/>
              </a:ext>
            </a:extLst>
          </p:cNvPr>
          <p:cNvSpPr>
            <a:spLocks xmlns:a="http://schemas.openxmlformats.org/drawingml/2006/main" noGrp="1"/>
          </p:cNvSpPr>
          <p:nvPr/>
        </p:nvSpPr>
        <p:spPr>
          <a:xfrm xmlns:a="http://schemas.openxmlformats.org/drawingml/2006/main" rot="0" flipH="1" flipV="1">
            <a:off x="-2340441" y="2666504"/>
            <a:ext cx="5608997" cy="52739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Rectangle 76">
            <a:extLst xmlns:a="http://schemas.openxmlformats.org/drawingml/2006/main">
              <a:ext uri="{FF2B5EF4-FFF2-40B4-BE49-F238E27FC236}">
                <a16:creationId xmlns:a16="http://schemas.microsoft.com/office/drawing/2014/main" id="{CBC4F608-B4B8-48C3-9572-C0F061B1CD99}"/>
              </a:ext>
            </a:extLst>
          </p:cNvPr>
          <p:cNvSpPr>
            <a:spLocks xmlns:a="http://schemas.openxmlformats.org/drawingml/2006/main" noGrp="1"/>
          </p:cNvSpPr>
          <p:nvPr/>
        </p:nvSpPr>
        <p:spPr>
          <a:xfrm xmlns:a="http://schemas.openxmlformats.org/drawingml/2006/main">
            <a:off x="579528" y="517897"/>
            <a:ext cx="11111729" cy="5857966"/>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Rectangle 78">
            <a:extLst xmlns:a="http://schemas.openxmlformats.org/drawingml/2006/main">
              <a:ext uri="{FF2B5EF4-FFF2-40B4-BE49-F238E27FC236}">
                <a16:creationId xmlns:a16="http://schemas.microsoft.com/office/drawing/2014/main" id="{1382A32C-5B0C-4B1C-A074-76C6DBCC9F87}"/>
              </a:ext>
            </a:extLst>
          </p:cNvPr>
          <p:cNvSpPr>
            <a:spLocks xmlns:a="http://schemas.openxmlformats.org/drawingml/2006/main" noGrp="1"/>
          </p:cNvSpPr>
          <p:nvPr/>
        </p:nvSpPr>
        <p:spPr>
          <a:xfrm xmlns:a="http://schemas.openxmlformats.org/drawingml/2006/main" flipH="1">
            <a:off x="5957331" y="2188548"/>
            <a:ext cx="5041025" cy="2743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content-5">
            <a:extLst xmlns:a="http://schemas.openxmlformats.org/drawingml/2006/main">
              <a:ext uri="{FF2B5EF4-FFF2-40B4-BE49-F238E27FC236}">
                <a16:creationId xmlns:a16="http://schemas.microsoft.com/office/drawing/2014/main" id="{C64DE780-9FE7-4F56-8489-7FDEF763A5A3}"/>
              </a:ext>
            </a:extLst>
          </p:cNvPr>
          <p:cNvSpPr>
            <a:spLocks xmlns:a="http://schemas.openxmlformats.org/drawingml/2006/main" noGrp="1"/>
          </p:cNvSpPr>
          <p:nvPr/>
        </p:nvSpPr>
        <p:spPr>
          <a:xfrm xmlns:a="http://schemas.openxmlformats.org/drawingml/2006/main">
            <a:off x="5953125" y="9715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Deployment -</a:t>
            </a:r>
          </a:p>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API and website</a:t>
            </a:r>
          </a:p>
        </p:txBody>
      </p:sp>
      <p:sp>
        <p:nvSpPr>
          <p:cNvPr id="81" name="content-6">
            <a:extLst xmlns:a="http://schemas.openxmlformats.org/drawingml/2006/main">
              <a:ext uri="{FF2B5EF4-FFF2-40B4-BE49-F238E27FC236}">
                <a16:creationId xmlns:a16="http://schemas.microsoft.com/office/drawing/2014/main" id="{AA80BDE5-9735-4F6D-862A-D8EDBAF6F238}"/>
              </a:ext>
            </a:extLst>
          </p:cNvPr>
          <p:cNvSpPr>
            <a:spLocks xmlns:a="http://schemas.openxmlformats.org/drawingml/2006/main" noGrp="1"/>
          </p:cNvSpPr>
          <p:nvPr/>
        </p:nvSpPr>
        <p:spPr>
          <a:xfrm xmlns:a="http://schemas.openxmlformats.org/drawingml/2006/main">
            <a:off x="1000125" y="1809750"/>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Frontend: HTML / CSS / JavaScript</a:t>
            </a:r>
          </a:p>
        </p:txBody>
      </p:sp>
      <p:sp>
        <p:nvSpPr>
          <p:cNvPr id="82" name="content-7">
            <a:extLst xmlns:a="http://schemas.openxmlformats.org/drawingml/2006/main">
              <a:ext uri="{FF2B5EF4-FFF2-40B4-BE49-F238E27FC236}">
                <a16:creationId xmlns:a16="http://schemas.microsoft.com/office/drawing/2014/main" id="{A5F54713-059F-4259-B981-CE4D67789B6C}"/>
              </a:ext>
            </a:extLst>
          </p:cNvPr>
          <p:cNvSpPr>
            <a:spLocks xmlns:a="http://schemas.openxmlformats.org/drawingml/2006/main" noGrp="1"/>
          </p:cNvSpPr>
          <p:nvPr/>
        </p:nvSpPr>
        <p:spPr>
          <a:xfrm xmlns:a="http://schemas.openxmlformats.org/drawingml/2006/main">
            <a:off x="1000125" y="2571750"/>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Backend: Python + FastAPI</a:t>
            </a:r>
          </a:p>
        </p:txBody>
      </p:sp>
      <p:sp>
        <p:nvSpPr>
          <p:cNvPr id="83" name="content-8">
            <a:extLst xmlns:a="http://schemas.openxmlformats.org/drawingml/2006/main">
              <a:ext uri="{FF2B5EF4-FFF2-40B4-BE49-F238E27FC236}">
                <a16:creationId xmlns:a16="http://schemas.microsoft.com/office/drawing/2014/main" id="{1977A639-A95A-4C1E-9F57-65DCA17E3B64}"/>
              </a:ext>
            </a:extLst>
          </p:cNvPr>
          <p:cNvSpPr>
            <a:spLocks xmlns:a="http://schemas.openxmlformats.org/drawingml/2006/main" noGrp="1"/>
          </p:cNvSpPr>
          <p:nvPr/>
        </p:nvSpPr>
        <p:spPr>
          <a:xfrm xmlns:a="http://schemas.openxmlformats.org/drawingml/2006/main">
            <a:off x="1000125" y="3333750"/>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Hosting: Netlify + Render</a:t>
            </a:r>
          </a:p>
        </p:txBody>
      </p:sp>
      <p:sp>
        <p:nvSpPr>
          <p:cNvPr id="84" name="content-9">
            <a:extLst xmlns:a="http://schemas.openxmlformats.org/drawingml/2006/main">
              <a:ext uri="{FF2B5EF4-FFF2-40B4-BE49-F238E27FC236}">
                <a16:creationId xmlns:a16="http://schemas.microsoft.com/office/drawing/2014/main" id="{87CD5D9E-CAA9-4381-99B4-D0638EFBD2A0}"/>
              </a:ext>
            </a:extLst>
          </p:cNvPr>
          <p:cNvSpPr>
            <a:spLocks xmlns:a="http://schemas.openxmlformats.org/drawingml/2006/main" noGrp="1"/>
          </p:cNvSpPr>
          <p:nvPr/>
        </p:nvSpPr>
        <p:spPr>
          <a:xfrm xmlns:a="http://schemas.openxmlformats.org/drawingml/2006/main">
            <a:off x="1000125" y="4095750"/>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Two models, one API</a:t>
            </a:r>
          </a:p>
        </p:txBody>
      </p:sp>
      <p:sp>
        <p:nvSpPr>
          <p:cNvPr id="85" name="content-10">
            <a:extLst xmlns:a="http://schemas.openxmlformats.org/drawingml/2006/main">
              <a:ext uri="{FF2B5EF4-FFF2-40B4-BE49-F238E27FC236}">
                <a16:creationId xmlns:a16="http://schemas.microsoft.com/office/drawing/2014/main" id="{190BEE10-4DA4-414A-A0BD-2EB064A727AB}"/>
              </a:ext>
            </a:extLst>
          </p:cNvPr>
          <p:cNvSpPr>
            <a:spLocks xmlns:a="http://schemas.openxmlformats.org/drawingml/2006/main" noGrp="1"/>
          </p:cNvSpPr>
          <p:nvPr/>
        </p:nvSpPr>
        <p:spPr>
          <a:xfrm xmlns:a="http://schemas.openxmlformats.org/drawingml/2006/main">
            <a:off x="5953125" y="27622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User enters model features</a:t>
            </a:r>
          </a:p>
        </p:txBody>
      </p:sp>
      <p:sp>
        <p:nvSpPr>
          <p:cNvPr id="86" name="content-11">
            <a:extLst xmlns:a="http://schemas.openxmlformats.org/drawingml/2006/main">
              <a:ext uri="{FF2B5EF4-FFF2-40B4-BE49-F238E27FC236}">
                <a16:creationId xmlns:a16="http://schemas.microsoft.com/office/drawing/2014/main" id="{38DF7102-4C23-471A-9A46-CC0E32D76335}"/>
              </a:ext>
            </a:extLst>
          </p:cNvPr>
          <p:cNvSpPr>
            <a:spLocks xmlns:a="http://schemas.openxmlformats.org/drawingml/2006/main" noGrp="1"/>
          </p:cNvSpPr>
          <p:nvPr/>
        </p:nvSpPr>
        <p:spPr>
          <a:xfrm xmlns:a="http://schemas.openxmlformats.org/drawingml/2006/main">
            <a:off x="5953125" y="34861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API validates the input</a:t>
            </a:r>
          </a:p>
        </p:txBody>
      </p:sp>
      <p:sp>
        <p:nvSpPr>
          <p:cNvPr id="87" name="content-12">
            <a:extLst xmlns:a="http://schemas.openxmlformats.org/drawingml/2006/main">
              <a:ext uri="{FF2B5EF4-FFF2-40B4-BE49-F238E27FC236}">
                <a16:creationId xmlns:a16="http://schemas.microsoft.com/office/drawing/2014/main" id="{390223B4-AA68-4F55-B4CA-781A74763604}"/>
              </a:ext>
            </a:extLst>
          </p:cNvPr>
          <p:cNvSpPr>
            <a:spLocks xmlns:a="http://schemas.openxmlformats.org/drawingml/2006/main" noGrp="1"/>
          </p:cNvSpPr>
          <p:nvPr/>
        </p:nvSpPr>
        <p:spPr>
          <a:xfrm xmlns:a="http://schemas.openxmlformats.org/drawingml/2006/main">
            <a:off x="5953125" y="42100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Selected model predicts</a:t>
            </a:r>
          </a:p>
        </p:txBody>
      </p:sp>
      <p:sp>
        <p:nvSpPr>
          <p:cNvPr id="88" name="content-13">
            <a:extLst xmlns:a="http://schemas.openxmlformats.org/drawingml/2006/main">
              <a:ext uri="{FF2B5EF4-FFF2-40B4-BE49-F238E27FC236}">
                <a16:creationId xmlns:a16="http://schemas.microsoft.com/office/drawing/2014/main" id="{1D8F9702-E77A-4DC0-950A-42EFF5DF5760}"/>
              </a:ext>
            </a:extLst>
          </p:cNvPr>
          <p:cNvSpPr>
            <a:spLocks xmlns:a="http://schemas.openxmlformats.org/drawingml/2006/main" noGrp="1"/>
          </p:cNvSpPr>
          <p:nvPr/>
        </p:nvSpPr>
        <p:spPr>
          <a:xfrm xmlns:a="http://schemas.openxmlformats.org/drawingml/2006/main">
            <a:off x="5953125" y="49339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Website displays the result</a:t>
            </a:r>
          </a:p>
        </p:txBody>
      </p:sp>
      <p:sp>
        <p:nvSpPr>
          <p:cNvPr id="89" name="content-14">
            <a:extLst xmlns:a="http://schemas.openxmlformats.org/drawingml/2006/main">
              <a:ext uri="{FF2B5EF4-FFF2-40B4-BE49-F238E27FC236}">
                <a16:creationId xmlns:a16="http://schemas.microsoft.com/office/drawing/2014/main" id="{C2679223-9257-477F-879B-192644C524EB}"/>
              </a:ext>
            </a:extLst>
          </p:cNvPr>
          <p:cNvSpPr>
            <a:spLocks xmlns:a="http://schemas.openxmlformats.org/drawingml/2006/main" noGrp="1"/>
          </p:cNvSpPr>
          <p:nvPr/>
        </p:nvSpPr>
        <p:spPr>
          <a:xfrm xmlns:a="http://schemas.openxmlformats.org/drawingml/2006/main">
            <a:off x="1028700" y="5381625"/>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0F9ED5"/>
                </a:solidFill>
                <a:latin typeface="Aptos"/>
                <a:ea typeface="Aptos"/>
                <a:cs typeface="Aptos"/>
              </a:defRPr>
            </a:defPPr>
          </a:lstStyle>
          <a:p xmlns:a="http://schemas.openxmlformats.org/drawingml/2006/main">
            <a:pPr>
              <a:buNone/>
              <a:defRPr sz="2100" b="0">
                <a:solidFill>
                  <a:srgbClr val="0F9ED5"/>
                </a:solidFill>
                <a:latin typeface="Aptos"/>
                <a:ea typeface="Aptos"/>
                <a:cs typeface="Aptos"/>
              </a:defRPr>
            </a:pPr>
            <a:r>
              <a:rPr sz="2100" b="0">
                <a:solidFill>
                  <a:srgbClr val="0F9ED5"/>
                </a:solidFill>
                <a:latin typeface="Aptos"/>
                <a:ea typeface="Aptos"/>
                <a:cs typeface="Aptos"/>
              </a:rPr>
              <a:t>10messi10.netlify.app</a:t>
            </a:r>
          </a:p>
        </p:txBody>
      </p:sp>
    </p:spTree>
    <p:extLst>
      <p:ext uri="{BB962C8B-B14F-4D97-AF65-F5344CB8AC3E}">
        <p14:creationId xmlns:p14="http://schemas.microsoft.com/office/powerpoint/2010/main" val="3076003024"/>
      </p:ext>
    </p:extLst>
  </p:cSld>
</p:sld>
</file>

<file path=ppt/slides/slide2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71" name="Rectangle 70">
            <a:extLst xmlns:a="http://schemas.openxmlformats.org/drawingml/2006/main">
              <a:ext uri="{FF2B5EF4-FFF2-40B4-BE49-F238E27FC236}">
                <a16:creationId xmlns:a16="http://schemas.microsoft.com/office/drawing/2014/main" id="{74B0B678-CD10-4371-96E5-2706F4579FAD}"/>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Rectangle 73">
            <a:extLst xmlns:a="http://schemas.openxmlformats.org/drawingml/2006/main">
              <a:ext uri="{FF2B5EF4-FFF2-40B4-BE49-F238E27FC236}">
                <a16:creationId xmlns:a16="http://schemas.microsoft.com/office/drawing/2014/main" id="{8A3838D5-9565-4601-BAC3-D1B5BDB803ED}"/>
              </a:ext>
            </a:extLst>
          </p:cNvPr>
          <p:cNvSpPr>
            <a:spLocks xmlns:a="http://schemas.openxmlformats.org/drawingml/2006/main" noGrp="1"/>
          </p:cNvSpPr>
          <p:nvPr/>
        </p:nvSpPr>
        <p:spPr>
          <a:xfrm xmlns:a="http://schemas.openxmlformats.org/drawingml/2006/main" rot="5400000" flipH="0" flipV="0">
            <a:off x="3032052" y="2878474"/>
            <a:ext cx="816039" cy="102807"/>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Rectangle 74">
            <a:extLst xmlns:a="http://schemas.openxmlformats.org/drawingml/2006/main">
              <a:ext uri="{FF2B5EF4-FFF2-40B4-BE49-F238E27FC236}">
                <a16:creationId xmlns:a16="http://schemas.microsoft.com/office/drawing/2014/main" id="{3349A4B8-3246-4579-922E-FE1155C7F08C}"/>
              </a:ext>
            </a:extLst>
          </p:cNvPr>
          <p:cNvSpPr>
            <a:spLocks xmlns:a="http://schemas.openxmlformats.org/drawingml/2006/main" noGrp="1"/>
          </p:cNvSpPr>
          <p:nvPr/>
        </p:nvSpPr>
        <p:spPr>
          <a:xfrm xmlns:a="http://schemas.openxmlformats.org/drawingml/2006/main" rot="0" flipH="1" flipV="1">
            <a:off x="-2340441" y="2666504"/>
            <a:ext cx="5608997" cy="527390"/>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Rectangle 76">
            <a:extLst xmlns:a="http://schemas.openxmlformats.org/drawingml/2006/main">
              <a:ext uri="{FF2B5EF4-FFF2-40B4-BE49-F238E27FC236}">
                <a16:creationId xmlns:a16="http://schemas.microsoft.com/office/drawing/2014/main" id="{CBC4F608-B4B8-48C3-9572-C0F061B1CD99}"/>
              </a:ext>
            </a:extLst>
          </p:cNvPr>
          <p:cNvSpPr>
            <a:spLocks xmlns:a="http://schemas.openxmlformats.org/drawingml/2006/main" noGrp="1"/>
          </p:cNvSpPr>
          <p:nvPr/>
        </p:nvSpPr>
        <p:spPr>
          <a:xfrm xmlns:a="http://schemas.openxmlformats.org/drawingml/2006/main">
            <a:off x="579528" y="517897"/>
            <a:ext cx="11111729" cy="5857966"/>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Rectangle 78">
            <a:extLst xmlns:a="http://schemas.openxmlformats.org/drawingml/2006/main">
              <a:ext uri="{FF2B5EF4-FFF2-40B4-BE49-F238E27FC236}">
                <a16:creationId xmlns:a16="http://schemas.microsoft.com/office/drawing/2014/main" id="{1382A32C-5B0C-4B1C-A074-76C6DBCC9F87}"/>
              </a:ext>
            </a:extLst>
          </p:cNvPr>
          <p:cNvSpPr>
            <a:spLocks xmlns:a="http://schemas.openxmlformats.org/drawingml/2006/main" noGrp="1"/>
          </p:cNvSpPr>
          <p:nvPr/>
        </p:nvSpPr>
        <p:spPr>
          <a:xfrm xmlns:a="http://schemas.openxmlformats.org/drawingml/2006/main" flipH="1">
            <a:off x="5957331" y="2188548"/>
            <a:ext cx="5041025" cy="2743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content-5">
            <a:extLst xmlns:a="http://schemas.openxmlformats.org/drawingml/2006/main">
              <a:ext uri="{FF2B5EF4-FFF2-40B4-BE49-F238E27FC236}">
                <a16:creationId xmlns:a16="http://schemas.microsoft.com/office/drawing/2014/main" id="{86E178A8-0F89-4BEE-8E88-1C0417067FB8}"/>
              </a:ext>
            </a:extLst>
          </p:cNvPr>
          <p:cNvSpPr>
            <a:spLocks xmlns:a="http://schemas.openxmlformats.org/drawingml/2006/main" noGrp="1"/>
          </p:cNvSpPr>
          <p:nvPr/>
        </p:nvSpPr>
        <p:spPr>
          <a:xfrm xmlns:a="http://schemas.openxmlformats.org/drawingml/2006/main">
            <a:off x="5953125" y="9715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00000"/>
                </a:solidFill>
                <a:latin typeface="Aptos Display"/>
                <a:ea typeface="Aptos Display"/>
                <a:cs typeface="Aptos Display"/>
              </a:defRPr>
            </a:defPPr>
          </a:lstStyle>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GitHub -</a:t>
            </a:r>
          </a:p>
          <a:p xmlns:a="http://schemas.openxmlformats.org/drawingml/2006/main">
            <a:pPr>
              <a:buNone/>
              <a:defRPr sz="3300" b="0">
                <a:solidFill>
                  <a:srgbClr val="000000"/>
                </a:solidFill>
                <a:latin typeface="Aptos Display"/>
                <a:ea typeface="Aptos Display"/>
                <a:cs typeface="Aptos Display"/>
              </a:defRPr>
            </a:pPr>
            <a:r>
              <a:rPr sz="3300" b="0">
                <a:solidFill>
                  <a:srgbClr val="000000"/>
                </a:solidFill>
                <a:latin typeface="Aptos Display"/>
                <a:ea typeface="Aptos Display"/>
                <a:cs typeface="Aptos Display"/>
              </a:rPr>
              <a:t>Automated publication</a:t>
            </a:r>
          </a:p>
        </p:txBody>
      </p:sp>
      <p:sp>
        <p:nvSpPr>
          <p:cNvPr id="81" name="content-6">
            <a:extLst xmlns:a="http://schemas.openxmlformats.org/drawingml/2006/main">
              <a:ext uri="{FF2B5EF4-FFF2-40B4-BE49-F238E27FC236}">
                <a16:creationId xmlns:a16="http://schemas.microsoft.com/office/drawing/2014/main" id="{AAB9ED1D-640E-4EF1-999D-7CB259D0B134}"/>
              </a:ext>
            </a:extLst>
          </p:cNvPr>
          <p:cNvSpPr>
            <a:spLocks xmlns:a="http://schemas.openxmlformats.org/drawingml/2006/main" noGrp="1"/>
          </p:cNvSpPr>
          <p:nvPr/>
        </p:nvSpPr>
        <p:spPr>
          <a:xfrm xmlns:a="http://schemas.openxmlformats.org/drawingml/2006/main">
            <a:off x="1000125" y="1809750"/>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1. Push relevant code to GitHub</a:t>
            </a:r>
          </a:p>
        </p:txBody>
      </p:sp>
      <p:sp>
        <p:nvSpPr>
          <p:cNvPr id="82" name="content-7">
            <a:extLst xmlns:a="http://schemas.openxmlformats.org/drawingml/2006/main">
              <a:ext uri="{FF2B5EF4-FFF2-40B4-BE49-F238E27FC236}">
                <a16:creationId xmlns:a16="http://schemas.microsoft.com/office/drawing/2014/main" id="{0DB34FB3-4F2C-40E1-AC6B-598D9A457394}"/>
              </a:ext>
            </a:extLst>
          </p:cNvPr>
          <p:cNvSpPr>
            <a:spLocks xmlns:a="http://schemas.openxmlformats.org/drawingml/2006/main" noGrp="1"/>
          </p:cNvSpPr>
          <p:nvPr/>
        </p:nvSpPr>
        <p:spPr>
          <a:xfrm xmlns:a="http://schemas.openxmlformats.org/drawingml/2006/main">
            <a:off x="1000125" y="2571750"/>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2. Train and validate RF300</a:t>
            </a:r>
          </a:p>
        </p:txBody>
      </p:sp>
      <p:sp>
        <p:nvSpPr>
          <p:cNvPr id="83" name="content-8">
            <a:extLst xmlns:a="http://schemas.openxmlformats.org/drawingml/2006/main">
              <a:ext uri="{FF2B5EF4-FFF2-40B4-BE49-F238E27FC236}">
                <a16:creationId xmlns:a16="http://schemas.microsoft.com/office/drawing/2014/main" id="{728011DA-A843-49B1-AEFD-A63152EB4D60}"/>
              </a:ext>
            </a:extLst>
          </p:cNvPr>
          <p:cNvSpPr>
            <a:spLocks xmlns:a="http://schemas.openxmlformats.org/drawingml/2006/main" noGrp="1"/>
          </p:cNvSpPr>
          <p:nvPr/>
        </p:nvSpPr>
        <p:spPr>
          <a:xfrm xmlns:a="http://schemas.openxmlformats.org/drawingml/2006/main">
            <a:off x="1000125" y="3333750"/>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3. Test the serving export</a:t>
            </a:r>
          </a:p>
        </p:txBody>
      </p:sp>
      <p:sp>
        <p:nvSpPr>
          <p:cNvPr id="84" name="content-9">
            <a:extLst xmlns:a="http://schemas.openxmlformats.org/drawingml/2006/main">
              <a:ext uri="{FF2B5EF4-FFF2-40B4-BE49-F238E27FC236}">
                <a16:creationId xmlns:a16="http://schemas.microsoft.com/office/drawing/2014/main" id="{AA89CABE-C328-413B-B173-E155364F77BC}"/>
              </a:ext>
            </a:extLst>
          </p:cNvPr>
          <p:cNvSpPr>
            <a:spLocks xmlns:a="http://schemas.openxmlformats.org/drawingml/2006/main" noGrp="1"/>
          </p:cNvSpPr>
          <p:nvPr/>
        </p:nvSpPr>
        <p:spPr>
          <a:xfrm xmlns:a="http://schemas.openxmlformats.org/drawingml/2006/main">
            <a:off x="1000125" y="4095750"/>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000000"/>
                </a:solidFill>
                <a:latin typeface="Aptos"/>
                <a:ea typeface="Aptos"/>
                <a:cs typeface="Aptos"/>
              </a:defRPr>
            </a:defPPr>
          </a:lstStyle>
          <a:p xmlns:a="http://schemas.openxmlformats.org/drawingml/2006/main">
            <a:pPr>
              <a:buNone/>
              <a:defRPr sz="2025" b="0">
                <a:solidFill>
                  <a:srgbClr val="000000"/>
                </a:solidFill>
                <a:latin typeface="Aptos"/>
                <a:ea typeface="Aptos"/>
                <a:cs typeface="Aptos"/>
              </a:defRPr>
            </a:pPr>
            <a:r>
              <a:rPr sz="2025" b="0">
                <a:solidFill>
                  <a:srgbClr val="000000"/>
                </a:solidFill>
                <a:latin typeface="Aptos"/>
                <a:ea typeface="Aptos"/>
                <a:cs typeface="Aptos"/>
              </a:rPr>
              <a:t>4. Publish; hosting updates</a:t>
            </a:r>
          </a:p>
        </p:txBody>
      </p:sp>
      <p:sp>
        <p:nvSpPr>
          <p:cNvPr id="85" name="content-10">
            <a:extLst xmlns:a="http://schemas.openxmlformats.org/drawingml/2006/main">
              <a:ext uri="{FF2B5EF4-FFF2-40B4-BE49-F238E27FC236}">
                <a16:creationId xmlns:a16="http://schemas.microsoft.com/office/drawing/2014/main" id="{85F9D1AE-E55F-4206-AE27-32FB1E3465F1}"/>
              </a:ext>
            </a:extLst>
          </p:cNvPr>
          <p:cNvSpPr>
            <a:spLocks xmlns:a="http://schemas.openxmlformats.org/drawingml/2006/main" noGrp="1"/>
          </p:cNvSpPr>
          <p:nvPr/>
        </p:nvSpPr>
        <p:spPr>
          <a:xfrm xmlns:a="http://schemas.openxmlformats.org/drawingml/2006/main">
            <a:off x="5953125" y="27622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Quality gates before publication</a:t>
            </a:r>
          </a:p>
        </p:txBody>
      </p:sp>
      <p:sp>
        <p:nvSpPr>
          <p:cNvPr id="86" name="content-11">
            <a:extLst xmlns:a="http://schemas.openxmlformats.org/drawingml/2006/main">
              <a:ext uri="{FF2B5EF4-FFF2-40B4-BE49-F238E27FC236}">
                <a16:creationId xmlns:a16="http://schemas.microsoft.com/office/drawing/2014/main" id="{20026BE1-AFFA-4161-8196-DA07DEC94D5E}"/>
              </a:ext>
            </a:extLst>
          </p:cNvPr>
          <p:cNvSpPr>
            <a:spLocks xmlns:a="http://schemas.openxmlformats.org/drawingml/2006/main" noGrp="1"/>
          </p:cNvSpPr>
          <p:nvPr/>
        </p:nvSpPr>
        <p:spPr>
          <a:xfrm xmlns:a="http://schemas.openxmlformats.org/drawingml/2006/main">
            <a:off x="5953125" y="34861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Model and frontend version check</a:t>
            </a:r>
          </a:p>
        </p:txBody>
      </p:sp>
      <p:sp>
        <p:nvSpPr>
          <p:cNvPr id="87" name="content-12">
            <a:extLst xmlns:a="http://schemas.openxmlformats.org/drawingml/2006/main">
              <a:ext uri="{FF2B5EF4-FFF2-40B4-BE49-F238E27FC236}">
                <a16:creationId xmlns:a16="http://schemas.microsoft.com/office/drawing/2014/main" id="{A2205728-1ABA-41F2-A25B-A5119CB0EA62}"/>
              </a:ext>
            </a:extLst>
          </p:cNvPr>
          <p:cNvSpPr>
            <a:spLocks xmlns:a="http://schemas.openxmlformats.org/drawingml/2006/main" noGrp="1"/>
          </p:cNvSpPr>
          <p:nvPr/>
        </p:nvSpPr>
        <p:spPr>
          <a:xfrm xmlns:a="http://schemas.openxmlformats.org/drawingml/2006/main">
            <a:off x="5953125" y="42100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Mushroom: automatic refitting</a:t>
            </a:r>
          </a:p>
        </p:txBody>
      </p:sp>
      <p:sp>
        <p:nvSpPr>
          <p:cNvPr id="88" name="content-13">
            <a:extLst xmlns:a="http://schemas.openxmlformats.org/drawingml/2006/main">
              <a:ext uri="{FF2B5EF4-FFF2-40B4-BE49-F238E27FC236}">
                <a16:creationId xmlns:a16="http://schemas.microsoft.com/office/drawing/2014/main" id="{98D4C82B-27C1-4D2E-B090-5CFB6DDBC851}"/>
              </a:ext>
            </a:extLst>
          </p:cNvPr>
          <p:cNvSpPr>
            <a:spLocks xmlns:a="http://schemas.openxmlformats.org/drawingml/2006/main" noGrp="1"/>
          </p:cNvSpPr>
          <p:nvPr/>
        </p:nvSpPr>
        <p:spPr>
          <a:xfrm xmlns:a="http://schemas.openxmlformats.org/drawingml/2006/main">
            <a:off x="5953125" y="49339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00000"/>
                </a:solidFill>
                <a:latin typeface="Aptos"/>
                <a:ea typeface="Aptos"/>
                <a:cs typeface="Aptos"/>
              </a:defRPr>
            </a:defPPr>
          </a:lstStyle>
          <a:p xmlns:a="http://schemas.openxmlformats.org/drawingml/2006/main">
            <a:pPr>
              <a:buNone/>
              <a:defRPr sz="1950" b="0">
                <a:solidFill>
                  <a:srgbClr val="000000"/>
                </a:solidFill>
                <a:latin typeface="Aptos"/>
                <a:ea typeface="Aptos"/>
                <a:cs typeface="Aptos"/>
              </a:defRPr>
            </a:pPr>
            <a:r>
              <a:rPr sz="1950" b="0">
                <a:solidFill>
                  <a:srgbClr val="000000"/>
                </a:solidFill>
                <a:latin typeface="Aptos"/>
                <a:ea typeface="Aptos"/>
                <a:cs typeface="Aptos"/>
              </a:rPr>
              <a:t>Citi Bike: pinned model release</a:t>
            </a:r>
          </a:p>
        </p:txBody>
      </p:sp>
    </p:spTree>
    <p:extLst>
      <p:ext uri="{BB962C8B-B14F-4D97-AF65-F5344CB8AC3E}">
        <p14:creationId xmlns:p14="http://schemas.microsoft.com/office/powerpoint/2010/main" val="3076003024"/>
      </p:ext>
    </p:extLst>
  </p:cSld>
</p:sld>
</file>

<file path=ppt/slides/slide25.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10" name="Rectangle 9">
            <a:extLst xmlns:a="http://schemas.openxmlformats.org/drawingml/2006/main">
              <a:ext uri="{FF2B5EF4-FFF2-40B4-BE49-F238E27FC236}">
                <a16:creationId xmlns:a16="http://schemas.microsoft.com/office/drawing/2014/main" id="{FFB60E8C-7224-44A4-87A0-46A1711DD2ED}"/>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5DA32751-37A2-45C0-BE94-63D375E27003}"/>
              </a:ext>
            </a:extLst>
          </p:cNvPr>
          <p:cNvSpPr>
            <a:spLocks xmlns:a="http://schemas.openxmlformats.org/drawingml/2006/main" noGrp="1"/>
          </p:cNvSpPr>
          <p:nvPr/>
        </p:nvSpPr>
        <p:spPr>
          <a:xfrm xmlns:a="http://schemas.openxmlformats.org/drawingml/2006/main" flipH="1" flipV="1">
            <a:off x="-2" y="1998845"/>
            <a:ext cx="11454595" cy="781699"/>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E659831F-0D9A-4C63-9EBB-8435B85A440F}"/>
              </a:ext>
            </a:extLst>
          </p:cNvPr>
          <p:cNvSpPr>
            <a:spLocks xmlns:a="http://schemas.openxmlformats.org/drawingml/2006/main" noGrp="1"/>
          </p:cNvSpPr>
          <p:nvPr/>
        </p:nvSpPr>
        <p:spPr>
          <a:xfrm xmlns:a="http://schemas.openxmlformats.org/drawingml/2006/main">
            <a:off x="0" y="2203079"/>
            <a:ext cx="11383362" cy="4267991"/>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5A55FBCD-CD42-40F5-8A1B-3203F9CAEEAA}"/>
              </a:ext>
            </a:extLst>
          </p:cNvPr>
          <p:cNvSpPr>
            <a:spLocks xmlns:a="http://schemas.openxmlformats.org/drawingml/2006/main" noGrp="1"/>
          </p:cNvSpPr>
          <p:nvPr/>
        </p:nvSpPr>
        <p:spPr>
          <a:xfrm xmlns:a="http://schemas.openxmlformats.org/drawingml/2006/main" rot="5400000">
            <a:off x="11228040" y="2313027"/>
            <a:ext cx="781700" cy="1523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content-4">
            <a:extLst xmlns:a="http://schemas.openxmlformats.org/drawingml/2006/main">
              <a:ext uri="{FF2B5EF4-FFF2-40B4-BE49-F238E27FC236}">
                <a16:creationId xmlns:a16="http://schemas.microsoft.com/office/drawing/2014/main" id="{BE115F1D-882A-4E2C-B263-5B3A96A938C6}"/>
              </a:ext>
            </a:extLst>
          </p:cNvPr>
          <p:cNvSpPr>
            <a:spLocks xmlns:a="http://schemas.openxmlformats.org/drawingml/2006/main" noGrp="1"/>
          </p:cNvSpPr>
          <p:nvPr/>
        </p:nvSpPr>
        <p:spPr>
          <a:xfrm xmlns:a="http://schemas.openxmlformats.org/drawingml/2006/main">
            <a:off x="809625" y="666750"/>
            <a:ext cx="1028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0">
                <a:solidFill>
                  <a:srgbClr val="000000"/>
                </a:solidFill>
                <a:latin typeface="Aptos Display"/>
                <a:ea typeface="Aptos Display"/>
                <a:cs typeface="Aptos Display"/>
              </a:defRPr>
            </a:defPPr>
          </a:lstStyle>
          <a:p xmlns:a="http://schemas.openxmlformats.org/drawingml/2006/main">
            <a:pPr>
              <a:buNone/>
              <a:defRPr sz="3600" b="0">
                <a:solidFill>
                  <a:srgbClr val="000000"/>
                </a:solidFill>
                <a:latin typeface="Aptos Display"/>
                <a:ea typeface="Aptos Display"/>
                <a:cs typeface="Aptos Display"/>
              </a:defRPr>
            </a:pPr>
            <a:r>
              <a:rPr sz="3600" b="0">
                <a:solidFill>
                  <a:srgbClr val="000000"/>
                </a:solidFill>
                <a:latin typeface="Aptos Display"/>
                <a:ea typeface="Aptos Display"/>
                <a:cs typeface="Aptos Display"/>
              </a:rPr>
              <a:t>Conclusion and live demo</a:t>
            </a:r>
          </a:p>
        </p:txBody>
      </p:sp>
      <p:sp>
        <p:nvSpPr>
          <p:cNvPr id="18" name="content-5">
            <a:extLst xmlns:a="http://schemas.openxmlformats.org/drawingml/2006/main">
              <a:ext uri="{FF2B5EF4-FFF2-40B4-BE49-F238E27FC236}">
                <a16:creationId xmlns:a16="http://schemas.microsoft.com/office/drawing/2014/main" id="{9F7E22C0-45E4-461A-B7FA-EAB0BB38D43C}"/>
              </a:ext>
            </a:extLst>
          </p:cNvPr>
          <p:cNvSpPr>
            <a:spLocks xmlns:a="http://schemas.openxmlformats.org/drawingml/2006/main" noGrp="1"/>
          </p:cNvSpPr>
          <p:nvPr/>
        </p:nvSpPr>
        <p:spPr>
          <a:xfrm xmlns:a="http://schemas.openxmlformats.org/drawingml/2006/main">
            <a:off x="809625" y="266700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000000"/>
                </a:solidFill>
                <a:latin typeface="Aptos"/>
                <a:ea typeface="Aptos"/>
                <a:cs typeface="Aptos"/>
              </a:defRPr>
            </a:defPPr>
          </a:lstStyle>
          <a:p xmlns:a="http://schemas.openxmlformats.org/drawingml/2006/main">
            <a:pPr>
              <a:buNone/>
              <a:defRPr sz="2175" b="0">
                <a:solidFill>
                  <a:srgbClr val="000000"/>
                </a:solidFill>
                <a:latin typeface="Aptos"/>
                <a:ea typeface="Aptos"/>
                <a:cs typeface="Aptos"/>
              </a:defRPr>
            </a:pPr>
            <a:r>
              <a:rPr sz="2175" b="0">
                <a:solidFill>
                  <a:srgbClr val="000000"/>
                </a:solidFill>
                <a:latin typeface="Aptos"/>
                <a:ea typeface="Aptos"/>
                <a:cs typeface="Aptos"/>
              </a:rPr>
              <a:t>Mushroom: RF300 wins CV, but still misses poisonous cases</a:t>
            </a:r>
          </a:p>
        </p:txBody>
      </p:sp>
      <p:sp>
        <p:nvSpPr>
          <p:cNvPr id="19" name="content-6">
            <a:extLst xmlns:a="http://schemas.openxmlformats.org/drawingml/2006/main">
              <a:ext uri="{FF2B5EF4-FFF2-40B4-BE49-F238E27FC236}">
                <a16:creationId xmlns:a16="http://schemas.microsoft.com/office/drawing/2014/main" id="{DE6F8844-039C-4270-9420-219C021E700A}"/>
              </a:ext>
            </a:extLst>
          </p:cNvPr>
          <p:cNvSpPr>
            <a:spLocks xmlns:a="http://schemas.openxmlformats.org/drawingml/2006/main" noGrp="1"/>
          </p:cNvSpPr>
          <p:nvPr/>
        </p:nvSpPr>
        <p:spPr>
          <a:xfrm xmlns:a="http://schemas.openxmlformats.org/drawingml/2006/main">
            <a:off x="809625" y="340995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000000"/>
                </a:solidFill>
                <a:latin typeface="Aptos"/>
                <a:ea typeface="Aptos"/>
                <a:cs typeface="Aptos"/>
              </a:defRPr>
            </a:defPPr>
          </a:lstStyle>
          <a:p xmlns:a="http://schemas.openxmlformats.org/drawingml/2006/main">
            <a:pPr>
              <a:buNone/>
              <a:defRPr sz="2175" b="0">
                <a:solidFill>
                  <a:srgbClr val="000000"/>
                </a:solidFill>
                <a:latin typeface="Aptos"/>
                <a:ea typeface="Aptos"/>
                <a:cs typeface="Aptos"/>
              </a:defRPr>
            </a:pPr>
            <a:r>
              <a:rPr sz="2175" b="0">
                <a:solidFill>
                  <a:srgbClr val="000000"/>
                </a:solidFill>
                <a:latin typeface="Aptos"/>
                <a:ea typeface="Aptos"/>
                <a:cs typeface="Aptos"/>
              </a:rPr>
              <a:t>Website: “giftig” or “onzeker / mogelijk giftig”</a:t>
            </a:r>
          </a:p>
        </p:txBody>
      </p:sp>
      <p:sp>
        <p:nvSpPr>
          <p:cNvPr id="20" name="content-7">
            <a:extLst xmlns:a="http://schemas.openxmlformats.org/drawingml/2006/main">
              <a:ext uri="{FF2B5EF4-FFF2-40B4-BE49-F238E27FC236}">
                <a16:creationId xmlns:a16="http://schemas.microsoft.com/office/drawing/2014/main" id="{EFFD7671-810E-4C6A-A05A-FEE09D31F3AB}"/>
              </a:ext>
            </a:extLst>
          </p:cNvPr>
          <p:cNvSpPr>
            <a:spLocks xmlns:a="http://schemas.openxmlformats.org/drawingml/2006/main" noGrp="1"/>
          </p:cNvSpPr>
          <p:nvPr/>
        </p:nvSpPr>
        <p:spPr>
          <a:xfrm xmlns:a="http://schemas.openxmlformats.org/drawingml/2006/main">
            <a:off x="809625" y="415290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000000"/>
                </a:solidFill>
                <a:latin typeface="Aptos"/>
                <a:ea typeface="Aptos"/>
                <a:cs typeface="Aptos"/>
              </a:defRPr>
            </a:defPPr>
          </a:lstStyle>
          <a:p xmlns:a="http://schemas.openxmlformats.org/drawingml/2006/main">
            <a:pPr>
              <a:buNone/>
              <a:defRPr sz="2175" b="0">
                <a:solidFill>
                  <a:srgbClr val="000000"/>
                </a:solidFill>
                <a:latin typeface="Aptos"/>
                <a:ea typeface="Aptos"/>
                <a:cs typeface="Aptos"/>
              </a:defRPr>
            </a:pPr>
            <a:r>
              <a:rPr sz="2175" b="0">
                <a:solidFill>
                  <a:srgbClr val="000000"/>
                </a:solidFill>
                <a:latin typeface="Aptos"/>
                <a:ea typeface="Aptos"/>
                <a:cs typeface="Aptos"/>
              </a:rPr>
              <a:t>Citi Bike: RF320 lowers test RMSE by 24.12%</a:t>
            </a:r>
          </a:p>
        </p:txBody>
      </p:sp>
      <p:sp>
        <p:nvSpPr>
          <p:cNvPr id="21" name="content-8">
            <a:extLst xmlns:a="http://schemas.openxmlformats.org/drawingml/2006/main">
              <a:ext uri="{FF2B5EF4-FFF2-40B4-BE49-F238E27FC236}">
                <a16:creationId xmlns:a16="http://schemas.microsoft.com/office/drawing/2014/main" id="{27B491C8-3207-4626-9A82-F158D8EF3613}"/>
              </a:ext>
            </a:extLst>
          </p:cNvPr>
          <p:cNvSpPr>
            <a:spLocks xmlns:a="http://schemas.openxmlformats.org/drawingml/2006/main" noGrp="1"/>
          </p:cNvSpPr>
          <p:nvPr/>
        </p:nvSpPr>
        <p:spPr>
          <a:xfrm xmlns:a="http://schemas.openxmlformats.org/drawingml/2006/main">
            <a:off x="809625" y="4895850"/>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000000"/>
                </a:solidFill>
                <a:latin typeface="Aptos"/>
                <a:ea typeface="Aptos"/>
                <a:cs typeface="Aptos"/>
              </a:defRPr>
            </a:defPPr>
          </a:lstStyle>
          <a:p xmlns:a="http://schemas.openxmlformats.org/drawingml/2006/main">
            <a:pPr>
              <a:buNone/>
              <a:defRPr sz="2175" b="0">
                <a:solidFill>
                  <a:srgbClr val="000000"/>
                </a:solidFill>
                <a:latin typeface="Aptos"/>
                <a:ea typeface="Aptos"/>
                <a:cs typeface="Aptos"/>
              </a:defRPr>
            </a:pPr>
            <a:r>
              <a:rPr sz="2175" b="0">
                <a:solidFill>
                  <a:srgbClr val="000000"/>
                </a:solidFill>
                <a:latin typeface="Aptos"/>
                <a:ea typeface="Aptos"/>
                <a:cs typeface="Aptos"/>
              </a:rPr>
              <a:t>Live demo: Mushroom prediction + Citi Bike next 24 hours</a:t>
            </a:r>
          </a:p>
        </p:txBody>
      </p:sp>
      <p:sp>
        <p:nvSpPr>
          <p:cNvPr id="22" name="content-9">
            <a:extLst xmlns:a="http://schemas.openxmlformats.org/drawingml/2006/main">
              <a:ext uri="{FF2B5EF4-FFF2-40B4-BE49-F238E27FC236}">
                <a16:creationId xmlns:a16="http://schemas.microsoft.com/office/drawing/2014/main" id="{0D75048D-6A37-4A04-859E-522F6C37EC4A}"/>
              </a:ext>
            </a:extLst>
          </p:cNvPr>
          <p:cNvSpPr>
            <a:spLocks xmlns:a="http://schemas.openxmlformats.org/drawingml/2006/main" noGrp="1"/>
          </p:cNvSpPr>
          <p:nvPr/>
        </p:nvSpPr>
        <p:spPr>
          <a:xfrm xmlns:a="http://schemas.openxmlformats.org/drawingml/2006/main">
            <a:off x="809625" y="5905500"/>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0F9ED5"/>
                </a:solidFill>
                <a:latin typeface="Aptos"/>
                <a:ea typeface="Aptos"/>
                <a:cs typeface="Aptos"/>
              </a:defRPr>
            </a:defPPr>
          </a:lstStyle>
          <a:p xmlns:a="http://schemas.openxmlformats.org/drawingml/2006/main">
            <a:pPr>
              <a:buNone/>
              <a:defRPr sz="1950" b="0">
                <a:solidFill>
                  <a:srgbClr val="0F9ED5"/>
                </a:solidFill>
                <a:latin typeface="Aptos"/>
                <a:ea typeface="Aptos"/>
                <a:cs typeface="Aptos"/>
              </a:defRPr>
            </a:pPr>
            <a:r>
              <a:rPr sz="1950" b="0">
                <a:solidFill>
                  <a:srgbClr val="0F9ED5"/>
                </a:solidFill>
                <a:latin typeface="Aptos"/>
                <a:ea typeface="Aptos"/>
                <a:cs typeface="Aptos"/>
              </a:rPr>
              <a:t>10messi10.netlify.app</a:t>
            </a:r>
          </a:p>
        </p:txBody>
      </p:sp>
    </p:spTree>
    <p:extLst>
      <p:ext uri="{BB962C8B-B14F-4D97-AF65-F5344CB8AC3E}">
        <p14:creationId xmlns:p14="http://schemas.microsoft.com/office/powerpoint/2010/main" val="2603541586"/>
      </p:ext>
    </p:extLst>
  </p:cSld>
</p:sld>
</file>

<file path=ppt/slides/slide26.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show="0">
  <p:cSld>
    <p:bg>
      <p:bgPr>
        <a:solidFill>
          <a:srgbClr val="FFFFFF"/>
        </a:solidFill>
      </p:bgPr>
    </p:bg>
    <p:spTree>
      <p:nvGrpSpPr>
        <p:cNvPr id="1" name=""/>
        <p:cNvGrpSpPr/>
        <p:nvPr/>
      </p:nvGrpSpPr>
      <p:grpSpPr>
        <a:xfrm/>
      </p:grpSpPr>
      <p:sp>
        <p:nvSpPr>
          <p:cNvPr id="6" name="">
            <a:extLst>
              <a:ext uri="{FF2B5EF4-FFF2-40B4-BE49-F238E27FC236}">
                <ns2:creationId id="{4C560F37-8EDD-48A9-883C-B631F9800E56}"/>
              </a:ext>
            </a:extLst>
          </p:cNvPr>
          <p:cNvSpPr>
            <a:spLocks noGrp="1"/>
          </p:cNvSpPr>
          <p:nvPr/>
        </p:nvSpPr>
        <p:spPr>
          <a:xfrm>
            <a:off x="685800" y="323850"/>
            <a:ext cx="10001250" cy="285750"/>
          </a:xfrm>
          <a:prstGeom prst="rect">
            <a:avLst/>
          </a:prstGeom>
          <a:noFill/>
          <a:ln w="0">
            <a:noFill/>
          </a:ln>
        </p:spPr>
        <p:txBody>
          <a:bodyPr lIns="0" tIns="0" rIns="0" bIns="0" anchor="t"/>
          <a:lstStyle>
            <a:defPPr>
              <a:defRPr sz="1425" b="1">
                <a:solidFill>
                  <a:srgbClr val="0F9ED5"/>
                </a:solidFill>
                <a:latin typeface="Aptos"/>
                <a:ea typeface="Aptos"/>
                <a:cs typeface="Aptos"/>
              </a:defRPr>
            </a:defPPr>
          </a:lstStyle>
          <a:p>
            <a:pPr>
              <a:buNone/>
              <a:defRPr sz="1425" b="1">
                <a:solidFill>
                  <a:srgbClr val="0F9ED5"/>
                </a:solidFill>
                <a:latin typeface="Aptos"/>
                <a:ea typeface="Aptos"/>
                <a:cs typeface="Aptos"/>
              </a:defRPr>
            </a:pPr>
            <a:r>
              <a:rPr sz="1425" b="1">
                <a:solidFill>
                  <a:srgbClr val="0F9ED5"/>
                </a:solidFill>
                <a:latin typeface="Aptos"/>
                <a:ea typeface="Aptos"/>
                <a:cs typeface="Aptos"/>
              </a:rPr>
              <a:t>RESERVE: VRAGEN</a:t>
            </a:r>
          </a:p>
        </p:txBody>
      </p:sp>
      <p:sp>
        <p:nvSpPr>
          <p:cNvPr id="2" name="">
            <a:extLst>
              <a:ext uri="{FF2B5EF4-FFF2-40B4-BE49-F238E27FC236}">
                <ns2:creationId id="{82D99350-513E-4DA1-9D60-E15AF495A73E}"/>
              </a:ext>
            </a:extLst>
          </p:cNvPr>
          <p:cNvSpPr>
            <a:spLocks noGrp="1"/>
          </p:cNvSpPr>
          <p:nvPr/>
        </p:nvSpPr>
        <p:spPr>
          <a:xfrm>
            <a:off x="685800" y="781050"/>
            <a:ext cx="10820400" cy="628650"/>
          </a:xfrm>
          <a:prstGeom prst="rect">
            <a:avLst/>
          </a:prstGeom>
          <a:noFill/>
          <a:ln w="0">
            <a:noFill/>
          </a:ln>
        </p:spPr>
        <p:txBody>
          <a:bodyPr lIns="0" tIns="0" rIns="0" bIns="0" anchor="t"/>
          <a:lstStyle>
            <a:defPPr>
              <a:defRPr sz="3300" b="1">
                <a:solidFill>
                  <a:srgbClr val="000000"/>
                </a:solidFill>
                <a:latin typeface="Aptos"/>
                <a:ea typeface="Aptos"/>
                <a:cs typeface="Aptos"/>
              </a:defRPr>
            </a:defPPr>
          </a:lstStyle>
          <a:p>
            <a:pPr>
              <a:buNone/>
              <a:defRPr sz="3300" b="1">
                <a:solidFill>
                  <a:srgbClr val="000000"/>
                </a:solidFill>
                <a:latin typeface="Aptos"/>
                <a:ea typeface="Aptos"/>
                <a:cs typeface="Aptos"/>
              </a:defRPr>
            </a:pPr>
            <a:r>
              <a:rPr sz="3300" b="1">
                <a:solidFill>
                  <a:srgbClr val="000000"/>
                </a:solidFill>
                <a:latin typeface="Aptos"/>
                <a:ea typeface="Aptos"/>
                <a:cs typeface="Aptos"/>
              </a:rPr>
              <a:t>Grootste fouten blijven rond drukke uren</a:t>
            </a:r>
          </a:p>
        </p:txBody>
      </p:sp>
      <p:sp>
        <p:nvSpPr>
          <p:cNvPr id="3" name="">
            <a:extLst>
              <a:ext uri="{FF2B5EF4-FFF2-40B4-BE49-F238E27FC236}">
                <ns2:creationId id="{68485D0B-DEA2-4BFC-A2E9-AB771F8F513A}"/>
              </a:ext>
            </a:extLst>
          </p:cNvPr>
          <p:cNvSpPr>
            <a:spLocks noGrp="1"/>
          </p:cNvSpPr>
          <p:nvPr/>
        </p:nvSpPr>
        <p:spPr>
          <a:xfrm>
            <a:off x="11239500" y="6419850"/>
            <a:ext cx="381000" cy="238125"/>
          </a:xfrm>
          <a:prstGeom prst="rect">
            <a:avLst/>
          </a:prstGeom>
          <a:noFill/>
          <a:ln w="0">
            <a:noFill/>
          </a:ln>
        </p:spPr>
        <p:txBody>
          <a:bodyPr lIns="0" tIns="0" rIns="0" bIns="0" anchor="t"/>
          <a:lstStyle>
            <a:defPPr>
              <a:defRPr sz="1350" b="0">
                <a:solidFill>
                  <a:srgbClr val="62766E"/>
                </a:solidFill>
                <a:latin typeface="Aptos"/>
                <a:ea typeface="Aptos"/>
                <a:cs typeface="Aptos"/>
              </a:defRPr>
            </a:defPPr>
          </a:lstStyle>
          <a:p>
            <a:pPr>
              <a:buNone/>
              <a:defRPr sz="1350" b="0">
                <a:solidFill>
                  <a:srgbClr val="62766E"/>
                </a:solidFill>
                <a:latin typeface="Aptos"/>
                <a:ea typeface="Aptos"/>
                <a:cs typeface="Aptos"/>
              </a:defRPr>
            </a:pPr>
            <a:r>
              <a:rPr sz="1350" b="0">
                <a:solidFill>
                  <a:srgbClr val="62766E"/>
                </a:solidFill>
                <a:latin typeface="Aptos"/>
                <a:ea typeface="Aptos"/>
                <a:cs typeface="Aptos"/>
              </a:rPr>
              <a:t>10</a:t>
            </a:r>
          </a:p>
        </p:txBody>
      </p:sp>
      <p:graphicFrame>
        <p:nvGraphicFramePr>
          <p:cNvPr id="4" name="Chart">
            <a:extLst>
              <a:ext uri="{FF2B5EF4-FFF2-40B4-BE49-F238E27FC236}">
                <ns2:creationId id="{1A465D45-B294-429C-ADE7-BFA54D9C3E2E}"/>
              </a:ext>
            </a:extLst>
          </p:cNvPr>
          <p:cNvGraphicFramePr/>
          <p:nvPr/>
        </p:nvGraphicFramePr>
        <p:xfrm>
          <a:off x="723900" y="1752600"/>
          <a:ext cx="10668000" cy="3771900"/>
        </p:xfrm>
        <a:graphic>
          <a:graphicData uri="http://schemas.openxmlformats.org/drawingml/2006/chart">
            <c:chart r:id="Rd4612d88662e4982"/>
          </a:graphicData>
        </a:graphic>
      </p:graphicFrame>
      <p:sp>
        <p:nvSpPr>
          <p:cNvPr id="5" name="">
            <a:extLst>
              <a:ext uri="{FF2B5EF4-FFF2-40B4-BE49-F238E27FC236}">
                <ns2:creationId id="{7623CA94-CE71-41B5-8033-8FCEA7E5AFED}"/>
              </a:ext>
            </a:extLst>
          </p:cNvPr>
          <p:cNvSpPr>
            <a:spLocks noGrp="1"/>
          </p:cNvSpPr>
          <p:nvPr/>
        </p:nvSpPr>
        <p:spPr>
          <a:xfrm>
            <a:off x="762000" y="5905500"/>
            <a:ext cx="10572750" cy="342900"/>
          </a:xfrm>
          <a:prstGeom prst="rect">
            <a:avLst/>
          </a:prstGeom>
          <a:noFill/>
          <a:ln w="0">
            <a:noFill/>
          </a:ln>
        </p:spPr>
        <p:txBody>
          <a:bodyPr lIns="0" tIns="0" rIns="0" bIns="0" anchor="t"/>
          <a:lstStyle>
            <a:defPPr>
              <a:defRPr sz="1800" b="0">
                <a:solidFill>
                  <a:srgbClr val="62766E"/>
                </a:solidFill>
                <a:latin typeface="Aptos"/>
                <a:ea typeface="Aptos"/>
                <a:cs typeface="Aptos"/>
              </a:defRPr>
            </a:defPPr>
          </a:lstStyle>
          <a:p>
            <a:pPr>
              <a:buNone/>
              <a:defRPr sz="1800" b="0">
                <a:solidFill>
                  <a:srgbClr val="62766E"/>
                </a:solidFill>
                <a:latin typeface="Aptos"/>
                <a:ea typeface="Aptos"/>
                <a:cs typeface="Aptos"/>
              </a:defRPr>
            </a:pPr>
            <a:r>
              <a:rPr sz="1800" b="0">
                <a:solidFill>
                  <a:srgbClr val="62766E"/>
                </a:solidFill>
                <a:latin typeface="Aptos"/>
                <a:ea typeface="Aptos"/>
                <a:cs typeface="Aptos"/>
              </a:rPr>
              <a:t>Residual = actual − prediction. De foutenanalyse gebruikt mei–juni-validatie.</a:t>
            </a:r>
          </a:p>
        </p:txBody>
      </p:sp>
    </p:spTree>
    <p:extLst>
      <p:ext uri="{BB962C8B-B14F-4D97-AF65-F5344CB8AC3E}">
        <ns5:creationId val="192343643"/>
      </p:ext>
    </p:extLst>
  </p:cSld>
</p:sld>
</file>

<file path=ppt/slides/slide27.xml><?xml version="1.0" encoding="utf-8"?>
<p:sld xmlns:a="http://schemas.openxmlformats.org/drawingml/2006/main" xmlns:ns2="http://schemas.microsoft.com/office/drawing/2014/main" xmlns:ns3="http://schemas.microsoft.com/office/powerpoint/2010/main" xmlns:p="http://schemas.openxmlformats.org/presentationml/2006/main" show="0">
  <p:cSld>
    <p:bg>
      <p:bgPr>
        <a:solidFill>
          <a:srgbClr val="FFFFFF"/>
        </a:solidFill>
      </p:bgPr>
    </p:bg>
    <p:spTree>
      <p:nvGrpSpPr>
        <p:cNvPr id="1" name=""/>
        <p:cNvGrpSpPr/>
        <p:nvPr/>
      </p:nvGrpSpPr>
      <p:grpSpPr>
        <a:xfrm/>
      </p:grpSpPr>
      <p:sp>
        <p:nvSpPr>
          <p:cNvPr id="12" name="">
            <a:extLst>
              <a:ext uri="{FF2B5EF4-FFF2-40B4-BE49-F238E27FC236}">
                <ns2:creationId id="{4EFABAB0-A536-4108-A6B5-B366693B99E8}"/>
              </a:ext>
            </a:extLst>
          </p:cNvPr>
          <p:cNvSpPr>
            <a:spLocks noGrp="1"/>
          </p:cNvSpPr>
          <p:nvPr/>
        </p:nvSpPr>
        <p:spPr>
          <a:xfrm>
            <a:off x="685800" y="323850"/>
            <a:ext cx="10001250" cy="285750"/>
          </a:xfrm>
          <a:prstGeom prst="rect">
            <a:avLst/>
          </a:prstGeom>
          <a:noFill/>
          <a:ln w="0">
            <a:noFill/>
          </a:ln>
        </p:spPr>
        <p:txBody>
          <a:bodyPr lIns="0" tIns="0" rIns="0" bIns="0" anchor="t"/>
          <a:lstStyle>
            <a:defPPr>
              <a:defRPr sz="1425" b="1">
                <a:solidFill>
                  <a:srgbClr val="0F9ED5"/>
                </a:solidFill>
                <a:latin typeface="Aptos"/>
                <a:ea typeface="Aptos"/>
                <a:cs typeface="Aptos"/>
              </a:defRPr>
            </a:defPPr>
          </a:lstStyle>
          <a:p>
            <a:pPr>
              <a:buNone/>
              <a:defRPr sz="1425" b="1">
                <a:solidFill>
                  <a:srgbClr val="0F9ED5"/>
                </a:solidFill>
                <a:latin typeface="Aptos"/>
                <a:ea typeface="Aptos"/>
                <a:cs typeface="Aptos"/>
              </a:defRPr>
            </a:pPr>
            <a:r>
              <a:rPr sz="1425" b="1">
                <a:solidFill>
                  <a:srgbClr val="0F9ED5"/>
                </a:solidFill>
                <a:latin typeface="Aptos"/>
                <a:ea typeface="Aptos"/>
                <a:cs typeface="Aptos"/>
              </a:rPr>
              <a:t>RESERVE: VRAGEN</a:t>
            </a:r>
          </a:p>
        </p:txBody>
      </p:sp>
      <p:sp>
        <p:nvSpPr>
          <p:cNvPr id="2" name="">
            <a:extLst>
              <a:ext uri="{FF2B5EF4-FFF2-40B4-BE49-F238E27FC236}">
                <ns2:creationId id="{BA5B4D0D-3003-44F1-A51B-0F2598AB25EB}"/>
              </a:ext>
            </a:extLst>
          </p:cNvPr>
          <p:cNvSpPr>
            <a:spLocks noGrp="1"/>
          </p:cNvSpPr>
          <p:nvPr/>
        </p:nvSpPr>
        <p:spPr>
          <a:xfrm>
            <a:off x="685800" y="781050"/>
            <a:ext cx="10820400" cy="628650"/>
          </a:xfrm>
          <a:prstGeom prst="rect">
            <a:avLst/>
          </a:prstGeom>
          <a:noFill/>
          <a:ln w="0">
            <a:noFill/>
          </a:ln>
        </p:spPr>
        <p:txBody>
          <a:bodyPr lIns="0" tIns="0" rIns="0" bIns="0" anchor="t"/>
          <a:lstStyle>
            <a:defPPr>
              <a:defRPr sz="3300" b="1">
                <a:solidFill>
                  <a:srgbClr val="000000"/>
                </a:solidFill>
                <a:latin typeface="Aptos"/>
                <a:ea typeface="Aptos"/>
                <a:cs typeface="Aptos"/>
              </a:defRPr>
            </a:defPPr>
          </a:lstStyle>
          <a:p>
            <a:pPr>
              <a:buNone/>
              <a:defRPr sz="3300" b="1">
                <a:solidFill>
                  <a:srgbClr val="000000"/>
                </a:solidFill>
                <a:latin typeface="Aptos"/>
                <a:ea typeface="Aptos"/>
                <a:cs typeface="Aptos"/>
              </a:defRPr>
            </a:pPr>
            <a:r>
              <a:rPr sz="3300" b="1">
                <a:solidFill>
                  <a:srgbClr val="000000"/>
                </a:solidFill>
                <a:latin typeface="Aptos"/>
                <a:ea typeface="Aptos"/>
                <a:cs typeface="Aptos"/>
              </a:rPr>
              <a:t>Keuzes die ik mondeling kan uitleggen</a:t>
            </a:r>
          </a:p>
        </p:txBody>
      </p:sp>
      <p:sp>
        <p:nvSpPr>
          <p:cNvPr id="3" name="">
            <a:extLst>
              <a:ext uri="{FF2B5EF4-FFF2-40B4-BE49-F238E27FC236}">
                <ns2:creationId id="{C68DBFB3-17B9-4FBF-9856-329FAE05A522}"/>
              </a:ext>
            </a:extLst>
          </p:cNvPr>
          <p:cNvSpPr>
            <a:spLocks noGrp="1"/>
          </p:cNvSpPr>
          <p:nvPr/>
        </p:nvSpPr>
        <p:spPr>
          <a:xfrm>
            <a:off x="11239500" y="6419850"/>
            <a:ext cx="381000" cy="238125"/>
          </a:xfrm>
          <a:prstGeom prst="rect">
            <a:avLst/>
          </a:prstGeom>
          <a:noFill/>
          <a:ln w="0">
            <a:noFill/>
          </a:ln>
        </p:spPr>
        <p:txBody>
          <a:bodyPr lIns="0" tIns="0" rIns="0" bIns="0" anchor="t"/>
          <a:lstStyle>
            <a:defPPr>
              <a:defRPr sz="1350" b="0">
                <a:solidFill>
                  <a:srgbClr val="62766E"/>
                </a:solidFill>
                <a:latin typeface="Aptos"/>
                <a:ea typeface="Aptos"/>
                <a:cs typeface="Aptos"/>
              </a:defRPr>
            </a:defPPr>
          </a:lstStyle>
          <a:p>
            <a:pPr>
              <a:buNone/>
              <a:defRPr sz="1350" b="0">
                <a:solidFill>
                  <a:srgbClr val="62766E"/>
                </a:solidFill>
                <a:latin typeface="Aptos"/>
                <a:ea typeface="Aptos"/>
                <a:cs typeface="Aptos"/>
              </a:defRPr>
            </a:pPr>
            <a:r>
              <a:rPr sz="1350" b="0">
                <a:solidFill>
                  <a:srgbClr val="62766E"/>
                </a:solidFill>
                <a:latin typeface="Aptos"/>
                <a:ea typeface="Aptos"/>
                <a:cs typeface="Aptos"/>
              </a:rPr>
              <a:t>11</a:t>
            </a:r>
          </a:p>
        </p:txBody>
      </p:sp>
      <p:sp>
        <p:nvSpPr>
          <p:cNvPr id="4" name="">
            <a:extLst>
              <a:ext uri="{FF2B5EF4-FFF2-40B4-BE49-F238E27FC236}">
                <ns2:creationId id="{B32E2892-5940-487E-84D1-1037F04572AE}"/>
              </a:ext>
            </a:extLst>
          </p:cNvPr>
          <p:cNvSpPr>
            <a:spLocks noGrp="1"/>
          </p:cNvSpPr>
          <p:nvPr/>
        </p:nvSpPr>
        <p:spPr>
          <a:xfrm>
            <a:off x="723900" y="1819275"/>
            <a:ext cx="4857750" cy="457200"/>
          </a:xfrm>
          <a:prstGeom prst="rect">
            <a:avLst/>
          </a:prstGeom>
          <a:noFill/>
          <a:ln w="0">
            <a:noFill/>
          </a:ln>
        </p:spPr>
        <p:txBody>
          <a:bodyPr lIns="0" tIns="0" rIns="0" bIns="0" anchor="t"/>
          <a:lstStyle>
            <a:defPPr>
              <a:defRPr sz="2325" b="1">
                <a:solidFill>
                  <a:srgbClr val="0F9ED5"/>
                </a:solidFill>
                <a:latin typeface="Aptos"/>
                <a:ea typeface="Aptos"/>
                <a:cs typeface="Aptos"/>
              </a:defRPr>
            </a:defPPr>
          </a:lstStyle>
          <a:p>
            <a:pPr>
              <a:buNone/>
              <a:defRPr sz="2325" b="1">
                <a:solidFill>
                  <a:srgbClr val="0F9ED5"/>
                </a:solidFill>
                <a:latin typeface="Aptos"/>
                <a:ea typeface="Aptos"/>
                <a:cs typeface="Aptos"/>
              </a:defRPr>
            </a:pPr>
            <a:r>
              <a:rPr sz="2325" b="1">
                <a:solidFill>
                  <a:srgbClr val="0F9ED5"/>
                </a:solidFill>
                <a:latin typeface="Aptos"/>
                <a:ea typeface="Aptos"/>
                <a:cs typeface="Aptos"/>
              </a:rPr>
              <a:t>Waarom chronologisch?</a:t>
            </a:r>
          </a:p>
        </p:txBody>
      </p:sp>
      <p:sp>
        <p:nvSpPr>
          <p:cNvPr id="5" name="">
            <a:extLst>
              <a:ext uri="{FF2B5EF4-FFF2-40B4-BE49-F238E27FC236}">
                <ns2:creationId id="{9F1A37E5-1B77-4D5F-8486-69C650BF9DF9}"/>
              </a:ext>
            </a:extLst>
          </p:cNvPr>
          <p:cNvSpPr>
            <a:spLocks noGrp="1"/>
          </p:cNvSpPr>
          <p:nvPr/>
        </p:nvSpPr>
        <p:spPr>
          <a:xfrm>
            <a:off x="723900" y="2457450"/>
            <a:ext cx="4857750" cy="1000125"/>
          </a:xfrm>
          <a:prstGeom prst="rect">
            <a:avLst/>
          </a:prstGeom>
          <a:noFill/>
          <a:ln w="0">
            <a:noFill/>
          </a:ln>
        </p:spPr>
        <p:txBody>
          <a:bodyPr lIns="0" tIns="0" rIns="0" bIns="0" anchor="t"/>
          <a:lstStyle>
            <a:defPPr>
              <a:defRPr sz="2175" b="0">
                <a:solidFill>
                  <a:srgbClr val="000000"/>
                </a:solidFill>
                <a:latin typeface="Aptos"/>
                <a:ea typeface="Aptos"/>
                <a:cs typeface="Aptos"/>
              </a:defRPr>
            </a:defPPr>
          </a:lstStyle>
          <a:p>
            <a:pPr>
              <a:buNone/>
              <a:defRPr sz="2175" b="0">
                <a:solidFill>
                  <a:srgbClr val="000000"/>
                </a:solidFill>
                <a:latin typeface="Aptos"/>
                <a:ea typeface="Aptos"/>
                <a:cs typeface="Aptos"/>
              </a:defRPr>
            </a:pPr>
            <a:r>
              <a:rPr sz="2175" b="0">
                <a:solidFill>
                  <a:srgbClr val="000000"/>
                </a:solidFill>
                <a:latin typeface="Aptos"/>
                <a:ea typeface="Aptos"/>
                <a:cs typeface="Aptos"/>
              </a:rPr>
              <a:t>De toekomst mag het verleden niet beïnvloeden</a:t>
            </a:r>
          </a:p>
        </p:txBody>
      </p:sp>
      <p:sp>
        <p:nvSpPr>
          <p:cNvPr id="6" name="">
            <a:extLst>
              <a:ext uri="{FF2B5EF4-FFF2-40B4-BE49-F238E27FC236}">
                <ns2:creationId id="{85B29B84-5FE6-467E-B527-CD182A3BCE36}"/>
              </a:ext>
            </a:extLst>
          </p:cNvPr>
          <p:cNvSpPr>
            <a:spLocks noGrp="1"/>
          </p:cNvSpPr>
          <p:nvPr/>
        </p:nvSpPr>
        <p:spPr>
          <a:xfrm>
            <a:off x="723900" y="4086225"/>
            <a:ext cx="4857750" cy="457200"/>
          </a:xfrm>
          <a:prstGeom prst="rect">
            <a:avLst/>
          </a:prstGeom>
          <a:noFill/>
          <a:ln w="0">
            <a:noFill/>
          </a:ln>
        </p:spPr>
        <p:txBody>
          <a:bodyPr lIns="0" tIns="0" rIns="0" bIns="0" anchor="t"/>
          <a:lstStyle>
            <a:defPPr>
              <a:defRPr sz="2325" b="1">
                <a:solidFill>
                  <a:srgbClr val="0F9ED5"/>
                </a:solidFill>
                <a:latin typeface="Aptos"/>
                <a:ea typeface="Aptos"/>
                <a:cs typeface="Aptos"/>
              </a:defRPr>
            </a:defPPr>
          </a:lstStyle>
          <a:p>
            <a:pPr>
              <a:buNone/>
              <a:defRPr sz="2325" b="1">
                <a:solidFill>
                  <a:srgbClr val="0F9ED5"/>
                </a:solidFill>
                <a:latin typeface="Aptos"/>
                <a:ea typeface="Aptos"/>
                <a:cs typeface="Aptos"/>
              </a:defRPr>
            </a:pPr>
            <a:r>
              <a:rPr sz="2325" b="1">
                <a:solidFill>
                  <a:srgbClr val="0F9ED5"/>
                </a:solidFill>
                <a:latin typeface="Aptos"/>
                <a:ea typeface="Aptos"/>
                <a:cs typeface="Aptos"/>
              </a:rPr>
              <a:t>Waarom tijdsblokken?</a:t>
            </a:r>
          </a:p>
        </p:txBody>
      </p:sp>
      <p:sp>
        <p:nvSpPr>
          <p:cNvPr id="7" name="">
            <a:extLst>
              <a:ext uri="{FF2B5EF4-FFF2-40B4-BE49-F238E27FC236}">
                <ns2:creationId id="{1C4D4637-6505-4ACB-BE1B-0D1B03AE0A10}"/>
              </a:ext>
            </a:extLst>
          </p:cNvPr>
          <p:cNvSpPr>
            <a:spLocks noGrp="1"/>
          </p:cNvSpPr>
          <p:nvPr/>
        </p:nvSpPr>
        <p:spPr>
          <a:xfrm>
            <a:off x="723900" y="4743450"/>
            <a:ext cx="4857750" cy="1095375"/>
          </a:xfrm>
          <a:prstGeom prst="rect">
            <a:avLst/>
          </a:prstGeom>
          <a:noFill/>
          <a:ln w="0">
            <a:noFill/>
          </a:ln>
        </p:spPr>
        <p:txBody>
          <a:bodyPr lIns="0" tIns="0" rIns="0" bIns="0" anchor="t"/>
          <a:lstStyle>
            <a:defPPr>
              <a:defRPr sz="2175" b="0">
                <a:solidFill>
                  <a:srgbClr val="000000"/>
                </a:solidFill>
                <a:latin typeface="Aptos"/>
                <a:ea typeface="Aptos"/>
                <a:cs typeface="Aptos"/>
              </a:defRPr>
            </a:defPPr>
          </a:lstStyle>
          <a:p>
            <a:pPr>
              <a:buNone/>
              <a:defRPr sz="2175" b="0">
                <a:solidFill>
                  <a:srgbClr val="000000"/>
                </a:solidFill>
                <a:latin typeface="Aptos"/>
                <a:ea typeface="Aptos"/>
                <a:cs typeface="Aptos"/>
              </a:defRPr>
            </a:pPr>
            <a:r>
              <a:rPr sz="2175" b="0">
                <a:solidFill>
                  <a:srgbClr val="000000"/>
                </a:solidFill>
                <a:latin typeface="Aptos"/>
                <a:ea typeface="Aptos"/>
                <a:cs typeface="Aptos"/>
              </a:rPr>
              <a:t>Ritten en naburige uren zijn afhankelijk</a:t>
            </a:r>
          </a:p>
        </p:txBody>
      </p:sp>
      <p:sp>
        <p:nvSpPr>
          <p:cNvPr id="8" name="">
            <a:extLst>
              <a:ext uri="{FF2B5EF4-FFF2-40B4-BE49-F238E27FC236}">
                <ns2:creationId id="{81F0FF50-76FF-4C7C-91A6-F912F2A04F81}"/>
              </a:ext>
            </a:extLst>
          </p:cNvPr>
          <p:cNvSpPr>
            <a:spLocks noGrp="1"/>
          </p:cNvSpPr>
          <p:nvPr/>
        </p:nvSpPr>
        <p:spPr>
          <a:xfrm>
            <a:off x="6553200" y="1819275"/>
            <a:ext cx="4857750" cy="457200"/>
          </a:xfrm>
          <a:prstGeom prst="rect">
            <a:avLst/>
          </a:prstGeom>
          <a:noFill/>
          <a:ln w="0">
            <a:noFill/>
          </a:ln>
        </p:spPr>
        <p:txBody>
          <a:bodyPr lIns="0" tIns="0" rIns="0" bIns="0" anchor="t"/>
          <a:lstStyle>
            <a:defPPr>
              <a:defRPr sz="2325" b="1">
                <a:solidFill>
                  <a:srgbClr val="0F9ED5"/>
                </a:solidFill>
                <a:latin typeface="Aptos"/>
                <a:ea typeface="Aptos"/>
                <a:cs typeface="Aptos"/>
              </a:defRPr>
            </a:defPPr>
          </a:lstStyle>
          <a:p>
            <a:pPr>
              <a:buNone/>
              <a:defRPr sz="2325" b="1">
                <a:solidFill>
                  <a:srgbClr val="0F9ED5"/>
                </a:solidFill>
                <a:latin typeface="Aptos"/>
                <a:ea typeface="Aptos"/>
                <a:cs typeface="Aptos"/>
              </a:defRPr>
            </a:pPr>
            <a:r>
              <a:rPr sz="2325" b="1">
                <a:solidFill>
                  <a:srgbClr val="0F9ED5"/>
                </a:solidFill>
                <a:latin typeface="Aptos"/>
                <a:ea typeface="Aptos"/>
                <a:cs typeface="Aptos"/>
              </a:rPr>
              <a:t>Waarom deze RF?</a:t>
            </a:r>
          </a:p>
        </p:txBody>
      </p:sp>
      <p:sp>
        <p:nvSpPr>
          <p:cNvPr id="9" name="">
            <a:extLst>
              <a:ext uri="{FF2B5EF4-FFF2-40B4-BE49-F238E27FC236}">
                <ns2:creationId id="{7192CEEF-EB7F-4838-B75C-655A612C0886}"/>
              </a:ext>
            </a:extLst>
          </p:cNvPr>
          <p:cNvSpPr>
            <a:spLocks noGrp="1"/>
          </p:cNvSpPr>
          <p:nvPr/>
        </p:nvSpPr>
        <p:spPr>
          <a:xfrm>
            <a:off x="6553200" y="2457450"/>
            <a:ext cx="4857750" cy="1047750"/>
          </a:xfrm>
          <a:prstGeom prst="rect">
            <a:avLst/>
          </a:prstGeom>
          <a:noFill/>
          <a:ln w="0">
            <a:noFill/>
          </a:ln>
        </p:spPr>
        <p:txBody>
          <a:bodyPr lIns="0" tIns="0" rIns="0" bIns="0" anchor="t"/>
          <a:lstStyle>
            <a:defPPr>
              <a:defRPr sz="2175" b="0">
                <a:solidFill>
                  <a:srgbClr val="000000"/>
                </a:solidFill>
                <a:latin typeface="Aptos"/>
                <a:ea typeface="Aptos"/>
                <a:cs typeface="Aptos"/>
              </a:defRPr>
            </a:defPPr>
          </a:lstStyle>
          <a:p>
            <a:pPr>
              <a:buNone/>
              <a:defRPr sz="2175" b="0">
                <a:solidFill>
                  <a:srgbClr val="000000"/>
                </a:solidFill>
                <a:latin typeface="Aptos"/>
                <a:ea typeface="Aptos"/>
                <a:cs typeface="Aptos"/>
              </a:defRPr>
            </a:pPr>
            <a:r>
              <a:rPr sz="2175" b="0">
                <a:solidFill>
                  <a:srgbClr val="000000"/>
                </a:solidFill>
                <a:latin typeface="Aptos"/>
                <a:ea typeface="Aptos"/>
                <a:cs typeface="Aptos"/>
              </a:rPr>
              <a:t>De vooraf vastgelegde 1%-regel</a:t>
            </a:r>
            <a:br>
              <a:rPr sz="2175" b="0">
                <a:solidFill>
                  <a:srgbClr val="000000"/>
                </a:solidFill>
                <a:latin typeface="Aptos"/>
                <a:ea typeface="Aptos"/>
                <a:cs typeface="Aptos"/>
              </a:rPr>
            </a:br>
            <a:r>
              <a:rPr sz="2175" b="0">
                <a:solidFill>
                  <a:srgbClr val="000000"/>
                </a:solidFill>
                <a:latin typeface="Aptos"/>
                <a:ea typeface="Aptos"/>
                <a:cs typeface="Aptos"/>
              </a:rPr>
              <a:t>vergelijkt modeltypen</a:t>
            </a:r>
          </a:p>
        </p:txBody>
      </p:sp>
      <p:sp>
        <p:nvSpPr>
          <p:cNvPr id="10" name="">
            <a:extLst>
              <a:ext uri="{FF2B5EF4-FFF2-40B4-BE49-F238E27FC236}">
                <ns2:creationId id="{3B90F1DC-FF59-4849-B9E6-C8FF12825E92}"/>
              </a:ext>
            </a:extLst>
          </p:cNvPr>
          <p:cNvSpPr>
            <a:spLocks noGrp="1"/>
          </p:cNvSpPr>
          <p:nvPr/>
        </p:nvSpPr>
        <p:spPr>
          <a:xfrm>
            <a:off x="6553200" y="4086225"/>
            <a:ext cx="4857750" cy="457200"/>
          </a:xfrm>
          <a:prstGeom prst="rect">
            <a:avLst/>
          </a:prstGeom>
          <a:noFill/>
          <a:ln w="0">
            <a:noFill/>
          </a:ln>
        </p:spPr>
        <p:txBody>
          <a:bodyPr lIns="0" tIns="0" rIns="0" bIns="0" anchor="t"/>
          <a:lstStyle>
            <a:defPPr>
              <a:defRPr sz="2325" b="1">
                <a:solidFill>
                  <a:srgbClr val="0F9ED5"/>
                </a:solidFill>
                <a:latin typeface="Aptos"/>
                <a:ea typeface="Aptos"/>
                <a:cs typeface="Aptos"/>
              </a:defRPr>
            </a:defPPr>
          </a:lstStyle>
          <a:p>
            <a:pPr>
              <a:buNone/>
              <a:defRPr sz="2325" b="1">
                <a:solidFill>
                  <a:srgbClr val="0F9ED5"/>
                </a:solidFill>
                <a:latin typeface="Aptos"/>
                <a:ea typeface="Aptos"/>
                <a:cs typeface="Aptos"/>
              </a:defRPr>
            </a:pPr>
            <a:r>
              <a:rPr sz="2325" b="1">
                <a:solidFill>
                  <a:srgbClr val="0F9ED5"/>
                </a:solidFill>
                <a:latin typeface="Aptos"/>
                <a:ea typeface="Aptos"/>
                <a:cs typeface="Aptos"/>
              </a:rPr>
              <a:t>Waarom geen nieuwe tuning?</a:t>
            </a:r>
          </a:p>
        </p:txBody>
      </p:sp>
      <p:sp>
        <p:nvSpPr>
          <p:cNvPr id="11" name="">
            <a:extLst>
              <a:ext uri="{FF2B5EF4-FFF2-40B4-BE49-F238E27FC236}">
                <ns2:creationId id="{5F32C86A-CDA6-44CC-A1A7-021893AF6503}"/>
              </a:ext>
            </a:extLst>
          </p:cNvPr>
          <p:cNvSpPr>
            <a:spLocks noGrp="1"/>
          </p:cNvSpPr>
          <p:nvPr/>
        </p:nvSpPr>
        <p:spPr>
          <a:xfrm>
            <a:off x="6553200" y="4743450"/>
            <a:ext cx="4857750" cy="1143000"/>
          </a:xfrm>
          <a:prstGeom prst="rect">
            <a:avLst/>
          </a:prstGeom>
          <a:noFill/>
          <a:ln w="0">
            <a:noFill/>
          </a:ln>
        </p:spPr>
        <p:txBody>
          <a:bodyPr lIns="0" tIns="0" rIns="0" bIns="0" anchor="t"/>
          <a:lstStyle>
            <a:defPPr>
              <a:defRPr sz="2175" b="0">
                <a:solidFill>
                  <a:srgbClr val="000000"/>
                </a:solidFill>
                <a:latin typeface="Aptos"/>
                <a:ea typeface="Aptos"/>
                <a:cs typeface="Aptos"/>
              </a:defRPr>
            </a:defPPr>
          </a:lstStyle>
          <a:p>
            <a:pPr>
              <a:buNone/>
              <a:defRPr sz="2175" b="0">
                <a:solidFill>
                  <a:srgbClr val="000000"/>
                </a:solidFill>
                <a:latin typeface="Aptos"/>
                <a:ea typeface="Aptos"/>
                <a:cs typeface="Aptos"/>
              </a:defRPr>
            </a:pPr>
            <a:r>
              <a:rPr sz="2175" b="0">
                <a:solidFill>
                  <a:srgbClr val="000000"/>
                </a:solidFill>
                <a:latin typeface="Aptos"/>
                <a:ea typeface="Aptos"/>
                <a:cs typeface="Aptos"/>
              </a:rPr>
              <a:t>Een nieuwe keuze vraagt een</a:t>
            </a:r>
            <a:br>
              <a:rPr sz="2175" b="0">
                <a:solidFill>
                  <a:srgbClr val="000000"/>
                </a:solidFill>
                <a:latin typeface="Aptos"/>
                <a:ea typeface="Aptos"/>
                <a:cs typeface="Aptos"/>
              </a:rPr>
            </a:br>
            <a:r>
              <a:rPr sz="2175" b="0">
                <a:solidFill>
                  <a:srgbClr val="000000"/>
                </a:solidFill>
                <a:latin typeface="Aptos"/>
                <a:ea typeface="Aptos"/>
                <a:cs typeface="Aptos"/>
              </a:rPr>
              <a:t>nieuwe onafhankelijke eindtest</a:t>
            </a:r>
          </a:p>
        </p:txBody>
      </p:sp>
    </p:spTree>
    <p:extLst>
      <p:ext uri="{BB962C8B-B14F-4D97-AF65-F5344CB8AC3E}">
        <ns3:creationId val="302690875"/>
      </p:ext>
    </p:extLst>
  </p:cSld>
</p:sld>
</file>

<file path=ppt/slides/slide28.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10" name="Rectangle 9">
            <a:extLst xmlns:a="http://schemas.openxmlformats.org/drawingml/2006/main">
              <a:ext uri="{FF2B5EF4-FFF2-40B4-BE49-F238E27FC236}">
                <a16:creationId xmlns:a16="http://schemas.microsoft.com/office/drawing/2014/main" id="{FFB60E8C-7224-44A4-87A0-46A1711DD2ED}"/>
              </a:ext>
            </a:extLst>
          </p:cNvPr>
          <p:cNvSpPr>
            <a:spLocks xmlns:a="http://schemas.openxmlformats.org/drawingml/2006/main" noGrp="1"/>
          </p:cNvSpPr>
          <p:nvPr/>
        </p:nvSpPr>
        <p:spPr>
          <a:xfrm xmlns:a="http://schemas.openxmlformats.org/drawingml/2006/main">
            <a:off x="0" y="0"/>
            <a:ext cx="12191999" cy="6857365"/>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5DA32751-37A2-45C0-BE94-63D375E27003}"/>
              </a:ext>
            </a:extLst>
          </p:cNvPr>
          <p:cNvSpPr>
            <a:spLocks xmlns:a="http://schemas.openxmlformats.org/drawingml/2006/main" noGrp="1"/>
          </p:cNvSpPr>
          <p:nvPr/>
        </p:nvSpPr>
        <p:spPr>
          <a:xfrm xmlns:a="http://schemas.openxmlformats.org/drawingml/2006/main" flipH="1" flipV="1">
            <a:off x="-2" y="1998845"/>
            <a:ext cx="11454595" cy="781699"/>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E659831F-0D9A-4C63-9EBB-8435B85A440F}"/>
              </a:ext>
            </a:extLst>
          </p:cNvPr>
          <p:cNvSpPr>
            <a:spLocks xmlns:a="http://schemas.openxmlformats.org/drawingml/2006/main" noGrp="1"/>
          </p:cNvSpPr>
          <p:nvPr/>
        </p:nvSpPr>
        <p:spPr>
          <a:xfrm xmlns:a="http://schemas.openxmlformats.org/drawingml/2006/main">
            <a:off x="0" y="2203079"/>
            <a:ext cx="11383362" cy="4267991"/>
          </a:xfrm>
          <a:prstGeom xmlns:a="http://schemas.openxmlformats.org/drawingml/2006/main" prst="rect">
            <a:avLst/>
          </a:prstGeom>
          <a:solidFill xmlns:a="http://schemas.openxmlformats.org/drawingml/2006/main">
            <a:schemeClr val="bg1"/>
          </a:solidFill>
          <a:ln xmlns:a="http://schemas.openxmlformats.org/drawingml/2006/main">
            <a:noFill/>
          </a:ln>
          <a:effectLst xmlns:a="http://schemas.openxmlformats.org/drawingml/2006/main">
            <a:outerShdw blurRad="139700" dist="127000" dir="5400000" algn="t" rotWithShape="0">
              <a:prstClr val="black">
                <a:alpha val="15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5A55FBCD-CD42-40F5-8A1B-3203F9CAEEAA}"/>
              </a:ext>
            </a:extLst>
          </p:cNvPr>
          <p:cNvSpPr>
            <a:spLocks xmlns:a="http://schemas.openxmlformats.org/drawingml/2006/main" noGrp="1"/>
          </p:cNvSpPr>
          <p:nvPr/>
        </p:nvSpPr>
        <p:spPr>
          <a:xfrm xmlns:a="http://schemas.openxmlformats.org/drawingml/2006/main" rot="5400000">
            <a:off x="11228040" y="2313027"/>
            <a:ext cx="781700" cy="152382"/>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genai-title">
            <a:extLst xmlns:a="http://schemas.openxmlformats.org/drawingml/2006/main">
              <a:ext uri="{FF2B5EF4-FFF2-40B4-BE49-F238E27FC236}">
                <a16:creationId xmlns:a16="http://schemas.microsoft.com/office/drawing/2014/main" id="{3EE6172B-4563-4972-ACA6-D72048D0143C}"/>
              </a:ext>
            </a:extLst>
          </p:cNvPr>
          <p:cNvSpPr>
            <a:spLocks xmlns:a="http://schemas.openxmlformats.org/drawingml/2006/main" noGrp="1"/>
          </p:cNvSpPr>
          <p:nvPr/>
        </p:nvSpPr>
        <p:spPr>
          <a:xfrm xmlns:a="http://schemas.openxmlformats.org/drawingml/2006/main">
            <a:off x="809625" y="666750"/>
            <a:ext cx="1028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0">
                <a:solidFill>
                  <a:srgbClr val="000000"/>
                </a:solidFill>
                <a:latin typeface="Aptos Display"/>
                <a:ea typeface="Aptos Display"/>
                <a:cs typeface="Aptos Display"/>
              </a:defRPr>
            </a:defPPr>
          </a:lstStyle>
          <a:p xmlns:a="http://schemas.openxmlformats.org/drawingml/2006/main">
            <a:pPr>
              <a:defRPr sz="3600" b="0">
                <a:solidFill>
                  <a:srgbClr val="000000"/>
                </a:solidFill>
                <a:latin typeface="Aptos Display"/>
                <a:ea typeface="Aptos Display"/>
                <a:cs typeface="Aptos Display"/>
              </a:defRPr>
            </a:pPr>
            <a:r>
              <a:rPr sz="3600" b="0">
                <a:solidFill>
                  <a:srgbClr val="000000"/>
                </a:solidFill>
                <a:latin typeface="Aptos Display"/>
                <a:ea typeface="Aptos Display"/>
                <a:cs typeface="Aptos Display"/>
              </a:rPr>
              <a:t>GenAI Disclosure</a:t>
            </a:r>
          </a:p>
        </p:txBody>
      </p:sp>
      <p:sp>
        <p:nvSpPr>
          <p:cNvPr id="18" name="genai-point-0">
            <a:extLst xmlns:a="http://schemas.openxmlformats.org/drawingml/2006/main">
              <a:ext uri="{FF2B5EF4-FFF2-40B4-BE49-F238E27FC236}">
                <a16:creationId xmlns:a16="http://schemas.microsoft.com/office/drawing/2014/main" id="{44BA8EFA-E297-4B90-ABD6-D64C1607088D}"/>
              </a:ext>
            </a:extLst>
          </p:cNvPr>
          <p:cNvSpPr>
            <a:spLocks xmlns:a="http://schemas.openxmlformats.org/drawingml/2006/main" noGrp="1"/>
          </p:cNvSpPr>
          <p:nvPr/>
        </p:nvSpPr>
        <p:spPr>
          <a:xfrm xmlns:a="http://schemas.openxmlformats.org/drawingml/2006/main">
            <a:off x="809625" y="266700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0000"/>
                </a:solidFill>
                <a:latin typeface="Aptos"/>
                <a:ea typeface="Aptos"/>
                <a:cs typeface="Aptos"/>
              </a:defRPr>
            </a:defPPr>
          </a:lstStyle>
          <a:p xmlns:a="http://schemas.openxmlformats.org/drawingml/2006/main">
            <a:pPr>
              <a:defRPr sz="2175" b="0">
                <a:solidFill>
                  <a:srgbClr val="000000"/>
                </a:solidFill>
                <a:latin typeface="Aptos"/>
                <a:ea typeface="Aptos"/>
                <a:cs typeface="Aptos"/>
              </a:defRPr>
            </a:pPr>
            <a:r>
              <a:rPr sz="2175" b="0">
                <a:solidFill>
                  <a:srgbClr val="000000"/>
                </a:solidFill>
                <a:latin typeface="Aptos"/>
                <a:ea typeface="Aptos"/>
                <a:cs typeface="Aptos"/>
              </a:rPr>
              <a:t>Codex: code voor pipeline, backend, UI en evaluatie</a:t>
            </a:r>
          </a:p>
        </p:txBody>
      </p:sp>
      <p:sp>
        <p:nvSpPr>
          <p:cNvPr id="19" name="genai-point-1">
            <a:extLst xmlns:a="http://schemas.openxmlformats.org/drawingml/2006/main">
              <a:ext uri="{FF2B5EF4-FFF2-40B4-BE49-F238E27FC236}">
                <a16:creationId xmlns:a16="http://schemas.microsoft.com/office/drawing/2014/main" id="{62DC955B-8B19-496F-A842-A17F28810067}"/>
              </a:ext>
            </a:extLst>
          </p:cNvPr>
          <p:cNvSpPr>
            <a:spLocks xmlns:a="http://schemas.openxmlformats.org/drawingml/2006/main" noGrp="1"/>
          </p:cNvSpPr>
          <p:nvPr/>
        </p:nvSpPr>
        <p:spPr>
          <a:xfrm xmlns:a="http://schemas.openxmlformats.org/drawingml/2006/main">
            <a:off x="809625" y="339090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0000"/>
                </a:solidFill>
                <a:latin typeface="Aptos"/>
                <a:ea typeface="Aptos"/>
                <a:cs typeface="Aptos"/>
              </a:defRPr>
            </a:defPPr>
          </a:lstStyle>
          <a:p xmlns:a="http://schemas.openxmlformats.org/drawingml/2006/main">
            <a:pPr>
              <a:defRPr sz="2175" b="0">
                <a:solidFill>
                  <a:srgbClr val="000000"/>
                </a:solidFill>
                <a:latin typeface="Aptos"/>
                <a:ea typeface="Aptos"/>
                <a:cs typeface="Aptos"/>
              </a:defRPr>
            </a:pPr>
            <a:r>
              <a:rPr sz="2175" b="0">
                <a:solidFill>
                  <a:srgbClr val="000000"/>
                </a:solidFill>
                <a:latin typeface="Aptos"/>
                <a:ea typeface="Aptos"/>
                <a:cs typeface="Aptos"/>
              </a:rPr>
              <a:t>Ook gebruikt voor documentatie en presentatie</a:t>
            </a:r>
          </a:p>
        </p:txBody>
      </p:sp>
      <p:sp>
        <p:nvSpPr>
          <p:cNvPr id="20" name="genai-point-2">
            <a:extLst xmlns:a="http://schemas.openxmlformats.org/drawingml/2006/main">
              <a:ext uri="{FF2B5EF4-FFF2-40B4-BE49-F238E27FC236}">
                <a16:creationId xmlns:a16="http://schemas.microsoft.com/office/drawing/2014/main" id="{AF7A34BF-5015-42D6-B5D3-3F8CD2153BF3}"/>
              </a:ext>
            </a:extLst>
          </p:cNvPr>
          <p:cNvSpPr>
            <a:spLocks xmlns:a="http://schemas.openxmlformats.org/drawingml/2006/main" noGrp="1"/>
          </p:cNvSpPr>
          <p:nvPr/>
        </p:nvSpPr>
        <p:spPr>
          <a:xfrm xmlns:a="http://schemas.openxmlformats.org/drawingml/2006/main">
            <a:off x="809625" y="411480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0000"/>
                </a:solidFill>
                <a:latin typeface="Aptos"/>
                <a:ea typeface="Aptos"/>
                <a:cs typeface="Aptos"/>
              </a:defRPr>
            </a:defPPr>
          </a:lstStyle>
          <a:p xmlns:a="http://schemas.openxmlformats.org/drawingml/2006/main">
            <a:pPr>
              <a:defRPr sz="2175" b="0">
                <a:solidFill>
                  <a:srgbClr val="000000"/>
                </a:solidFill>
                <a:latin typeface="Aptos"/>
                <a:ea typeface="Aptos"/>
                <a:cs typeface="Aptos"/>
              </a:defRPr>
            </a:pPr>
            <a:r>
              <a:rPr sz="2175" b="0">
                <a:solidFill>
                  <a:srgbClr val="000000"/>
                </a:solidFill>
                <a:latin typeface="Aptos"/>
                <a:ea typeface="Aptos"/>
                <a:cs typeface="Aptos"/>
              </a:rPr>
              <a:t>Controles: echte runs, tests en referentievoorspellingen</a:t>
            </a:r>
          </a:p>
        </p:txBody>
      </p:sp>
      <p:sp>
        <p:nvSpPr>
          <p:cNvPr id="21" name="genai-point-3">
            <a:extLst xmlns:a="http://schemas.openxmlformats.org/drawingml/2006/main">
              <a:ext uri="{FF2B5EF4-FFF2-40B4-BE49-F238E27FC236}">
                <a16:creationId xmlns:a16="http://schemas.microsoft.com/office/drawing/2014/main" id="{D8ECE1CA-5926-42ED-B743-D2CFD5A27E5F}"/>
              </a:ext>
            </a:extLst>
          </p:cNvPr>
          <p:cNvSpPr>
            <a:spLocks xmlns:a="http://schemas.openxmlformats.org/drawingml/2006/main" noGrp="1"/>
          </p:cNvSpPr>
          <p:nvPr/>
        </p:nvSpPr>
        <p:spPr>
          <a:xfrm xmlns:a="http://schemas.openxmlformats.org/drawingml/2006/main">
            <a:off x="809625" y="483870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0000"/>
                </a:solidFill>
                <a:latin typeface="Aptos"/>
                <a:ea typeface="Aptos"/>
                <a:cs typeface="Aptos"/>
              </a:defRPr>
            </a:defPPr>
          </a:lstStyle>
          <a:p xmlns:a="http://schemas.openxmlformats.org/drawingml/2006/main">
            <a:pPr>
              <a:defRPr sz="2175" b="0">
                <a:solidFill>
                  <a:srgbClr val="000000"/>
                </a:solidFill>
                <a:latin typeface="Aptos"/>
                <a:ea typeface="Aptos"/>
                <a:cs typeface="Aptos"/>
              </a:defRPr>
            </a:pPr>
            <a:r>
              <a:rPr sz="2175" b="0">
                <a:solidFill>
                  <a:srgbClr val="000000"/>
                </a:solidFill>
                <a:latin typeface="Aptos"/>
                <a:ea typeface="Aptos"/>
                <a:cs typeface="Aptos"/>
              </a:rPr>
              <a:t>Het team blijft verantwoordelijk en verdedigt de keuzes</a:t>
            </a:r>
          </a:p>
        </p:txBody>
      </p:sp>
      <p:sp>
        <p:nvSpPr>
          <p:cNvPr id="22" name="genai-reference">
            <a:extLst xmlns:a="http://schemas.openxmlformats.org/drawingml/2006/main">
              <a:ext uri="{FF2B5EF4-FFF2-40B4-BE49-F238E27FC236}">
                <a16:creationId xmlns:a16="http://schemas.microsoft.com/office/drawing/2014/main" id="{A868A40B-D026-4DEB-8B7C-7C85A1E2C17C}"/>
              </a:ext>
            </a:extLst>
          </p:cNvPr>
          <p:cNvSpPr>
            <a:spLocks xmlns:a="http://schemas.openxmlformats.org/drawingml/2006/main" noGrp="1"/>
          </p:cNvSpPr>
          <p:nvPr/>
        </p:nvSpPr>
        <p:spPr>
          <a:xfrm xmlns:a="http://schemas.openxmlformats.org/drawingml/2006/main">
            <a:off x="809625" y="594360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000000"/>
                </a:solidFill>
                <a:latin typeface="Aptos"/>
                <a:ea typeface="Aptos"/>
                <a:cs typeface="Aptos"/>
              </a:defRPr>
            </a:defPPr>
          </a:lstStyle>
          <a:p xmlns:a="http://schemas.openxmlformats.org/drawingml/2006/main">
            <a:pPr>
              <a:defRPr sz="1725" b="0">
                <a:solidFill>
                  <a:srgbClr val="000000"/>
                </a:solidFill>
                <a:latin typeface="Aptos"/>
                <a:ea typeface="Aptos"/>
                <a:cs typeface="Aptos"/>
              </a:defRPr>
            </a:pPr>
            <a:r>
              <a:rPr sz="1725" b="0">
                <a:solidFill>
                  <a:srgbClr val="000000"/>
                </a:solidFill>
                <a:latin typeface="Aptos"/>
                <a:ea typeface="Aptos"/>
                <a:cs typeface="Aptos"/>
              </a:rPr>
              <a:t>Scope, vijf echte prompts en correcties: Final/GENAI_DISCLOSURE.md</a:t>
            </a:r>
          </a:p>
        </p:txBody>
      </p:sp>
    </p:spTree>
    <p:extLst>
      <p:ext uri="{BB962C8B-B14F-4D97-AF65-F5344CB8AC3E}">
        <p14:creationId xmlns:p14="http://schemas.microsoft.com/office/powerpoint/2010/main" val="2603541586"/>
      </p:ext>
    </p:extLst>
  </p:cSld>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2026-10-15T07:14:15.8170000Z</dcterms:created>
  <dcterms:modified xsi:type="dcterms:W3CDTF">2026-10-15T07:14:15.8180000Z</dcterms:modified>
</coreProperties>
</file>